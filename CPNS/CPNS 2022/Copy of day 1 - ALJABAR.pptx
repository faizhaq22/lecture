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78" r:id="rId15"/>
    <p:sldId id="27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46" d="100"/>
          <a:sy n="46" d="100"/>
        </p:scale>
        <p:origin x="3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4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7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8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9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1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1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3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4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5841FE6-85C0-4754-B31C-4E917E222079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396D850-CC44-4903-A07A-C0298B75EC2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843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B13D-A276-4C49-853B-CC8ED2E643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ALJABAR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37A21-3E61-4FFC-816D-B0BCDECCB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44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E9AF-DFC7-45C0-8FC4-DFB58DD6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Pemfaktoran</a:t>
            </a:r>
            <a:r>
              <a:rPr lang="en-US" dirty="0"/>
              <a:t>, </a:t>
            </a:r>
            <a:r>
              <a:rPr lang="en-US" dirty="0" err="1"/>
              <a:t>penguraian</a:t>
            </a:r>
            <a:r>
              <a:rPr lang="en-US" dirty="0"/>
              <a:t> dan </a:t>
            </a:r>
            <a:r>
              <a:rPr lang="en-US" dirty="0" err="1"/>
              <a:t>manipulasi</a:t>
            </a:r>
            <a:r>
              <a:rPr lang="en-US" dirty="0"/>
              <a:t> </a:t>
            </a:r>
            <a:r>
              <a:rPr lang="en-US" dirty="0" err="1"/>
              <a:t>aljabar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65A045-FF36-40E7-9D94-0522E67132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677504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dirty="0"/>
                  <a:t>Selisih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0"/>
                <a:r>
                  <a:rPr lang="en-US" dirty="0" err="1"/>
                  <a:t>Bentuk</a:t>
                </a:r>
                <a:r>
                  <a:rPr lang="en-US" dirty="0"/>
                  <a:t> </a:t>
                </a:r>
                <a:r>
                  <a:rPr lang="en-US" dirty="0" err="1"/>
                  <a:t>pemangkatan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dirty="0" err="1"/>
                  <a:t>pangkat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yang </a:t>
                </a:r>
                <a:r>
                  <a:rPr lang="en-US" dirty="0" err="1"/>
                  <a:t>lebih</a:t>
                </a:r>
                <a:r>
                  <a:rPr lang="en-US" dirty="0"/>
                  <a:t> </a:t>
                </a:r>
                <a:r>
                  <a:rPr lang="en-US" dirty="0" err="1"/>
                  <a:t>besar</a:t>
                </a:r>
                <a:r>
                  <a:rPr lang="en-US" dirty="0"/>
                  <a:t> </a:t>
                </a:r>
                <a:r>
                  <a:rPr lang="en-US" dirty="0" err="1"/>
                  <a:t>lagi</a:t>
                </a:r>
                <a:r>
                  <a:rPr lang="en-US" dirty="0"/>
                  <a:t>, </a:t>
                </a:r>
                <a:r>
                  <a:rPr lang="en-US" dirty="0" err="1"/>
                  <a:t>koefisien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penguraian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diperoleh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segitiga</a:t>
                </a:r>
                <a:r>
                  <a:rPr lang="en-US" dirty="0"/>
                  <a:t> Pascal</a:t>
                </a:r>
              </a:p>
              <a:p>
                <a:pPr marL="0" lvl="0" indent="0">
                  <a:buNone/>
                </a:pPr>
                <a:r>
                  <a:rPr lang="en-US" dirty="0"/>
                  <a:t> 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  1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  1 1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 1 2 1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1 3 3 1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1 4 6 4 1, 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𝑑𝑠𝑡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65A045-FF36-40E7-9D94-0522E6713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677504"/>
              </a:xfrm>
              <a:blipFill>
                <a:blip r:embed="rId2"/>
                <a:stretch>
                  <a:fillRect l="-331" t="-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18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43AF-FCAC-44F7-A0F4-D9F0C822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5F660-E342-42C4-9C31-76C7F08C3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Bentuk </a:t>
                </a:r>
                <a:r>
                  <a:rPr lang="en-US" dirty="0" err="1"/>
                  <a:t>pengurangan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variable </a:t>
                </a:r>
                <a:r>
                  <a:rPr lang="en-US" dirty="0" err="1"/>
                  <a:t>berpangkat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 err="1"/>
                  <a:t>Secara</a:t>
                </a:r>
                <a:r>
                  <a:rPr lang="en-US" dirty="0"/>
                  <a:t> </a:t>
                </a:r>
                <a:r>
                  <a:rPr lang="en-US" dirty="0" err="1"/>
                  <a:t>umum</a:t>
                </a:r>
                <a:r>
                  <a:rPr lang="en-US" dirty="0"/>
                  <a:t>,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5F660-E342-42C4-9C31-76C7F08C3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14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4A4F-8D19-4AA9-8CFD-1E3F73BC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873AED-3A81-4F50-A214-82F60A546B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Bentuk </a:t>
                </a:r>
                <a:r>
                  <a:rPr lang="en-US" dirty="0" err="1"/>
                  <a:t>penjumlahan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variable </a:t>
                </a:r>
                <a:r>
                  <a:rPr lang="en-US" dirty="0" err="1"/>
                  <a:t>berpangkat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di </a:t>
                </a:r>
                <a:r>
                  <a:rPr lang="en-US" dirty="0" err="1"/>
                  <a:t>faktorkan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di </a:t>
                </a:r>
                <a:r>
                  <a:rPr lang="en-US" dirty="0" err="1"/>
                  <a:t>faktorkan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………………..</a:t>
                </a:r>
              </a:p>
              <a:p>
                <a:pPr marL="0" indent="0">
                  <a:buNone/>
                </a:pPr>
                <a:r>
                  <a:rPr lang="en-US" dirty="0" err="1"/>
                  <a:t>Secara</a:t>
                </a:r>
                <a:r>
                  <a:rPr lang="en-US" dirty="0"/>
                  <a:t> </a:t>
                </a:r>
                <a:r>
                  <a:rPr lang="en-US" dirty="0" err="1"/>
                  <a:t>umum</a:t>
                </a:r>
                <a:r>
                  <a:rPr lang="en-US" dirty="0"/>
                  <a:t>,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</a:t>
                </a:r>
                <a:r>
                  <a:rPr lang="en-US" dirty="0" err="1"/>
                  <a:t>ganjil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−…+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873AED-3A81-4F50-A214-82F60A546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52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786C-C930-420A-AFA0-BC23304F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4F3EE-B852-4B1E-8073-7748A65CC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407340"/>
              </a:xfrm>
            </p:spPr>
            <p:txBody>
              <a:bodyPr/>
              <a:lstStyle/>
              <a:p>
                <a:pPr lvl="0"/>
                <a:r>
                  <a:rPr lang="en-US" dirty="0"/>
                  <a:t>Bentuk </a:t>
                </a:r>
                <a:r>
                  <a:rPr lang="en-US" dirty="0" err="1"/>
                  <a:t>dengan</a:t>
                </a:r>
                <a:r>
                  <a:rPr lang="en-US" dirty="0"/>
                  <a:t> 3 </a:t>
                </a:r>
                <a:r>
                  <a:rPr lang="en-US" dirty="0" err="1"/>
                  <a:t>suku</a:t>
                </a:r>
                <a:r>
                  <a:rPr lang="en-US" dirty="0"/>
                  <a:t>/variable</a:t>
                </a:r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𝑎𝑏𝑐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 err="1"/>
                  <a:t>Bentuk</a:t>
                </a:r>
                <a:r>
                  <a:rPr lang="en-US" dirty="0"/>
                  <a:t> lain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E4F3EE-B852-4B1E-8073-7748A65CC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407340"/>
              </a:xfrm>
              <a:blipFill>
                <a:blip r:embed="rId2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93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1D13-E995-4DA1-A55A-525EB358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EB82-88D7-4349-B52A-EF4DF2F3C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6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8BBA-4329-44DD-B4C8-A6FECCE9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Barisan</a:t>
            </a:r>
            <a:r>
              <a:rPr lang="en-US" dirty="0"/>
              <a:t> dan </a:t>
            </a:r>
            <a:r>
              <a:rPr lang="en-US" dirty="0" err="1"/>
              <a:t>Deret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AEB30C-6396-4A02-96F9-B408896E92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40734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b="1" dirty="0"/>
                  <a:t>Barisan 	</a:t>
                </a:r>
                <a:r>
                  <a:rPr lang="en-US" dirty="0" err="1"/>
                  <a:t>merupakan</a:t>
                </a:r>
                <a:r>
                  <a:rPr lang="en-US" dirty="0"/>
                  <a:t> </a:t>
                </a:r>
                <a:r>
                  <a:rPr lang="en-US" dirty="0" err="1"/>
                  <a:t>susunan</a:t>
                </a:r>
                <a:r>
                  <a:rPr lang="en-US" dirty="0"/>
                  <a:t> </a:t>
                </a:r>
                <a:r>
                  <a:rPr lang="en-US" dirty="0" err="1"/>
                  <a:t>kumpulan</a:t>
                </a:r>
                <a:r>
                  <a:rPr lang="en-US" dirty="0"/>
                  <a:t> </a:t>
                </a:r>
                <a:r>
                  <a:rPr lang="en-US" dirty="0" err="1"/>
                  <a:t>bilangan-bilangan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urutan</a:t>
                </a:r>
                <a:r>
                  <a:rPr lang="en-US" dirty="0"/>
                  <a:t> </a:t>
                </a:r>
                <a:r>
                  <a:rPr lang="en-US" dirty="0" err="1"/>
                  <a:t>tertentu</a:t>
                </a:r>
                <a:endParaRPr lang="en-US" b="1" dirty="0"/>
              </a:p>
              <a:p>
                <a:pPr lvl="0"/>
                <a:r>
                  <a:rPr lang="en-US" b="1" dirty="0" err="1"/>
                  <a:t>Deret</a:t>
                </a:r>
                <a:r>
                  <a:rPr lang="en-US" b="1" dirty="0"/>
                  <a:t> 	</a:t>
                </a:r>
                <a:r>
                  <a:rPr lang="en-US" dirty="0" err="1"/>
                  <a:t>merupakan</a:t>
                </a:r>
                <a:r>
                  <a:rPr lang="en-US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penjumlahan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serangkaian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pada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barisan</a:t>
                </a:r>
                <a:endParaRPr lang="en-US" b="1" dirty="0"/>
              </a:p>
              <a:p>
                <a:pPr lvl="0"/>
                <a:endParaRPr lang="en-US" b="1" dirty="0"/>
              </a:p>
              <a:p>
                <a:pPr lvl="0"/>
                <a:r>
                  <a:rPr lang="en-US" b="1" dirty="0" err="1"/>
                  <a:t>Jenis</a:t>
                </a:r>
                <a:r>
                  <a:rPr lang="en-US" b="1" dirty="0"/>
                  <a:t> :</a:t>
                </a:r>
              </a:p>
              <a:p>
                <a:pPr marL="0" lvl="0" indent="0">
                  <a:buNone/>
                </a:pPr>
                <a:r>
                  <a:rPr lang="en-US" b="1" dirty="0" err="1"/>
                  <a:t>Aritmatika</a:t>
                </a:r>
                <a:endParaRPr lang="en-US" b="1" dirty="0"/>
              </a:p>
              <a:p>
                <a:pPr marL="0" lvl="0" indent="0">
                  <a:buNone/>
                </a:pPr>
                <a:r>
                  <a:rPr lang="en-US" dirty="0" err="1"/>
                  <a:t>Tiap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</a:t>
                </a:r>
                <a:r>
                  <a:rPr lang="en-US" dirty="0" err="1"/>
                  <a:t>berurutan</a:t>
                </a:r>
                <a:r>
                  <a:rPr lang="en-US" dirty="0"/>
                  <a:t> </a:t>
                </a:r>
                <a:r>
                  <a:rPr lang="en-US" dirty="0" err="1"/>
                  <a:t>memiliki</a:t>
                </a:r>
                <a:r>
                  <a:rPr lang="en-US" dirty="0"/>
                  <a:t> </a:t>
                </a:r>
                <a:r>
                  <a:rPr lang="en-US" dirty="0" err="1"/>
                  <a:t>beda</a:t>
                </a:r>
                <a:r>
                  <a:rPr lang="en-US" dirty="0"/>
                  <a:t>/</a:t>
                </a:r>
                <a:r>
                  <a:rPr lang="en-US" dirty="0" err="1"/>
                  <a:t>selisih</a:t>
                </a:r>
                <a:r>
                  <a:rPr lang="en-US" dirty="0"/>
                  <a:t> yang </a:t>
                </a:r>
                <a:r>
                  <a:rPr lang="en-US" dirty="0" err="1"/>
                  <a:t>sama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</a:t>
                </a:r>
                <a:r>
                  <a:rPr lang="en-US" dirty="0" err="1"/>
                  <a:t>pertama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beda</a:t>
                </a:r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AEB30C-6396-4A02-96F9-B408896E92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407340"/>
              </a:xfr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35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71BF-DAAE-40D3-8E56-4C77993B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2AEDCD-5221-47E1-B11C-89D946596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677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Geometri</a:t>
                </a:r>
                <a:br>
                  <a:rPr lang="en-US" b="1" dirty="0"/>
                </a:br>
                <a:endParaRPr lang="en-US" b="1" dirty="0"/>
              </a:p>
              <a:p>
                <a:r>
                  <a:rPr lang="en-US" dirty="0" err="1"/>
                  <a:t>Tiap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yang </a:t>
                </a:r>
                <a:r>
                  <a:rPr lang="en-US" dirty="0" err="1"/>
                  <a:t>berurutan</a:t>
                </a:r>
                <a:r>
                  <a:rPr lang="en-US" dirty="0"/>
                  <a:t> </a:t>
                </a:r>
                <a:r>
                  <a:rPr lang="en-US" dirty="0" err="1"/>
                  <a:t>memiliki</a:t>
                </a:r>
                <a:r>
                  <a:rPr lang="en-US" dirty="0"/>
                  <a:t> </a:t>
                </a:r>
                <a:r>
                  <a:rPr lang="en-US" dirty="0" err="1"/>
                  <a:t>rasio</a:t>
                </a:r>
                <a:r>
                  <a:rPr lang="en-US" dirty="0"/>
                  <a:t>/</a:t>
                </a:r>
                <a:r>
                  <a:rPr lang="en-US" dirty="0" err="1"/>
                  <a:t>perbandingan</a:t>
                </a:r>
                <a:r>
                  <a:rPr lang="en-US" dirty="0"/>
                  <a:t> yang </a:t>
                </a:r>
                <a:r>
                  <a:rPr lang="en-US" dirty="0" err="1"/>
                  <a:t>sama</a:t>
                </a:r>
                <a:endParaRPr lang="en-US" dirty="0"/>
              </a:p>
              <a:p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</a:t>
                </a:r>
                <a:r>
                  <a:rPr lang="en-US" dirty="0" err="1"/>
                  <a:t>pertama</a:t>
                </a:r>
                <a:r>
                  <a:rPr lang="en-US" dirty="0"/>
                  <a:t> dan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rasio</a:t>
                </a:r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Deret</a:t>
                </a:r>
                <a:r>
                  <a:rPr lang="en-US" dirty="0"/>
                  <a:t> </a:t>
                </a:r>
                <a:r>
                  <a:rPr lang="en-US" dirty="0" err="1"/>
                  <a:t>geometri</a:t>
                </a:r>
                <a:r>
                  <a:rPr lang="en-US" dirty="0"/>
                  <a:t> </a:t>
                </a:r>
                <a:r>
                  <a:rPr lang="en-US" dirty="0" err="1"/>
                  <a:t>bisa</a:t>
                </a:r>
                <a:r>
                  <a:rPr lang="en-US" dirty="0"/>
                  <a:t> </a:t>
                </a:r>
                <a:r>
                  <a:rPr lang="en-US" dirty="0" err="1"/>
                  <a:t>saja</a:t>
                </a:r>
                <a:r>
                  <a:rPr lang="en-US" dirty="0"/>
                  <a:t> </a:t>
                </a:r>
                <a:r>
                  <a:rPr lang="en-US" dirty="0" err="1"/>
                  <a:t>memiliki</a:t>
                </a:r>
                <a:r>
                  <a:rPr lang="en-US" dirty="0"/>
                  <a:t> </a:t>
                </a:r>
                <a:r>
                  <a:rPr lang="en-US" dirty="0" err="1"/>
                  <a:t>banyak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</a:t>
                </a:r>
                <a:r>
                  <a:rPr lang="en-US" dirty="0" err="1"/>
                  <a:t>sebanyak</a:t>
                </a:r>
                <a:r>
                  <a:rPr lang="en-US" dirty="0"/>
                  <a:t> </a:t>
                </a:r>
                <a:r>
                  <a:rPr lang="en-US" dirty="0" err="1"/>
                  <a:t>tak</a:t>
                </a:r>
                <a:r>
                  <a:rPr lang="en-US" dirty="0"/>
                  <a:t> </a:t>
                </a:r>
                <a:r>
                  <a:rPr lang="en-US" dirty="0" err="1"/>
                  <a:t>hingga</a:t>
                </a:r>
                <a:r>
                  <a:rPr lang="en-US" dirty="0"/>
                  <a:t>, </a:t>
                </a:r>
                <a:r>
                  <a:rPr lang="en-US" dirty="0" err="1"/>
                  <a:t>namun</a:t>
                </a:r>
                <a:r>
                  <a:rPr lang="en-US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penjumlahan</a:t>
                </a:r>
                <a:r>
                  <a:rPr lang="en-US" dirty="0"/>
                  <a:t> </a:t>
                </a:r>
                <a:r>
                  <a:rPr lang="en-US" dirty="0" err="1"/>
                  <a:t>semua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</a:t>
                </a:r>
                <a:r>
                  <a:rPr lang="en-US" dirty="0" err="1"/>
                  <a:t>tersebut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tak</a:t>
                </a:r>
                <a:r>
                  <a:rPr lang="en-US" dirty="0"/>
                  <a:t> </a:t>
                </a:r>
                <a:r>
                  <a:rPr lang="en-US" dirty="0" err="1"/>
                  <a:t>hingga</a:t>
                </a:r>
                <a:r>
                  <a:rPr lang="en-US" dirty="0"/>
                  <a:t>) </a:t>
                </a:r>
                <a:r>
                  <a:rPr lang="en-US" dirty="0" err="1"/>
                  <a:t>hanya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dihitung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barisannya</a:t>
                </a:r>
                <a:r>
                  <a:rPr lang="en-US" dirty="0"/>
                  <a:t> </a:t>
                </a:r>
                <a:r>
                  <a:rPr lang="en-US" dirty="0" err="1"/>
                  <a:t>mengecil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𝑡𝑎𝑘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h𝑖𝑛𝑔𝑔𝑎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2AEDCD-5221-47E1-B11C-89D946596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677504"/>
              </a:xfr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09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3BFD-9666-4E22-B8C8-5F1C3A2C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17E85-7679-406B-B5C5-EE3039283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40734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Teleskopik/Collapse</a:t>
                </a:r>
                <a:br>
                  <a:rPr lang="en-US" b="1" dirty="0"/>
                </a:br>
                <a:br>
                  <a:rPr lang="en-US" b="1" dirty="0"/>
                </a:br>
                <a:r>
                  <a:rPr lang="en-US" dirty="0"/>
                  <a:t>Pada </a:t>
                </a:r>
                <a:r>
                  <a:rPr lang="en-US" dirty="0" err="1"/>
                  <a:t>bentuk</a:t>
                </a:r>
                <a:r>
                  <a:rPr lang="en-US" dirty="0"/>
                  <a:t> </a:t>
                </a:r>
                <a:r>
                  <a:rPr lang="en-US" dirty="0" err="1"/>
                  <a:t>ini</a:t>
                </a:r>
                <a:r>
                  <a:rPr lang="en-US" dirty="0"/>
                  <a:t>, </a:t>
                </a:r>
                <a:r>
                  <a:rPr lang="en-US" dirty="0" err="1"/>
                  <a:t>suku-suku</a:t>
                </a:r>
                <a:r>
                  <a:rPr lang="en-US" dirty="0"/>
                  <a:t> yang </a:t>
                </a:r>
                <a:r>
                  <a:rPr lang="en-US" dirty="0" err="1"/>
                  <a:t>ada</a:t>
                </a:r>
                <a:r>
                  <a:rPr lang="en-US" dirty="0"/>
                  <a:t> </a:t>
                </a:r>
                <a:r>
                  <a:rPr lang="en-US" dirty="0" err="1"/>
                  <a:t>harus</a:t>
                </a:r>
                <a:r>
                  <a:rPr lang="en-US" dirty="0"/>
                  <a:t> </a:t>
                </a:r>
                <a:r>
                  <a:rPr lang="en-US" dirty="0" err="1"/>
                  <a:t>diubah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dimanipulasi</a:t>
                </a:r>
                <a:r>
                  <a:rPr lang="en-US" dirty="0"/>
                  <a:t> </a:t>
                </a:r>
                <a:r>
                  <a:rPr lang="en-US" dirty="0" err="1"/>
                  <a:t>terlebih</a:t>
                </a:r>
                <a:r>
                  <a:rPr lang="en-US" dirty="0"/>
                  <a:t> </a:t>
                </a:r>
                <a:r>
                  <a:rPr lang="en-US" dirty="0" err="1"/>
                  <a:t>dahulu</a:t>
                </a:r>
                <a:r>
                  <a:rPr lang="en-US" dirty="0"/>
                  <a:t> </a:t>
                </a:r>
                <a:r>
                  <a:rPr lang="en-US" dirty="0" err="1"/>
                  <a:t>menjadi</a:t>
                </a:r>
                <a:r>
                  <a:rPr lang="en-US" dirty="0"/>
                  <a:t> </a:t>
                </a:r>
                <a:r>
                  <a:rPr lang="en-US" dirty="0" err="1"/>
                  <a:t>pengurangan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Sehingga</a:t>
                </a:r>
                <a:r>
                  <a:rPr lang="en-US" dirty="0"/>
                  <a:t> pada </a:t>
                </a:r>
                <a:r>
                  <a:rPr lang="en-US" dirty="0" err="1"/>
                  <a:t>akhirnya</a:t>
                </a:r>
                <a:r>
                  <a:rPr lang="en-US" dirty="0"/>
                  <a:t> </a:t>
                </a:r>
                <a:r>
                  <a:rPr lang="en-US" dirty="0" err="1"/>
                  <a:t>terjadi</a:t>
                </a:r>
                <a:r>
                  <a:rPr lang="en-US" dirty="0"/>
                  <a:t> proses </a:t>
                </a:r>
                <a:r>
                  <a:rPr lang="en-US" dirty="0" err="1"/>
                  <a:t>saling</a:t>
                </a:r>
                <a:r>
                  <a:rPr lang="en-US" dirty="0"/>
                  <a:t> </a:t>
                </a:r>
                <a:r>
                  <a:rPr lang="en-US" dirty="0" err="1"/>
                  <a:t>menghilangkan</a:t>
                </a:r>
                <a:r>
                  <a:rPr lang="en-US" dirty="0"/>
                  <a:t> </a:t>
                </a:r>
                <a:r>
                  <a:rPr lang="en-US" dirty="0" err="1"/>
                  <a:t>saat</a:t>
                </a:r>
                <a:r>
                  <a:rPr lang="en-US" dirty="0"/>
                  <a:t> </a:t>
                </a:r>
                <a:r>
                  <a:rPr lang="en-US" dirty="0" err="1"/>
                  <a:t>dijumlahkan</a:t>
                </a:r>
                <a:r>
                  <a:rPr lang="en-US" dirty="0"/>
                  <a:t> dan </a:t>
                </a:r>
                <a:r>
                  <a:rPr lang="en-US" dirty="0" err="1"/>
                  <a:t>tersisa</a:t>
                </a:r>
                <a:r>
                  <a:rPr lang="en-US" dirty="0"/>
                  <a:t> </a:t>
                </a:r>
                <a:r>
                  <a:rPr lang="en-US" dirty="0" err="1"/>
                  <a:t>satu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di </a:t>
                </a:r>
                <a:r>
                  <a:rPr lang="en-US" dirty="0" err="1"/>
                  <a:t>awal</a:t>
                </a:r>
                <a:r>
                  <a:rPr lang="en-US" dirty="0"/>
                  <a:t> dan </a:t>
                </a:r>
                <a:r>
                  <a:rPr lang="en-US" dirty="0" err="1"/>
                  <a:t>satu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di </a:t>
                </a:r>
                <a:r>
                  <a:rPr lang="en-US" dirty="0" err="1"/>
                  <a:t>akhir</a:t>
                </a:r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 err="1"/>
                  <a:t>Contoh</a:t>
                </a:r>
                <a:r>
                  <a:rPr lang="en-US" dirty="0"/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1.2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3.4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100.101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17E85-7679-406B-B5C5-EE3039283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407340"/>
              </a:xfr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814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421F-81D2-4811-AE58-F590D26D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DE4D-501F-4391-8F08-CEE7BE429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24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A0AF-EBD3-459D-97A5-566507DF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6DE48-932D-48EA-9C27-EEDEEE32F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pemetaan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fungsi</a:t>
            </a:r>
            <a:r>
              <a:rPr lang="en-US" dirty="0"/>
              <a:t> invers dan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komposisi</a:t>
            </a:r>
            <a:r>
              <a:rPr lang="en-US" dirty="0"/>
              <a:t>,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olimpiade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diselesaikan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Teknik </a:t>
            </a:r>
            <a:r>
              <a:rPr lang="en-US" dirty="0" err="1"/>
              <a:t>substitusi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24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BF35-FDC2-47B3-8A43-B99D06C3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5F04-6D6D-45B7-9CCB-4EE03D47B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88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B37F-D3C3-45B3-A56B-EE7BDA00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PERSAMAAN GARIS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9004C-1476-46CF-9558-145D872FDE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677504"/>
              </a:xfrm>
            </p:spPr>
            <p:txBody>
              <a:bodyPr/>
              <a:lstStyle/>
              <a:p>
                <a:r>
                  <a:rPr lang="en-US" dirty="0"/>
                  <a:t>Persamaan yang </a:t>
                </a:r>
                <a:r>
                  <a:rPr lang="en-US" dirty="0" err="1"/>
                  <a:t>memuat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linier (</a:t>
                </a:r>
                <a:r>
                  <a:rPr lang="en-US" dirty="0" err="1"/>
                  <a:t>variabel</a:t>
                </a:r>
                <a:r>
                  <a:rPr lang="en-US" dirty="0"/>
                  <a:t> </a:t>
                </a:r>
                <a:r>
                  <a:rPr lang="en-US" dirty="0" err="1"/>
                  <a:t>berpangkat</a:t>
                </a:r>
                <a:r>
                  <a:rPr lang="en-US" dirty="0"/>
                  <a:t> </a:t>
                </a:r>
                <a:r>
                  <a:rPr lang="en-US" dirty="0" err="1"/>
                  <a:t>satu</a:t>
                </a:r>
                <a:r>
                  <a:rPr lang="en-US" dirty="0"/>
                  <a:t>)</a:t>
                </a:r>
              </a:p>
              <a:p>
                <a:r>
                  <a:rPr lang="en-US" dirty="0" err="1"/>
                  <a:t>Bentuk</a:t>
                </a:r>
                <a:r>
                  <a:rPr lang="en-US" dirty="0"/>
                  <a:t> </a:t>
                </a:r>
                <a:r>
                  <a:rPr lang="en-US" dirty="0" err="1"/>
                  <a:t>umum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Jika </a:t>
                </a:r>
                <a:r>
                  <a:rPr lang="en-US" dirty="0" err="1"/>
                  <a:t>digambarkan</a:t>
                </a:r>
                <a:r>
                  <a:rPr lang="en-US" dirty="0"/>
                  <a:t> pada </a:t>
                </a:r>
                <a:r>
                  <a:rPr lang="en-US" dirty="0" err="1"/>
                  <a:t>bidang</a:t>
                </a:r>
                <a:r>
                  <a:rPr lang="en-US" dirty="0"/>
                  <a:t> </a:t>
                </a:r>
                <a:r>
                  <a:rPr lang="en-US" dirty="0" err="1"/>
                  <a:t>kartesius</a:t>
                </a:r>
                <a:r>
                  <a:rPr lang="en-US" dirty="0"/>
                  <a:t>, </a:t>
                </a:r>
                <a:r>
                  <a:rPr lang="en-US" dirty="0" err="1"/>
                  <a:t>plotnya</a:t>
                </a:r>
                <a:r>
                  <a:rPr lang="en-US" dirty="0"/>
                  <a:t> </a:t>
                </a:r>
                <a:r>
                  <a:rPr lang="en-US" dirty="0" err="1"/>
                  <a:t>berupa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garis </a:t>
                </a:r>
                <a:r>
                  <a:rPr lang="en-US" dirty="0" err="1"/>
                  <a:t>lurus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= </a:t>
                </a:r>
                <a:r>
                  <a:rPr lang="en-US" dirty="0" err="1"/>
                  <a:t>gradien</a:t>
                </a:r>
                <a:r>
                  <a:rPr lang="en-US" dirty="0"/>
                  <a:t>/ </a:t>
                </a:r>
                <a:r>
                  <a:rPr lang="en-US" dirty="0" err="1"/>
                  <a:t>kemiringan</a:t>
                </a:r>
                <a:r>
                  <a:rPr lang="en-US" dirty="0"/>
                  <a:t> garis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Kemiringan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garis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ditentukan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cara</a:t>
                </a:r>
                <a:r>
                  <a:rPr lang="en-US" dirty="0"/>
                  <a:t> </a:t>
                </a:r>
                <a:r>
                  <a:rPr lang="en-US" dirty="0" err="1"/>
                  <a:t>berikut</a:t>
                </a:r>
                <a:r>
                  <a:rPr lang="en-US" dirty="0"/>
                  <a:t> :</a:t>
                </a:r>
              </a:p>
              <a:p>
                <a:r>
                  <a:rPr lang="en-US" dirty="0"/>
                  <a:t>Jika </a:t>
                </a:r>
                <a:r>
                  <a:rPr lang="en-US" dirty="0" err="1"/>
                  <a:t>diketahui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garisnya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Jika </a:t>
                </a:r>
                <a:r>
                  <a:rPr lang="en-US" dirty="0" err="1"/>
                  <a:t>diketahui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buah</a:t>
                </a:r>
                <a:r>
                  <a:rPr lang="en-US" dirty="0"/>
                  <a:t> </a:t>
                </a:r>
                <a:r>
                  <a:rPr lang="en-US" dirty="0" err="1"/>
                  <a:t>titik</a:t>
                </a:r>
                <a:r>
                  <a:rPr lang="en-US" dirty="0"/>
                  <a:t> yang </a:t>
                </a:r>
                <a:r>
                  <a:rPr lang="en-US" dirty="0" err="1"/>
                  <a:t>dilalui</a:t>
                </a:r>
                <a:r>
                  <a:rPr lang="en-US" dirty="0"/>
                  <a:t>, </a:t>
                </a:r>
                <a:r>
                  <a:rPr lang="en-US" dirty="0" err="1"/>
                  <a:t>misal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dan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9004C-1476-46CF-9558-145D872FD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677504"/>
              </a:xfr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880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4F9A-6421-4314-A75F-3B517D75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985724-1ED5-4A19-9784-212CB39DC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Untuk </a:t>
                </a:r>
                <a:r>
                  <a:rPr lang="en-US" dirty="0" err="1"/>
                  <a:t>menentukan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garis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kita</a:t>
                </a:r>
                <a:r>
                  <a:rPr lang="en-US" dirty="0"/>
                  <a:t> </a:t>
                </a:r>
                <a:r>
                  <a:rPr lang="en-US" dirty="0" err="1"/>
                  <a:t>gunakan</a:t>
                </a:r>
                <a:r>
                  <a:rPr lang="en-US" dirty="0"/>
                  <a:t> </a:t>
                </a:r>
                <a:r>
                  <a:rPr lang="en-US" dirty="0" err="1"/>
                  <a:t>metode</a:t>
                </a:r>
                <a:r>
                  <a:rPr lang="en-US" dirty="0"/>
                  <a:t> </a:t>
                </a:r>
                <a:r>
                  <a:rPr lang="en-US" dirty="0" err="1"/>
                  <a:t>berikut</a:t>
                </a:r>
                <a:r>
                  <a:rPr lang="en-US" dirty="0"/>
                  <a:t> :</a:t>
                </a:r>
              </a:p>
              <a:p>
                <a:r>
                  <a:rPr lang="en-US" dirty="0"/>
                  <a:t>Jika </a:t>
                </a:r>
                <a:r>
                  <a:rPr lang="en-US" dirty="0" err="1"/>
                  <a:t>diketahui</a:t>
                </a:r>
                <a:r>
                  <a:rPr lang="en-US" dirty="0"/>
                  <a:t> </a:t>
                </a:r>
                <a:r>
                  <a:rPr lang="en-US" dirty="0" err="1"/>
                  <a:t>kemiringan</a:t>
                </a:r>
                <a:r>
                  <a:rPr lang="en-US" dirty="0"/>
                  <a:t> </a:t>
                </a:r>
                <a:r>
                  <a:rPr lang="en-US" dirty="0" err="1"/>
                  <a:t>garisnya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dan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titik</a:t>
                </a:r>
                <a:r>
                  <a:rPr lang="en-US" dirty="0"/>
                  <a:t> yang </a:t>
                </a:r>
                <a:r>
                  <a:rPr lang="en-US" dirty="0" err="1"/>
                  <a:t>dilalui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persamaannya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Jika </a:t>
                </a:r>
                <a:r>
                  <a:rPr lang="en-US" dirty="0" err="1"/>
                  <a:t>diketahui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buah</a:t>
                </a:r>
                <a:r>
                  <a:rPr lang="en-US" dirty="0"/>
                  <a:t> </a:t>
                </a:r>
                <a:r>
                  <a:rPr lang="en-US" dirty="0" err="1"/>
                  <a:t>titik</a:t>
                </a:r>
                <a:r>
                  <a:rPr lang="en-US" dirty="0"/>
                  <a:t> yang </a:t>
                </a:r>
                <a:r>
                  <a:rPr lang="en-US" dirty="0" err="1"/>
                  <a:t>dilalui</a:t>
                </a:r>
                <a:r>
                  <a:rPr lang="en-US" dirty="0"/>
                  <a:t>, </a:t>
                </a:r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persamaannya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985724-1ED5-4A19-9784-212CB39DC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98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53DB-5677-48E8-8A59-D2C84A20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98A6CE-4AAF-4CAE-B826-AEEA09A584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Dua </a:t>
                </a:r>
                <a:r>
                  <a:rPr lang="en-US" dirty="0" err="1"/>
                  <a:t>buah</a:t>
                </a:r>
                <a:r>
                  <a:rPr lang="en-US" dirty="0"/>
                  <a:t> garis,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kemiringan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,</a:t>
                </a:r>
              </a:p>
              <a:p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sejajar</a:t>
                </a:r>
                <a:r>
                  <a:rPr lang="en-US" dirty="0"/>
                  <a:t>,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memenuhi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saling</a:t>
                </a:r>
                <a:r>
                  <a:rPr lang="en-US" dirty="0"/>
                  <a:t> </a:t>
                </a:r>
                <a:r>
                  <a:rPr lang="en-US" dirty="0" err="1"/>
                  <a:t>tegak</a:t>
                </a:r>
                <a:r>
                  <a:rPr lang="en-US" dirty="0"/>
                  <a:t> </a:t>
                </a:r>
                <a:r>
                  <a:rPr lang="en-US" dirty="0" err="1"/>
                  <a:t>lurus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memenuhi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*)</a:t>
                </a:r>
                <a:r>
                  <a:rPr lang="en-US" dirty="0" err="1"/>
                  <a:t>Tambahan</a:t>
                </a:r>
                <a:r>
                  <a:rPr lang="en-US" dirty="0"/>
                  <a:t> :</a:t>
                </a:r>
              </a:p>
              <a:p>
                <a:pPr marL="0" indent="0">
                  <a:buNone/>
                </a:pPr>
                <a:r>
                  <a:rPr lang="en-US" dirty="0"/>
                  <a:t>Jika </a:t>
                </a:r>
                <a:r>
                  <a:rPr lang="en-US" dirty="0" err="1"/>
                  <a:t>terdapat</a:t>
                </a:r>
                <a:r>
                  <a:rPr lang="en-US" dirty="0"/>
                  <a:t> garis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dan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titik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jarak</a:t>
                </a:r>
                <a:r>
                  <a:rPr lang="en-US" dirty="0"/>
                  <a:t> </a:t>
                </a:r>
                <a:r>
                  <a:rPr lang="en-US" dirty="0" err="1"/>
                  <a:t>titik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garis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kita</a:t>
                </a:r>
                <a:r>
                  <a:rPr lang="en-US" dirty="0"/>
                  <a:t> </a:t>
                </a:r>
                <a:r>
                  <a:rPr lang="en-US" dirty="0" err="1"/>
                  <a:t>tuliskan</a:t>
                </a:r>
                <a:r>
                  <a:rPr lang="en-US" dirty="0"/>
                  <a:t> </a:t>
                </a:r>
                <a:r>
                  <a:rPr lang="en-US" dirty="0" err="1"/>
                  <a:t>sebagai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𝑗𝑎𝑟𝑎𝑘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98A6CE-4AAF-4CAE-B826-AEEA09A584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853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768C5-D5EB-4E15-8587-04B55EA1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63DA-9E24-44A5-A9F0-753202DA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1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A4B9-2A63-444F-B076-B22FFF6B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Kuadrat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CADF3-8364-43F2-BE68-F61E7DD3D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Fungsi </a:t>
                </a:r>
                <a:r>
                  <a:rPr lang="en-US" b="1" dirty="0" err="1"/>
                  <a:t>Kuadrat</a:t>
                </a:r>
                <a:r>
                  <a:rPr lang="en-US" b="1" dirty="0"/>
                  <a:t> dan </a:t>
                </a:r>
                <a:r>
                  <a:rPr lang="en-US" b="1" dirty="0" err="1"/>
                  <a:t>Persamaan</a:t>
                </a:r>
                <a:r>
                  <a:rPr lang="en-US" b="1" dirty="0"/>
                  <a:t> </a:t>
                </a:r>
                <a:r>
                  <a:rPr lang="en-US" b="1" dirty="0" err="1"/>
                  <a:t>Kuadrat</a:t>
                </a: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 err="1"/>
                  <a:t>Bentuk</a:t>
                </a:r>
                <a:r>
                  <a:rPr lang="en-US" dirty="0"/>
                  <a:t> </a:t>
                </a:r>
                <a:r>
                  <a:rPr lang="en-US" dirty="0" err="1"/>
                  <a:t>umum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Plot </a:t>
                </a:r>
                <a:r>
                  <a:rPr lang="en-US" dirty="0" err="1"/>
                  <a:t>grafik</a:t>
                </a:r>
                <a:r>
                  <a:rPr lang="en-US" dirty="0"/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:r>
                  <a:rPr lang="en-US" dirty="0" err="1"/>
                  <a:t>berbentuk</a:t>
                </a:r>
                <a:r>
                  <a:rPr lang="en-US" dirty="0"/>
                  <a:t> </a:t>
                </a:r>
                <a:r>
                  <a:rPr lang="en-US" dirty="0" err="1"/>
                  <a:t>lengkungan</a:t>
                </a:r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atas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bawah</a:t>
                </a:r>
                <a:endParaRPr lang="en-US" dirty="0"/>
              </a:p>
              <a:p>
                <a:r>
                  <a:rPr lang="en-US" dirty="0"/>
                  <a:t>Grafik </a:t>
                </a:r>
                <a:r>
                  <a:rPr lang="en-US" dirty="0" err="1"/>
                  <a:t>melengkung</a:t>
                </a:r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atas</a:t>
                </a:r>
                <a:r>
                  <a:rPr lang="en-US" dirty="0"/>
                  <a:t> (</a:t>
                </a:r>
                <a:r>
                  <a:rPr lang="en-US" dirty="0" err="1"/>
                  <a:t>membentuk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Grafik </a:t>
                </a:r>
                <a:r>
                  <a:rPr lang="en-US" dirty="0" err="1"/>
                  <a:t>melengkung</a:t>
                </a:r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bawah</a:t>
                </a:r>
                <a:r>
                  <a:rPr lang="en-US" dirty="0"/>
                  <a:t> (</a:t>
                </a:r>
                <a:r>
                  <a:rPr lang="en-US" dirty="0" err="1"/>
                  <a:t>membentuk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1CADF3-8364-43F2-BE68-F61E7DD3D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149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F8E1-DE14-40D2-BC65-869EB39C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4DF49-EFEA-43F8-A75A-1F6450FBA3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u="sng" dirty="0" err="1"/>
                  <a:t>Titik</a:t>
                </a:r>
                <a:r>
                  <a:rPr lang="en-US" u="sng" dirty="0"/>
                  <a:t> </a:t>
                </a:r>
                <a:r>
                  <a:rPr lang="en-US" u="sng" dirty="0" err="1"/>
                  <a:t>puncak</a:t>
                </a:r>
                <a:r>
                  <a:rPr lang="en-US" u="sng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diperoleh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 		 	</a:t>
                </a:r>
                <a:r>
                  <a:rPr lang="en-US" dirty="0" err="1"/>
                  <a:t>disebut</a:t>
                </a:r>
                <a:r>
                  <a:rPr lang="en-US" dirty="0"/>
                  <a:t> juga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sumbu</a:t>
                </a:r>
                <a:r>
                  <a:rPr lang="en-US" dirty="0"/>
                  <a:t> </a:t>
                </a:r>
                <a:r>
                  <a:rPr lang="en-US" dirty="0" err="1"/>
                  <a:t>simetri</a:t>
                </a:r>
                <a:r>
                  <a:rPr lang="en-US" dirty="0"/>
                  <a:t> 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	</a:t>
                </a:r>
                <a:r>
                  <a:rPr lang="en-US" dirty="0" err="1"/>
                  <a:t>disebut</a:t>
                </a:r>
                <a:r>
                  <a:rPr lang="en-US" dirty="0"/>
                  <a:t> juga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dirty="0" err="1"/>
                  <a:t>maksimum</a:t>
                </a:r>
                <a:r>
                  <a:rPr lang="en-US" dirty="0"/>
                  <a:t>/minimum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4DF49-EFEA-43F8-A75A-1F6450FBA3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328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97A1-0C7B-4AA4-9105-077748DB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2309B-D90E-42CB-BBBA-C8BE7098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38655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u="sng" dirty="0"/>
                  <a:t>Perpotongan </a:t>
                </a:r>
                <a:r>
                  <a:rPr lang="en-US" u="sng" dirty="0" err="1"/>
                  <a:t>dengan</a:t>
                </a:r>
                <a:r>
                  <a:rPr lang="en-US" u="sng" dirty="0"/>
                  <a:t> </a:t>
                </a:r>
                <a:r>
                  <a:rPr lang="en-US" u="sng" dirty="0" err="1"/>
                  <a:t>sumbu</a:t>
                </a:r>
                <a:r>
                  <a:rPr lang="en-US" u="sng" dirty="0"/>
                  <a:t> X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endParaRPr lang="en-US" u="sng" dirty="0"/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r>
                  <a:rPr lang="en-US" dirty="0" err="1"/>
                  <a:t>Terjadi</a:t>
                </a:r>
                <a:r>
                  <a:rPr lang="en-US" dirty="0"/>
                  <a:t> </a:t>
                </a:r>
                <a:r>
                  <a:rPr lang="en-US" dirty="0" err="1"/>
                  <a:t>saat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pemfaktoran</a:t>
                </a:r>
                <a:r>
                  <a:rPr lang="en-US" dirty="0"/>
                  <a:t> </a:t>
                </a:r>
                <a:r>
                  <a:rPr lang="en-US" dirty="0" err="1"/>
                  <a:t>maupun</a:t>
                </a:r>
                <a:r>
                  <a:rPr lang="en-US" dirty="0"/>
                  <a:t> </a:t>
                </a:r>
                <a:r>
                  <a:rPr lang="en-US" dirty="0" err="1"/>
                  <a:t>rumus</a:t>
                </a:r>
                <a:r>
                  <a:rPr lang="en-US" dirty="0"/>
                  <a:t> ABC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ra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diperoleh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yang </a:t>
                </a:r>
                <a:r>
                  <a:rPr lang="en-US" dirty="0" err="1"/>
                  <a:t>disebut</a:t>
                </a:r>
                <a:r>
                  <a:rPr lang="en-US" dirty="0"/>
                  <a:t> juga </a:t>
                </a:r>
                <a:r>
                  <a:rPr lang="en-US" dirty="0" err="1"/>
                  <a:t>sebagai</a:t>
                </a:r>
                <a:r>
                  <a:rPr lang="en-US" dirty="0"/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pembuat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nol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akar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persamaan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u="sng" dirty="0"/>
                  <a:t>Perpotongan </a:t>
                </a:r>
                <a:r>
                  <a:rPr lang="en-US" u="sng" dirty="0" err="1"/>
                  <a:t>dengan</a:t>
                </a:r>
                <a:r>
                  <a:rPr lang="en-US" u="sng" dirty="0"/>
                  <a:t> </a:t>
                </a:r>
                <a:r>
                  <a:rPr lang="en-US" u="sng" dirty="0" err="1"/>
                  <a:t>sumbu</a:t>
                </a:r>
                <a:r>
                  <a:rPr lang="en-US" u="sng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Terjadi</a:t>
                </a:r>
                <a:r>
                  <a:rPr lang="en-US" dirty="0"/>
                  <a:t> </a:t>
                </a:r>
                <a:r>
                  <a:rPr lang="en-US" dirty="0" err="1"/>
                  <a:t>saat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Sehingga</a:t>
                </a:r>
                <a:r>
                  <a:rPr lang="en-US" dirty="0"/>
                  <a:t> </a:t>
                </a:r>
                <a:r>
                  <a:rPr lang="en-US" dirty="0" err="1"/>
                  <a:t>diperoleh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.0+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C2309B-D90E-42CB-BBBA-C8BE7098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386559"/>
              </a:xfrm>
              <a:blipFill>
                <a:blip r:embed="rId2"/>
                <a:stretch>
                  <a:fillRect l="-442" t="-4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78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EA90-6E2E-406C-A5AF-7B064A4F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E2DC0-3513-4B06-B68A-A789C65B8D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US" u="sng" dirty="0"/>
                  <a:t>eorema Vieta </a:t>
                </a:r>
              </a:p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dan </a:t>
                </a:r>
                <a:r>
                  <a:rPr lang="en-US" dirty="0" err="1"/>
                  <a:t>akar-akar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dirty="0"/>
                </a:b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berlaku</a:t>
                </a:r>
                <a:r>
                  <a:rPr lang="en-US" dirty="0"/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E2DC0-3513-4B06-B68A-A789C65B8D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940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6A10-61D1-4D59-8FA4-B1EF8074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172F73-43BD-43EF-9DD7-B6765570B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46968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err="1"/>
                  <a:t>Diskriminan</a:t>
                </a: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Memiliki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Diskriminan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digunakan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mencari</a:t>
                </a:r>
                <a:r>
                  <a:rPr lang="en-US" dirty="0"/>
                  <a:t> </a:t>
                </a:r>
                <a:r>
                  <a:rPr lang="en-US" dirty="0" err="1"/>
                  <a:t>tahu</a:t>
                </a:r>
                <a:r>
                  <a:rPr lang="en-US" dirty="0"/>
                  <a:t> </a:t>
                </a:r>
                <a:r>
                  <a:rPr lang="en-US" dirty="0" err="1"/>
                  <a:t>kondisi</a:t>
                </a:r>
                <a:r>
                  <a:rPr lang="en-US" dirty="0"/>
                  <a:t>/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terdapat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 real yang </a:t>
                </a:r>
                <a:r>
                  <a:rPr lang="en-US" dirty="0" err="1"/>
                  <a:t>berbeda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terdapat</a:t>
                </a:r>
                <a:r>
                  <a:rPr lang="en-US" dirty="0"/>
                  <a:t> </a:t>
                </a:r>
                <a:r>
                  <a:rPr lang="en-US" dirty="0" err="1"/>
                  <a:t>tepat</a:t>
                </a:r>
                <a:r>
                  <a:rPr lang="en-US" dirty="0"/>
                  <a:t> 1 </a:t>
                </a:r>
                <a:r>
                  <a:rPr lang="en-US" dirty="0" err="1"/>
                  <a:t>akar</a:t>
                </a:r>
                <a:r>
                  <a:rPr lang="en-US" dirty="0"/>
                  <a:t> real,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ada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 real yang </a:t>
                </a:r>
                <a:r>
                  <a:rPr lang="en-US" dirty="0" err="1"/>
                  <a:t>bernilai</a:t>
                </a:r>
                <a:r>
                  <a:rPr lang="en-US" dirty="0"/>
                  <a:t> </a:t>
                </a:r>
                <a:r>
                  <a:rPr lang="en-US" dirty="0" err="1"/>
                  <a:t>kembar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&lt;0, </m:t>
                    </m:r>
                  </m:oMath>
                </a14:m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terdapat</a:t>
                </a:r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 real,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kedua</a:t>
                </a:r>
                <a:r>
                  <a:rPr lang="en-US" dirty="0"/>
                  <a:t> </a:t>
                </a:r>
                <a:r>
                  <a:rPr lang="en-US" dirty="0" err="1"/>
                  <a:t>akarnya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</a:t>
                </a:r>
                <a:r>
                  <a:rPr lang="en-US" dirty="0" err="1"/>
                  <a:t>imajiner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172F73-43BD-43EF-9DD7-B6765570B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469686"/>
              </a:xfr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560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07B4-1D21-4CB6-BA89-8F913645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137D3-5EF5-408F-BFBF-448C1435F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Jika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kuadrat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memiliki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dirty="0" err="1"/>
                  <a:t>diskriminan</a:t>
                </a:r>
                <a:r>
                  <a:rPr lang="en-US" dirty="0"/>
                  <a:t> yang </a:t>
                </a:r>
                <a:r>
                  <a:rPr lang="en-US" dirty="0" err="1"/>
                  <a:t>kurang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nol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tersebut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digambarkan</a:t>
                </a:r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berada</a:t>
                </a:r>
                <a:r>
                  <a:rPr lang="en-US" dirty="0"/>
                  <a:t> di </a:t>
                </a:r>
                <a:r>
                  <a:rPr lang="en-US" dirty="0" err="1"/>
                  <a:t>atas</a:t>
                </a:r>
                <a:r>
                  <a:rPr lang="en-US" dirty="0"/>
                  <a:t> </a:t>
                </a:r>
                <a:r>
                  <a:rPr lang="en-US" dirty="0" err="1"/>
                  <a:t>sumbu</a:t>
                </a:r>
                <a:r>
                  <a:rPr lang="en-US" dirty="0"/>
                  <a:t> X </a:t>
                </a:r>
                <a:r>
                  <a:rPr lang="en-US" dirty="0" err="1"/>
                  <a:t>atau</a:t>
                </a:r>
                <a:r>
                  <a:rPr lang="en-US" dirty="0"/>
                  <a:t> di </a:t>
                </a:r>
                <a:r>
                  <a:rPr lang="en-US" dirty="0" err="1"/>
                  <a:t>bawah</a:t>
                </a:r>
                <a:r>
                  <a:rPr lang="en-US" dirty="0"/>
                  <a:t> </a:t>
                </a:r>
                <a:r>
                  <a:rPr lang="en-US" dirty="0" err="1"/>
                  <a:t>sumbu</a:t>
                </a:r>
                <a:r>
                  <a:rPr lang="en-US" dirty="0"/>
                  <a:t> X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 Jika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berbentuk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), </a:t>
                </a:r>
                <a:br>
                  <a:rPr lang="en-US" dirty="0"/>
                </a:b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grafik</a:t>
                </a:r>
                <a:r>
                  <a:rPr lang="en-US" dirty="0"/>
                  <a:t> </a:t>
                </a:r>
                <a:r>
                  <a:rPr lang="en-US" dirty="0" err="1"/>
                  <a:t>berada</a:t>
                </a:r>
                <a:r>
                  <a:rPr lang="en-US" dirty="0"/>
                  <a:t> di </a:t>
                </a:r>
                <a:r>
                  <a:rPr lang="en-US" dirty="0" err="1"/>
                  <a:t>atas</a:t>
                </a:r>
                <a:r>
                  <a:rPr lang="en-US" dirty="0"/>
                  <a:t> </a:t>
                </a:r>
                <a:r>
                  <a:rPr lang="en-US" dirty="0" err="1"/>
                  <a:t>sumbu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biasa</a:t>
                </a:r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definit</a:t>
                </a:r>
                <a:r>
                  <a:rPr lang="en-US" dirty="0"/>
                  <a:t> </a:t>
                </a:r>
                <a:r>
                  <a:rPr lang="en-US" dirty="0" err="1"/>
                  <a:t>positif</a:t>
                </a:r>
                <a:endParaRPr lang="en-US" dirty="0"/>
              </a:p>
              <a:p>
                <a:r>
                  <a:rPr lang="en-US" dirty="0"/>
                  <a:t> Jika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berbentuk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), </a:t>
                </a:r>
                <a:br>
                  <a:rPr lang="en-US" dirty="0"/>
                </a:b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grafik</a:t>
                </a:r>
                <a:r>
                  <a:rPr lang="en-US" dirty="0"/>
                  <a:t> </a:t>
                </a:r>
                <a:r>
                  <a:rPr lang="en-US" dirty="0" err="1"/>
                  <a:t>berada</a:t>
                </a:r>
                <a:r>
                  <a:rPr lang="en-US" dirty="0"/>
                  <a:t> di </a:t>
                </a:r>
                <a:r>
                  <a:rPr lang="en-US" dirty="0" err="1"/>
                  <a:t>bawah</a:t>
                </a:r>
                <a:r>
                  <a:rPr lang="en-US" dirty="0"/>
                  <a:t> </a:t>
                </a:r>
                <a:r>
                  <a:rPr lang="en-US" dirty="0" err="1"/>
                  <a:t>sumbu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biasa</a:t>
                </a:r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definit</a:t>
                </a:r>
                <a:r>
                  <a:rPr lang="en-US" dirty="0"/>
                  <a:t> </a:t>
                </a:r>
                <a:r>
                  <a:rPr lang="en-US" dirty="0" err="1"/>
                  <a:t>negatif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9137D3-5EF5-408F-BFBF-448C1435F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582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3AC5-E1DC-46AB-8ECA-858F19B2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4F7AB-909C-43BB-8193-CA77BDC48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31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9AE8-CB77-44AB-9E24-D51C1006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Polinomial</a:t>
            </a:r>
            <a:r>
              <a:rPr lang="en-US" dirty="0"/>
              <a:t> (SUKU BANYAK)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9763AD-3F23-4680-9A7C-00E3294AF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449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Bentuk </a:t>
                </a:r>
                <a:r>
                  <a:rPr lang="en-US" dirty="0" err="1"/>
                  <a:t>umum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 err="1"/>
                  <a:t>Istilah</a:t>
                </a:r>
                <a:r>
                  <a:rPr lang="en-US" u="sng" dirty="0"/>
                  <a:t> yang </a:t>
                </a:r>
                <a:r>
                  <a:rPr lang="en-US" u="sng" dirty="0" err="1"/>
                  <a:t>sering</a:t>
                </a:r>
                <a:r>
                  <a:rPr lang="en-US" u="sng" dirty="0"/>
                  <a:t> </a:t>
                </a:r>
                <a:r>
                  <a:rPr lang="en-US" u="sng" dirty="0" err="1"/>
                  <a:t>dipakai</a:t>
                </a:r>
                <a:endParaRPr lang="en-US" u="sng" dirty="0"/>
              </a:p>
              <a:p>
                <a:r>
                  <a:rPr lang="en-US" dirty="0" err="1">
                    <a:solidFill>
                      <a:srgbClr val="0070C0"/>
                    </a:solidFill>
                  </a:rPr>
                  <a:t>Derajat</a:t>
                </a:r>
                <a:r>
                  <a:rPr lang="en-US" dirty="0"/>
                  <a:t> : </a:t>
                </a:r>
                <a:r>
                  <a:rPr lang="en-US" dirty="0" err="1"/>
                  <a:t>pangkat</a:t>
                </a:r>
                <a:r>
                  <a:rPr lang="en-US" dirty="0"/>
                  <a:t> </a:t>
                </a:r>
                <a:r>
                  <a:rPr lang="en-US" dirty="0" err="1"/>
                  <a:t>tertinggi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variable yang </a:t>
                </a:r>
                <a:r>
                  <a:rPr lang="en-US" dirty="0" err="1"/>
                  <a:t>digunakan</a:t>
                </a:r>
                <a:endParaRPr lang="en-US" dirty="0"/>
              </a:p>
              <a:p>
                <a:r>
                  <a:rPr lang="en-US" dirty="0" err="1"/>
                  <a:t>Polinomial</a:t>
                </a:r>
                <a:r>
                  <a:rPr lang="en-US" dirty="0"/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monik</a:t>
                </a:r>
                <a:r>
                  <a:rPr lang="en-US" dirty="0"/>
                  <a:t> : polynomial yang </a:t>
                </a:r>
                <a:r>
                  <a:rPr lang="en-US" dirty="0" err="1"/>
                  <a:t>koefisien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yang </a:t>
                </a:r>
                <a:r>
                  <a:rPr lang="en-US" dirty="0" err="1"/>
                  <a:t>berpangkat</a:t>
                </a:r>
                <a:r>
                  <a:rPr lang="en-US" dirty="0"/>
                  <a:t> </a:t>
                </a:r>
                <a:r>
                  <a:rPr lang="en-US" dirty="0" err="1"/>
                  <a:t>tertinggi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1</a:t>
                </a:r>
              </a:p>
              <a:p>
                <a:r>
                  <a:rPr lang="en-US" dirty="0" err="1">
                    <a:solidFill>
                      <a:srgbClr val="0070C0"/>
                    </a:solidFill>
                  </a:rPr>
                  <a:t>Akar</a:t>
                </a:r>
                <a:r>
                  <a:rPr lang="en-US" dirty="0"/>
                  <a:t> polynomial : </a:t>
                </a:r>
                <a:r>
                  <a:rPr lang="en-US" dirty="0" err="1"/>
                  <a:t>nilai</a:t>
                </a:r>
                <a:r>
                  <a:rPr lang="en-US" dirty="0"/>
                  <a:t> yang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disubstitusikan</a:t>
                </a:r>
                <a:r>
                  <a:rPr lang="en-US" dirty="0"/>
                  <a:t> </a:t>
                </a:r>
                <a:r>
                  <a:rPr lang="en-US" dirty="0" err="1"/>
                  <a:t>ke</a:t>
                </a:r>
                <a:r>
                  <a:rPr lang="en-US" dirty="0"/>
                  <a:t> </a:t>
                </a:r>
                <a:r>
                  <a:rPr lang="en-US" dirty="0" err="1"/>
                  <a:t>dalam</a:t>
                </a:r>
                <a:r>
                  <a:rPr lang="en-US" dirty="0"/>
                  <a:t> polynomial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menghasilkan</a:t>
                </a:r>
                <a:r>
                  <a:rPr lang="en-US" dirty="0"/>
                  <a:t> </a:t>
                </a:r>
                <a:r>
                  <a:rPr lang="en-US" dirty="0" err="1"/>
                  <a:t>nol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Contoh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 </a:t>
                </a:r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disubstitusikan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 </a:t>
                </a:r>
                <a:r>
                  <a:rPr lang="en-US" dirty="0" err="1"/>
                  <a:t>Artinya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polinom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Perhatikan</a:t>
                </a:r>
                <a:r>
                  <a:rPr lang="en-US" dirty="0"/>
                  <a:t> juga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factor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9763AD-3F23-4680-9A7C-00E3294AF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4490760"/>
              </a:xfrm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254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40B5-0FB7-4A8C-B6E8-A8F4F756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90B2F-1128-4AA7-AD9B-6DEC208EEC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Contoh :</a:t>
                </a: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/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indent="-457200">
                  <a:buAutoNum type="arabi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90B2F-1128-4AA7-AD9B-6DEC208EE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853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3B91-576D-41FC-9F85-C0B7DA83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40BA8D-5D09-4230-AEA1-79EBFF181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Dua </a:t>
                </a:r>
                <a:r>
                  <a:rPr lang="en-US" dirty="0" err="1"/>
                  <a:t>buah</a:t>
                </a:r>
                <a:r>
                  <a:rPr lang="en-US" dirty="0"/>
                  <a:t> polynomial, </a:t>
                </a:r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dikatakan</a:t>
                </a:r>
                <a:r>
                  <a:rPr lang="en-US" dirty="0"/>
                  <a:t> </a:t>
                </a:r>
                <a:r>
                  <a:rPr lang="en-US" b="1" i="0" dirty="0" err="1">
                    <a:latin typeface="+mj-lt"/>
                  </a:rPr>
                  <a:t>sama</a:t>
                </a:r>
                <a:r>
                  <a:rPr lang="en-US" dirty="0"/>
                  <a:t>,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:r>
                  <a:rPr lang="en-US" dirty="0" err="1"/>
                  <a:t>polinomnya</a:t>
                </a:r>
                <a:r>
                  <a:rPr lang="en-US" dirty="0"/>
                  <a:t> </a:t>
                </a:r>
                <a:r>
                  <a:rPr lang="en-US" dirty="0" err="1"/>
                  <a:t>sama</a:t>
                </a:r>
                <a:r>
                  <a:rPr lang="en-US" dirty="0"/>
                  <a:t> dan </a:t>
                </a:r>
                <a:r>
                  <a:rPr lang="en-US" dirty="0" err="1"/>
                  <a:t>koefisien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tiap</a:t>
                </a:r>
                <a:r>
                  <a:rPr lang="en-US" dirty="0"/>
                  <a:t> </a:t>
                </a:r>
                <a:r>
                  <a:rPr lang="en-US" dirty="0" err="1"/>
                  <a:t>suku</a:t>
                </a:r>
                <a:r>
                  <a:rPr lang="en-US" dirty="0"/>
                  <a:t> yang </a:t>
                </a:r>
                <a:r>
                  <a:rPr lang="en-US" dirty="0" err="1"/>
                  <a:t>bersesuaian</a:t>
                </a:r>
                <a:r>
                  <a:rPr lang="en-US" dirty="0"/>
                  <a:t> </a:t>
                </a:r>
                <a:r>
                  <a:rPr lang="en-US" dirty="0" err="1"/>
                  <a:t>nilainya</a:t>
                </a:r>
                <a:r>
                  <a:rPr lang="en-US" dirty="0"/>
                  <a:t> juga </a:t>
                </a:r>
                <a:r>
                  <a:rPr lang="en-US" dirty="0" err="1"/>
                  <a:t>sama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 err="1"/>
                  <a:t>Sisa</a:t>
                </a:r>
                <a:r>
                  <a:rPr lang="en-US" u="sng" dirty="0"/>
                  <a:t> </a:t>
                </a:r>
                <a:r>
                  <a:rPr lang="en-US" u="sng" dirty="0" err="1"/>
                  <a:t>pembagian</a:t>
                </a:r>
                <a:endParaRPr lang="en-US" u="sng" dirty="0"/>
              </a:p>
              <a:p>
                <a:pPr marL="0" indent="0">
                  <a:buNone/>
                </a:pP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buah</a:t>
                </a:r>
                <a:r>
                  <a:rPr lang="en-US" dirty="0"/>
                  <a:t> polynomial, </a:t>
                </a:r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dibagi</a:t>
                </a:r>
                <a:r>
                  <a:rPr lang="en-US" dirty="0"/>
                  <a:t> oleh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dan </a:t>
                </a:r>
                <a:r>
                  <a:rPr lang="en-US" dirty="0" err="1"/>
                  <a:t>terdapat</a:t>
                </a:r>
                <a:r>
                  <a:rPr lang="en-US" dirty="0"/>
                  <a:t> polynomial lain 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sedemikian</a:t>
                </a:r>
                <a:r>
                  <a:rPr lang="en-US" dirty="0"/>
                  <a:t> </a:t>
                </a:r>
                <a:r>
                  <a:rPr lang="en-US" dirty="0" err="1"/>
                  <a:t>sehingga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polinom</a:t>
                </a:r>
                <a:r>
                  <a:rPr lang="en-US" dirty="0"/>
                  <a:t> </a:t>
                </a:r>
                <a:r>
                  <a:rPr lang="en-US" dirty="0" err="1"/>
                  <a:t>pembagi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bagi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sisa</a:t>
                </a:r>
                <a:r>
                  <a:rPr lang="en-US" dirty="0"/>
                  <a:t> </a:t>
                </a:r>
                <a:r>
                  <a:rPr lang="en-US" dirty="0" err="1"/>
                  <a:t>pembagian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b="0" i="0" dirty="0" err="1">
                    <a:latin typeface="+mj-lt"/>
                  </a:rPr>
                  <a:t>derajat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40BA8D-5D09-4230-AEA1-79EBFF181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 t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3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7C7F-8ED7-4F3E-88ED-CAC4F31C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F42B9-3CFD-43A6-A871-4FDB98CC5F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Teorema yang </a:t>
                </a:r>
                <a:r>
                  <a:rPr lang="en-US" b="1" dirty="0" err="1"/>
                  <a:t>dapat</a:t>
                </a:r>
                <a:r>
                  <a:rPr lang="en-US" b="1" dirty="0"/>
                  <a:t> </a:t>
                </a:r>
                <a:r>
                  <a:rPr lang="en-US" b="1" dirty="0" err="1"/>
                  <a:t>digunakan</a:t>
                </a:r>
                <a:endParaRPr lang="en-US" b="1" dirty="0"/>
              </a:p>
              <a:p>
                <a:pPr marL="0" indent="0">
                  <a:buNone/>
                </a:pPr>
                <a:endParaRPr lang="en-US" u="sng" dirty="0"/>
              </a:p>
              <a:p>
                <a:r>
                  <a:rPr lang="en-US" u="sng" dirty="0" err="1"/>
                  <a:t>Terorema</a:t>
                </a:r>
                <a:r>
                  <a:rPr lang="en-US" u="sng" dirty="0"/>
                  <a:t> </a:t>
                </a:r>
                <a:r>
                  <a:rPr lang="en-US" u="sng" dirty="0" err="1"/>
                  <a:t>sisa</a:t>
                </a:r>
                <a:endParaRPr lang="en-US" u="sng" dirty="0"/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polynomial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dibagi</a:t>
                </a:r>
                <a:r>
                  <a:rPr lang="en-US" dirty="0"/>
                  <a:t> oleh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maka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hasilnya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u="sng" dirty="0" err="1"/>
                  <a:t>Teorema</a:t>
                </a:r>
                <a:r>
                  <a:rPr lang="en-US" u="sng" dirty="0"/>
                  <a:t> </a:t>
                </a:r>
                <a:r>
                  <a:rPr lang="en-US" u="sng" dirty="0" err="1"/>
                  <a:t>faktor</a:t>
                </a:r>
                <a:r>
                  <a:rPr lang="en-US" u="sng" dirty="0"/>
                  <a:t> </a:t>
                </a:r>
              </a:p>
              <a:p>
                <a:pPr marL="0" indent="0">
                  <a:buNone/>
                </a:pP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polynomial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suatu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yang </a:t>
                </a:r>
                <a:r>
                  <a:rPr lang="en-US" dirty="0" err="1"/>
                  <a:t>memenuhi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disebut</a:t>
                </a:r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 polynomial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faktor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F42B9-3CFD-43A6-A871-4FDB98CC5F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 t="-3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5731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EC31-525C-40D9-B6D7-3F685882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F0A319-ADBC-4380-A0FC-2544BAAA3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u="sng" dirty="0"/>
                  <a:t>Teorema Vieta</a:t>
                </a:r>
              </a:p>
              <a:p>
                <a:pPr marL="0" indent="0">
                  <a:buNone/>
                </a:pPr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memiliki</a:t>
                </a:r>
                <a:r>
                  <a:rPr lang="en-US" dirty="0"/>
                  <a:t> </a:t>
                </a:r>
                <a:r>
                  <a:rPr lang="en-US" dirty="0" err="1"/>
                  <a:t>sebanyak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akar</a:t>
                </a:r>
                <a:r>
                  <a:rPr lang="en-US" dirty="0"/>
                  <a:t>, </a:t>
                </a:r>
                <a:r>
                  <a:rPr lang="en-US" dirty="0" err="1"/>
                  <a:t>misalkan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yang </a:t>
                </a:r>
                <a:r>
                  <a:rPr lang="en-US" dirty="0" err="1"/>
                  <a:t>memenuhi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F0A319-ADBC-4380-A0FC-2544BAAA3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 t="-2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688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F2E6-3FA2-4279-9081-ECF022FF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7681-BFE0-492A-B496-D55CEF89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yang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polinomial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clue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pada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teorema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mengerjakannya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plot </a:t>
            </a:r>
            <a:r>
              <a:rPr lang="en-US" dirty="0" err="1"/>
              <a:t>grafik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menyelidiki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polinomialnya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Teknik </a:t>
            </a:r>
            <a:r>
              <a:rPr lang="en-US" dirty="0" err="1"/>
              <a:t>pemisalan</a:t>
            </a:r>
            <a:r>
              <a:rPr lang="en-US" dirty="0"/>
              <a:t> dan </a:t>
            </a:r>
            <a:r>
              <a:rPr lang="en-US" dirty="0" err="1"/>
              <a:t>substitusi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koefisien-koefisiennya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7946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1504</TotalTime>
  <Words>1606</Words>
  <Application>Microsoft Office PowerPoint</Application>
  <PresentationFormat>Widescreen</PresentationFormat>
  <Paragraphs>162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Cambria Math</vt:lpstr>
      <vt:lpstr>Georgia</vt:lpstr>
      <vt:lpstr>Wingdings 2</vt:lpstr>
      <vt:lpstr>Dividend</vt:lpstr>
      <vt:lpstr>ALJABAR</vt:lpstr>
      <vt:lpstr>Pemfaktoran, penguraian dan manipulasi aljabar</vt:lpstr>
      <vt:lpstr>PowerPoint Presentation</vt:lpstr>
      <vt:lpstr>PowerPoint Presentation</vt:lpstr>
      <vt:lpstr>PowerPoint Presentation</vt:lpstr>
      <vt:lpstr>-</vt:lpstr>
      <vt:lpstr>Barisan dan Deret</vt:lpstr>
      <vt:lpstr>PowerPoint Presentation</vt:lpstr>
      <vt:lpstr>PowerPoint Presentation</vt:lpstr>
      <vt:lpstr>-</vt:lpstr>
      <vt:lpstr>Fungsi</vt:lpstr>
      <vt:lpstr>-</vt:lpstr>
      <vt:lpstr>PERSAMAAN GARIS</vt:lpstr>
      <vt:lpstr>PowerPoint Presentation</vt:lpstr>
      <vt:lpstr>PowerPoint Presentation</vt:lpstr>
      <vt:lpstr>-</vt:lpstr>
      <vt:lpstr>Persamaan Kuadrat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-</vt:lpstr>
      <vt:lpstr>Polinomial (SUKU BANYAK)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ALJABAR</dc:title>
  <dc:creator>dian sito</dc:creator>
  <cp:lastModifiedBy>dian sito</cp:lastModifiedBy>
  <cp:revision>13</cp:revision>
  <dcterms:created xsi:type="dcterms:W3CDTF">2020-10-18T22:46:24Z</dcterms:created>
  <dcterms:modified xsi:type="dcterms:W3CDTF">2020-10-19T23:50:31Z</dcterms:modified>
</cp:coreProperties>
</file>