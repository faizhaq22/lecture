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31"/>
  </p:notesMasterIdLst>
  <p:sldIdLst>
    <p:sldId id="257" r:id="rId3"/>
    <p:sldId id="258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335" r:id="rId29"/>
    <p:sldId id="336" r:id="rId30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40" autoAdjust="0"/>
    <p:restoredTop sz="90000" autoAdjust="0"/>
  </p:normalViewPr>
  <p:slideViewPr>
    <p:cSldViewPr>
      <p:cViewPr varScale="1">
        <p:scale>
          <a:sx n="63" d="100"/>
          <a:sy n="63" d="100"/>
        </p:scale>
        <p:origin x="146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108269-0876-4094-960B-B1D2E6121D14}" type="datetimeFigureOut">
              <a:rPr lang="id-ID" smtClean="0"/>
              <a:pPr/>
              <a:t>28/03/2017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3314EB-69DA-4118-8E22-73632E2D0326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55916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78000" y="609600"/>
            <a:ext cx="3454400" cy="2590800"/>
          </a:xfrm>
          <a:ln/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230726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78000" y="609600"/>
            <a:ext cx="3454400" cy="2590800"/>
          </a:xfrm>
          <a:ln/>
        </p:spPr>
      </p:sp>
      <p:sp>
        <p:nvSpPr>
          <p:cNvPr id="45058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65616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78000" y="609600"/>
            <a:ext cx="3454400" cy="2590800"/>
          </a:xfrm>
          <a:ln/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228948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78000" y="609600"/>
            <a:ext cx="3454400" cy="2590800"/>
          </a:xfrm>
          <a:ln/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67605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78000" y="609600"/>
            <a:ext cx="3454400" cy="2590800"/>
          </a:xfrm>
          <a:ln/>
        </p:spPr>
      </p:sp>
      <p:sp>
        <p:nvSpPr>
          <p:cNvPr id="73730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751943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78000" y="609600"/>
            <a:ext cx="3454400" cy="2590800"/>
          </a:xfrm>
          <a:ln/>
        </p:spPr>
      </p:sp>
      <p:sp>
        <p:nvSpPr>
          <p:cNvPr id="75778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638076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78000" y="609600"/>
            <a:ext cx="3454400" cy="2590800"/>
          </a:xfrm>
          <a:ln/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1573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4077-1C08-4E6D-86D5-41011C1B7181}" type="datetimeFigureOut">
              <a:rPr lang="id-ID" smtClean="0"/>
              <a:pPr/>
              <a:t>28/03/2017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4077-1C08-4E6D-86D5-41011C1B7181}" type="datetimeFigureOut">
              <a:rPr lang="id-ID" smtClean="0"/>
              <a:pPr/>
              <a:t>28/03/2017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4077-1C08-4E6D-86D5-41011C1B7181}" type="datetimeFigureOut">
              <a:rPr lang="id-ID" smtClean="0"/>
              <a:pPr/>
              <a:t>28/03/2017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4077-1C08-4E6D-86D5-41011C1B7181}" type="datetimeFigureOut">
              <a:rPr lang="id-ID" smtClean="0"/>
              <a:pPr/>
              <a:t>28/03/2017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4077-1C08-4E6D-86D5-41011C1B7181}" type="datetimeFigureOut">
              <a:rPr lang="id-ID" smtClean="0"/>
              <a:pPr/>
              <a:t>28/03/2017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4077-1C08-4E6D-86D5-41011C1B7181}" type="datetimeFigureOut">
              <a:rPr lang="id-ID" smtClean="0"/>
              <a:pPr/>
              <a:t>28/03/2017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4077-1C08-4E6D-86D5-41011C1B7181}" type="datetimeFigureOut">
              <a:rPr lang="id-ID" smtClean="0"/>
              <a:pPr/>
              <a:t>28/03/2017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4077-1C08-4E6D-86D5-41011C1B7181}" type="datetimeFigureOut">
              <a:rPr lang="id-ID" smtClean="0"/>
              <a:pPr/>
              <a:t>28/03/2017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4077-1C08-4E6D-86D5-41011C1B7181}" type="datetimeFigureOut">
              <a:rPr lang="id-ID" smtClean="0"/>
              <a:pPr/>
              <a:t>28/03/2017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4077-1C08-4E6D-86D5-41011C1B7181}" type="datetimeFigureOut">
              <a:rPr lang="id-ID" smtClean="0"/>
              <a:pPr/>
              <a:t>28/03/2017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D4077-1C08-4E6D-86D5-41011C1B7181}" type="datetimeFigureOut">
              <a:rPr lang="id-ID" smtClean="0"/>
              <a:pPr/>
              <a:t>28/03/2017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80" name="Rectangle 28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5373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899E3513-BECA-4E24-8822-DFFD2DAEE0D3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49184" name="Picture 3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590800"/>
            <a:ext cx="8686800" cy="117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185" name="Rectangle 33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80" name="Rectangle 28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5373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899E3513-BECA-4E24-8822-DFFD2DAEE0D3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49184" name="Picture 3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590800"/>
            <a:ext cx="8686800" cy="117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185" name="Rectangle 33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4CB9D1E0-150C-4A44-B590-C9F2BF2476A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65E1AAA5-F493-49E3-A297-833A438D11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68488"/>
            <a:ext cx="3962400" cy="45323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868488"/>
            <a:ext cx="3962400" cy="45323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ABACB24E-C9DD-47EE-AC5F-F140E51EED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710D9775-8EE9-4D22-8787-5582AB700D9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BEE82FA8-8A43-4228-95D2-65BA4BA3573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7E1C78F9-8AB3-4D6F-AE6E-00AAB418712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11519E5B-3907-4CF5-87FA-8233913A21F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0047E53B-726E-4C0F-895A-5CEBB02798A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3385EB60-6807-475B-8B7C-4C44B1890D6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100" y="228600"/>
            <a:ext cx="20193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28600"/>
            <a:ext cx="59055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 3-</a:t>
            </a:r>
            <a:fld id="{233DCDF9-FAA0-4B41-B4AF-61176F10BF7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28600"/>
            <a:ext cx="7383462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3962400" cy="453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828800"/>
            <a:ext cx="3962400" cy="453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©2012 Pearson Education, Inc. publishing as Prentice Hall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Chap 6-</a:t>
            </a:r>
            <a:fld id="{543E1AD6-A6B1-42EE-A520-FD91E515DED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28600"/>
            <a:ext cx="7383462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28800"/>
            <a:ext cx="3962400" cy="453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4400" y="1828800"/>
            <a:ext cx="3962400" cy="453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©2012 Pearson Education, Inc. publishing as Prentice Hall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Chap 6-</a:t>
            </a:r>
            <a:fld id="{68195E8D-E238-470F-B108-B9A4ADCC2C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D4077-1C08-4E6D-86D5-41011C1B7181}" type="datetimeFigureOut">
              <a:rPr lang="id-ID" smtClean="0"/>
              <a:pPr/>
              <a:t>28/03/2017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5B582-3C8F-4369-AAEA-77FB4C993647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228600"/>
            <a:ext cx="7793038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813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68488"/>
            <a:ext cx="8077200" cy="4532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5342" tIns="42672" rIns="85342" bIns="426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8152" name="Rectangle 2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52400" y="6534150"/>
            <a:ext cx="46482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>
            <a:lvl1pPr defTabSz="852488">
              <a:defRPr sz="1000" b="0"/>
            </a:lvl1pPr>
          </a:lstStyle>
          <a:p>
            <a:r>
              <a:rPr lang="en-US" smtClean="0"/>
              <a:t>Copyright ©2012 Pearson Education, Inc. publishing as Prentice Hall</a:t>
            </a:r>
            <a:endParaRPr lang="en-US"/>
          </a:p>
        </p:txBody>
      </p:sp>
      <p:sp>
        <p:nvSpPr>
          <p:cNvPr id="48153" name="Rectangle 2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>
            <a:lvl1pPr algn="r" defTabSz="852488">
              <a:defRPr sz="1000" b="0"/>
            </a:lvl1pPr>
          </a:lstStyle>
          <a:p>
            <a:r>
              <a:rPr lang="en-US"/>
              <a:t>Chap 3-</a:t>
            </a:r>
            <a:fld id="{F0D80EE3-0E34-4EFE-984F-183791D5182C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48154" name="Picture 26"/>
          <p:cNvPicPr>
            <a:picLocks noChangeAspect="1" noChangeArrowheads="1"/>
          </p:cNvPicPr>
          <p:nvPr userDrawn="1"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152400" y="533400"/>
            <a:ext cx="8686800" cy="117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2pPr>
      <a:lvl3pPr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3pPr>
      <a:lvl4pPr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4pPr>
      <a:lvl5pPr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5pPr>
      <a:lvl6pPr marL="457200"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6pPr>
      <a:lvl7pPr marL="914400"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7pPr>
      <a:lvl8pPr marL="1371600"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8pPr>
      <a:lvl9pPr marL="1828800"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9pPr>
    </p:titleStyle>
    <p:bodyStyle>
      <a:lvl1pPr marL="320675" indent="-320675" algn="l" defTabSz="852488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93738" indent="-268288" algn="l" defTabSz="852488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2pPr>
      <a:lvl3pPr marL="1068388" indent="-215900" algn="l" defTabSz="852488" rtl="0" fontAlgn="base">
        <a:spcBef>
          <a:spcPct val="20000"/>
        </a:spcBef>
        <a:spcAft>
          <a:spcPct val="0"/>
        </a:spcAft>
        <a:buClr>
          <a:schemeClr val="accent2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3pPr>
      <a:lvl4pPr marL="1493838" indent="-212725" algn="l" defTabSz="852488" rtl="0" fontAlgn="base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4pPr>
      <a:lvl5pPr marL="19192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5pPr>
      <a:lvl6pPr marL="23764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6pPr>
      <a:lvl7pPr marL="28336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7pPr>
      <a:lvl8pPr marL="32908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8pPr>
      <a:lvl9pPr marL="37480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8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oleObject" Target="../embeddings/oleObject15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14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3.wmf"/><Relationship Id="rId14" Type="http://schemas.openxmlformats.org/officeDocument/2006/relationships/image" Target="../media/image15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6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7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8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0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22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6" name="Rectangle 6"/>
          <p:cNvSpPr>
            <a:spLocks noChangeArrowheads="1"/>
          </p:cNvSpPr>
          <p:nvPr/>
        </p:nvSpPr>
        <p:spPr bwMode="auto">
          <a:xfrm>
            <a:off x="0" y="3657600"/>
            <a:ext cx="88392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id-ID" sz="3600" dirty="0" smtClean="0"/>
              <a:t>Pertemuan 6: Interval Konfidensi</a:t>
            </a:r>
            <a:endParaRPr lang="en-US" sz="3600" dirty="0"/>
          </a:p>
          <a:p>
            <a:pPr algn="ctr"/>
            <a:endParaRPr lang="en-US" sz="3600" b="0" dirty="0" smtClean="0"/>
          </a:p>
          <a:p>
            <a:pPr algn="ctr"/>
            <a:endParaRPr lang="en-US" sz="3600" b="0" dirty="0"/>
          </a:p>
          <a:p>
            <a:pPr algn="ctr"/>
            <a:r>
              <a:rPr lang="en-US" sz="3600" b="0" dirty="0" smtClean="0"/>
              <a:t>Tim </a:t>
            </a:r>
            <a:r>
              <a:rPr lang="id-ID" sz="3600" b="0" dirty="0" smtClean="0"/>
              <a:t>Dosen </a:t>
            </a:r>
            <a:r>
              <a:rPr lang="id-ID" sz="3600" b="0" dirty="0" smtClean="0"/>
              <a:t>Pengampu </a:t>
            </a:r>
            <a:r>
              <a:rPr lang="id-ID" sz="3600" b="0" dirty="0" smtClean="0"/>
              <a:t>MK</a:t>
            </a:r>
            <a:r>
              <a:rPr lang="en-US" sz="3600" dirty="0"/>
              <a:t> </a:t>
            </a:r>
            <a:r>
              <a:rPr lang="en-US" sz="3600" dirty="0" err="1" smtClean="0"/>
              <a:t>Statistika</a:t>
            </a:r>
            <a:endParaRPr lang="id-ID" sz="3600" b="0" dirty="0" smtClean="0"/>
          </a:p>
        </p:txBody>
      </p:sp>
      <p:sp>
        <p:nvSpPr>
          <p:cNvPr id="51211" name="Rectangle 11"/>
          <p:cNvSpPr>
            <a:spLocks noChangeArrowheads="1"/>
          </p:cNvSpPr>
          <p:nvPr/>
        </p:nvSpPr>
        <p:spPr bwMode="auto">
          <a:xfrm>
            <a:off x="838200" y="838200"/>
            <a:ext cx="7010400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5342" tIns="42672" rIns="85342" bIns="42672" anchor="b"/>
          <a:lstStyle/>
          <a:p>
            <a:pPr algn="ctr" defTabSz="852488"/>
            <a:r>
              <a:rPr lang="id-ID" sz="4000" b="0" dirty="0" smtClean="0">
                <a:solidFill>
                  <a:schemeClr val="folHlink"/>
                </a:solidFill>
              </a:rPr>
              <a:t>STATISTIK </a:t>
            </a:r>
            <a:endParaRPr lang="en-US" sz="2800" b="0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Materi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Interval konfidensi </a:t>
            </a: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0149C8FF-650E-4570-BE8B-DDAADB25965A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2252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8-</a:t>
            </a:r>
            <a:fld id="{87576CD1-7A56-4390-BEBF-99B3F64BEB84}" type="slidenum">
              <a:rPr lang="en-US" sz="1000"/>
              <a:pPr algn="r" defTabSz="852488"/>
              <a:t>3</a:t>
            </a:fld>
            <a:endParaRPr lang="en-US" sz="1000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0013" y="228600"/>
            <a:ext cx="7088187" cy="990600"/>
          </a:xfrm>
        </p:spPr>
        <p:txBody>
          <a:bodyPr/>
          <a:lstStyle/>
          <a:p>
            <a:pPr defTabSz="914400" eaLnBrk="1" hangingPunct="1">
              <a:lnSpc>
                <a:spcPct val="80000"/>
              </a:lnSpc>
            </a:pPr>
            <a:r>
              <a:rPr lang="id-ID" dirty="0" smtClean="0"/>
              <a:t>Estimasi Titik dan Interval Konfidensi</a:t>
            </a:r>
            <a:endParaRPr lang="en-US" dirty="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163763"/>
            <a:ext cx="8001000" cy="1427162"/>
          </a:xfrm>
        </p:spPr>
        <p:txBody>
          <a:bodyPr/>
          <a:lstStyle/>
          <a:p>
            <a:pPr marL="342900" indent="-342900" defTabSz="914400" eaLnBrk="1" hangingPunct="1">
              <a:lnSpc>
                <a:spcPct val="90000"/>
              </a:lnSpc>
            </a:pPr>
            <a:r>
              <a:rPr lang="id-ID" dirty="0" smtClean="0">
                <a:solidFill>
                  <a:schemeClr val="folHlink"/>
                </a:solidFill>
              </a:rPr>
              <a:t>Estimasi titik </a:t>
            </a:r>
            <a:r>
              <a:rPr lang="en-US" dirty="0" smtClean="0"/>
              <a:t> </a:t>
            </a:r>
            <a:r>
              <a:rPr lang="id-ID" dirty="0" smtClean="0"/>
              <a:t>berupa nilai tunggal</a:t>
            </a:r>
            <a:endParaRPr lang="en-US" dirty="0" smtClean="0"/>
          </a:p>
          <a:p>
            <a:pPr marL="342900" indent="-342900" defTabSz="914400" eaLnBrk="1" hangingPunct="1">
              <a:lnSpc>
                <a:spcPct val="90000"/>
              </a:lnSpc>
              <a:spcBef>
                <a:spcPct val="35000"/>
              </a:spcBef>
            </a:pPr>
            <a:r>
              <a:rPr lang="id-ID" dirty="0" smtClean="0">
                <a:solidFill>
                  <a:schemeClr val="folHlink"/>
                </a:solidFill>
              </a:rPr>
              <a:t>I</a:t>
            </a:r>
            <a:r>
              <a:rPr lang="en-US" dirty="0" err="1" smtClean="0">
                <a:solidFill>
                  <a:schemeClr val="folHlink"/>
                </a:solidFill>
              </a:rPr>
              <a:t>nterval</a:t>
            </a:r>
            <a:r>
              <a:rPr lang="id-ID" dirty="0" smtClean="0">
                <a:solidFill>
                  <a:schemeClr val="folHlink"/>
                </a:solidFill>
              </a:rPr>
              <a:t> konfidensi</a:t>
            </a:r>
            <a:r>
              <a:rPr lang="en-US" dirty="0" smtClean="0"/>
              <a:t> </a:t>
            </a:r>
            <a:r>
              <a:rPr lang="id-ID" dirty="0" smtClean="0"/>
              <a:t>memberikan informasi tambahan mengenai variabilitas estimasi</a:t>
            </a:r>
            <a:endParaRPr lang="en-US" dirty="0" smtClean="0"/>
          </a:p>
        </p:txBody>
      </p:sp>
      <p:sp>
        <p:nvSpPr>
          <p:cNvPr id="22532" name="Line 4"/>
          <p:cNvSpPr>
            <a:spLocks noChangeShapeType="1"/>
          </p:cNvSpPr>
          <p:nvPr/>
        </p:nvSpPr>
        <p:spPr bwMode="auto">
          <a:xfrm>
            <a:off x="1219200" y="3886200"/>
            <a:ext cx="6553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3" name="Line 5"/>
          <p:cNvSpPr>
            <a:spLocks noChangeShapeType="1"/>
          </p:cNvSpPr>
          <p:nvPr/>
        </p:nvSpPr>
        <p:spPr bwMode="auto">
          <a:xfrm>
            <a:off x="1222375" y="3657600"/>
            <a:ext cx="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4" name="Line 6"/>
          <p:cNvSpPr>
            <a:spLocks noChangeShapeType="1"/>
          </p:cNvSpPr>
          <p:nvPr/>
        </p:nvSpPr>
        <p:spPr bwMode="auto">
          <a:xfrm>
            <a:off x="7775575" y="3657600"/>
            <a:ext cx="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5" name="AutoShape 7"/>
          <p:cNvSpPr>
            <a:spLocks noChangeArrowheads="1"/>
          </p:cNvSpPr>
          <p:nvPr/>
        </p:nvSpPr>
        <p:spPr bwMode="auto">
          <a:xfrm>
            <a:off x="4419600" y="3733800"/>
            <a:ext cx="152400" cy="304800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6" name="AutoShape 8"/>
          <p:cNvSpPr>
            <a:spLocks noChangeArrowheads="1"/>
          </p:cNvSpPr>
          <p:nvPr/>
        </p:nvSpPr>
        <p:spPr bwMode="auto">
          <a:xfrm>
            <a:off x="4422775" y="4114800"/>
            <a:ext cx="152400" cy="685800"/>
          </a:xfrm>
          <a:prstGeom prst="upArrow">
            <a:avLst>
              <a:gd name="adj1" fmla="val 50000"/>
              <a:gd name="adj2" fmla="val 112500"/>
            </a:avLst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2822575" y="4800600"/>
            <a:ext cx="358140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id-ID" b="1" dirty="0" smtClean="0"/>
              <a:t>Estimasi titik</a:t>
            </a:r>
            <a:endParaRPr lang="en-US" b="1" dirty="0"/>
          </a:p>
        </p:txBody>
      </p:sp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688975" y="4343400"/>
            <a:ext cx="1752600" cy="70788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d-ID" sz="2000" b="1" dirty="0" smtClean="0"/>
              <a:t>Batas bawah konfidensi</a:t>
            </a:r>
            <a:endParaRPr lang="en-US" sz="2000" b="1" dirty="0"/>
          </a:p>
        </p:txBody>
      </p:sp>
      <p:sp>
        <p:nvSpPr>
          <p:cNvPr id="22539" name="Text Box 11"/>
          <p:cNvSpPr txBox="1">
            <a:spLocks noChangeArrowheads="1"/>
          </p:cNvSpPr>
          <p:nvPr/>
        </p:nvSpPr>
        <p:spPr bwMode="auto">
          <a:xfrm>
            <a:off x="7242175" y="4267200"/>
            <a:ext cx="1676400" cy="70788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d-ID" sz="2000" b="1" dirty="0" smtClean="0"/>
              <a:t>Batas atas konfidensi</a:t>
            </a:r>
            <a:endParaRPr lang="en-US" sz="2000" b="1" dirty="0"/>
          </a:p>
        </p:txBody>
      </p:sp>
      <p:sp>
        <p:nvSpPr>
          <p:cNvPr id="22540" name="Line 12"/>
          <p:cNvSpPr>
            <a:spLocks noChangeShapeType="1"/>
          </p:cNvSpPr>
          <p:nvPr/>
        </p:nvSpPr>
        <p:spPr bwMode="auto">
          <a:xfrm>
            <a:off x="1219200" y="5486400"/>
            <a:ext cx="65532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triangle" w="lg" len="lg"/>
            <a:tailEnd type="triangle" w="lg" len="lg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2743200" y="5486400"/>
            <a:ext cx="358140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id-ID" b="1" dirty="0" smtClean="0">
                <a:solidFill>
                  <a:schemeClr val="hlink"/>
                </a:solidFill>
              </a:rPr>
              <a:t>Lebar interval konfidensi</a:t>
            </a:r>
            <a:endParaRPr lang="en-US" b="1" dirty="0">
              <a:solidFill>
                <a:schemeClr val="hlink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7622C6F4-18C2-4497-B5D8-FFAFE0AC0622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355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8-</a:t>
            </a:r>
            <a:fld id="{54A140EE-E62D-4FC5-B33C-A4AB2572E46B}" type="slidenum">
              <a:rPr lang="en-US" sz="1000"/>
              <a:pPr algn="r" defTabSz="852488"/>
              <a:t>4</a:t>
            </a:fld>
            <a:endParaRPr lang="en-US" sz="1000"/>
          </a:p>
        </p:txBody>
      </p:sp>
      <p:sp>
        <p:nvSpPr>
          <p:cNvPr id="23554" name="Rectangle 6"/>
          <p:cNvSpPr>
            <a:spLocks noChangeArrowheads="1"/>
          </p:cNvSpPr>
          <p:nvPr/>
        </p:nvSpPr>
        <p:spPr bwMode="auto">
          <a:xfrm>
            <a:off x="762000" y="2514600"/>
            <a:ext cx="4291013" cy="643766"/>
          </a:xfrm>
          <a:prstGeom prst="rect">
            <a:avLst/>
          </a:prstGeom>
          <a:solidFill>
            <a:srgbClr val="C7DAF7"/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id-ID" dirty="0" smtClean="0">
                <a:solidFill>
                  <a:srgbClr val="000000"/>
                </a:solidFill>
              </a:rPr>
              <a:t>Estimasi parameter populasi</a:t>
            </a:r>
            <a:endParaRPr lang="en-US" dirty="0">
              <a:solidFill>
                <a:srgbClr val="000000"/>
              </a:solidFill>
            </a:endParaRPr>
          </a:p>
          <a:p>
            <a:pPr algn="ctr" eaLnBrk="0" hangingPunct="0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762000" y="3657600"/>
            <a:ext cx="2590800" cy="1524000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56" name="Rectangle 3"/>
          <p:cNvSpPr>
            <a:spLocks noChangeArrowheads="1"/>
          </p:cNvSpPr>
          <p:nvPr/>
        </p:nvSpPr>
        <p:spPr bwMode="auto">
          <a:xfrm>
            <a:off x="5053013" y="3581400"/>
            <a:ext cx="3276600" cy="1600200"/>
          </a:xfrm>
          <a:prstGeom prst="rect">
            <a:avLst/>
          </a:prstGeom>
          <a:solidFill>
            <a:srgbClr val="FDE0BD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57" name="Rectangle 4"/>
          <p:cNvSpPr>
            <a:spLocks noChangeArrowheads="1"/>
          </p:cNvSpPr>
          <p:nvPr/>
        </p:nvSpPr>
        <p:spPr bwMode="auto">
          <a:xfrm>
            <a:off x="3300413" y="3581400"/>
            <a:ext cx="1752600" cy="1600200"/>
          </a:xfrm>
          <a:prstGeom prst="rect">
            <a:avLst/>
          </a:prstGeom>
          <a:solidFill>
            <a:srgbClr val="C7DAF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5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dirty="0" smtClean="0"/>
              <a:t>Estimasi Titik</a:t>
            </a:r>
            <a:endParaRPr lang="en-US" dirty="0" smtClean="0"/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5053013" y="2514600"/>
            <a:ext cx="3276600" cy="643766"/>
          </a:xfrm>
          <a:prstGeom prst="rect">
            <a:avLst/>
          </a:prstGeom>
          <a:solidFill>
            <a:srgbClr val="FDE0BD"/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id-ID" dirty="0" smtClean="0">
                <a:solidFill>
                  <a:srgbClr val="000000"/>
                </a:solidFill>
              </a:rPr>
              <a:t>Dengan statistik sampel</a:t>
            </a:r>
            <a:endParaRPr lang="en-US" dirty="0">
              <a:solidFill>
                <a:srgbClr val="000000"/>
              </a:solidFill>
            </a:endParaRPr>
          </a:p>
          <a:p>
            <a:pPr algn="ctr" eaLnBrk="0" hangingPunct="0"/>
            <a:r>
              <a:rPr lang="en-US" dirty="0" smtClean="0">
                <a:solidFill>
                  <a:srgbClr val="000000"/>
                </a:solidFill>
              </a:rPr>
              <a:t>(</a:t>
            </a:r>
            <a:r>
              <a:rPr lang="id-ID" dirty="0" smtClean="0">
                <a:solidFill>
                  <a:srgbClr val="000000"/>
                </a:solidFill>
              </a:rPr>
              <a:t>estimasi titik</a:t>
            </a:r>
            <a:r>
              <a:rPr lang="en-US" dirty="0" smtClean="0">
                <a:solidFill>
                  <a:srgbClr val="000000"/>
                </a:solidFill>
              </a:rPr>
              <a:t>)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1066800" y="3810000"/>
            <a:ext cx="2003755" cy="52065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800" dirty="0" smtClean="0"/>
              <a:t>Mean</a:t>
            </a:r>
            <a:r>
              <a:rPr lang="id-ID" sz="2800" dirty="0" smtClean="0"/>
              <a:t>/rata2</a:t>
            </a:r>
            <a:endParaRPr lang="en-US" sz="2800" dirty="0"/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1014413" y="4495800"/>
            <a:ext cx="1522854" cy="52065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800" dirty="0" err="1" smtClean="0"/>
              <a:t>Propor</a:t>
            </a:r>
            <a:r>
              <a:rPr lang="id-ID" sz="2800" dirty="0" smtClean="0"/>
              <a:t>si</a:t>
            </a:r>
            <a:endParaRPr lang="en-US" sz="2800" dirty="0"/>
          </a:p>
        </p:txBody>
      </p:sp>
      <p:sp>
        <p:nvSpPr>
          <p:cNvPr id="23562" name="Line 10"/>
          <p:cNvSpPr>
            <a:spLocks noChangeShapeType="1"/>
          </p:cNvSpPr>
          <p:nvPr/>
        </p:nvSpPr>
        <p:spPr bwMode="auto">
          <a:xfrm flipH="1">
            <a:off x="785813" y="4419600"/>
            <a:ext cx="7543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63" name="Line 11"/>
          <p:cNvSpPr>
            <a:spLocks noChangeShapeType="1"/>
          </p:cNvSpPr>
          <p:nvPr/>
        </p:nvSpPr>
        <p:spPr bwMode="auto">
          <a:xfrm>
            <a:off x="762000" y="2514600"/>
            <a:ext cx="0" cy="2667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64" name="Line 12"/>
          <p:cNvSpPr>
            <a:spLocks noChangeShapeType="1"/>
          </p:cNvSpPr>
          <p:nvPr/>
        </p:nvSpPr>
        <p:spPr bwMode="auto">
          <a:xfrm flipH="1">
            <a:off x="762000" y="3657600"/>
            <a:ext cx="7543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65" name="Line 13"/>
          <p:cNvSpPr>
            <a:spLocks noChangeShapeType="1"/>
          </p:cNvSpPr>
          <p:nvPr/>
        </p:nvSpPr>
        <p:spPr bwMode="auto">
          <a:xfrm>
            <a:off x="3300413" y="3657600"/>
            <a:ext cx="0" cy="1524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66" name="Line 14"/>
          <p:cNvSpPr>
            <a:spLocks noChangeShapeType="1"/>
          </p:cNvSpPr>
          <p:nvPr/>
        </p:nvSpPr>
        <p:spPr bwMode="auto">
          <a:xfrm>
            <a:off x="5053013" y="2514600"/>
            <a:ext cx="0" cy="2667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67" name="Line 15"/>
          <p:cNvSpPr>
            <a:spLocks noChangeShapeType="1"/>
          </p:cNvSpPr>
          <p:nvPr/>
        </p:nvSpPr>
        <p:spPr bwMode="auto">
          <a:xfrm>
            <a:off x="8329613" y="2514600"/>
            <a:ext cx="0" cy="2667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68" name="Line 16"/>
          <p:cNvSpPr>
            <a:spLocks noChangeShapeType="1"/>
          </p:cNvSpPr>
          <p:nvPr/>
        </p:nvSpPr>
        <p:spPr bwMode="auto">
          <a:xfrm flipH="1">
            <a:off x="762000" y="2514600"/>
            <a:ext cx="75676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69" name="Line 17"/>
          <p:cNvSpPr>
            <a:spLocks noChangeShapeType="1"/>
          </p:cNvSpPr>
          <p:nvPr/>
        </p:nvSpPr>
        <p:spPr bwMode="auto">
          <a:xfrm flipH="1">
            <a:off x="762000" y="5181600"/>
            <a:ext cx="75676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6272213" y="4495800"/>
            <a:ext cx="406400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/>
              <a:t>p</a:t>
            </a:r>
            <a:endParaRPr lang="en-US" sz="3200" baseline="-25000"/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3833813" y="4419600"/>
            <a:ext cx="385762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l-GR" sz="3200">
                <a:latin typeface="Times New Roman" pitchFamily="18" charset="0"/>
                <a:cs typeface="Times New Roman" pitchFamily="18" charset="0"/>
              </a:rPr>
              <a:t>π</a:t>
            </a:r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6272213" y="3733800"/>
            <a:ext cx="452437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/>
              <a:t>X</a:t>
            </a:r>
          </a:p>
        </p:txBody>
      </p:sp>
      <p:sp>
        <p:nvSpPr>
          <p:cNvPr id="23573" name="Freeform 21"/>
          <p:cNvSpPr>
            <a:spLocks/>
          </p:cNvSpPr>
          <p:nvPr/>
        </p:nvSpPr>
        <p:spPr bwMode="auto">
          <a:xfrm>
            <a:off x="6386513" y="3810000"/>
            <a:ext cx="222250" cy="1588"/>
          </a:xfrm>
          <a:custGeom>
            <a:avLst/>
            <a:gdLst>
              <a:gd name="T0" fmla="*/ 0 w 140"/>
              <a:gd name="T1" fmla="*/ 0 h 1"/>
              <a:gd name="T2" fmla="*/ 222250 w 140"/>
              <a:gd name="T3" fmla="*/ 0 h 1"/>
              <a:gd name="T4" fmla="*/ 0 60000 65536"/>
              <a:gd name="T5" fmla="*/ 0 60000 65536"/>
              <a:gd name="T6" fmla="*/ 0 w 140"/>
              <a:gd name="T7" fmla="*/ 0 h 1"/>
              <a:gd name="T8" fmla="*/ 140 w 140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0" h="1">
                <a:moveTo>
                  <a:pt x="0" y="0"/>
                </a:moveTo>
                <a:lnTo>
                  <a:pt x="140" y="0"/>
                </a:lnTo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3574" name="Text Box 22"/>
          <p:cNvSpPr txBox="1">
            <a:spLocks noChangeArrowheads="1"/>
          </p:cNvSpPr>
          <p:nvPr/>
        </p:nvSpPr>
        <p:spPr bwMode="auto">
          <a:xfrm>
            <a:off x="3733800" y="3733800"/>
            <a:ext cx="609600" cy="579438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l-GR" sz="3200">
                <a:cs typeface="Arial" charset="0"/>
              </a:rPr>
              <a:t>μ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F8621F22-887A-4C8D-AD53-3E21CECF2AFD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662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8-</a:t>
            </a:r>
            <a:fld id="{16813BB5-404C-4BA2-8F74-123A4E62EE04}" type="slidenum">
              <a:rPr lang="en-US" sz="1000"/>
              <a:pPr algn="r" defTabSz="852488"/>
              <a:t>5</a:t>
            </a:fld>
            <a:endParaRPr lang="en-US" sz="1000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dirty="0" smtClean="0"/>
              <a:t>Interval Konfidensi</a:t>
            </a:r>
            <a:endParaRPr lang="en-US" dirty="0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80772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d-ID" sz="3200" dirty="0" smtClean="0"/>
              <a:t>Suatu interval berupa </a:t>
            </a:r>
            <a:r>
              <a:rPr lang="en-US" sz="3200" dirty="0" smtClean="0">
                <a:solidFill>
                  <a:schemeClr val="folHlink"/>
                </a:solidFill>
              </a:rPr>
              <a:t>range</a:t>
            </a:r>
            <a:r>
              <a:rPr lang="en-US" sz="3200" dirty="0" smtClean="0"/>
              <a:t> </a:t>
            </a:r>
            <a:r>
              <a:rPr lang="id-ID" sz="3200" dirty="0" smtClean="0"/>
              <a:t>nilai yang</a:t>
            </a:r>
            <a:endParaRPr lang="en-US" sz="3200" dirty="0" smtClean="0"/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id-ID" sz="2800" dirty="0" smtClean="0"/>
              <a:t>Memperhatikan variasi statistik masing2 sampel berdasarkan informasi dari 1 sampel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id-ID" sz="2800" dirty="0" smtClean="0"/>
              <a:t>Memberi informasi kedekatan nilai estimasi dengan nilai parameter sebenarnya</a:t>
            </a:r>
            <a:endParaRPr lang="en-US" sz="2800" dirty="0" smtClean="0"/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id-ID" sz="2800" dirty="0" smtClean="0"/>
              <a:t>Dinyatakan sebagai level konfidensi (tingkat kepercayaan)</a:t>
            </a:r>
          </a:p>
          <a:p>
            <a:pPr lvl="2">
              <a:lnSpc>
                <a:spcPct val="90000"/>
              </a:lnSpc>
              <a:spcBef>
                <a:spcPct val="40000"/>
              </a:spcBef>
            </a:pPr>
            <a:r>
              <a:rPr lang="id-ID" dirty="0" smtClean="0"/>
              <a:t>Misal, 95% konfidensi atau 99% konfidensi</a:t>
            </a:r>
          </a:p>
          <a:p>
            <a:pPr lvl="2">
              <a:lnSpc>
                <a:spcPct val="90000"/>
              </a:lnSpc>
              <a:spcBef>
                <a:spcPct val="40000"/>
              </a:spcBef>
            </a:pPr>
            <a:r>
              <a:rPr lang="id-ID" dirty="0" smtClean="0"/>
              <a:t>Tidak pernah 100% konfidensi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8D430AFF-5750-4BF4-9C0A-B2FBB2718A45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3276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8-</a:t>
            </a:r>
            <a:fld id="{368DEE18-5576-4EE4-A4F1-89DDE7351D4D}" type="slidenum">
              <a:rPr lang="en-US" sz="1000"/>
              <a:pPr algn="r" defTabSz="852488"/>
              <a:t>6</a:t>
            </a:fld>
            <a:endParaRPr lang="en-US" sz="1000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dirty="0" smtClean="0"/>
              <a:t>Proses Estimasi</a:t>
            </a:r>
            <a:endParaRPr lang="en-US" dirty="0" smtClean="0"/>
          </a:p>
        </p:txBody>
      </p:sp>
      <p:sp>
        <p:nvSpPr>
          <p:cNvPr id="126979" name="Freeform 3"/>
          <p:cNvSpPr>
            <a:spLocks/>
          </p:cNvSpPr>
          <p:nvPr/>
        </p:nvSpPr>
        <p:spPr bwMode="auto">
          <a:xfrm>
            <a:off x="304800" y="2743200"/>
            <a:ext cx="3021013" cy="3417888"/>
          </a:xfrm>
          <a:custGeom>
            <a:avLst/>
            <a:gdLst/>
            <a:ahLst/>
            <a:cxnLst>
              <a:cxn ang="0">
                <a:pos x="473" y="117"/>
              </a:cxn>
              <a:cxn ang="0">
                <a:pos x="349" y="184"/>
              </a:cxn>
              <a:cxn ang="0">
                <a:pos x="237" y="269"/>
              </a:cxn>
              <a:cxn ang="0">
                <a:pos x="145" y="372"/>
              </a:cxn>
              <a:cxn ang="0">
                <a:pos x="72" y="490"/>
              </a:cxn>
              <a:cxn ang="0">
                <a:pos x="23" y="619"/>
              </a:cxn>
              <a:cxn ang="0">
                <a:pos x="0" y="752"/>
              </a:cxn>
              <a:cxn ang="0">
                <a:pos x="3" y="885"/>
              </a:cxn>
              <a:cxn ang="0">
                <a:pos x="35" y="1018"/>
              </a:cxn>
              <a:cxn ang="0">
                <a:pos x="82" y="1168"/>
              </a:cxn>
              <a:cxn ang="0">
                <a:pos x="129" y="1311"/>
              </a:cxn>
              <a:cxn ang="0">
                <a:pos x="172" y="1444"/>
              </a:cxn>
              <a:cxn ang="0">
                <a:pos x="206" y="1564"/>
              </a:cxn>
              <a:cxn ang="0">
                <a:pos x="234" y="1659"/>
              </a:cxn>
              <a:cxn ang="0">
                <a:pos x="251" y="1732"/>
              </a:cxn>
              <a:cxn ang="0">
                <a:pos x="261" y="1778"/>
              </a:cxn>
              <a:cxn ang="0">
                <a:pos x="260" y="1796"/>
              </a:cxn>
              <a:cxn ang="0">
                <a:pos x="304" y="1890"/>
              </a:cxn>
              <a:cxn ang="0">
                <a:pos x="370" y="1971"/>
              </a:cxn>
              <a:cxn ang="0">
                <a:pos x="461" y="2045"/>
              </a:cxn>
              <a:cxn ang="0">
                <a:pos x="563" y="2096"/>
              </a:cxn>
              <a:cxn ang="0">
                <a:pos x="682" y="2135"/>
              </a:cxn>
              <a:cxn ang="0">
                <a:pos x="810" y="2152"/>
              </a:cxn>
              <a:cxn ang="0">
                <a:pos x="944" y="2149"/>
              </a:cxn>
              <a:cxn ang="0">
                <a:pos x="1077" y="2127"/>
              </a:cxn>
              <a:cxn ang="0">
                <a:pos x="1211" y="2084"/>
              </a:cxn>
              <a:cxn ang="0">
                <a:pos x="1342" y="2026"/>
              </a:cxn>
              <a:cxn ang="0">
                <a:pos x="1465" y="1960"/>
              </a:cxn>
              <a:cxn ang="0">
                <a:pos x="1573" y="1880"/>
              </a:cxn>
              <a:cxn ang="0">
                <a:pos x="1664" y="1794"/>
              </a:cxn>
              <a:cxn ang="0">
                <a:pos x="1732" y="1705"/>
              </a:cxn>
              <a:cxn ang="0">
                <a:pos x="1777" y="1613"/>
              </a:cxn>
              <a:cxn ang="0">
                <a:pos x="1798" y="1522"/>
              </a:cxn>
              <a:cxn ang="0">
                <a:pos x="1797" y="1437"/>
              </a:cxn>
              <a:cxn ang="0">
                <a:pos x="1767" y="1329"/>
              </a:cxn>
              <a:cxn ang="0">
                <a:pos x="1739" y="1199"/>
              </a:cxn>
              <a:cxn ang="0">
                <a:pos x="1728" y="1076"/>
              </a:cxn>
              <a:cxn ang="0">
                <a:pos x="1735" y="968"/>
              </a:cxn>
              <a:cxn ang="0">
                <a:pos x="1761" y="879"/>
              </a:cxn>
              <a:cxn ang="0">
                <a:pos x="1800" y="813"/>
              </a:cxn>
              <a:cxn ang="0">
                <a:pos x="1853" y="780"/>
              </a:cxn>
              <a:cxn ang="0">
                <a:pos x="1883" y="754"/>
              </a:cxn>
              <a:cxn ang="0">
                <a:pos x="1899" y="699"/>
              </a:cxn>
              <a:cxn ang="0">
                <a:pos x="1902" y="618"/>
              </a:cxn>
              <a:cxn ang="0">
                <a:pos x="1890" y="521"/>
              </a:cxn>
              <a:cxn ang="0">
                <a:pos x="1864" y="413"/>
              </a:cxn>
              <a:cxn ang="0">
                <a:pos x="1829" y="313"/>
              </a:cxn>
              <a:cxn ang="0">
                <a:pos x="1773" y="229"/>
              </a:cxn>
              <a:cxn ang="0">
                <a:pos x="1697" y="156"/>
              </a:cxn>
              <a:cxn ang="0">
                <a:pos x="1598" y="97"/>
              </a:cxn>
              <a:cxn ang="0">
                <a:pos x="1479" y="50"/>
              </a:cxn>
              <a:cxn ang="0">
                <a:pos x="1345" y="20"/>
              </a:cxn>
              <a:cxn ang="0">
                <a:pos x="1195" y="2"/>
              </a:cxn>
              <a:cxn ang="0">
                <a:pos x="1039" y="4"/>
              </a:cxn>
              <a:cxn ang="0">
                <a:pos x="875" y="17"/>
              </a:cxn>
              <a:cxn ang="0">
                <a:pos x="706" y="48"/>
              </a:cxn>
              <a:cxn ang="0">
                <a:pos x="540" y="93"/>
              </a:cxn>
            </a:cxnLst>
            <a:rect l="0" t="0" r="r" b="b"/>
            <a:pathLst>
              <a:path w="1903" h="2153">
                <a:moveTo>
                  <a:pt x="540" y="93"/>
                </a:moveTo>
                <a:lnTo>
                  <a:pt x="473" y="117"/>
                </a:lnTo>
                <a:lnTo>
                  <a:pt x="409" y="147"/>
                </a:lnTo>
                <a:lnTo>
                  <a:pt x="349" y="184"/>
                </a:lnTo>
                <a:lnTo>
                  <a:pt x="289" y="224"/>
                </a:lnTo>
                <a:lnTo>
                  <a:pt x="237" y="269"/>
                </a:lnTo>
                <a:lnTo>
                  <a:pt x="188" y="319"/>
                </a:lnTo>
                <a:lnTo>
                  <a:pt x="145" y="372"/>
                </a:lnTo>
                <a:lnTo>
                  <a:pt x="105" y="431"/>
                </a:lnTo>
                <a:lnTo>
                  <a:pt x="72" y="490"/>
                </a:lnTo>
                <a:lnTo>
                  <a:pt x="44" y="553"/>
                </a:lnTo>
                <a:lnTo>
                  <a:pt x="23" y="619"/>
                </a:lnTo>
                <a:lnTo>
                  <a:pt x="8" y="685"/>
                </a:lnTo>
                <a:lnTo>
                  <a:pt x="0" y="752"/>
                </a:lnTo>
                <a:lnTo>
                  <a:pt x="0" y="820"/>
                </a:lnTo>
                <a:lnTo>
                  <a:pt x="3" y="885"/>
                </a:lnTo>
                <a:lnTo>
                  <a:pt x="15" y="951"/>
                </a:lnTo>
                <a:lnTo>
                  <a:pt x="35" y="1018"/>
                </a:lnTo>
                <a:lnTo>
                  <a:pt x="60" y="1091"/>
                </a:lnTo>
                <a:lnTo>
                  <a:pt x="82" y="1168"/>
                </a:lnTo>
                <a:lnTo>
                  <a:pt x="107" y="1240"/>
                </a:lnTo>
                <a:lnTo>
                  <a:pt x="129" y="1311"/>
                </a:lnTo>
                <a:lnTo>
                  <a:pt x="151" y="1379"/>
                </a:lnTo>
                <a:lnTo>
                  <a:pt x="172" y="1444"/>
                </a:lnTo>
                <a:lnTo>
                  <a:pt x="188" y="1506"/>
                </a:lnTo>
                <a:lnTo>
                  <a:pt x="206" y="1564"/>
                </a:lnTo>
                <a:lnTo>
                  <a:pt x="220" y="1613"/>
                </a:lnTo>
                <a:lnTo>
                  <a:pt x="234" y="1659"/>
                </a:lnTo>
                <a:lnTo>
                  <a:pt x="244" y="1697"/>
                </a:lnTo>
                <a:lnTo>
                  <a:pt x="251" y="1732"/>
                </a:lnTo>
                <a:lnTo>
                  <a:pt x="257" y="1757"/>
                </a:lnTo>
                <a:lnTo>
                  <a:pt x="261" y="1778"/>
                </a:lnTo>
                <a:lnTo>
                  <a:pt x="262" y="1788"/>
                </a:lnTo>
                <a:lnTo>
                  <a:pt x="260" y="1796"/>
                </a:lnTo>
                <a:lnTo>
                  <a:pt x="279" y="1843"/>
                </a:lnTo>
                <a:lnTo>
                  <a:pt x="304" y="1890"/>
                </a:lnTo>
                <a:lnTo>
                  <a:pt x="333" y="1932"/>
                </a:lnTo>
                <a:lnTo>
                  <a:pt x="370" y="1971"/>
                </a:lnTo>
                <a:lnTo>
                  <a:pt x="413" y="2011"/>
                </a:lnTo>
                <a:lnTo>
                  <a:pt x="461" y="2045"/>
                </a:lnTo>
                <a:lnTo>
                  <a:pt x="511" y="2072"/>
                </a:lnTo>
                <a:lnTo>
                  <a:pt x="563" y="2096"/>
                </a:lnTo>
                <a:lnTo>
                  <a:pt x="622" y="2119"/>
                </a:lnTo>
                <a:lnTo>
                  <a:pt x="682" y="2135"/>
                </a:lnTo>
                <a:lnTo>
                  <a:pt x="746" y="2145"/>
                </a:lnTo>
                <a:lnTo>
                  <a:pt x="810" y="2152"/>
                </a:lnTo>
                <a:lnTo>
                  <a:pt x="876" y="2150"/>
                </a:lnTo>
                <a:lnTo>
                  <a:pt x="944" y="2149"/>
                </a:lnTo>
                <a:lnTo>
                  <a:pt x="1011" y="2139"/>
                </a:lnTo>
                <a:lnTo>
                  <a:pt x="1077" y="2127"/>
                </a:lnTo>
                <a:lnTo>
                  <a:pt x="1143" y="2109"/>
                </a:lnTo>
                <a:lnTo>
                  <a:pt x="1211" y="2084"/>
                </a:lnTo>
                <a:lnTo>
                  <a:pt x="1280" y="2056"/>
                </a:lnTo>
                <a:lnTo>
                  <a:pt x="1342" y="2026"/>
                </a:lnTo>
                <a:lnTo>
                  <a:pt x="1406" y="1992"/>
                </a:lnTo>
                <a:lnTo>
                  <a:pt x="1465" y="1960"/>
                </a:lnTo>
                <a:lnTo>
                  <a:pt x="1522" y="1919"/>
                </a:lnTo>
                <a:lnTo>
                  <a:pt x="1573" y="1880"/>
                </a:lnTo>
                <a:lnTo>
                  <a:pt x="1621" y="1837"/>
                </a:lnTo>
                <a:lnTo>
                  <a:pt x="1664" y="1794"/>
                </a:lnTo>
                <a:lnTo>
                  <a:pt x="1700" y="1751"/>
                </a:lnTo>
                <a:lnTo>
                  <a:pt x="1732" y="1705"/>
                </a:lnTo>
                <a:lnTo>
                  <a:pt x="1757" y="1659"/>
                </a:lnTo>
                <a:lnTo>
                  <a:pt x="1777" y="1613"/>
                </a:lnTo>
                <a:lnTo>
                  <a:pt x="1792" y="1567"/>
                </a:lnTo>
                <a:lnTo>
                  <a:pt x="1798" y="1522"/>
                </a:lnTo>
                <a:lnTo>
                  <a:pt x="1799" y="1479"/>
                </a:lnTo>
                <a:lnTo>
                  <a:pt x="1797" y="1437"/>
                </a:lnTo>
                <a:lnTo>
                  <a:pt x="1788" y="1396"/>
                </a:lnTo>
                <a:lnTo>
                  <a:pt x="1767" y="1329"/>
                </a:lnTo>
                <a:lnTo>
                  <a:pt x="1752" y="1264"/>
                </a:lnTo>
                <a:lnTo>
                  <a:pt x="1739" y="1199"/>
                </a:lnTo>
                <a:lnTo>
                  <a:pt x="1731" y="1136"/>
                </a:lnTo>
                <a:lnTo>
                  <a:pt x="1728" y="1076"/>
                </a:lnTo>
                <a:lnTo>
                  <a:pt x="1730" y="1019"/>
                </a:lnTo>
                <a:lnTo>
                  <a:pt x="1735" y="968"/>
                </a:lnTo>
                <a:lnTo>
                  <a:pt x="1745" y="920"/>
                </a:lnTo>
                <a:lnTo>
                  <a:pt x="1761" y="879"/>
                </a:lnTo>
                <a:lnTo>
                  <a:pt x="1778" y="842"/>
                </a:lnTo>
                <a:lnTo>
                  <a:pt x="1800" y="813"/>
                </a:lnTo>
                <a:lnTo>
                  <a:pt x="1824" y="791"/>
                </a:lnTo>
                <a:lnTo>
                  <a:pt x="1853" y="780"/>
                </a:lnTo>
                <a:lnTo>
                  <a:pt x="1868" y="770"/>
                </a:lnTo>
                <a:lnTo>
                  <a:pt x="1883" y="754"/>
                </a:lnTo>
                <a:lnTo>
                  <a:pt x="1893" y="730"/>
                </a:lnTo>
                <a:lnTo>
                  <a:pt x="1899" y="699"/>
                </a:lnTo>
                <a:lnTo>
                  <a:pt x="1901" y="664"/>
                </a:lnTo>
                <a:lnTo>
                  <a:pt x="1902" y="618"/>
                </a:lnTo>
                <a:lnTo>
                  <a:pt x="1897" y="570"/>
                </a:lnTo>
                <a:lnTo>
                  <a:pt x="1890" y="521"/>
                </a:lnTo>
                <a:lnTo>
                  <a:pt x="1880" y="467"/>
                </a:lnTo>
                <a:lnTo>
                  <a:pt x="1864" y="413"/>
                </a:lnTo>
                <a:lnTo>
                  <a:pt x="1848" y="355"/>
                </a:lnTo>
                <a:lnTo>
                  <a:pt x="1829" y="313"/>
                </a:lnTo>
                <a:lnTo>
                  <a:pt x="1806" y="269"/>
                </a:lnTo>
                <a:lnTo>
                  <a:pt x="1773" y="229"/>
                </a:lnTo>
                <a:lnTo>
                  <a:pt x="1739" y="192"/>
                </a:lnTo>
                <a:lnTo>
                  <a:pt x="1697" y="156"/>
                </a:lnTo>
                <a:lnTo>
                  <a:pt x="1650" y="125"/>
                </a:lnTo>
                <a:lnTo>
                  <a:pt x="1598" y="97"/>
                </a:lnTo>
                <a:lnTo>
                  <a:pt x="1540" y="74"/>
                </a:lnTo>
                <a:lnTo>
                  <a:pt x="1479" y="50"/>
                </a:lnTo>
                <a:lnTo>
                  <a:pt x="1415" y="33"/>
                </a:lnTo>
                <a:lnTo>
                  <a:pt x="1345" y="20"/>
                </a:lnTo>
                <a:lnTo>
                  <a:pt x="1272" y="8"/>
                </a:lnTo>
                <a:lnTo>
                  <a:pt x="1195" y="2"/>
                </a:lnTo>
                <a:lnTo>
                  <a:pt x="1119" y="0"/>
                </a:lnTo>
                <a:lnTo>
                  <a:pt x="1039" y="4"/>
                </a:lnTo>
                <a:lnTo>
                  <a:pt x="956" y="8"/>
                </a:lnTo>
                <a:lnTo>
                  <a:pt x="875" y="17"/>
                </a:lnTo>
                <a:lnTo>
                  <a:pt x="791" y="33"/>
                </a:lnTo>
                <a:lnTo>
                  <a:pt x="706" y="48"/>
                </a:lnTo>
                <a:lnTo>
                  <a:pt x="623" y="69"/>
                </a:lnTo>
                <a:lnTo>
                  <a:pt x="540" y="93"/>
                </a:lnTo>
              </a:path>
            </a:pathLst>
          </a:custGeom>
          <a:solidFill>
            <a:srgbClr val="FDE0BD"/>
          </a:solid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rgbClr val="000000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762000" y="3429000"/>
            <a:ext cx="2143125" cy="6437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 dirty="0"/>
              <a:t>(mean, </a:t>
            </a:r>
            <a:r>
              <a:rPr lang="el-GR" b="1" dirty="0">
                <a:cs typeface="Arial" charset="0"/>
              </a:rPr>
              <a:t>μ</a:t>
            </a:r>
            <a:r>
              <a:rPr lang="en-US" b="1" dirty="0"/>
              <a:t>, </a:t>
            </a:r>
            <a:r>
              <a:rPr lang="id-ID" b="1" dirty="0" smtClean="0"/>
              <a:t>tdk diketahui</a:t>
            </a:r>
            <a:r>
              <a:rPr lang="en-US" b="1" dirty="0" smtClean="0"/>
              <a:t>)</a:t>
            </a:r>
            <a:endParaRPr lang="en-US" b="1" dirty="0"/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762000" y="2971800"/>
            <a:ext cx="2143125" cy="515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800" dirty="0" err="1" smtClean="0"/>
              <a:t>Popula</a:t>
            </a:r>
            <a:r>
              <a:rPr lang="id-ID" sz="2800" dirty="0" smtClean="0"/>
              <a:t>si</a:t>
            </a:r>
            <a:endParaRPr lang="en-US" sz="2800" dirty="0"/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2971800" y="2209800"/>
            <a:ext cx="3124200" cy="52863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folHlink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id-ID" sz="2800" dirty="0" smtClean="0"/>
              <a:t>Sampel acak</a:t>
            </a:r>
            <a:endParaRPr lang="en-US" sz="2800" dirty="0"/>
          </a:p>
        </p:txBody>
      </p:sp>
      <p:sp>
        <p:nvSpPr>
          <p:cNvPr id="126983" name="Oval 7"/>
          <p:cNvSpPr>
            <a:spLocks noChangeArrowheads="1"/>
          </p:cNvSpPr>
          <p:nvPr/>
        </p:nvSpPr>
        <p:spPr bwMode="auto">
          <a:xfrm>
            <a:off x="3657600" y="3060700"/>
            <a:ext cx="1587500" cy="977900"/>
          </a:xfrm>
          <a:prstGeom prst="ellipse">
            <a:avLst/>
          </a:prstGeom>
          <a:solidFill>
            <a:srgbClr val="C7DAF7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rgbClr val="000000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2776" name="Oval 8"/>
          <p:cNvSpPr>
            <a:spLocks noChangeArrowheads="1"/>
          </p:cNvSpPr>
          <p:nvPr/>
        </p:nvSpPr>
        <p:spPr bwMode="auto">
          <a:xfrm>
            <a:off x="920750" y="4584700"/>
            <a:ext cx="1587500" cy="977900"/>
          </a:xfrm>
          <a:prstGeom prst="ellipse">
            <a:avLst/>
          </a:prstGeom>
          <a:solidFill>
            <a:srgbClr val="C7DAF7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3803650" y="3130550"/>
            <a:ext cx="1536700" cy="8207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105000"/>
              </a:lnSpc>
              <a:spcBef>
                <a:spcPct val="50000"/>
              </a:spcBef>
            </a:pPr>
            <a:r>
              <a:rPr lang="en-US" b="1">
                <a:solidFill>
                  <a:schemeClr val="bg2"/>
                </a:solidFill>
              </a:rPr>
              <a:t>Mean   </a:t>
            </a:r>
          </a:p>
          <a:p>
            <a:pPr eaLnBrk="0" hangingPunct="0">
              <a:lnSpc>
                <a:spcPct val="45000"/>
              </a:lnSpc>
              <a:spcBef>
                <a:spcPct val="50000"/>
              </a:spcBef>
            </a:pPr>
            <a:r>
              <a:rPr lang="en-US" b="1">
                <a:solidFill>
                  <a:schemeClr val="bg2"/>
                </a:solidFill>
              </a:rPr>
              <a:t>   X = 50</a:t>
            </a:r>
          </a:p>
        </p:txBody>
      </p:sp>
      <p:sp>
        <p:nvSpPr>
          <p:cNvPr id="126986" name="Oval 10"/>
          <p:cNvSpPr>
            <a:spLocks noChangeArrowheads="1"/>
          </p:cNvSpPr>
          <p:nvPr/>
        </p:nvSpPr>
        <p:spPr bwMode="auto">
          <a:xfrm>
            <a:off x="5013325" y="3962400"/>
            <a:ext cx="368300" cy="215900"/>
          </a:xfrm>
          <a:prstGeom prst="ellipse">
            <a:avLst/>
          </a:prstGeom>
          <a:solidFill>
            <a:srgbClr val="C7DAF7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rgbClr val="000000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6987" name="Oval 11"/>
          <p:cNvSpPr>
            <a:spLocks noChangeArrowheads="1"/>
          </p:cNvSpPr>
          <p:nvPr/>
        </p:nvSpPr>
        <p:spPr bwMode="auto">
          <a:xfrm>
            <a:off x="5365750" y="4219575"/>
            <a:ext cx="273050" cy="158750"/>
          </a:xfrm>
          <a:prstGeom prst="ellipse">
            <a:avLst/>
          </a:prstGeom>
          <a:solidFill>
            <a:srgbClr val="C7DAF7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rgbClr val="000000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 rot="-417079">
            <a:off x="2362200" y="4343400"/>
            <a:ext cx="2744788" cy="915988"/>
            <a:chOff x="1248" y="2592"/>
            <a:chExt cx="1729" cy="577"/>
          </a:xfrm>
        </p:grpSpPr>
        <p:sp>
          <p:nvSpPr>
            <p:cNvPr id="32844" name="Freeform 13"/>
            <p:cNvSpPr>
              <a:spLocks/>
            </p:cNvSpPr>
            <p:nvPr/>
          </p:nvSpPr>
          <p:spPr bwMode="auto">
            <a:xfrm>
              <a:off x="1248" y="2592"/>
              <a:ext cx="1729" cy="556"/>
            </a:xfrm>
            <a:custGeom>
              <a:avLst/>
              <a:gdLst>
                <a:gd name="T0" fmla="*/ 14 w 1729"/>
                <a:gd name="T1" fmla="*/ 381 h 556"/>
                <a:gd name="T2" fmla="*/ 161 w 1729"/>
                <a:gd name="T3" fmla="*/ 440 h 556"/>
                <a:gd name="T4" fmla="*/ 256 w 1729"/>
                <a:gd name="T5" fmla="*/ 471 h 556"/>
                <a:gd name="T6" fmla="*/ 357 w 1729"/>
                <a:gd name="T7" fmla="*/ 497 h 556"/>
                <a:gd name="T8" fmla="*/ 460 w 1729"/>
                <a:gd name="T9" fmla="*/ 516 h 556"/>
                <a:gd name="T10" fmla="*/ 570 w 1729"/>
                <a:gd name="T11" fmla="*/ 534 h 556"/>
                <a:gd name="T12" fmla="*/ 694 w 1729"/>
                <a:gd name="T13" fmla="*/ 546 h 556"/>
                <a:gd name="T14" fmla="*/ 853 w 1729"/>
                <a:gd name="T15" fmla="*/ 555 h 556"/>
                <a:gd name="T16" fmla="*/ 983 w 1729"/>
                <a:gd name="T17" fmla="*/ 553 h 556"/>
                <a:gd name="T18" fmla="*/ 1101 w 1729"/>
                <a:gd name="T19" fmla="*/ 541 h 556"/>
                <a:gd name="T20" fmla="*/ 1210 w 1729"/>
                <a:gd name="T21" fmla="*/ 521 h 556"/>
                <a:gd name="T22" fmla="*/ 1303 w 1729"/>
                <a:gd name="T23" fmla="*/ 496 h 556"/>
                <a:gd name="T24" fmla="*/ 1379 w 1729"/>
                <a:gd name="T25" fmla="*/ 457 h 556"/>
                <a:gd name="T26" fmla="*/ 1437 w 1729"/>
                <a:gd name="T27" fmla="*/ 401 h 556"/>
                <a:gd name="T28" fmla="*/ 1470 w 1729"/>
                <a:gd name="T29" fmla="*/ 341 h 556"/>
                <a:gd name="T30" fmla="*/ 1481 w 1729"/>
                <a:gd name="T31" fmla="*/ 301 h 556"/>
                <a:gd name="T32" fmla="*/ 1708 w 1729"/>
                <a:gd name="T33" fmla="*/ 409 h 556"/>
                <a:gd name="T34" fmla="*/ 1646 w 1729"/>
                <a:gd name="T35" fmla="*/ 342 h 556"/>
                <a:gd name="T36" fmla="*/ 1592 w 1729"/>
                <a:gd name="T37" fmla="*/ 273 h 556"/>
                <a:gd name="T38" fmla="*/ 1553 w 1729"/>
                <a:gd name="T39" fmla="*/ 206 h 556"/>
                <a:gd name="T40" fmla="*/ 1519 w 1729"/>
                <a:gd name="T41" fmla="*/ 139 h 556"/>
                <a:gd name="T42" fmla="*/ 1491 w 1729"/>
                <a:gd name="T43" fmla="*/ 48 h 556"/>
                <a:gd name="T44" fmla="*/ 1439 w 1729"/>
                <a:gd name="T45" fmla="*/ 11 h 556"/>
                <a:gd name="T46" fmla="*/ 1367 w 1729"/>
                <a:gd name="T47" fmla="*/ 33 h 556"/>
                <a:gd name="T48" fmla="*/ 1308 w 1729"/>
                <a:gd name="T49" fmla="*/ 43 h 556"/>
                <a:gd name="T50" fmla="*/ 1240 w 1729"/>
                <a:gd name="T51" fmla="*/ 43 h 556"/>
                <a:gd name="T52" fmla="*/ 1162 w 1729"/>
                <a:gd name="T53" fmla="*/ 39 h 556"/>
                <a:gd name="T54" fmla="*/ 1075 w 1729"/>
                <a:gd name="T55" fmla="*/ 23 h 556"/>
                <a:gd name="T56" fmla="*/ 1030 w 1729"/>
                <a:gd name="T57" fmla="*/ 56 h 556"/>
                <a:gd name="T58" fmla="*/ 1240 w 1729"/>
                <a:gd name="T59" fmla="*/ 180 h 556"/>
                <a:gd name="T60" fmla="*/ 1190 w 1729"/>
                <a:gd name="T61" fmla="*/ 248 h 556"/>
                <a:gd name="T62" fmla="*/ 1129 w 1729"/>
                <a:gd name="T63" fmla="*/ 304 h 556"/>
                <a:gd name="T64" fmla="*/ 1067 w 1729"/>
                <a:gd name="T65" fmla="*/ 346 h 556"/>
                <a:gd name="T66" fmla="*/ 983 w 1729"/>
                <a:gd name="T67" fmla="*/ 388 h 556"/>
                <a:gd name="T68" fmla="*/ 897 w 1729"/>
                <a:gd name="T69" fmla="*/ 415 h 556"/>
                <a:gd name="T70" fmla="*/ 805 w 1729"/>
                <a:gd name="T71" fmla="*/ 434 h 556"/>
                <a:gd name="T72" fmla="*/ 687 w 1729"/>
                <a:gd name="T73" fmla="*/ 443 h 556"/>
                <a:gd name="T74" fmla="*/ 569 w 1729"/>
                <a:gd name="T75" fmla="*/ 448 h 556"/>
                <a:gd name="T76" fmla="*/ 427 w 1729"/>
                <a:gd name="T77" fmla="*/ 448 h 556"/>
                <a:gd name="T78" fmla="*/ 307 w 1729"/>
                <a:gd name="T79" fmla="*/ 439 h 556"/>
                <a:gd name="T80" fmla="*/ 218 w 1729"/>
                <a:gd name="T81" fmla="*/ 421 h 556"/>
                <a:gd name="T82" fmla="*/ 134 w 1729"/>
                <a:gd name="T83" fmla="*/ 401 h 55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29"/>
                <a:gd name="T127" fmla="*/ 0 h 556"/>
                <a:gd name="T128" fmla="*/ 1729 w 1729"/>
                <a:gd name="T129" fmla="*/ 556 h 55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29" h="556">
                  <a:moveTo>
                    <a:pt x="0" y="356"/>
                  </a:moveTo>
                  <a:lnTo>
                    <a:pt x="14" y="381"/>
                  </a:lnTo>
                  <a:lnTo>
                    <a:pt x="102" y="419"/>
                  </a:lnTo>
                  <a:lnTo>
                    <a:pt x="161" y="440"/>
                  </a:lnTo>
                  <a:lnTo>
                    <a:pt x="210" y="454"/>
                  </a:lnTo>
                  <a:lnTo>
                    <a:pt x="256" y="471"/>
                  </a:lnTo>
                  <a:lnTo>
                    <a:pt x="307" y="484"/>
                  </a:lnTo>
                  <a:lnTo>
                    <a:pt x="357" y="497"/>
                  </a:lnTo>
                  <a:lnTo>
                    <a:pt x="412" y="509"/>
                  </a:lnTo>
                  <a:lnTo>
                    <a:pt x="460" y="516"/>
                  </a:lnTo>
                  <a:lnTo>
                    <a:pt x="506" y="525"/>
                  </a:lnTo>
                  <a:lnTo>
                    <a:pt x="570" y="534"/>
                  </a:lnTo>
                  <a:lnTo>
                    <a:pt x="625" y="541"/>
                  </a:lnTo>
                  <a:lnTo>
                    <a:pt x="694" y="546"/>
                  </a:lnTo>
                  <a:lnTo>
                    <a:pt x="783" y="554"/>
                  </a:lnTo>
                  <a:lnTo>
                    <a:pt x="853" y="555"/>
                  </a:lnTo>
                  <a:lnTo>
                    <a:pt x="905" y="554"/>
                  </a:lnTo>
                  <a:lnTo>
                    <a:pt x="983" y="553"/>
                  </a:lnTo>
                  <a:lnTo>
                    <a:pt x="1046" y="549"/>
                  </a:lnTo>
                  <a:lnTo>
                    <a:pt x="1101" y="541"/>
                  </a:lnTo>
                  <a:lnTo>
                    <a:pt x="1159" y="535"/>
                  </a:lnTo>
                  <a:lnTo>
                    <a:pt x="1210" y="521"/>
                  </a:lnTo>
                  <a:lnTo>
                    <a:pt x="1261" y="511"/>
                  </a:lnTo>
                  <a:lnTo>
                    <a:pt x="1303" y="496"/>
                  </a:lnTo>
                  <a:lnTo>
                    <a:pt x="1342" y="477"/>
                  </a:lnTo>
                  <a:lnTo>
                    <a:pt x="1379" y="457"/>
                  </a:lnTo>
                  <a:lnTo>
                    <a:pt x="1412" y="432"/>
                  </a:lnTo>
                  <a:lnTo>
                    <a:pt x="1437" y="401"/>
                  </a:lnTo>
                  <a:lnTo>
                    <a:pt x="1455" y="375"/>
                  </a:lnTo>
                  <a:lnTo>
                    <a:pt x="1470" y="341"/>
                  </a:lnTo>
                  <a:lnTo>
                    <a:pt x="1478" y="317"/>
                  </a:lnTo>
                  <a:lnTo>
                    <a:pt x="1481" y="301"/>
                  </a:lnTo>
                  <a:lnTo>
                    <a:pt x="1728" y="442"/>
                  </a:lnTo>
                  <a:lnTo>
                    <a:pt x="1708" y="409"/>
                  </a:lnTo>
                  <a:lnTo>
                    <a:pt x="1676" y="375"/>
                  </a:lnTo>
                  <a:lnTo>
                    <a:pt x="1646" y="342"/>
                  </a:lnTo>
                  <a:lnTo>
                    <a:pt x="1622" y="308"/>
                  </a:lnTo>
                  <a:lnTo>
                    <a:pt x="1592" y="273"/>
                  </a:lnTo>
                  <a:lnTo>
                    <a:pt x="1574" y="237"/>
                  </a:lnTo>
                  <a:lnTo>
                    <a:pt x="1553" y="206"/>
                  </a:lnTo>
                  <a:lnTo>
                    <a:pt x="1533" y="172"/>
                  </a:lnTo>
                  <a:lnTo>
                    <a:pt x="1519" y="139"/>
                  </a:lnTo>
                  <a:lnTo>
                    <a:pt x="1500" y="94"/>
                  </a:lnTo>
                  <a:lnTo>
                    <a:pt x="1491" y="48"/>
                  </a:lnTo>
                  <a:lnTo>
                    <a:pt x="1468" y="0"/>
                  </a:lnTo>
                  <a:lnTo>
                    <a:pt x="1439" y="11"/>
                  </a:lnTo>
                  <a:lnTo>
                    <a:pt x="1405" y="23"/>
                  </a:lnTo>
                  <a:lnTo>
                    <a:pt x="1367" y="33"/>
                  </a:lnTo>
                  <a:lnTo>
                    <a:pt x="1330" y="40"/>
                  </a:lnTo>
                  <a:lnTo>
                    <a:pt x="1308" y="43"/>
                  </a:lnTo>
                  <a:lnTo>
                    <a:pt x="1278" y="43"/>
                  </a:lnTo>
                  <a:lnTo>
                    <a:pt x="1240" y="43"/>
                  </a:lnTo>
                  <a:lnTo>
                    <a:pt x="1201" y="40"/>
                  </a:lnTo>
                  <a:lnTo>
                    <a:pt x="1162" y="39"/>
                  </a:lnTo>
                  <a:lnTo>
                    <a:pt x="1120" y="30"/>
                  </a:lnTo>
                  <a:lnTo>
                    <a:pt x="1075" y="23"/>
                  </a:lnTo>
                  <a:lnTo>
                    <a:pt x="1004" y="7"/>
                  </a:lnTo>
                  <a:lnTo>
                    <a:pt x="1030" y="56"/>
                  </a:lnTo>
                  <a:lnTo>
                    <a:pt x="1242" y="167"/>
                  </a:lnTo>
                  <a:lnTo>
                    <a:pt x="1240" y="180"/>
                  </a:lnTo>
                  <a:lnTo>
                    <a:pt x="1209" y="218"/>
                  </a:lnTo>
                  <a:lnTo>
                    <a:pt x="1190" y="248"/>
                  </a:lnTo>
                  <a:lnTo>
                    <a:pt x="1154" y="285"/>
                  </a:lnTo>
                  <a:lnTo>
                    <a:pt x="1129" y="304"/>
                  </a:lnTo>
                  <a:lnTo>
                    <a:pt x="1104" y="323"/>
                  </a:lnTo>
                  <a:lnTo>
                    <a:pt x="1067" y="346"/>
                  </a:lnTo>
                  <a:lnTo>
                    <a:pt x="1033" y="370"/>
                  </a:lnTo>
                  <a:lnTo>
                    <a:pt x="983" y="388"/>
                  </a:lnTo>
                  <a:lnTo>
                    <a:pt x="944" y="402"/>
                  </a:lnTo>
                  <a:lnTo>
                    <a:pt x="897" y="415"/>
                  </a:lnTo>
                  <a:lnTo>
                    <a:pt x="846" y="429"/>
                  </a:lnTo>
                  <a:lnTo>
                    <a:pt x="805" y="434"/>
                  </a:lnTo>
                  <a:lnTo>
                    <a:pt x="745" y="441"/>
                  </a:lnTo>
                  <a:lnTo>
                    <a:pt x="687" y="443"/>
                  </a:lnTo>
                  <a:lnTo>
                    <a:pt x="630" y="448"/>
                  </a:lnTo>
                  <a:lnTo>
                    <a:pt x="569" y="448"/>
                  </a:lnTo>
                  <a:lnTo>
                    <a:pt x="495" y="448"/>
                  </a:lnTo>
                  <a:lnTo>
                    <a:pt x="427" y="448"/>
                  </a:lnTo>
                  <a:lnTo>
                    <a:pt x="355" y="442"/>
                  </a:lnTo>
                  <a:lnTo>
                    <a:pt x="307" y="439"/>
                  </a:lnTo>
                  <a:lnTo>
                    <a:pt x="259" y="430"/>
                  </a:lnTo>
                  <a:lnTo>
                    <a:pt x="218" y="421"/>
                  </a:lnTo>
                  <a:lnTo>
                    <a:pt x="173" y="412"/>
                  </a:lnTo>
                  <a:lnTo>
                    <a:pt x="134" y="401"/>
                  </a:lnTo>
                  <a:lnTo>
                    <a:pt x="0" y="356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rgbClr val="772655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45" name="Freeform 14"/>
            <p:cNvSpPr>
              <a:spLocks/>
            </p:cNvSpPr>
            <p:nvPr/>
          </p:nvSpPr>
          <p:spPr bwMode="auto">
            <a:xfrm>
              <a:off x="1258" y="2643"/>
              <a:ext cx="1718" cy="526"/>
            </a:xfrm>
            <a:custGeom>
              <a:avLst/>
              <a:gdLst>
                <a:gd name="T0" fmla="*/ 112 w 1718"/>
                <a:gd name="T1" fmla="*/ 387 h 526"/>
                <a:gd name="T2" fmla="*/ 207 w 1718"/>
                <a:gd name="T3" fmla="*/ 421 h 526"/>
                <a:gd name="T4" fmla="*/ 304 w 1718"/>
                <a:gd name="T5" fmla="*/ 451 h 526"/>
                <a:gd name="T6" fmla="*/ 411 w 1718"/>
                <a:gd name="T7" fmla="*/ 477 h 526"/>
                <a:gd name="T8" fmla="*/ 506 w 1718"/>
                <a:gd name="T9" fmla="*/ 498 h 526"/>
                <a:gd name="T10" fmla="*/ 626 w 1718"/>
                <a:gd name="T11" fmla="*/ 511 h 526"/>
                <a:gd name="T12" fmla="*/ 784 w 1718"/>
                <a:gd name="T13" fmla="*/ 523 h 526"/>
                <a:gd name="T14" fmla="*/ 911 w 1718"/>
                <a:gd name="T15" fmla="*/ 525 h 526"/>
                <a:gd name="T16" fmla="*/ 1044 w 1718"/>
                <a:gd name="T17" fmla="*/ 520 h 526"/>
                <a:gd name="T18" fmla="*/ 1162 w 1718"/>
                <a:gd name="T19" fmla="*/ 508 h 526"/>
                <a:gd name="T20" fmla="*/ 1263 w 1718"/>
                <a:gd name="T21" fmla="*/ 485 h 526"/>
                <a:gd name="T22" fmla="*/ 1346 w 1718"/>
                <a:gd name="T23" fmla="*/ 454 h 526"/>
                <a:gd name="T24" fmla="*/ 1420 w 1718"/>
                <a:gd name="T25" fmla="*/ 412 h 526"/>
                <a:gd name="T26" fmla="*/ 1460 w 1718"/>
                <a:gd name="T27" fmla="*/ 358 h 526"/>
                <a:gd name="T28" fmla="*/ 1488 w 1718"/>
                <a:gd name="T29" fmla="*/ 304 h 526"/>
                <a:gd name="T30" fmla="*/ 1717 w 1718"/>
                <a:gd name="T31" fmla="*/ 393 h 526"/>
                <a:gd name="T32" fmla="*/ 1656 w 1718"/>
                <a:gd name="T33" fmla="*/ 328 h 526"/>
                <a:gd name="T34" fmla="*/ 1607 w 1718"/>
                <a:gd name="T35" fmla="*/ 263 h 526"/>
                <a:gd name="T36" fmla="*/ 1566 w 1718"/>
                <a:gd name="T37" fmla="*/ 200 h 526"/>
                <a:gd name="T38" fmla="*/ 1532 w 1718"/>
                <a:gd name="T39" fmla="*/ 133 h 526"/>
                <a:gd name="T40" fmla="*/ 1500 w 1718"/>
                <a:gd name="T41" fmla="*/ 56 h 526"/>
                <a:gd name="T42" fmla="*/ 1483 w 1718"/>
                <a:gd name="T43" fmla="*/ 0 h 526"/>
                <a:gd name="T44" fmla="*/ 1421 w 1718"/>
                <a:gd name="T45" fmla="*/ 25 h 526"/>
                <a:gd name="T46" fmla="*/ 1348 w 1718"/>
                <a:gd name="T47" fmla="*/ 40 h 526"/>
                <a:gd name="T48" fmla="*/ 1297 w 1718"/>
                <a:gd name="T49" fmla="*/ 43 h 526"/>
                <a:gd name="T50" fmla="*/ 1217 w 1718"/>
                <a:gd name="T51" fmla="*/ 40 h 526"/>
                <a:gd name="T52" fmla="*/ 1136 w 1718"/>
                <a:gd name="T53" fmla="*/ 30 h 526"/>
                <a:gd name="T54" fmla="*/ 1020 w 1718"/>
                <a:gd name="T55" fmla="*/ 7 h 526"/>
                <a:gd name="T56" fmla="*/ 1250 w 1718"/>
                <a:gd name="T57" fmla="*/ 173 h 526"/>
                <a:gd name="T58" fmla="*/ 1200 w 1718"/>
                <a:gd name="T59" fmla="*/ 237 h 526"/>
                <a:gd name="T60" fmla="*/ 1134 w 1718"/>
                <a:gd name="T61" fmla="*/ 290 h 526"/>
                <a:gd name="T62" fmla="*/ 1075 w 1718"/>
                <a:gd name="T63" fmla="*/ 329 h 526"/>
                <a:gd name="T64" fmla="*/ 991 w 1718"/>
                <a:gd name="T65" fmla="*/ 369 h 526"/>
                <a:gd name="T66" fmla="*/ 899 w 1718"/>
                <a:gd name="T67" fmla="*/ 393 h 526"/>
                <a:gd name="T68" fmla="*/ 808 w 1718"/>
                <a:gd name="T69" fmla="*/ 410 h 526"/>
                <a:gd name="T70" fmla="*/ 689 w 1718"/>
                <a:gd name="T71" fmla="*/ 418 h 526"/>
                <a:gd name="T72" fmla="*/ 571 w 1718"/>
                <a:gd name="T73" fmla="*/ 422 h 526"/>
                <a:gd name="T74" fmla="*/ 428 w 1718"/>
                <a:gd name="T75" fmla="*/ 422 h 526"/>
                <a:gd name="T76" fmla="*/ 309 w 1718"/>
                <a:gd name="T77" fmla="*/ 411 h 526"/>
                <a:gd name="T78" fmla="*/ 217 w 1718"/>
                <a:gd name="T79" fmla="*/ 395 h 526"/>
                <a:gd name="T80" fmla="*/ 137 w 1718"/>
                <a:gd name="T81" fmla="*/ 374 h 52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718"/>
                <a:gd name="T124" fmla="*/ 0 h 526"/>
                <a:gd name="T125" fmla="*/ 1718 w 1718"/>
                <a:gd name="T126" fmla="*/ 526 h 52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718" h="526">
                  <a:moveTo>
                    <a:pt x="0" y="330"/>
                  </a:moveTo>
                  <a:lnTo>
                    <a:pt x="112" y="387"/>
                  </a:lnTo>
                  <a:lnTo>
                    <a:pt x="154" y="403"/>
                  </a:lnTo>
                  <a:lnTo>
                    <a:pt x="207" y="421"/>
                  </a:lnTo>
                  <a:lnTo>
                    <a:pt x="251" y="434"/>
                  </a:lnTo>
                  <a:lnTo>
                    <a:pt x="304" y="451"/>
                  </a:lnTo>
                  <a:lnTo>
                    <a:pt x="352" y="464"/>
                  </a:lnTo>
                  <a:lnTo>
                    <a:pt x="411" y="477"/>
                  </a:lnTo>
                  <a:lnTo>
                    <a:pt x="461" y="486"/>
                  </a:lnTo>
                  <a:lnTo>
                    <a:pt x="506" y="498"/>
                  </a:lnTo>
                  <a:lnTo>
                    <a:pt x="568" y="504"/>
                  </a:lnTo>
                  <a:lnTo>
                    <a:pt x="626" y="511"/>
                  </a:lnTo>
                  <a:lnTo>
                    <a:pt x="692" y="516"/>
                  </a:lnTo>
                  <a:lnTo>
                    <a:pt x="784" y="523"/>
                  </a:lnTo>
                  <a:lnTo>
                    <a:pt x="851" y="525"/>
                  </a:lnTo>
                  <a:lnTo>
                    <a:pt x="911" y="525"/>
                  </a:lnTo>
                  <a:lnTo>
                    <a:pt x="988" y="523"/>
                  </a:lnTo>
                  <a:lnTo>
                    <a:pt x="1044" y="520"/>
                  </a:lnTo>
                  <a:lnTo>
                    <a:pt x="1100" y="514"/>
                  </a:lnTo>
                  <a:lnTo>
                    <a:pt x="1162" y="508"/>
                  </a:lnTo>
                  <a:lnTo>
                    <a:pt x="1215" y="496"/>
                  </a:lnTo>
                  <a:lnTo>
                    <a:pt x="1263" y="485"/>
                  </a:lnTo>
                  <a:lnTo>
                    <a:pt x="1310" y="470"/>
                  </a:lnTo>
                  <a:lnTo>
                    <a:pt x="1346" y="454"/>
                  </a:lnTo>
                  <a:lnTo>
                    <a:pt x="1384" y="434"/>
                  </a:lnTo>
                  <a:lnTo>
                    <a:pt x="1420" y="412"/>
                  </a:lnTo>
                  <a:lnTo>
                    <a:pt x="1445" y="383"/>
                  </a:lnTo>
                  <a:lnTo>
                    <a:pt x="1460" y="358"/>
                  </a:lnTo>
                  <a:lnTo>
                    <a:pt x="1481" y="327"/>
                  </a:lnTo>
                  <a:lnTo>
                    <a:pt x="1488" y="304"/>
                  </a:lnTo>
                  <a:lnTo>
                    <a:pt x="1503" y="271"/>
                  </a:lnTo>
                  <a:lnTo>
                    <a:pt x="1717" y="393"/>
                  </a:lnTo>
                  <a:lnTo>
                    <a:pt x="1684" y="359"/>
                  </a:lnTo>
                  <a:lnTo>
                    <a:pt x="1656" y="328"/>
                  </a:lnTo>
                  <a:lnTo>
                    <a:pt x="1630" y="297"/>
                  </a:lnTo>
                  <a:lnTo>
                    <a:pt x="1607" y="263"/>
                  </a:lnTo>
                  <a:lnTo>
                    <a:pt x="1583" y="230"/>
                  </a:lnTo>
                  <a:lnTo>
                    <a:pt x="1566" y="200"/>
                  </a:lnTo>
                  <a:lnTo>
                    <a:pt x="1547" y="166"/>
                  </a:lnTo>
                  <a:lnTo>
                    <a:pt x="1532" y="133"/>
                  </a:lnTo>
                  <a:lnTo>
                    <a:pt x="1513" y="92"/>
                  </a:lnTo>
                  <a:lnTo>
                    <a:pt x="1500" y="56"/>
                  </a:lnTo>
                  <a:lnTo>
                    <a:pt x="1494" y="32"/>
                  </a:lnTo>
                  <a:lnTo>
                    <a:pt x="1483" y="0"/>
                  </a:lnTo>
                  <a:lnTo>
                    <a:pt x="1454" y="12"/>
                  </a:lnTo>
                  <a:lnTo>
                    <a:pt x="1421" y="25"/>
                  </a:lnTo>
                  <a:lnTo>
                    <a:pt x="1384" y="33"/>
                  </a:lnTo>
                  <a:lnTo>
                    <a:pt x="1348" y="40"/>
                  </a:lnTo>
                  <a:lnTo>
                    <a:pt x="1321" y="42"/>
                  </a:lnTo>
                  <a:lnTo>
                    <a:pt x="1297" y="43"/>
                  </a:lnTo>
                  <a:lnTo>
                    <a:pt x="1259" y="43"/>
                  </a:lnTo>
                  <a:lnTo>
                    <a:pt x="1217" y="40"/>
                  </a:lnTo>
                  <a:lnTo>
                    <a:pt x="1182" y="38"/>
                  </a:lnTo>
                  <a:lnTo>
                    <a:pt x="1136" y="30"/>
                  </a:lnTo>
                  <a:lnTo>
                    <a:pt x="1091" y="24"/>
                  </a:lnTo>
                  <a:lnTo>
                    <a:pt x="1020" y="7"/>
                  </a:lnTo>
                  <a:lnTo>
                    <a:pt x="1269" y="142"/>
                  </a:lnTo>
                  <a:lnTo>
                    <a:pt x="1250" y="173"/>
                  </a:lnTo>
                  <a:lnTo>
                    <a:pt x="1223" y="208"/>
                  </a:lnTo>
                  <a:lnTo>
                    <a:pt x="1200" y="237"/>
                  </a:lnTo>
                  <a:lnTo>
                    <a:pt x="1160" y="272"/>
                  </a:lnTo>
                  <a:lnTo>
                    <a:pt x="1134" y="290"/>
                  </a:lnTo>
                  <a:lnTo>
                    <a:pt x="1109" y="308"/>
                  </a:lnTo>
                  <a:lnTo>
                    <a:pt x="1075" y="329"/>
                  </a:lnTo>
                  <a:lnTo>
                    <a:pt x="1037" y="350"/>
                  </a:lnTo>
                  <a:lnTo>
                    <a:pt x="991" y="369"/>
                  </a:lnTo>
                  <a:lnTo>
                    <a:pt x="947" y="381"/>
                  </a:lnTo>
                  <a:lnTo>
                    <a:pt x="899" y="393"/>
                  </a:lnTo>
                  <a:lnTo>
                    <a:pt x="848" y="406"/>
                  </a:lnTo>
                  <a:lnTo>
                    <a:pt x="808" y="410"/>
                  </a:lnTo>
                  <a:lnTo>
                    <a:pt x="748" y="415"/>
                  </a:lnTo>
                  <a:lnTo>
                    <a:pt x="689" y="418"/>
                  </a:lnTo>
                  <a:lnTo>
                    <a:pt x="636" y="421"/>
                  </a:lnTo>
                  <a:lnTo>
                    <a:pt x="571" y="422"/>
                  </a:lnTo>
                  <a:lnTo>
                    <a:pt x="498" y="422"/>
                  </a:lnTo>
                  <a:lnTo>
                    <a:pt x="428" y="422"/>
                  </a:lnTo>
                  <a:lnTo>
                    <a:pt x="357" y="414"/>
                  </a:lnTo>
                  <a:lnTo>
                    <a:pt x="309" y="411"/>
                  </a:lnTo>
                  <a:lnTo>
                    <a:pt x="260" y="404"/>
                  </a:lnTo>
                  <a:lnTo>
                    <a:pt x="217" y="395"/>
                  </a:lnTo>
                  <a:lnTo>
                    <a:pt x="174" y="387"/>
                  </a:lnTo>
                  <a:lnTo>
                    <a:pt x="137" y="374"/>
                  </a:lnTo>
                  <a:lnTo>
                    <a:pt x="0" y="330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rgbClr val="772655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5715000" y="3886200"/>
            <a:ext cx="828675" cy="1970088"/>
            <a:chOff x="3462" y="2455"/>
            <a:chExt cx="757" cy="1614"/>
          </a:xfrm>
        </p:grpSpPr>
        <p:grpSp>
          <p:nvGrpSpPr>
            <p:cNvPr id="4" name="Group 16"/>
            <p:cNvGrpSpPr>
              <a:grpSpLocks/>
            </p:cNvGrpSpPr>
            <p:nvPr/>
          </p:nvGrpSpPr>
          <p:grpSpPr bwMode="auto">
            <a:xfrm>
              <a:off x="3462" y="3447"/>
              <a:ext cx="709" cy="622"/>
              <a:chOff x="3462" y="3447"/>
              <a:chExt cx="709" cy="622"/>
            </a:xfrm>
          </p:grpSpPr>
          <p:grpSp>
            <p:nvGrpSpPr>
              <p:cNvPr id="5" name="Group 17"/>
              <p:cNvGrpSpPr>
                <a:grpSpLocks/>
              </p:cNvGrpSpPr>
              <p:nvPr/>
            </p:nvGrpSpPr>
            <p:grpSpPr bwMode="auto">
              <a:xfrm>
                <a:off x="3462" y="3447"/>
                <a:ext cx="709" cy="622"/>
                <a:chOff x="3462" y="3447"/>
                <a:chExt cx="709" cy="622"/>
              </a:xfrm>
            </p:grpSpPr>
            <p:grpSp>
              <p:nvGrpSpPr>
                <p:cNvPr id="6" name="Group 18"/>
                <p:cNvGrpSpPr>
                  <a:grpSpLocks/>
                </p:cNvGrpSpPr>
                <p:nvPr/>
              </p:nvGrpSpPr>
              <p:grpSpPr bwMode="auto">
                <a:xfrm>
                  <a:off x="3462" y="3447"/>
                  <a:ext cx="709" cy="622"/>
                  <a:chOff x="3462" y="3447"/>
                  <a:chExt cx="709" cy="622"/>
                </a:xfrm>
              </p:grpSpPr>
              <p:sp>
                <p:nvSpPr>
                  <p:cNvPr id="32834" name="Freeform 19"/>
                  <p:cNvSpPr>
                    <a:spLocks/>
                  </p:cNvSpPr>
                  <p:nvPr/>
                </p:nvSpPr>
                <p:spPr bwMode="auto">
                  <a:xfrm>
                    <a:off x="3462" y="3447"/>
                    <a:ext cx="709" cy="622"/>
                  </a:xfrm>
                  <a:custGeom>
                    <a:avLst/>
                    <a:gdLst>
                      <a:gd name="T0" fmla="*/ 244 w 709"/>
                      <a:gd name="T1" fmla="*/ 56 h 622"/>
                      <a:gd name="T2" fmla="*/ 200 w 709"/>
                      <a:gd name="T3" fmla="*/ 51 h 622"/>
                      <a:gd name="T4" fmla="*/ 137 w 709"/>
                      <a:gd name="T5" fmla="*/ 76 h 622"/>
                      <a:gd name="T6" fmla="*/ 95 w 709"/>
                      <a:gd name="T7" fmla="*/ 102 h 622"/>
                      <a:gd name="T8" fmla="*/ 66 w 709"/>
                      <a:gd name="T9" fmla="*/ 141 h 622"/>
                      <a:gd name="T10" fmla="*/ 63 w 709"/>
                      <a:gd name="T11" fmla="*/ 174 h 622"/>
                      <a:gd name="T12" fmla="*/ 61 w 709"/>
                      <a:gd name="T13" fmla="*/ 222 h 622"/>
                      <a:gd name="T14" fmla="*/ 38 w 709"/>
                      <a:gd name="T15" fmla="*/ 247 h 622"/>
                      <a:gd name="T16" fmla="*/ 31 w 709"/>
                      <a:gd name="T17" fmla="*/ 281 h 622"/>
                      <a:gd name="T18" fmla="*/ 43 w 709"/>
                      <a:gd name="T19" fmla="*/ 314 h 622"/>
                      <a:gd name="T20" fmla="*/ 36 w 709"/>
                      <a:gd name="T21" fmla="*/ 339 h 622"/>
                      <a:gd name="T22" fmla="*/ 17 w 709"/>
                      <a:gd name="T23" fmla="*/ 365 h 622"/>
                      <a:gd name="T24" fmla="*/ 13 w 709"/>
                      <a:gd name="T25" fmla="*/ 400 h 622"/>
                      <a:gd name="T26" fmla="*/ 2 w 709"/>
                      <a:gd name="T27" fmla="*/ 441 h 622"/>
                      <a:gd name="T28" fmla="*/ 6 w 709"/>
                      <a:gd name="T29" fmla="*/ 481 h 622"/>
                      <a:gd name="T30" fmla="*/ 31 w 709"/>
                      <a:gd name="T31" fmla="*/ 499 h 622"/>
                      <a:gd name="T32" fmla="*/ 75 w 709"/>
                      <a:gd name="T33" fmla="*/ 499 h 622"/>
                      <a:gd name="T34" fmla="*/ 95 w 709"/>
                      <a:gd name="T35" fmla="*/ 511 h 622"/>
                      <a:gd name="T36" fmla="*/ 90 w 709"/>
                      <a:gd name="T37" fmla="*/ 544 h 622"/>
                      <a:gd name="T38" fmla="*/ 67 w 709"/>
                      <a:gd name="T39" fmla="*/ 577 h 622"/>
                      <a:gd name="T40" fmla="*/ 63 w 709"/>
                      <a:gd name="T41" fmla="*/ 603 h 622"/>
                      <a:gd name="T42" fmla="*/ 80 w 709"/>
                      <a:gd name="T43" fmla="*/ 621 h 622"/>
                      <a:gd name="T44" fmla="*/ 107 w 709"/>
                      <a:gd name="T45" fmla="*/ 621 h 622"/>
                      <a:gd name="T46" fmla="*/ 144 w 709"/>
                      <a:gd name="T47" fmla="*/ 607 h 622"/>
                      <a:gd name="T48" fmla="*/ 194 w 709"/>
                      <a:gd name="T49" fmla="*/ 594 h 622"/>
                      <a:gd name="T50" fmla="*/ 250 w 709"/>
                      <a:gd name="T51" fmla="*/ 591 h 622"/>
                      <a:gd name="T52" fmla="*/ 291 w 709"/>
                      <a:gd name="T53" fmla="*/ 600 h 622"/>
                      <a:gd name="T54" fmla="*/ 346 w 709"/>
                      <a:gd name="T55" fmla="*/ 607 h 622"/>
                      <a:gd name="T56" fmla="*/ 393 w 709"/>
                      <a:gd name="T57" fmla="*/ 598 h 622"/>
                      <a:gd name="T58" fmla="*/ 452 w 709"/>
                      <a:gd name="T59" fmla="*/ 598 h 622"/>
                      <a:gd name="T60" fmla="*/ 506 w 709"/>
                      <a:gd name="T61" fmla="*/ 604 h 622"/>
                      <a:gd name="T62" fmla="*/ 541 w 709"/>
                      <a:gd name="T63" fmla="*/ 589 h 622"/>
                      <a:gd name="T64" fmla="*/ 581 w 709"/>
                      <a:gd name="T65" fmla="*/ 577 h 622"/>
                      <a:gd name="T66" fmla="*/ 635 w 709"/>
                      <a:gd name="T67" fmla="*/ 578 h 622"/>
                      <a:gd name="T68" fmla="*/ 678 w 709"/>
                      <a:gd name="T69" fmla="*/ 574 h 622"/>
                      <a:gd name="T70" fmla="*/ 708 w 709"/>
                      <a:gd name="T71" fmla="*/ 552 h 622"/>
                      <a:gd name="T72" fmla="*/ 691 w 709"/>
                      <a:gd name="T73" fmla="*/ 457 h 622"/>
                      <a:gd name="T74" fmla="*/ 703 w 709"/>
                      <a:gd name="T75" fmla="*/ 428 h 622"/>
                      <a:gd name="T76" fmla="*/ 686 w 709"/>
                      <a:gd name="T77" fmla="*/ 398 h 622"/>
                      <a:gd name="T78" fmla="*/ 676 w 709"/>
                      <a:gd name="T79" fmla="*/ 369 h 622"/>
                      <a:gd name="T80" fmla="*/ 672 w 709"/>
                      <a:gd name="T81" fmla="*/ 335 h 622"/>
                      <a:gd name="T82" fmla="*/ 673 w 709"/>
                      <a:gd name="T83" fmla="*/ 305 h 622"/>
                      <a:gd name="T84" fmla="*/ 665 w 709"/>
                      <a:gd name="T85" fmla="*/ 277 h 622"/>
                      <a:gd name="T86" fmla="*/ 674 w 709"/>
                      <a:gd name="T87" fmla="*/ 235 h 622"/>
                      <a:gd name="T88" fmla="*/ 673 w 709"/>
                      <a:gd name="T89" fmla="*/ 186 h 622"/>
                      <a:gd name="T90" fmla="*/ 662 w 709"/>
                      <a:gd name="T91" fmla="*/ 142 h 622"/>
                      <a:gd name="T92" fmla="*/ 642 w 709"/>
                      <a:gd name="T93" fmla="*/ 109 h 622"/>
                      <a:gd name="T94" fmla="*/ 574 w 709"/>
                      <a:gd name="T95" fmla="*/ 72 h 622"/>
                      <a:gd name="T96" fmla="*/ 440 w 709"/>
                      <a:gd name="T97" fmla="*/ 45 h 622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709"/>
                      <a:gd name="T148" fmla="*/ 0 h 622"/>
                      <a:gd name="T149" fmla="*/ 709 w 709"/>
                      <a:gd name="T150" fmla="*/ 622 h 622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709" h="622">
                        <a:moveTo>
                          <a:pt x="327" y="0"/>
                        </a:moveTo>
                        <a:lnTo>
                          <a:pt x="244" y="56"/>
                        </a:lnTo>
                        <a:lnTo>
                          <a:pt x="229" y="54"/>
                        </a:lnTo>
                        <a:lnTo>
                          <a:pt x="200" y="51"/>
                        </a:lnTo>
                        <a:lnTo>
                          <a:pt x="171" y="60"/>
                        </a:lnTo>
                        <a:lnTo>
                          <a:pt x="137" y="76"/>
                        </a:lnTo>
                        <a:lnTo>
                          <a:pt x="112" y="90"/>
                        </a:lnTo>
                        <a:lnTo>
                          <a:pt x="95" y="102"/>
                        </a:lnTo>
                        <a:lnTo>
                          <a:pt x="78" y="122"/>
                        </a:lnTo>
                        <a:lnTo>
                          <a:pt x="66" y="141"/>
                        </a:lnTo>
                        <a:lnTo>
                          <a:pt x="61" y="154"/>
                        </a:lnTo>
                        <a:lnTo>
                          <a:pt x="63" y="174"/>
                        </a:lnTo>
                        <a:lnTo>
                          <a:pt x="65" y="203"/>
                        </a:lnTo>
                        <a:lnTo>
                          <a:pt x="61" y="222"/>
                        </a:lnTo>
                        <a:lnTo>
                          <a:pt x="50" y="236"/>
                        </a:lnTo>
                        <a:lnTo>
                          <a:pt x="38" y="247"/>
                        </a:lnTo>
                        <a:lnTo>
                          <a:pt x="28" y="263"/>
                        </a:lnTo>
                        <a:lnTo>
                          <a:pt x="31" y="281"/>
                        </a:lnTo>
                        <a:lnTo>
                          <a:pt x="38" y="302"/>
                        </a:lnTo>
                        <a:lnTo>
                          <a:pt x="43" y="314"/>
                        </a:lnTo>
                        <a:lnTo>
                          <a:pt x="43" y="328"/>
                        </a:lnTo>
                        <a:lnTo>
                          <a:pt x="36" y="339"/>
                        </a:lnTo>
                        <a:lnTo>
                          <a:pt x="21" y="351"/>
                        </a:lnTo>
                        <a:lnTo>
                          <a:pt x="17" y="365"/>
                        </a:lnTo>
                        <a:lnTo>
                          <a:pt x="13" y="379"/>
                        </a:lnTo>
                        <a:lnTo>
                          <a:pt x="13" y="400"/>
                        </a:lnTo>
                        <a:lnTo>
                          <a:pt x="9" y="417"/>
                        </a:lnTo>
                        <a:lnTo>
                          <a:pt x="2" y="441"/>
                        </a:lnTo>
                        <a:lnTo>
                          <a:pt x="0" y="463"/>
                        </a:lnTo>
                        <a:lnTo>
                          <a:pt x="6" y="481"/>
                        </a:lnTo>
                        <a:lnTo>
                          <a:pt x="17" y="492"/>
                        </a:lnTo>
                        <a:lnTo>
                          <a:pt x="31" y="499"/>
                        </a:lnTo>
                        <a:lnTo>
                          <a:pt x="53" y="500"/>
                        </a:lnTo>
                        <a:lnTo>
                          <a:pt x="75" y="499"/>
                        </a:lnTo>
                        <a:lnTo>
                          <a:pt x="88" y="503"/>
                        </a:lnTo>
                        <a:lnTo>
                          <a:pt x="95" y="511"/>
                        </a:lnTo>
                        <a:lnTo>
                          <a:pt x="97" y="522"/>
                        </a:lnTo>
                        <a:lnTo>
                          <a:pt x="90" y="544"/>
                        </a:lnTo>
                        <a:lnTo>
                          <a:pt x="76" y="563"/>
                        </a:lnTo>
                        <a:lnTo>
                          <a:pt x="67" y="577"/>
                        </a:lnTo>
                        <a:lnTo>
                          <a:pt x="61" y="591"/>
                        </a:lnTo>
                        <a:lnTo>
                          <a:pt x="63" y="603"/>
                        </a:lnTo>
                        <a:lnTo>
                          <a:pt x="71" y="616"/>
                        </a:lnTo>
                        <a:lnTo>
                          <a:pt x="80" y="621"/>
                        </a:lnTo>
                        <a:lnTo>
                          <a:pt x="92" y="621"/>
                        </a:lnTo>
                        <a:lnTo>
                          <a:pt x="107" y="621"/>
                        </a:lnTo>
                        <a:lnTo>
                          <a:pt x="124" y="615"/>
                        </a:lnTo>
                        <a:lnTo>
                          <a:pt x="144" y="607"/>
                        </a:lnTo>
                        <a:lnTo>
                          <a:pt x="164" y="599"/>
                        </a:lnTo>
                        <a:lnTo>
                          <a:pt x="194" y="594"/>
                        </a:lnTo>
                        <a:lnTo>
                          <a:pt x="222" y="589"/>
                        </a:lnTo>
                        <a:lnTo>
                          <a:pt x="250" y="591"/>
                        </a:lnTo>
                        <a:lnTo>
                          <a:pt x="272" y="596"/>
                        </a:lnTo>
                        <a:lnTo>
                          <a:pt x="291" y="600"/>
                        </a:lnTo>
                        <a:lnTo>
                          <a:pt x="316" y="605"/>
                        </a:lnTo>
                        <a:lnTo>
                          <a:pt x="346" y="607"/>
                        </a:lnTo>
                        <a:lnTo>
                          <a:pt x="367" y="604"/>
                        </a:lnTo>
                        <a:lnTo>
                          <a:pt x="393" y="598"/>
                        </a:lnTo>
                        <a:lnTo>
                          <a:pt x="425" y="600"/>
                        </a:lnTo>
                        <a:lnTo>
                          <a:pt x="452" y="598"/>
                        </a:lnTo>
                        <a:lnTo>
                          <a:pt x="479" y="604"/>
                        </a:lnTo>
                        <a:lnTo>
                          <a:pt x="506" y="604"/>
                        </a:lnTo>
                        <a:lnTo>
                          <a:pt x="523" y="596"/>
                        </a:lnTo>
                        <a:lnTo>
                          <a:pt x="541" y="589"/>
                        </a:lnTo>
                        <a:lnTo>
                          <a:pt x="557" y="584"/>
                        </a:lnTo>
                        <a:lnTo>
                          <a:pt x="581" y="577"/>
                        </a:lnTo>
                        <a:lnTo>
                          <a:pt x="605" y="577"/>
                        </a:lnTo>
                        <a:lnTo>
                          <a:pt x="635" y="578"/>
                        </a:lnTo>
                        <a:lnTo>
                          <a:pt x="659" y="577"/>
                        </a:lnTo>
                        <a:lnTo>
                          <a:pt x="678" y="574"/>
                        </a:lnTo>
                        <a:lnTo>
                          <a:pt x="695" y="563"/>
                        </a:lnTo>
                        <a:lnTo>
                          <a:pt x="708" y="552"/>
                        </a:lnTo>
                        <a:lnTo>
                          <a:pt x="701" y="508"/>
                        </a:lnTo>
                        <a:lnTo>
                          <a:pt x="691" y="457"/>
                        </a:lnTo>
                        <a:lnTo>
                          <a:pt x="695" y="446"/>
                        </a:lnTo>
                        <a:lnTo>
                          <a:pt x="703" y="428"/>
                        </a:lnTo>
                        <a:lnTo>
                          <a:pt x="695" y="410"/>
                        </a:lnTo>
                        <a:lnTo>
                          <a:pt x="686" y="398"/>
                        </a:lnTo>
                        <a:lnTo>
                          <a:pt x="678" y="384"/>
                        </a:lnTo>
                        <a:lnTo>
                          <a:pt x="676" y="369"/>
                        </a:lnTo>
                        <a:lnTo>
                          <a:pt x="674" y="349"/>
                        </a:lnTo>
                        <a:lnTo>
                          <a:pt x="672" y="335"/>
                        </a:lnTo>
                        <a:lnTo>
                          <a:pt x="671" y="321"/>
                        </a:lnTo>
                        <a:lnTo>
                          <a:pt x="673" y="305"/>
                        </a:lnTo>
                        <a:lnTo>
                          <a:pt x="668" y="291"/>
                        </a:lnTo>
                        <a:lnTo>
                          <a:pt x="665" y="277"/>
                        </a:lnTo>
                        <a:lnTo>
                          <a:pt x="671" y="258"/>
                        </a:lnTo>
                        <a:lnTo>
                          <a:pt x="674" y="235"/>
                        </a:lnTo>
                        <a:lnTo>
                          <a:pt x="676" y="211"/>
                        </a:lnTo>
                        <a:lnTo>
                          <a:pt x="673" y="186"/>
                        </a:lnTo>
                        <a:lnTo>
                          <a:pt x="670" y="162"/>
                        </a:lnTo>
                        <a:lnTo>
                          <a:pt x="662" y="142"/>
                        </a:lnTo>
                        <a:lnTo>
                          <a:pt x="655" y="123"/>
                        </a:lnTo>
                        <a:lnTo>
                          <a:pt x="642" y="109"/>
                        </a:lnTo>
                        <a:lnTo>
                          <a:pt x="612" y="89"/>
                        </a:lnTo>
                        <a:lnTo>
                          <a:pt x="574" y="72"/>
                        </a:lnTo>
                        <a:lnTo>
                          <a:pt x="536" y="57"/>
                        </a:lnTo>
                        <a:lnTo>
                          <a:pt x="440" y="45"/>
                        </a:lnTo>
                        <a:lnTo>
                          <a:pt x="327" y="0"/>
                        </a:lnTo>
                      </a:path>
                    </a:pathLst>
                  </a:custGeom>
                  <a:solidFill>
                    <a:srgbClr val="C060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7" name="Group 20"/>
                  <p:cNvGrpSpPr>
                    <a:grpSpLocks/>
                  </p:cNvGrpSpPr>
                  <p:nvPr/>
                </p:nvGrpSpPr>
                <p:grpSpPr bwMode="auto">
                  <a:xfrm>
                    <a:off x="3549" y="3501"/>
                    <a:ext cx="496" cy="458"/>
                    <a:chOff x="3549" y="3501"/>
                    <a:chExt cx="496" cy="458"/>
                  </a:xfrm>
                </p:grpSpPr>
                <p:sp>
                  <p:nvSpPr>
                    <p:cNvPr id="32836" name="Freeform 21"/>
                    <p:cNvSpPr>
                      <a:spLocks/>
                    </p:cNvSpPr>
                    <p:nvPr/>
                  </p:nvSpPr>
                  <p:spPr bwMode="auto">
                    <a:xfrm>
                      <a:off x="4008" y="3732"/>
                      <a:ext cx="27" cy="65"/>
                    </a:xfrm>
                    <a:custGeom>
                      <a:avLst/>
                      <a:gdLst>
                        <a:gd name="T0" fmla="*/ 10 w 27"/>
                        <a:gd name="T1" fmla="*/ 0 h 65"/>
                        <a:gd name="T2" fmla="*/ 0 w 27"/>
                        <a:gd name="T3" fmla="*/ 22 h 65"/>
                        <a:gd name="T4" fmla="*/ 5 w 27"/>
                        <a:gd name="T5" fmla="*/ 45 h 65"/>
                        <a:gd name="T6" fmla="*/ 26 w 27"/>
                        <a:gd name="T7" fmla="*/ 64 h 65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7"/>
                        <a:gd name="T13" fmla="*/ 0 h 65"/>
                        <a:gd name="T14" fmla="*/ 27 w 27"/>
                        <a:gd name="T15" fmla="*/ 65 h 65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7" h="65">
                          <a:moveTo>
                            <a:pt x="10" y="0"/>
                          </a:moveTo>
                          <a:lnTo>
                            <a:pt x="0" y="22"/>
                          </a:lnTo>
                          <a:lnTo>
                            <a:pt x="5" y="45"/>
                          </a:lnTo>
                          <a:lnTo>
                            <a:pt x="26" y="64"/>
                          </a:lnTo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837" name="Freeform 22"/>
                    <p:cNvSpPr>
                      <a:spLocks/>
                    </p:cNvSpPr>
                    <p:nvPr/>
                  </p:nvSpPr>
                  <p:spPr bwMode="auto">
                    <a:xfrm>
                      <a:off x="4028" y="3814"/>
                      <a:ext cx="17" cy="145"/>
                    </a:xfrm>
                    <a:custGeom>
                      <a:avLst/>
                      <a:gdLst>
                        <a:gd name="T0" fmla="*/ 12 w 17"/>
                        <a:gd name="T1" fmla="*/ 144 h 145"/>
                        <a:gd name="T2" fmla="*/ 10 w 17"/>
                        <a:gd name="T3" fmla="*/ 130 h 145"/>
                        <a:gd name="T4" fmla="*/ 11 w 17"/>
                        <a:gd name="T5" fmla="*/ 117 h 145"/>
                        <a:gd name="T6" fmla="*/ 15 w 17"/>
                        <a:gd name="T7" fmla="*/ 102 h 145"/>
                        <a:gd name="T8" fmla="*/ 12 w 17"/>
                        <a:gd name="T9" fmla="*/ 86 h 145"/>
                        <a:gd name="T10" fmla="*/ 3 w 17"/>
                        <a:gd name="T11" fmla="*/ 74 h 145"/>
                        <a:gd name="T12" fmla="*/ 0 w 17"/>
                        <a:gd name="T13" fmla="*/ 63 h 145"/>
                        <a:gd name="T14" fmla="*/ 2 w 17"/>
                        <a:gd name="T15" fmla="*/ 49 h 145"/>
                        <a:gd name="T16" fmla="*/ 12 w 17"/>
                        <a:gd name="T17" fmla="*/ 38 h 145"/>
                        <a:gd name="T18" fmla="*/ 16 w 17"/>
                        <a:gd name="T19" fmla="*/ 25 h 145"/>
                        <a:gd name="T20" fmla="*/ 10 w 17"/>
                        <a:gd name="T21" fmla="*/ 13 h 145"/>
                        <a:gd name="T22" fmla="*/ 6 w 17"/>
                        <a:gd name="T23" fmla="*/ 0 h 145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w 17"/>
                        <a:gd name="T37" fmla="*/ 0 h 145"/>
                        <a:gd name="T38" fmla="*/ 17 w 17"/>
                        <a:gd name="T39" fmla="*/ 145 h 145"/>
                      </a:gdLst>
                      <a:ahLst/>
                      <a:cxnLst>
                        <a:cxn ang="T24">
                          <a:pos x="T0" y="T1"/>
                        </a:cxn>
                        <a:cxn ang="T25">
                          <a:pos x="T2" y="T3"/>
                        </a:cxn>
                        <a:cxn ang="T26">
                          <a:pos x="T4" y="T5"/>
                        </a:cxn>
                        <a:cxn ang="T27">
                          <a:pos x="T6" y="T7"/>
                        </a:cxn>
                        <a:cxn ang="T28">
                          <a:pos x="T8" y="T9"/>
                        </a:cxn>
                        <a:cxn ang="T29">
                          <a:pos x="T10" y="T11"/>
                        </a:cxn>
                        <a:cxn ang="T30">
                          <a:pos x="T12" y="T13"/>
                        </a:cxn>
                        <a:cxn ang="T31">
                          <a:pos x="T14" y="T15"/>
                        </a:cxn>
                        <a:cxn ang="T32">
                          <a:pos x="T16" y="T17"/>
                        </a:cxn>
                        <a:cxn ang="T33">
                          <a:pos x="T18" y="T19"/>
                        </a:cxn>
                        <a:cxn ang="T34">
                          <a:pos x="T20" y="T21"/>
                        </a:cxn>
                        <a:cxn ang="T35">
                          <a:pos x="T22" y="T23"/>
                        </a:cxn>
                      </a:cxnLst>
                      <a:rect l="T36" t="T37" r="T38" b="T39"/>
                      <a:pathLst>
                        <a:path w="17" h="145">
                          <a:moveTo>
                            <a:pt x="12" y="144"/>
                          </a:moveTo>
                          <a:lnTo>
                            <a:pt x="10" y="130"/>
                          </a:lnTo>
                          <a:lnTo>
                            <a:pt x="11" y="117"/>
                          </a:lnTo>
                          <a:lnTo>
                            <a:pt x="15" y="102"/>
                          </a:lnTo>
                          <a:lnTo>
                            <a:pt x="12" y="86"/>
                          </a:lnTo>
                          <a:lnTo>
                            <a:pt x="3" y="74"/>
                          </a:lnTo>
                          <a:lnTo>
                            <a:pt x="0" y="63"/>
                          </a:lnTo>
                          <a:lnTo>
                            <a:pt x="2" y="49"/>
                          </a:lnTo>
                          <a:lnTo>
                            <a:pt x="12" y="38"/>
                          </a:lnTo>
                          <a:lnTo>
                            <a:pt x="16" y="25"/>
                          </a:lnTo>
                          <a:lnTo>
                            <a:pt x="10" y="13"/>
                          </a:lnTo>
                          <a:lnTo>
                            <a:pt x="6" y="0"/>
                          </a:lnTo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838" name="Freeform 23"/>
                    <p:cNvSpPr>
                      <a:spLocks/>
                    </p:cNvSpPr>
                    <p:nvPr/>
                  </p:nvSpPr>
                  <p:spPr bwMode="auto">
                    <a:xfrm>
                      <a:off x="3643" y="3501"/>
                      <a:ext cx="169" cy="245"/>
                    </a:xfrm>
                    <a:custGeom>
                      <a:avLst/>
                      <a:gdLst>
                        <a:gd name="T0" fmla="*/ 36 w 169"/>
                        <a:gd name="T1" fmla="*/ 0 h 245"/>
                        <a:gd name="T2" fmla="*/ 36 w 169"/>
                        <a:gd name="T3" fmla="*/ 14 h 245"/>
                        <a:gd name="T4" fmla="*/ 32 w 169"/>
                        <a:gd name="T5" fmla="*/ 27 h 245"/>
                        <a:gd name="T6" fmla="*/ 26 w 169"/>
                        <a:gd name="T7" fmla="*/ 43 h 245"/>
                        <a:gd name="T8" fmla="*/ 24 w 169"/>
                        <a:gd name="T9" fmla="*/ 56 h 245"/>
                        <a:gd name="T10" fmla="*/ 22 w 169"/>
                        <a:gd name="T11" fmla="*/ 74 h 245"/>
                        <a:gd name="T12" fmla="*/ 20 w 169"/>
                        <a:gd name="T13" fmla="*/ 89 h 245"/>
                        <a:gd name="T14" fmla="*/ 13 w 169"/>
                        <a:gd name="T15" fmla="*/ 102 h 245"/>
                        <a:gd name="T16" fmla="*/ 0 w 169"/>
                        <a:gd name="T17" fmla="*/ 110 h 245"/>
                        <a:gd name="T18" fmla="*/ 15 w 169"/>
                        <a:gd name="T19" fmla="*/ 116 h 245"/>
                        <a:gd name="T20" fmla="*/ 36 w 169"/>
                        <a:gd name="T21" fmla="*/ 121 h 245"/>
                        <a:gd name="T22" fmla="*/ 52 w 169"/>
                        <a:gd name="T23" fmla="*/ 127 h 245"/>
                        <a:gd name="T24" fmla="*/ 38 w 169"/>
                        <a:gd name="T25" fmla="*/ 141 h 245"/>
                        <a:gd name="T26" fmla="*/ 28 w 169"/>
                        <a:gd name="T27" fmla="*/ 154 h 245"/>
                        <a:gd name="T28" fmla="*/ 52 w 169"/>
                        <a:gd name="T29" fmla="*/ 160 h 245"/>
                        <a:gd name="T30" fmla="*/ 79 w 169"/>
                        <a:gd name="T31" fmla="*/ 174 h 245"/>
                        <a:gd name="T32" fmla="*/ 107 w 169"/>
                        <a:gd name="T33" fmla="*/ 196 h 245"/>
                        <a:gd name="T34" fmla="*/ 133 w 169"/>
                        <a:gd name="T35" fmla="*/ 209 h 245"/>
                        <a:gd name="T36" fmla="*/ 168 w 169"/>
                        <a:gd name="T37" fmla="*/ 244 h 245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w 169"/>
                        <a:gd name="T58" fmla="*/ 0 h 245"/>
                        <a:gd name="T59" fmla="*/ 169 w 169"/>
                        <a:gd name="T60" fmla="*/ 245 h 245"/>
                      </a:gdLst>
                      <a:ahLst/>
                      <a:cxnLst>
                        <a:cxn ang="T38">
                          <a:pos x="T0" y="T1"/>
                        </a:cxn>
                        <a:cxn ang="T39">
                          <a:pos x="T2" y="T3"/>
                        </a:cxn>
                        <a:cxn ang="T40">
                          <a:pos x="T4" y="T5"/>
                        </a:cxn>
                        <a:cxn ang="T41">
                          <a:pos x="T6" y="T7"/>
                        </a:cxn>
                        <a:cxn ang="T42">
                          <a:pos x="T8" y="T9"/>
                        </a:cxn>
                        <a:cxn ang="T43">
                          <a:pos x="T10" y="T11"/>
                        </a:cxn>
                        <a:cxn ang="T44">
                          <a:pos x="T12" y="T13"/>
                        </a:cxn>
                        <a:cxn ang="T45">
                          <a:pos x="T14" y="T15"/>
                        </a:cxn>
                        <a:cxn ang="T46">
                          <a:pos x="T16" y="T17"/>
                        </a:cxn>
                        <a:cxn ang="T47">
                          <a:pos x="T18" y="T19"/>
                        </a:cxn>
                        <a:cxn ang="T48">
                          <a:pos x="T20" y="T21"/>
                        </a:cxn>
                        <a:cxn ang="T49">
                          <a:pos x="T22" y="T23"/>
                        </a:cxn>
                        <a:cxn ang="T50">
                          <a:pos x="T24" y="T25"/>
                        </a:cxn>
                        <a:cxn ang="T51">
                          <a:pos x="T26" y="T27"/>
                        </a:cxn>
                        <a:cxn ang="T52">
                          <a:pos x="T28" y="T29"/>
                        </a:cxn>
                        <a:cxn ang="T53">
                          <a:pos x="T30" y="T31"/>
                        </a:cxn>
                        <a:cxn ang="T54">
                          <a:pos x="T32" y="T33"/>
                        </a:cxn>
                        <a:cxn ang="T55">
                          <a:pos x="T34" y="T35"/>
                        </a:cxn>
                        <a:cxn ang="T56">
                          <a:pos x="T36" y="T37"/>
                        </a:cxn>
                      </a:cxnLst>
                      <a:rect l="T57" t="T58" r="T59" b="T60"/>
                      <a:pathLst>
                        <a:path w="169" h="245">
                          <a:moveTo>
                            <a:pt x="36" y="0"/>
                          </a:moveTo>
                          <a:lnTo>
                            <a:pt x="36" y="14"/>
                          </a:lnTo>
                          <a:lnTo>
                            <a:pt x="32" y="27"/>
                          </a:lnTo>
                          <a:lnTo>
                            <a:pt x="26" y="43"/>
                          </a:lnTo>
                          <a:lnTo>
                            <a:pt x="24" y="56"/>
                          </a:lnTo>
                          <a:lnTo>
                            <a:pt x="22" y="74"/>
                          </a:lnTo>
                          <a:lnTo>
                            <a:pt x="20" y="89"/>
                          </a:lnTo>
                          <a:lnTo>
                            <a:pt x="13" y="102"/>
                          </a:lnTo>
                          <a:lnTo>
                            <a:pt x="0" y="110"/>
                          </a:lnTo>
                          <a:lnTo>
                            <a:pt x="15" y="116"/>
                          </a:lnTo>
                          <a:lnTo>
                            <a:pt x="36" y="121"/>
                          </a:lnTo>
                          <a:lnTo>
                            <a:pt x="52" y="127"/>
                          </a:lnTo>
                          <a:lnTo>
                            <a:pt x="38" y="141"/>
                          </a:lnTo>
                          <a:lnTo>
                            <a:pt x="28" y="154"/>
                          </a:lnTo>
                          <a:lnTo>
                            <a:pt x="52" y="160"/>
                          </a:lnTo>
                          <a:lnTo>
                            <a:pt x="79" y="174"/>
                          </a:lnTo>
                          <a:lnTo>
                            <a:pt x="107" y="196"/>
                          </a:lnTo>
                          <a:lnTo>
                            <a:pt x="133" y="209"/>
                          </a:lnTo>
                          <a:lnTo>
                            <a:pt x="168" y="244"/>
                          </a:lnTo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839" name="Freeform 24"/>
                    <p:cNvSpPr>
                      <a:spLocks/>
                    </p:cNvSpPr>
                    <p:nvPr/>
                  </p:nvSpPr>
                  <p:spPr bwMode="auto">
                    <a:xfrm>
                      <a:off x="3876" y="3507"/>
                      <a:ext cx="165" cy="236"/>
                    </a:xfrm>
                    <a:custGeom>
                      <a:avLst/>
                      <a:gdLst>
                        <a:gd name="T0" fmla="*/ 133 w 165"/>
                        <a:gd name="T1" fmla="*/ 0 h 236"/>
                        <a:gd name="T2" fmla="*/ 133 w 165"/>
                        <a:gd name="T3" fmla="*/ 15 h 236"/>
                        <a:gd name="T4" fmla="*/ 138 w 165"/>
                        <a:gd name="T5" fmla="*/ 37 h 236"/>
                        <a:gd name="T6" fmla="*/ 151 w 165"/>
                        <a:gd name="T7" fmla="*/ 58 h 236"/>
                        <a:gd name="T8" fmla="*/ 164 w 165"/>
                        <a:gd name="T9" fmla="*/ 73 h 236"/>
                        <a:gd name="T10" fmla="*/ 150 w 165"/>
                        <a:gd name="T11" fmla="*/ 77 h 236"/>
                        <a:gd name="T12" fmla="*/ 130 w 165"/>
                        <a:gd name="T13" fmla="*/ 85 h 236"/>
                        <a:gd name="T14" fmla="*/ 112 w 165"/>
                        <a:gd name="T15" fmla="*/ 91 h 236"/>
                        <a:gd name="T16" fmla="*/ 136 w 165"/>
                        <a:gd name="T17" fmla="*/ 107 h 236"/>
                        <a:gd name="T18" fmla="*/ 112 w 165"/>
                        <a:gd name="T19" fmla="*/ 115 h 236"/>
                        <a:gd name="T20" fmla="*/ 80 w 165"/>
                        <a:gd name="T21" fmla="*/ 137 h 236"/>
                        <a:gd name="T22" fmla="*/ 64 w 165"/>
                        <a:gd name="T23" fmla="*/ 162 h 236"/>
                        <a:gd name="T24" fmla="*/ 35 w 165"/>
                        <a:gd name="T25" fmla="*/ 189 h 236"/>
                        <a:gd name="T26" fmla="*/ 14 w 165"/>
                        <a:gd name="T27" fmla="*/ 216 h 236"/>
                        <a:gd name="T28" fmla="*/ 0 w 165"/>
                        <a:gd name="T29" fmla="*/ 235 h 2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w 165"/>
                        <a:gd name="T46" fmla="*/ 0 h 236"/>
                        <a:gd name="T47" fmla="*/ 165 w 165"/>
                        <a:gd name="T48" fmla="*/ 236 h 236"/>
                      </a:gdLst>
                      <a:ahLst/>
                      <a:cxnLst>
                        <a:cxn ang="T30">
                          <a:pos x="T0" y="T1"/>
                        </a:cxn>
                        <a:cxn ang="T31">
                          <a:pos x="T2" y="T3"/>
                        </a:cxn>
                        <a:cxn ang="T32">
                          <a:pos x="T4" y="T5"/>
                        </a:cxn>
                        <a:cxn ang="T33">
                          <a:pos x="T6" y="T7"/>
                        </a:cxn>
                        <a:cxn ang="T34">
                          <a:pos x="T8" y="T9"/>
                        </a:cxn>
                        <a:cxn ang="T35">
                          <a:pos x="T10" y="T11"/>
                        </a:cxn>
                        <a:cxn ang="T36">
                          <a:pos x="T12" y="T13"/>
                        </a:cxn>
                        <a:cxn ang="T37">
                          <a:pos x="T14" y="T15"/>
                        </a:cxn>
                        <a:cxn ang="T38">
                          <a:pos x="T16" y="T17"/>
                        </a:cxn>
                        <a:cxn ang="T39">
                          <a:pos x="T18" y="T19"/>
                        </a:cxn>
                        <a:cxn ang="T40">
                          <a:pos x="T20" y="T21"/>
                        </a:cxn>
                        <a:cxn ang="T41">
                          <a:pos x="T22" y="T23"/>
                        </a:cxn>
                        <a:cxn ang="T42">
                          <a:pos x="T24" y="T25"/>
                        </a:cxn>
                        <a:cxn ang="T43">
                          <a:pos x="T26" y="T27"/>
                        </a:cxn>
                        <a:cxn ang="T44">
                          <a:pos x="T28" y="T29"/>
                        </a:cxn>
                      </a:cxnLst>
                      <a:rect l="T45" t="T46" r="T47" b="T48"/>
                      <a:pathLst>
                        <a:path w="165" h="236">
                          <a:moveTo>
                            <a:pt x="133" y="0"/>
                          </a:moveTo>
                          <a:lnTo>
                            <a:pt x="133" y="15"/>
                          </a:lnTo>
                          <a:lnTo>
                            <a:pt x="138" y="37"/>
                          </a:lnTo>
                          <a:lnTo>
                            <a:pt x="151" y="58"/>
                          </a:lnTo>
                          <a:lnTo>
                            <a:pt x="164" y="73"/>
                          </a:lnTo>
                          <a:lnTo>
                            <a:pt x="150" y="77"/>
                          </a:lnTo>
                          <a:lnTo>
                            <a:pt x="130" y="85"/>
                          </a:lnTo>
                          <a:lnTo>
                            <a:pt x="112" y="91"/>
                          </a:lnTo>
                          <a:lnTo>
                            <a:pt x="136" y="107"/>
                          </a:lnTo>
                          <a:lnTo>
                            <a:pt x="112" y="115"/>
                          </a:lnTo>
                          <a:lnTo>
                            <a:pt x="80" y="137"/>
                          </a:lnTo>
                          <a:lnTo>
                            <a:pt x="64" y="162"/>
                          </a:lnTo>
                          <a:lnTo>
                            <a:pt x="35" y="189"/>
                          </a:lnTo>
                          <a:lnTo>
                            <a:pt x="14" y="216"/>
                          </a:lnTo>
                          <a:lnTo>
                            <a:pt x="0" y="235"/>
                          </a:lnTo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840" name="Freeform 25"/>
                    <p:cNvSpPr>
                      <a:spLocks/>
                    </p:cNvSpPr>
                    <p:nvPr/>
                  </p:nvSpPr>
                  <p:spPr bwMode="auto">
                    <a:xfrm>
                      <a:off x="3549" y="3926"/>
                      <a:ext cx="82" cy="19"/>
                    </a:xfrm>
                    <a:custGeom>
                      <a:avLst/>
                      <a:gdLst>
                        <a:gd name="T0" fmla="*/ 81 w 82"/>
                        <a:gd name="T1" fmla="*/ 4 h 19"/>
                        <a:gd name="T2" fmla="*/ 65 w 82"/>
                        <a:gd name="T3" fmla="*/ 1 h 19"/>
                        <a:gd name="T4" fmla="*/ 51 w 82"/>
                        <a:gd name="T5" fmla="*/ 0 h 19"/>
                        <a:gd name="T6" fmla="*/ 35 w 82"/>
                        <a:gd name="T7" fmla="*/ 2 h 19"/>
                        <a:gd name="T8" fmla="*/ 23 w 82"/>
                        <a:gd name="T9" fmla="*/ 6 h 19"/>
                        <a:gd name="T10" fmla="*/ 8 w 82"/>
                        <a:gd name="T11" fmla="*/ 13 h 19"/>
                        <a:gd name="T12" fmla="*/ 0 w 82"/>
                        <a:gd name="T13" fmla="*/ 18 h 19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82"/>
                        <a:gd name="T22" fmla="*/ 0 h 19"/>
                        <a:gd name="T23" fmla="*/ 82 w 82"/>
                        <a:gd name="T24" fmla="*/ 19 h 19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82" h="19">
                          <a:moveTo>
                            <a:pt x="81" y="4"/>
                          </a:moveTo>
                          <a:lnTo>
                            <a:pt x="65" y="1"/>
                          </a:lnTo>
                          <a:lnTo>
                            <a:pt x="51" y="0"/>
                          </a:lnTo>
                          <a:lnTo>
                            <a:pt x="35" y="2"/>
                          </a:lnTo>
                          <a:lnTo>
                            <a:pt x="23" y="6"/>
                          </a:lnTo>
                          <a:lnTo>
                            <a:pt x="8" y="13"/>
                          </a:lnTo>
                          <a:lnTo>
                            <a:pt x="0" y="18"/>
                          </a:lnTo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841" name="Freeform 26"/>
                    <p:cNvSpPr>
                      <a:spLocks/>
                    </p:cNvSpPr>
                    <p:nvPr/>
                  </p:nvSpPr>
                  <p:spPr bwMode="auto">
                    <a:xfrm>
                      <a:off x="3584" y="3729"/>
                      <a:ext cx="53" cy="45"/>
                    </a:xfrm>
                    <a:custGeom>
                      <a:avLst/>
                      <a:gdLst>
                        <a:gd name="T0" fmla="*/ 52 w 53"/>
                        <a:gd name="T1" fmla="*/ 44 h 45"/>
                        <a:gd name="T2" fmla="*/ 41 w 53"/>
                        <a:gd name="T3" fmla="*/ 43 h 45"/>
                        <a:gd name="T4" fmla="*/ 27 w 53"/>
                        <a:gd name="T5" fmla="*/ 38 h 45"/>
                        <a:gd name="T6" fmla="*/ 17 w 53"/>
                        <a:gd name="T7" fmla="*/ 31 h 45"/>
                        <a:gd name="T8" fmla="*/ 9 w 53"/>
                        <a:gd name="T9" fmla="*/ 22 h 45"/>
                        <a:gd name="T10" fmla="*/ 3 w 53"/>
                        <a:gd name="T11" fmla="*/ 9 h 45"/>
                        <a:gd name="T12" fmla="*/ 0 w 53"/>
                        <a:gd name="T13" fmla="*/ 0 h 45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53"/>
                        <a:gd name="T22" fmla="*/ 0 h 45"/>
                        <a:gd name="T23" fmla="*/ 53 w 53"/>
                        <a:gd name="T24" fmla="*/ 45 h 45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53" h="45">
                          <a:moveTo>
                            <a:pt x="52" y="44"/>
                          </a:moveTo>
                          <a:lnTo>
                            <a:pt x="41" y="43"/>
                          </a:lnTo>
                          <a:lnTo>
                            <a:pt x="27" y="38"/>
                          </a:lnTo>
                          <a:lnTo>
                            <a:pt x="17" y="31"/>
                          </a:lnTo>
                          <a:lnTo>
                            <a:pt x="9" y="22"/>
                          </a:lnTo>
                          <a:lnTo>
                            <a:pt x="3" y="9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842" name="Freeform 27"/>
                    <p:cNvSpPr>
                      <a:spLocks/>
                    </p:cNvSpPr>
                    <p:nvPr/>
                  </p:nvSpPr>
                  <p:spPr bwMode="auto">
                    <a:xfrm>
                      <a:off x="3622" y="3774"/>
                      <a:ext cx="16" cy="130"/>
                    </a:xfrm>
                    <a:custGeom>
                      <a:avLst/>
                      <a:gdLst>
                        <a:gd name="T0" fmla="*/ 14 w 16"/>
                        <a:gd name="T1" fmla="*/ 0 h 130"/>
                        <a:gd name="T2" fmla="*/ 13 w 16"/>
                        <a:gd name="T3" fmla="*/ 9 h 130"/>
                        <a:gd name="T4" fmla="*/ 13 w 16"/>
                        <a:gd name="T5" fmla="*/ 15 h 130"/>
                        <a:gd name="T6" fmla="*/ 13 w 16"/>
                        <a:gd name="T7" fmla="*/ 24 h 130"/>
                        <a:gd name="T8" fmla="*/ 15 w 16"/>
                        <a:gd name="T9" fmla="*/ 32 h 130"/>
                        <a:gd name="T10" fmla="*/ 13 w 16"/>
                        <a:gd name="T11" fmla="*/ 41 h 130"/>
                        <a:gd name="T12" fmla="*/ 10 w 16"/>
                        <a:gd name="T13" fmla="*/ 50 h 130"/>
                        <a:gd name="T14" fmla="*/ 8 w 16"/>
                        <a:gd name="T15" fmla="*/ 57 h 130"/>
                        <a:gd name="T16" fmla="*/ 7 w 16"/>
                        <a:gd name="T17" fmla="*/ 66 h 130"/>
                        <a:gd name="T18" fmla="*/ 7 w 16"/>
                        <a:gd name="T19" fmla="*/ 74 h 130"/>
                        <a:gd name="T20" fmla="*/ 3 w 16"/>
                        <a:gd name="T21" fmla="*/ 84 h 130"/>
                        <a:gd name="T22" fmla="*/ 0 w 16"/>
                        <a:gd name="T23" fmla="*/ 91 h 130"/>
                        <a:gd name="T24" fmla="*/ 1 w 16"/>
                        <a:gd name="T25" fmla="*/ 100 h 130"/>
                        <a:gd name="T26" fmla="*/ 5 w 16"/>
                        <a:gd name="T27" fmla="*/ 109 h 130"/>
                        <a:gd name="T28" fmla="*/ 10 w 16"/>
                        <a:gd name="T29" fmla="*/ 118 h 130"/>
                        <a:gd name="T30" fmla="*/ 12 w 16"/>
                        <a:gd name="T31" fmla="*/ 129 h 130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w 16"/>
                        <a:gd name="T49" fmla="*/ 0 h 130"/>
                        <a:gd name="T50" fmla="*/ 16 w 16"/>
                        <a:gd name="T51" fmla="*/ 130 h 130"/>
                      </a:gdLst>
                      <a:ahLst/>
                      <a:cxnLst>
                        <a:cxn ang="T32">
                          <a:pos x="T0" y="T1"/>
                        </a:cxn>
                        <a:cxn ang="T33">
                          <a:pos x="T2" y="T3"/>
                        </a:cxn>
                        <a:cxn ang="T34">
                          <a:pos x="T4" y="T5"/>
                        </a:cxn>
                        <a:cxn ang="T35">
                          <a:pos x="T6" y="T7"/>
                        </a:cxn>
                        <a:cxn ang="T36">
                          <a:pos x="T8" y="T9"/>
                        </a:cxn>
                        <a:cxn ang="T37">
                          <a:pos x="T10" y="T11"/>
                        </a:cxn>
                        <a:cxn ang="T38">
                          <a:pos x="T12" y="T13"/>
                        </a:cxn>
                        <a:cxn ang="T39">
                          <a:pos x="T14" y="T15"/>
                        </a:cxn>
                        <a:cxn ang="T40">
                          <a:pos x="T16" y="T17"/>
                        </a:cxn>
                        <a:cxn ang="T41">
                          <a:pos x="T18" y="T19"/>
                        </a:cxn>
                        <a:cxn ang="T42">
                          <a:pos x="T20" y="T21"/>
                        </a:cxn>
                        <a:cxn ang="T43">
                          <a:pos x="T22" y="T23"/>
                        </a:cxn>
                        <a:cxn ang="T44">
                          <a:pos x="T24" y="T25"/>
                        </a:cxn>
                        <a:cxn ang="T45">
                          <a:pos x="T26" y="T27"/>
                        </a:cxn>
                        <a:cxn ang="T46">
                          <a:pos x="T28" y="T29"/>
                        </a:cxn>
                        <a:cxn ang="T47">
                          <a:pos x="T30" y="T31"/>
                        </a:cxn>
                      </a:cxnLst>
                      <a:rect l="T48" t="T49" r="T50" b="T51"/>
                      <a:pathLst>
                        <a:path w="16" h="130">
                          <a:moveTo>
                            <a:pt x="14" y="0"/>
                          </a:moveTo>
                          <a:lnTo>
                            <a:pt x="13" y="9"/>
                          </a:lnTo>
                          <a:lnTo>
                            <a:pt x="13" y="15"/>
                          </a:lnTo>
                          <a:lnTo>
                            <a:pt x="13" y="24"/>
                          </a:lnTo>
                          <a:lnTo>
                            <a:pt x="15" y="32"/>
                          </a:lnTo>
                          <a:lnTo>
                            <a:pt x="13" y="41"/>
                          </a:lnTo>
                          <a:lnTo>
                            <a:pt x="10" y="50"/>
                          </a:lnTo>
                          <a:lnTo>
                            <a:pt x="8" y="57"/>
                          </a:lnTo>
                          <a:lnTo>
                            <a:pt x="7" y="66"/>
                          </a:lnTo>
                          <a:lnTo>
                            <a:pt x="7" y="74"/>
                          </a:lnTo>
                          <a:lnTo>
                            <a:pt x="3" y="84"/>
                          </a:lnTo>
                          <a:lnTo>
                            <a:pt x="0" y="91"/>
                          </a:lnTo>
                          <a:lnTo>
                            <a:pt x="1" y="100"/>
                          </a:lnTo>
                          <a:lnTo>
                            <a:pt x="5" y="109"/>
                          </a:lnTo>
                          <a:lnTo>
                            <a:pt x="10" y="118"/>
                          </a:lnTo>
                          <a:lnTo>
                            <a:pt x="12" y="129"/>
                          </a:lnTo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843" name="Freeform 28"/>
                    <p:cNvSpPr>
                      <a:spLocks/>
                    </p:cNvSpPr>
                    <p:nvPr/>
                  </p:nvSpPr>
                  <p:spPr bwMode="auto">
                    <a:xfrm>
                      <a:off x="3621" y="3726"/>
                      <a:ext cx="15" cy="46"/>
                    </a:xfrm>
                    <a:custGeom>
                      <a:avLst/>
                      <a:gdLst>
                        <a:gd name="T0" fmla="*/ 10 w 15"/>
                        <a:gd name="T1" fmla="*/ 0 h 46"/>
                        <a:gd name="T2" fmla="*/ 4 w 15"/>
                        <a:gd name="T3" fmla="*/ 8 h 46"/>
                        <a:gd name="T4" fmla="*/ 0 w 15"/>
                        <a:gd name="T5" fmla="*/ 17 h 46"/>
                        <a:gd name="T6" fmla="*/ 0 w 15"/>
                        <a:gd name="T7" fmla="*/ 28 h 46"/>
                        <a:gd name="T8" fmla="*/ 5 w 15"/>
                        <a:gd name="T9" fmla="*/ 37 h 46"/>
                        <a:gd name="T10" fmla="*/ 14 w 15"/>
                        <a:gd name="T11" fmla="*/ 45 h 46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15"/>
                        <a:gd name="T19" fmla="*/ 0 h 46"/>
                        <a:gd name="T20" fmla="*/ 15 w 15"/>
                        <a:gd name="T21" fmla="*/ 46 h 4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15" h="46">
                          <a:moveTo>
                            <a:pt x="10" y="0"/>
                          </a:moveTo>
                          <a:lnTo>
                            <a:pt x="4" y="8"/>
                          </a:lnTo>
                          <a:lnTo>
                            <a:pt x="0" y="17"/>
                          </a:lnTo>
                          <a:lnTo>
                            <a:pt x="0" y="28"/>
                          </a:lnTo>
                          <a:lnTo>
                            <a:pt x="5" y="37"/>
                          </a:lnTo>
                          <a:lnTo>
                            <a:pt x="14" y="45"/>
                          </a:lnTo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8" name="Group 29"/>
                <p:cNvGrpSpPr>
                  <a:grpSpLocks/>
                </p:cNvGrpSpPr>
                <p:nvPr/>
              </p:nvGrpSpPr>
              <p:grpSpPr bwMode="auto">
                <a:xfrm>
                  <a:off x="3684" y="3473"/>
                  <a:ext cx="317" cy="299"/>
                  <a:chOff x="3684" y="3473"/>
                  <a:chExt cx="317" cy="299"/>
                </a:xfrm>
              </p:grpSpPr>
              <p:grpSp>
                <p:nvGrpSpPr>
                  <p:cNvPr id="9" name="Group 30"/>
                  <p:cNvGrpSpPr>
                    <a:grpSpLocks/>
                  </p:cNvGrpSpPr>
                  <p:nvPr/>
                </p:nvGrpSpPr>
                <p:grpSpPr bwMode="auto">
                  <a:xfrm>
                    <a:off x="3684" y="3473"/>
                    <a:ext cx="317" cy="299"/>
                    <a:chOff x="3684" y="3473"/>
                    <a:chExt cx="317" cy="299"/>
                  </a:xfrm>
                </p:grpSpPr>
                <p:sp>
                  <p:nvSpPr>
                    <p:cNvPr id="32830" name="Freeform 31"/>
                    <p:cNvSpPr>
                      <a:spLocks/>
                    </p:cNvSpPr>
                    <p:nvPr/>
                  </p:nvSpPr>
                  <p:spPr bwMode="auto">
                    <a:xfrm>
                      <a:off x="3684" y="3473"/>
                      <a:ext cx="317" cy="299"/>
                    </a:xfrm>
                    <a:custGeom>
                      <a:avLst/>
                      <a:gdLst>
                        <a:gd name="T0" fmla="*/ 62 w 317"/>
                        <a:gd name="T1" fmla="*/ 22 h 299"/>
                        <a:gd name="T2" fmla="*/ 0 w 317"/>
                        <a:gd name="T3" fmla="*/ 26 h 299"/>
                        <a:gd name="T4" fmla="*/ 19 w 317"/>
                        <a:gd name="T5" fmla="*/ 63 h 299"/>
                        <a:gd name="T6" fmla="*/ 65 w 317"/>
                        <a:gd name="T7" fmla="*/ 105 h 299"/>
                        <a:gd name="T8" fmla="*/ 60 w 317"/>
                        <a:gd name="T9" fmla="*/ 144 h 299"/>
                        <a:gd name="T10" fmla="*/ 151 w 317"/>
                        <a:gd name="T11" fmla="*/ 298 h 299"/>
                        <a:gd name="T12" fmla="*/ 157 w 317"/>
                        <a:gd name="T13" fmla="*/ 298 h 299"/>
                        <a:gd name="T14" fmla="*/ 179 w 317"/>
                        <a:gd name="T15" fmla="*/ 269 h 299"/>
                        <a:gd name="T16" fmla="*/ 206 w 317"/>
                        <a:gd name="T17" fmla="*/ 217 h 299"/>
                        <a:gd name="T18" fmla="*/ 248 w 317"/>
                        <a:gd name="T19" fmla="*/ 154 h 299"/>
                        <a:gd name="T20" fmla="*/ 258 w 317"/>
                        <a:gd name="T21" fmla="*/ 94 h 299"/>
                        <a:gd name="T22" fmla="*/ 316 w 317"/>
                        <a:gd name="T23" fmla="*/ 31 h 299"/>
                        <a:gd name="T24" fmla="*/ 259 w 317"/>
                        <a:gd name="T25" fmla="*/ 0 h 299"/>
                        <a:gd name="T26" fmla="*/ 205 w 317"/>
                        <a:gd name="T27" fmla="*/ 39 h 299"/>
                        <a:gd name="T28" fmla="*/ 154 w 317"/>
                        <a:gd name="T29" fmla="*/ 36 h 299"/>
                        <a:gd name="T30" fmla="*/ 87 w 317"/>
                        <a:gd name="T31" fmla="*/ 17 h 299"/>
                        <a:gd name="T32" fmla="*/ 62 w 317"/>
                        <a:gd name="T33" fmla="*/ 22 h 299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w 317"/>
                        <a:gd name="T52" fmla="*/ 0 h 299"/>
                        <a:gd name="T53" fmla="*/ 317 w 317"/>
                        <a:gd name="T54" fmla="*/ 299 h 299"/>
                      </a:gdLst>
                      <a:ahLst/>
                      <a:cxnLst>
                        <a:cxn ang="T34">
                          <a:pos x="T0" y="T1"/>
                        </a:cxn>
                        <a:cxn ang="T35">
                          <a:pos x="T2" y="T3"/>
                        </a:cxn>
                        <a:cxn ang="T36">
                          <a:pos x="T4" y="T5"/>
                        </a:cxn>
                        <a:cxn ang="T37">
                          <a:pos x="T6" y="T7"/>
                        </a:cxn>
                        <a:cxn ang="T38">
                          <a:pos x="T8" y="T9"/>
                        </a:cxn>
                        <a:cxn ang="T39">
                          <a:pos x="T10" y="T11"/>
                        </a:cxn>
                        <a:cxn ang="T40">
                          <a:pos x="T12" y="T13"/>
                        </a:cxn>
                        <a:cxn ang="T41">
                          <a:pos x="T14" y="T15"/>
                        </a:cxn>
                        <a:cxn ang="T42">
                          <a:pos x="T16" y="T17"/>
                        </a:cxn>
                        <a:cxn ang="T43">
                          <a:pos x="T18" y="T19"/>
                        </a:cxn>
                        <a:cxn ang="T44">
                          <a:pos x="T20" y="T21"/>
                        </a:cxn>
                        <a:cxn ang="T45">
                          <a:pos x="T22" y="T23"/>
                        </a:cxn>
                        <a:cxn ang="T46">
                          <a:pos x="T24" y="T25"/>
                        </a:cxn>
                        <a:cxn ang="T47">
                          <a:pos x="T26" y="T27"/>
                        </a:cxn>
                        <a:cxn ang="T48">
                          <a:pos x="T28" y="T29"/>
                        </a:cxn>
                        <a:cxn ang="T49">
                          <a:pos x="T30" y="T31"/>
                        </a:cxn>
                        <a:cxn ang="T50">
                          <a:pos x="T32" y="T33"/>
                        </a:cxn>
                      </a:cxnLst>
                      <a:rect l="T51" t="T52" r="T53" b="T54"/>
                      <a:pathLst>
                        <a:path w="317" h="299">
                          <a:moveTo>
                            <a:pt x="62" y="22"/>
                          </a:moveTo>
                          <a:lnTo>
                            <a:pt x="0" y="26"/>
                          </a:lnTo>
                          <a:lnTo>
                            <a:pt x="19" y="63"/>
                          </a:lnTo>
                          <a:lnTo>
                            <a:pt x="65" y="105"/>
                          </a:lnTo>
                          <a:lnTo>
                            <a:pt x="60" y="144"/>
                          </a:lnTo>
                          <a:lnTo>
                            <a:pt x="151" y="298"/>
                          </a:lnTo>
                          <a:lnTo>
                            <a:pt x="157" y="298"/>
                          </a:lnTo>
                          <a:lnTo>
                            <a:pt x="179" y="269"/>
                          </a:lnTo>
                          <a:lnTo>
                            <a:pt x="206" y="217"/>
                          </a:lnTo>
                          <a:lnTo>
                            <a:pt x="248" y="154"/>
                          </a:lnTo>
                          <a:lnTo>
                            <a:pt x="258" y="94"/>
                          </a:lnTo>
                          <a:lnTo>
                            <a:pt x="316" y="31"/>
                          </a:lnTo>
                          <a:lnTo>
                            <a:pt x="259" y="0"/>
                          </a:lnTo>
                          <a:lnTo>
                            <a:pt x="205" y="39"/>
                          </a:lnTo>
                          <a:lnTo>
                            <a:pt x="154" y="36"/>
                          </a:lnTo>
                          <a:lnTo>
                            <a:pt x="87" y="17"/>
                          </a:lnTo>
                          <a:lnTo>
                            <a:pt x="62" y="22"/>
                          </a:lnTo>
                        </a:path>
                      </a:pathLst>
                    </a:custGeom>
                    <a:solidFill>
                      <a:srgbClr val="E0E0E0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0" name="Group 3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720" y="3545"/>
                      <a:ext cx="232" cy="35"/>
                      <a:chOff x="3720" y="3545"/>
                      <a:chExt cx="232" cy="35"/>
                    </a:xfrm>
                  </p:grpSpPr>
                  <p:sp>
                    <p:nvSpPr>
                      <p:cNvPr id="32832" name="Freeform 3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889" y="3545"/>
                        <a:ext cx="63" cy="30"/>
                      </a:xfrm>
                      <a:custGeom>
                        <a:avLst/>
                        <a:gdLst>
                          <a:gd name="T0" fmla="*/ 0 w 63"/>
                          <a:gd name="T1" fmla="*/ 0 h 30"/>
                          <a:gd name="T2" fmla="*/ 31 w 63"/>
                          <a:gd name="T3" fmla="*/ 22 h 30"/>
                          <a:gd name="T4" fmla="*/ 62 w 63"/>
                          <a:gd name="T5" fmla="*/ 11 h 30"/>
                          <a:gd name="T6" fmla="*/ 30 w 63"/>
                          <a:gd name="T7" fmla="*/ 29 h 30"/>
                          <a:gd name="T8" fmla="*/ 0 w 63"/>
                          <a:gd name="T9" fmla="*/ 0 h 30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63"/>
                          <a:gd name="T16" fmla="*/ 0 h 30"/>
                          <a:gd name="T17" fmla="*/ 63 w 63"/>
                          <a:gd name="T18" fmla="*/ 30 h 30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63" h="30">
                            <a:moveTo>
                              <a:pt x="0" y="0"/>
                            </a:moveTo>
                            <a:lnTo>
                              <a:pt x="31" y="22"/>
                            </a:lnTo>
                            <a:lnTo>
                              <a:pt x="62" y="11"/>
                            </a:lnTo>
                            <a:lnTo>
                              <a:pt x="30" y="29"/>
                            </a:lnTo>
                            <a:lnTo>
                              <a:pt x="0" y="0"/>
                            </a:lnTo>
                          </a:path>
                        </a:pathLst>
                      </a:custGeom>
                      <a:solidFill>
                        <a:srgbClr val="C0C0C0"/>
                      </a:solidFill>
                      <a:ln w="12700" cap="rnd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2833" name="Freeform 3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720" y="3547"/>
                        <a:ext cx="74" cy="33"/>
                      </a:xfrm>
                      <a:custGeom>
                        <a:avLst/>
                        <a:gdLst>
                          <a:gd name="T0" fmla="*/ 73 w 74"/>
                          <a:gd name="T1" fmla="*/ 0 h 33"/>
                          <a:gd name="T2" fmla="*/ 59 w 74"/>
                          <a:gd name="T3" fmla="*/ 26 h 33"/>
                          <a:gd name="T4" fmla="*/ 0 w 74"/>
                          <a:gd name="T5" fmla="*/ 4 h 33"/>
                          <a:gd name="T6" fmla="*/ 60 w 74"/>
                          <a:gd name="T7" fmla="*/ 32 h 33"/>
                          <a:gd name="T8" fmla="*/ 73 w 74"/>
                          <a:gd name="T9" fmla="*/ 0 h 3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74"/>
                          <a:gd name="T16" fmla="*/ 0 h 33"/>
                          <a:gd name="T17" fmla="*/ 74 w 74"/>
                          <a:gd name="T18" fmla="*/ 33 h 3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74" h="33">
                            <a:moveTo>
                              <a:pt x="73" y="0"/>
                            </a:moveTo>
                            <a:lnTo>
                              <a:pt x="59" y="26"/>
                            </a:lnTo>
                            <a:lnTo>
                              <a:pt x="0" y="4"/>
                            </a:lnTo>
                            <a:lnTo>
                              <a:pt x="60" y="32"/>
                            </a:lnTo>
                            <a:lnTo>
                              <a:pt x="73" y="0"/>
                            </a:lnTo>
                          </a:path>
                        </a:pathLst>
                      </a:custGeom>
                      <a:solidFill>
                        <a:srgbClr val="C0C0C0"/>
                      </a:solidFill>
                      <a:ln w="12700" cap="rnd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sp>
                <p:nvSpPr>
                  <p:cNvPr id="32829" name="Freeform 35"/>
                  <p:cNvSpPr>
                    <a:spLocks/>
                  </p:cNvSpPr>
                  <p:nvPr/>
                </p:nvSpPr>
                <p:spPr bwMode="auto">
                  <a:xfrm>
                    <a:off x="3786" y="3512"/>
                    <a:ext cx="108" cy="260"/>
                  </a:xfrm>
                  <a:custGeom>
                    <a:avLst/>
                    <a:gdLst>
                      <a:gd name="T0" fmla="*/ 31 w 108"/>
                      <a:gd name="T1" fmla="*/ 0 h 260"/>
                      <a:gd name="T2" fmla="*/ 12 w 108"/>
                      <a:gd name="T3" fmla="*/ 35 h 260"/>
                      <a:gd name="T4" fmla="*/ 39 w 108"/>
                      <a:gd name="T5" fmla="*/ 72 h 260"/>
                      <a:gd name="T6" fmla="*/ 33 w 108"/>
                      <a:gd name="T7" fmla="*/ 89 h 260"/>
                      <a:gd name="T8" fmla="*/ 16 w 108"/>
                      <a:gd name="T9" fmla="*/ 110 h 260"/>
                      <a:gd name="T10" fmla="*/ 0 w 108"/>
                      <a:gd name="T11" fmla="*/ 174 h 260"/>
                      <a:gd name="T12" fmla="*/ 46 w 108"/>
                      <a:gd name="T13" fmla="*/ 259 h 260"/>
                      <a:gd name="T14" fmla="*/ 60 w 108"/>
                      <a:gd name="T15" fmla="*/ 259 h 260"/>
                      <a:gd name="T16" fmla="*/ 107 w 108"/>
                      <a:gd name="T17" fmla="*/ 177 h 260"/>
                      <a:gd name="T18" fmla="*/ 97 w 108"/>
                      <a:gd name="T19" fmla="*/ 112 h 260"/>
                      <a:gd name="T20" fmla="*/ 83 w 108"/>
                      <a:gd name="T21" fmla="*/ 91 h 260"/>
                      <a:gd name="T22" fmla="*/ 72 w 108"/>
                      <a:gd name="T23" fmla="*/ 72 h 260"/>
                      <a:gd name="T24" fmla="*/ 96 w 108"/>
                      <a:gd name="T25" fmla="*/ 35 h 260"/>
                      <a:gd name="T26" fmla="*/ 83 w 108"/>
                      <a:gd name="T27" fmla="*/ 0 h 260"/>
                      <a:gd name="T28" fmla="*/ 31 w 108"/>
                      <a:gd name="T29" fmla="*/ 0 h 26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08"/>
                      <a:gd name="T46" fmla="*/ 0 h 260"/>
                      <a:gd name="T47" fmla="*/ 108 w 108"/>
                      <a:gd name="T48" fmla="*/ 260 h 260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08" h="260">
                        <a:moveTo>
                          <a:pt x="31" y="0"/>
                        </a:moveTo>
                        <a:lnTo>
                          <a:pt x="12" y="35"/>
                        </a:lnTo>
                        <a:lnTo>
                          <a:pt x="39" y="72"/>
                        </a:lnTo>
                        <a:lnTo>
                          <a:pt x="33" y="89"/>
                        </a:lnTo>
                        <a:lnTo>
                          <a:pt x="16" y="110"/>
                        </a:lnTo>
                        <a:lnTo>
                          <a:pt x="0" y="174"/>
                        </a:lnTo>
                        <a:lnTo>
                          <a:pt x="46" y="259"/>
                        </a:lnTo>
                        <a:lnTo>
                          <a:pt x="60" y="259"/>
                        </a:lnTo>
                        <a:lnTo>
                          <a:pt x="107" y="177"/>
                        </a:lnTo>
                        <a:lnTo>
                          <a:pt x="97" y="112"/>
                        </a:lnTo>
                        <a:lnTo>
                          <a:pt x="83" y="91"/>
                        </a:lnTo>
                        <a:lnTo>
                          <a:pt x="72" y="72"/>
                        </a:lnTo>
                        <a:lnTo>
                          <a:pt x="96" y="35"/>
                        </a:lnTo>
                        <a:lnTo>
                          <a:pt x="83" y="0"/>
                        </a:lnTo>
                        <a:lnTo>
                          <a:pt x="31" y="0"/>
                        </a:lnTo>
                      </a:path>
                    </a:pathLst>
                  </a:custGeom>
                  <a:solidFill>
                    <a:srgbClr val="008080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1" name="Group 36"/>
              <p:cNvGrpSpPr>
                <a:grpSpLocks/>
              </p:cNvGrpSpPr>
              <p:nvPr/>
            </p:nvGrpSpPr>
            <p:grpSpPr bwMode="auto">
              <a:xfrm>
                <a:off x="3630" y="3746"/>
                <a:ext cx="295" cy="184"/>
                <a:chOff x="3630" y="3746"/>
                <a:chExt cx="295" cy="184"/>
              </a:xfrm>
            </p:grpSpPr>
            <p:sp>
              <p:nvSpPr>
                <p:cNvPr id="32820" name="Freeform 37"/>
                <p:cNvSpPr>
                  <a:spLocks/>
                </p:cNvSpPr>
                <p:nvPr/>
              </p:nvSpPr>
              <p:spPr bwMode="auto">
                <a:xfrm>
                  <a:off x="3709" y="3746"/>
                  <a:ext cx="216" cy="176"/>
                </a:xfrm>
                <a:custGeom>
                  <a:avLst/>
                  <a:gdLst>
                    <a:gd name="T0" fmla="*/ 0 w 216"/>
                    <a:gd name="T1" fmla="*/ 61 h 176"/>
                    <a:gd name="T2" fmla="*/ 57 w 216"/>
                    <a:gd name="T3" fmla="*/ 20 h 176"/>
                    <a:gd name="T4" fmla="*/ 88 w 216"/>
                    <a:gd name="T5" fmla="*/ 10 h 176"/>
                    <a:gd name="T6" fmla="*/ 119 w 216"/>
                    <a:gd name="T7" fmla="*/ 0 h 176"/>
                    <a:gd name="T8" fmla="*/ 143 w 216"/>
                    <a:gd name="T9" fmla="*/ 0 h 176"/>
                    <a:gd name="T10" fmla="*/ 174 w 216"/>
                    <a:gd name="T11" fmla="*/ 3 h 176"/>
                    <a:gd name="T12" fmla="*/ 194 w 216"/>
                    <a:gd name="T13" fmla="*/ 8 h 176"/>
                    <a:gd name="T14" fmla="*/ 210 w 216"/>
                    <a:gd name="T15" fmla="*/ 17 h 176"/>
                    <a:gd name="T16" fmla="*/ 215 w 216"/>
                    <a:gd name="T17" fmla="*/ 24 h 176"/>
                    <a:gd name="T18" fmla="*/ 215 w 216"/>
                    <a:gd name="T19" fmla="*/ 29 h 176"/>
                    <a:gd name="T20" fmla="*/ 211 w 216"/>
                    <a:gd name="T21" fmla="*/ 38 h 176"/>
                    <a:gd name="T22" fmla="*/ 201 w 216"/>
                    <a:gd name="T23" fmla="*/ 44 h 176"/>
                    <a:gd name="T24" fmla="*/ 188 w 216"/>
                    <a:gd name="T25" fmla="*/ 49 h 176"/>
                    <a:gd name="T26" fmla="*/ 197 w 216"/>
                    <a:gd name="T27" fmla="*/ 58 h 176"/>
                    <a:gd name="T28" fmla="*/ 206 w 216"/>
                    <a:gd name="T29" fmla="*/ 67 h 176"/>
                    <a:gd name="T30" fmla="*/ 208 w 216"/>
                    <a:gd name="T31" fmla="*/ 72 h 176"/>
                    <a:gd name="T32" fmla="*/ 205 w 216"/>
                    <a:gd name="T33" fmla="*/ 80 h 176"/>
                    <a:gd name="T34" fmla="*/ 199 w 216"/>
                    <a:gd name="T35" fmla="*/ 85 h 176"/>
                    <a:gd name="T36" fmla="*/ 190 w 216"/>
                    <a:gd name="T37" fmla="*/ 91 h 176"/>
                    <a:gd name="T38" fmla="*/ 174 w 216"/>
                    <a:gd name="T39" fmla="*/ 91 h 176"/>
                    <a:gd name="T40" fmla="*/ 177 w 216"/>
                    <a:gd name="T41" fmla="*/ 100 h 176"/>
                    <a:gd name="T42" fmla="*/ 181 w 216"/>
                    <a:gd name="T43" fmla="*/ 106 h 176"/>
                    <a:gd name="T44" fmla="*/ 178 w 216"/>
                    <a:gd name="T45" fmla="*/ 116 h 176"/>
                    <a:gd name="T46" fmla="*/ 171 w 216"/>
                    <a:gd name="T47" fmla="*/ 121 h 176"/>
                    <a:gd name="T48" fmla="*/ 160 w 216"/>
                    <a:gd name="T49" fmla="*/ 124 h 176"/>
                    <a:gd name="T50" fmla="*/ 146 w 216"/>
                    <a:gd name="T51" fmla="*/ 124 h 176"/>
                    <a:gd name="T52" fmla="*/ 152 w 216"/>
                    <a:gd name="T53" fmla="*/ 128 h 176"/>
                    <a:gd name="T54" fmla="*/ 157 w 216"/>
                    <a:gd name="T55" fmla="*/ 135 h 176"/>
                    <a:gd name="T56" fmla="*/ 156 w 216"/>
                    <a:gd name="T57" fmla="*/ 142 h 176"/>
                    <a:gd name="T58" fmla="*/ 151 w 216"/>
                    <a:gd name="T59" fmla="*/ 146 h 176"/>
                    <a:gd name="T60" fmla="*/ 144 w 216"/>
                    <a:gd name="T61" fmla="*/ 149 h 176"/>
                    <a:gd name="T62" fmla="*/ 135 w 216"/>
                    <a:gd name="T63" fmla="*/ 153 h 176"/>
                    <a:gd name="T64" fmla="*/ 121 w 216"/>
                    <a:gd name="T65" fmla="*/ 154 h 176"/>
                    <a:gd name="T66" fmla="*/ 107 w 216"/>
                    <a:gd name="T67" fmla="*/ 154 h 176"/>
                    <a:gd name="T68" fmla="*/ 93 w 216"/>
                    <a:gd name="T69" fmla="*/ 164 h 176"/>
                    <a:gd name="T70" fmla="*/ 84 w 216"/>
                    <a:gd name="T71" fmla="*/ 169 h 176"/>
                    <a:gd name="T72" fmla="*/ 70 w 216"/>
                    <a:gd name="T73" fmla="*/ 173 h 176"/>
                    <a:gd name="T74" fmla="*/ 54 w 216"/>
                    <a:gd name="T75" fmla="*/ 175 h 176"/>
                    <a:gd name="T76" fmla="*/ 37 w 216"/>
                    <a:gd name="T77" fmla="*/ 171 h 176"/>
                    <a:gd name="T78" fmla="*/ 0 w 216"/>
                    <a:gd name="T79" fmla="*/ 138 h 176"/>
                    <a:gd name="T80" fmla="*/ 0 w 216"/>
                    <a:gd name="T81" fmla="*/ 99 h 176"/>
                    <a:gd name="T82" fmla="*/ 0 w 216"/>
                    <a:gd name="T83" fmla="*/ 61 h 17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w 216"/>
                    <a:gd name="T127" fmla="*/ 0 h 176"/>
                    <a:gd name="T128" fmla="*/ 216 w 216"/>
                    <a:gd name="T129" fmla="*/ 176 h 17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T126" t="T127" r="T128" b="T129"/>
                  <a:pathLst>
                    <a:path w="216" h="176">
                      <a:moveTo>
                        <a:pt x="0" y="61"/>
                      </a:moveTo>
                      <a:lnTo>
                        <a:pt x="57" y="20"/>
                      </a:lnTo>
                      <a:lnTo>
                        <a:pt x="88" y="10"/>
                      </a:lnTo>
                      <a:lnTo>
                        <a:pt x="119" y="0"/>
                      </a:lnTo>
                      <a:lnTo>
                        <a:pt x="143" y="0"/>
                      </a:lnTo>
                      <a:lnTo>
                        <a:pt x="174" y="3"/>
                      </a:lnTo>
                      <a:lnTo>
                        <a:pt x="194" y="8"/>
                      </a:lnTo>
                      <a:lnTo>
                        <a:pt x="210" y="17"/>
                      </a:lnTo>
                      <a:lnTo>
                        <a:pt x="215" y="24"/>
                      </a:lnTo>
                      <a:lnTo>
                        <a:pt x="215" y="29"/>
                      </a:lnTo>
                      <a:lnTo>
                        <a:pt x="211" y="38"/>
                      </a:lnTo>
                      <a:lnTo>
                        <a:pt x="201" y="44"/>
                      </a:lnTo>
                      <a:lnTo>
                        <a:pt x="188" y="49"/>
                      </a:lnTo>
                      <a:lnTo>
                        <a:pt x="197" y="58"/>
                      </a:lnTo>
                      <a:lnTo>
                        <a:pt x="206" y="67"/>
                      </a:lnTo>
                      <a:lnTo>
                        <a:pt x="208" y="72"/>
                      </a:lnTo>
                      <a:lnTo>
                        <a:pt x="205" y="80"/>
                      </a:lnTo>
                      <a:lnTo>
                        <a:pt x="199" y="85"/>
                      </a:lnTo>
                      <a:lnTo>
                        <a:pt x="190" y="91"/>
                      </a:lnTo>
                      <a:lnTo>
                        <a:pt x="174" y="91"/>
                      </a:lnTo>
                      <a:lnTo>
                        <a:pt x="177" y="100"/>
                      </a:lnTo>
                      <a:lnTo>
                        <a:pt x="181" y="106"/>
                      </a:lnTo>
                      <a:lnTo>
                        <a:pt x="178" y="116"/>
                      </a:lnTo>
                      <a:lnTo>
                        <a:pt x="171" y="121"/>
                      </a:lnTo>
                      <a:lnTo>
                        <a:pt x="160" y="124"/>
                      </a:lnTo>
                      <a:lnTo>
                        <a:pt x="146" y="124"/>
                      </a:lnTo>
                      <a:lnTo>
                        <a:pt x="152" y="128"/>
                      </a:lnTo>
                      <a:lnTo>
                        <a:pt x="157" y="135"/>
                      </a:lnTo>
                      <a:lnTo>
                        <a:pt x="156" y="142"/>
                      </a:lnTo>
                      <a:lnTo>
                        <a:pt x="151" y="146"/>
                      </a:lnTo>
                      <a:lnTo>
                        <a:pt x="144" y="149"/>
                      </a:lnTo>
                      <a:lnTo>
                        <a:pt x="135" y="153"/>
                      </a:lnTo>
                      <a:lnTo>
                        <a:pt x="121" y="154"/>
                      </a:lnTo>
                      <a:lnTo>
                        <a:pt x="107" y="154"/>
                      </a:lnTo>
                      <a:lnTo>
                        <a:pt x="93" y="164"/>
                      </a:lnTo>
                      <a:lnTo>
                        <a:pt x="84" y="169"/>
                      </a:lnTo>
                      <a:lnTo>
                        <a:pt x="70" y="173"/>
                      </a:lnTo>
                      <a:lnTo>
                        <a:pt x="54" y="175"/>
                      </a:lnTo>
                      <a:lnTo>
                        <a:pt x="37" y="171"/>
                      </a:lnTo>
                      <a:lnTo>
                        <a:pt x="0" y="138"/>
                      </a:lnTo>
                      <a:lnTo>
                        <a:pt x="0" y="99"/>
                      </a:lnTo>
                      <a:lnTo>
                        <a:pt x="0" y="61"/>
                      </a:lnTo>
                    </a:path>
                  </a:pathLst>
                </a:custGeom>
                <a:solidFill>
                  <a:srgbClr val="E0A08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21" name="Freeform 38"/>
                <p:cNvSpPr>
                  <a:spLocks/>
                </p:cNvSpPr>
                <p:nvPr/>
              </p:nvSpPr>
              <p:spPr bwMode="auto">
                <a:xfrm>
                  <a:off x="3630" y="3776"/>
                  <a:ext cx="109" cy="154"/>
                </a:xfrm>
                <a:custGeom>
                  <a:avLst/>
                  <a:gdLst>
                    <a:gd name="T0" fmla="*/ 97 w 109"/>
                    <a:gd name="T1" fmla="*/ 18 h 154"/>
                    <a:gd name="T2" fmla="*/ 108 w 109"/>
                    <a:gd name="T3" fmla="*/ 3 h 154"/>
                    <a:gd name="T4" fmla="*/ 85 w 109"/>
                    <a:gd name="T5" fmla="*/ 6 h 154"/>
                    <a:gd name="T6" fmla="*/ 64 w 109"/>
                    <a:gd name="T7" fmla="*/ 5 h 154"/>
                    <a:gd name="T8" fmla="*/ 41 w 109"/>
                    <a:gd name="T9" fmla="*/ 5 h 154"/>
                    <a:gd name="T10" fmla="*/ 12 w 109"/>
                    <a:gd name="T11" fmla="*/ 0 h 154"/>
                    <a:gd name="T12" fmla="*/ 14 w 109"/>
                    <a:gd name="T13" fmla="*/ 30 h 154"/>
                    <a:gd name="T14" fmla="*/ 8 w 109"/>
                    <a:gd name="T15" fmla="*/ 54 h 154"/>
                    <a:gd name="T16" fmla="*/ 5 w 109"/>
                    <a:gd name="T17" fmla="*/ 75 h 154"/>
                    <a:gd name="T18" fmla="*/ 0 w 109"/>
                    <a:gd name="T19" fmla="*/ 91 h 154"/>
                    <a:gd name="T20" fmla="*/ 2 w 109"/>
                    <a:gd name="T21" fmla="*/ 104 h 154"/>
                    <a:gd name="T22" fmla="*/ 10 w 109"/>
                    <a:gd name="T23" fmla="*/ 116 h 154"/>
                    <a:gd name="T24" fmla="*/ 12 w 109"/>
                    <a:gd name="T25" fmla="*/ 130 h 154"/>
                    <a:gd name="T26" fmla="*/ 12 w 109"/>
                    <a:gd name="T27" fmla="*/ 141 h 154"/>
                    <a:gd name="T28" fmla="*/ 5 w 109"/>
                    <a:gd name="T29" fmla="*/ 153 h 154"/>
                    <a:gd name="T30" fmla="*/ 27 w 109"/>
                    <a:gd name="T31" fmla="*/ 152 h 154"/>
                    <a:gd name="T32" fmla="*/ 42 w 109"/>
                    <a:gd name="T33" fmla="*/ 147 h 154"/>
                    <a:gd name="T34" fmla="*/ 64 w 109"/>
                    <a:gd name="T35" fmla="*/ 147 h 154"/>
                    <a:gd name="T36" fmla="*/ 75 w 109"/>
                    <a:gd name="T37" fmla="*/ 142 h 154"/>
                    <a:gd name="T38" fmla="*/ 94 w 109"/>
                    <a:gd name="T39" fmla="*/ 145 h 154"/>
                    <a:gd name="T40" fmla="*/ 105 w 109"/>
                    <a:gd name="T41" fmla="*/ 144 h 154"/>
                    <a:gd name="T42" fmla="*/ 99 w 109"/>
                    <a:gd name="T43" fmla="*/ 131 h 154"/>
                    <a:gd name="T44" fmla="*/ 86 w 109"/>
                    <a:gd name="T45" fmla="*/ 119 h 154"/>
                    <a:gd name="T46" fmla="*/ 81 w 109"/>
                    <a:gd name="T47" fmla="*/ 104 h 154"/>
                    <a:gd name="T48" fmla="*/ 85 w 109"/>
                    <a:gd name="T49" fmla="*/ 81 h 154"/>
                    <a:gd name="T50" fmla="*/ 81 w 109"/>
                    <a:gd name="T51" fmla="*/ 61 h 154"/>
                    <a:gd name="T52" fmla="*/ 83 w 109"/>
                    <a:gd name="T53" fmla="*/ 38 h 154"/>
                    <a:gd name="T54" fmla="*/ 97 w 109"/>
                    <a:gd name="T55" fmla="*/ 18 h 15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w 109"/>
                    <a:gd name="T85" fmla="*/ 0 h 154"/>
                    <a:gd name="T86" fmla="*/ 109 w 109"/>
                    <a:gd name="T87" fmla="*/ 154 h 154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T84" t="T85" r="T86" b="T87"/>
                  <a:pathLst>
                    <a:path w="109" h="154">
                      <a:moveTo>
                        <a:pt x="97" y="18"/>
                      </a:moveTo>
                      <a:lnTo>
                        <a:pt x="108" y="3"/>
                      </a:lnTo>
                      <a:lnTo>
                        <a:pt x="85" y="6"/>
                      </a:lnTo>
                      <a:lnTo>
                        <a:pt x="64" y="5"/>
                      </a:lnTo>
                      <a:lnTo>
                        <a:pt x="41" y="5"/>
                      </a:lnTo>
                      <a:lnTo>
                        <a:pt x="12" y="0"/>
                      </a:lnTo>
                      <a:lnTo>
                        <a:pt x="14" y="30"/>
                      </a:lnTo>
                      <a:lnTo>
                        <a:pt x="8" y="54"/>
                      </a:lnTo>
                      <a:lnTo>
                        <a:pt x="5" y="75"/>
                      </a:lnTo>
                      <a:lnTo>
                        <a:pt x="0" y="91"/>
                      </a:lnTo>
                      <a:lnTo>
                        <a:pt x="2" y="104"/>
                      </a:lnTo>
                      <a:lnTo>
                        <a:pt x="10" y="116"/>
                      </a:lnTo>
                      <a:lnTo>
                        <a:pt x="12" y="130"/>
                      </a:lnTo>
                      <a:lnTo>
                        <a:pt x="12" y="141"/>
                      </a:lnTo>
                      <a:lnTo>
                        <a:pt x="5" y="153"/>
                      </a:lnTo>
                      <a:lnTo>
                        <a:pt x="27" y="152"/>
                      </a:lnTo>
                      <a:lnTo>
                        <a:pt x="42" y="147"/>
                      </a:lnTo>
                      <a:lnTo>
                        <a:pt x="64" y="147"/>
                      </a:lnTo>
                      <a:lnTo>
                        <a:pt x="75" y="142"/>
                      </a:lnTo>
                      <a:lnTo>
                        <a:pt x="94" y="145"/>
                      </a:lnTo>
                      <a:lnTo>
                        <a:pt x="105" y="144"/>
                      </a:lnTo>
                      <a:lnTo>
                        <a:pt x="99" y="131"/>
                      </a:lnTo>
                      <a:lnTo>
                        <a:pt x="86" y="119"/>
                      </a:lnTo>
                      <a:lnTo>
                        <a:pt x="81" y="104"/>
                      </a:lnTo>
                      <a:lnTo>
                        <a:pt x="85" y="81"/>
                      </a:lnTo>
                      <a:lnTo>
                        <a:pt x="81" y="61"/>
                      </a:lnTo>
                      <a:lnTo>
                        <a:pt x="83" y="38"/>
                      </a:lnTo>
                      <a:lnTo>
                        <a:pt x="97" y="18"/>
                      </a:lnTo>
                    </a:path>
                  </a:pathLst>
                </a:custGeom>
                <a:solidFill>
                  <a:srgbClr val="E0E0E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22" name="Freeform 39"/>
                <p:cNvSpPr>
                  <a:spLocks/>
                </p:cNvSpPr>
                <p:nvPr/>
              </p:nvSpPr>
              <p:spPr bwMode="auto">
                <a:xfrm>
                  <a:off x="3825" y="3785"/>
                  <a:ext cx="74" cy="12"/>
                </a:xfrm>
                <a:custGeom>
                  <a:avLst/>
                  <a:gdLst>
                    <a:gd name="T0" fmla="*/ 0 w 74"/>
                    <a:gd name="T1" fmla="*/ 11 h 12"/>
                    <a:gd name="T2" fmla="*/ 10 w 74"/>
                    <a:gd name="T3" fmla="*/ 7 h 12"/>
                    <a:gd name="T4" fmla="*/ 16 w 74"/>
                    <a:gd name="T5" fmla="*/ 4 h 12"/>
                    <a:gd name="T6" fmla="*/ 27 w 74"/>
                    <a:gd name="T7" fmla="*/ 1 h 12"/>
                    <a:gd name="T8" fmla="*/ 38 w 74"/>
                    <a:gd name="T9" fmla="*/ 0 h 12"/>
                    <a:gd name="T10" fmla="*/ 46 w 74"/>
                    <a:gd name="T11" fmla="*/ 0 h 12"/>
                    <a:gd name="T12" fmla="*/ 55 w 74"/>
                    <a:gd name="T13" fmla="*/ 2 h 12"/>
                    <a:gd name="T14" fmla="*/ 64 w 74"/>
                    <a:gd name="T15" fmla="*/ 5 h 12"/>
                    <a:gd name="T16" fmla="*/ 73 w 74"/>
                    <a:gd name="T17" fmla="*/ 9 h 12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12"/>
                    <a:gd name="T29" fmla="*/ 74 w 74"/>
                    <a:gd name="T30" fmla="*/ 12 h 12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12">
                      <a:moveTo>
                        <a:pt x="0" y="11"/>
                      </a:moveTo>
                      <a:lnTo>
                        <a:pt x="10" y="7"/>
                      </a:lnTo>
                      <a:lnTo>
                        <a:pt x="16" y="4"/>
                      </a:lnTo>
                      <a:lnTo>
                        <a:pt x="27" y="1"/>
                      </a:lnTo>
                      <a:lnTo>
                        <a:pt x="38" y="0"/>
                      </a:lnTo>
                      <a:lnTo>
                        <a:pt x="46" y="0"/>
                      </a:lnTo>
                      <a:lnTo>
                        <a:pt x="55" y="2"/>
                      </a:lnTo>
                      <a:lnTo>
                        <a:pt x="64" y="5"/>
                      </a:lnTo>
                      <a:lnTo>
                        <a:pt x="73" y="9"/>
                      </a:lnTo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23" name="Freeform 40"/>
                <p:cNvSpPr>
                  <a:spLocks/>
                </p:cNvSpPr>
                <p:nvPr/>
              </p:nvSpPr>
              <p:spPr bwMode="auto">
                <a:xfrm>
                  <a:off x="3815" y="3824"/>
                  <a:ext cx="70" cy="14"/>
                </a:xfrm>
                <a:custGeom>
                  <a:avLst/>
                  <a:gdLst>
                    <a:gd name="T0" fmla="*/ 0 w 70"/>
                    <a:gd name="T1" fmla="*/ 7 h 14"/>
                    <a:gd name="T2" fmla="*/ 11 w 70"/>
                    <a:gd name="T3" fmla="*/ 4 h 14"/>
                    <a:gd name="T4" fmla="*/ 25 w 70"/>
                    <a:gd name="T5" fmla="*/ 0 h 14"/>
                    <a:gd name="T6" fmla="*/ 39 w 70"/>
                    <a:gd name="T7" fmla="*/ 0 h 14"/>
                    <a:gd name="T8" fmla="*/ 51 w 70"/>
                    <a:gd name="T9" fmla="*/ 2 h 14"/>
                    <a:gd name="T10" fmla="*/ 58 w 70"/>
                    <a:gd name="T11" fmla="*/ 5 h 14"/>
                    <a:gd name="T12" fmla="*/ 65 w 70"/>
                    <a:gd name="T13" fmla="*/ 7 h 14"/>
                    <a:gd name="T14" fmla="*/ 69 w 70"/>
                    <a:gd name="T15" fmla="*/ 13 h 1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70"/>
                    <a:gd name="T25" fmla="*/ 0 h 14"/>
                    <a:gd name="T26" fmla="*/ 70 w 70"/>
                    <a:gd name="T27" fmla="*/ 14 h 1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70" h="14">
                      <a:moveTo>
                        <a:pt x="0" y="7"/>
                      </a:moveTo>
                      <a:lnTo>
                        <a:pt x="11" y="4"/>
                      </a:lnTo>
                      <a:lnTo>
                        <a:pt x="25" y="0"/>
                      </a:lnTo>
                      <a:lnTo>
                        <a:pt x="39" y="0"/>
                      </a:lnTo>
                      <a:lnTo>
                        <a:pt x="51" y="2"/>
                      </a:lnTo>
                      <a:lnTo>
                        <a:pt x="58" y="5"/>
                      </a:lnTo>
                      <a:lnTo>
                        <a:pt x="65" y="7"/>
                      </a:lnTo>
                      <a:lnTo>
                        <a:pt x="69" y="13"/>
                      </a:lnTo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24" name="Freeform 41"/>
                <p:cNvSpPr>
                  <a:spLocks/>
                </p:cNvSpPr>
                <p:nvPr/>
              </p:nvSpPr>
              <p:spPr bwMode="auto">
                <a:xfrm>
                  <a:off x="3798" y="3864"/>
                  <a:ext cx="64" cy="18"/>
                </a:xfrm>
                <a:custGeom>
                  <a:avLst/>
                  <a:gdLst>
                    <a:gd name="T0" fmla="*/ 4 w 64"/>
                    <a:gd name="T1" fmla="*/ 17 h 18"/>
                    <a:gd name="T2" fmla="*/ 0 w 64"/>
                    <a:gd name="T3" fmla="*/ 14 h 18"/>
                    <a:gd name="T4" fmla="*/ 2 w 64"/>
                    <a:gd name="T5" fmla="*/ 8 h 18"/>
                    <a:gd name="T6" fmla="*/ 8 w 64"/>
                    <a:gd name="T7" fmla="*/ 6 h 18"/>
                    <a:gd name="T8" fmla="*/ 19 w 64"/>
                    <a:gd name="T9" fmla="*/ 3 h 18"/>
                    <a:gd name="T10" fmla="*/ 30 w 64"/>
                    <a:gd name="T11" fmla="*/ 0 h 18"/>
                    <a:gd name="T12" fmla="*/ 40 w 64"/>
                    <a:gd name="T13" fmla="*/ 0 h 18"/>
                    <a:gd name="T14" fmla="*/ 49 w 64"/>
                    <a:gd name="T15" fmla="*/ 1 h 18"/>
                    <a:gd name="T16" fmla="*/ 57 w 64"/>
                    <a:gd name="T17" fmla="*/ 4 h 18"/>
                    <a:gd name="T18" fmla="*/ 63 w 64"/>
                    <a:gd name="T19" fmla="*/ 6 h 1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64"/>
                    <a:gd name="T31" fmla="*/ 0 h 18"/>
                    <a:gd name="T32" fmla="*/ 64 w 64"/>
                    <a:gd name="T33" fmla="*/ 18 h 18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64" h="18">
                      <a:moveTo>
                        <a:pt x="4" y="17"/>
                      </a:moveTo>
                      <a:lnTo>
                        <a:pt x="0" y="14"/>
                      </a:lnTo>
                      <a:lnTo>
                        <a:pt x="2" y="8"/>
                      </a:lnTo>
                      <a:lnTo>
                        <a:pt x="8" y="6"/>
                      </a:lnTo>
                      <a:lnTo>
                        <a:pt x="19" y="3"/>
                      </a:lnTo>
                      <a:lnTo>
                        <a:pt x="30" y="0"/>
                      </a:lnTo>
                      <a:lnTo>
                        <a:pt x="40" y="0"/>
                      </a:lnTo>
                      <a:lnTo>
                        <a:pt x="49" y="1"/>
                      </a:lnTo>
                      <a:lnTo>
                        <a:pt x="57" y="4"/>
                      </a:lnTo>
                      <a:lnTo>
                        <a:pt x="63" y="6"/>
                      </a:lnTo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25" name="Rectangle 42"/>
                <p:cNvSpPr>
                  <a:spLocks noChangeArrowheads="1"/>
                </p:cNvSpPr>
                <p:nvPr/>
              </p:nvSpPr>
              <p:spPr bwMode="auto">
                <a:xfrm>
                  <a:off x="3665" y="3790"/>
                  <a:ext cx="36" cy="1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2" name="Group 43"/>
            <p:cNvGrpSpPr>
              <a:grpSpLocks/>
            </p:cNvGrpSpPr>
            <p:nvPr/>
          </p:nvGrpSpPr>
          <p:grpSpPr bwMode="auto">
            <a:xfrm>
              <a:off x="3537" y="2455"/>
              <a:ext cx="682" cy="1091"/>
              <a:chOff x="3537" y="2455"/>
              <a:chExt cx="682" cy="1091"/>
            </a:xfrm>
          </p:grpSpPr>
          <p:grpSp>
            <p:nvGrpSpPr>
              <p:cNvPr id="13" name="Group 44"/>
              <p:cNvGrpSpPr>
                <a:grpSpLocks/>
              </p:cNvGrpSpPr>
              <p:nvPr/>
            </p:nvGrpSpPr>
            <p:grpSpPr bwMode="auto">
              <a:xfrm>
                <a:off x="3537" y="2455"/>
                <a:ext cx="682" cy="1091"/>
                <a:chOff x="3537" y="2455"/>
                <a:chExt cx="682" cy="1091"/>
              </a:xfrm>
            </p:grpSpPr>
            <p:sp>
              <p:nvSpPr>
                <p:cNvPr id="32809" name="Freeform 45"/>
                <p:cNvSpPr>
                  <a:spLocks/>
                </p:cNvSpPr>
                <p:nvPr/>
              </p:nvSpPr>
              <p:spPr bwMode="auto">
                <a:xfrm>
                  <a:off x="3537" y="2537"/>
                  <a:ext cx="642" cy="1009"/>
                </a:xfrm>
                <a:custGeom>
                  <a:avLst/>
                  <a:gdLst>
                    <a:gd name="T0" fmla="*/ 65 w 642"/>
                    <a:gd name="T1" fmla="*/ 452 h 1009"/>
                    <a:gd name="T2" fmla="*/ 79 w 642"/>
                    <a:gd name="T3" fmla="*/ 535 h 1009"/>
                    <a:gd name="T4" fmla="*/ 84 w 642"/>
                    <a:gd name="T5" fmla="*/ 613 h 1009"/>
                    <a:gd name="T6" fmla="*/ 91 w 642"/>
                    <a:gd name="T7" fmla="*/ 677 h 1009"/>
                    <a:gd name="T8" fmla="*/ 100 w 642"/>
                    <a:gd name="T9" fmla="*/ 739 h 1009"/>
                    <a:gd name="T10" fmla="*/ 116 w 642"/>
                    <a:gd name="T11" fmla="*/ 818 h 1009"/>
                    <a:gd name="T12" fmla="*/ 141 w 642"/>
                    <a:gd name="T13" fmla="*/ 891 h 1009"/>
                    <a:gd name="T14" fmla="*/ 153 w 642"/>
                    <a:gd name="T15" fmla="*/ 922 h 1009"/>
                    <a:gd name="T16" fmla="*/ 178 w 642"/>
                    <a:gd name="T17" fmla="*/ 962 h 1009"/>
                    <a:gd name="T18" fmla="*/ 209 w 642"/>
                    <a:gd name="T19" fmla="*/ 985 h 1009"/>
                    <a:gd name="T20" fmla="*/ 234 w 642"/>
                    <a:gd name="T21" fmla="*/ 997 h 1009"/>
                    <a:gd name="T22" fmla="*/ 263 w 642"/>
                    <a:gd name="T23" fmla="*/ 1003 h 1009"/>
                    <a:gd name="T24" fmla="*/ 302 w 642"/>
                    <a:gd name="T25" fmla="*/ 1008 h 1009"/>
                    <a:gd name="T26" fmla="*/ 339 w 642"/>
                    <a:gd name="T27" fmla="*/ 1003 h 1009"/>
                    <a:gd name="T28" fmla="*/ 377 w 642"/>
                    <a:gd name="T29" fmla="*/ 993 h 1009"/>
                    <a:gd name="T30" fmla="*/ 407 w 642"/>
                    <a:gd name="T31" fmla="*/ 972 h 1009"/>
                    <a:gd name="T32" fmla="*/ 431 w 642"/>
                    <a:gd name="T33" fmla="*/ 939 h 1009"/>
                    <a:gd name="T34" fmla="*/ 452 w 642"/>
                    <a:gd name="T35" fmla="*/ 895 h 1009"/>
                    <a:gd name="T36" fmla="*/ 472 w 642"/>
                    <a:gd name="T37" fmla="*/ 854 h 1009"/>
                    <a:gd name="T38" fmla="*/ 502 w 642"/>
                    <a:gd name="T39" fmla="*/ 779 h 1009"/>
                    <a:gd name="T40" fmla="*/ 531 w 642"/>
                    <a:gd name="T41" fmla="*/ 684 h 1009"/>
                    <a:gd name="T42" fmla="*/ 552 w 642"/>
                    <a:gd name="T43" fmla="*/ 612 h 1009"/>
                    <a:gd name="T44" fmla="*/ 565 w 642"/>
                    <a:gd name="T45" fmla="*/ 526 h 1009"/>
                    <a:gd name="T46" fmla="*/ 575 w 642"/>
                    <a:gd name="T47" fmla="*/ 451 h 1009"/>
                    <a:gd name="T48" fmla="*/ 580 w 642"/>
                    <a:gd name="T49" fmla="*/ 422 h 1009"/>
                    <a:gd name="T50" fmla="*/ 599 w 642"/>
                    <a:gd name="T51" fmla="*/ 411 h 1009"/>
                    <a:gd name="T52" fmla="*/ 614 w 642"/>
                    <a:gd name="T53" fmla="*/ 400 h 1009"/>
                    <a:gd name="T54" fmla="*/ 630 w 642"/>
                    <a:gd name="T55" fmla="*/ 385 h 1009"/>
                    <a:gd name="T56" fmla="*/ 641 w 642"/>
                    <a:gd name="T57" fmla="*/ 367 h 1009"/>
                    <a:gd name="T58" fmla="*/ 639 w 642"/>
                    <a:gd name="T59" fmla="*/ 350 h 1009"/>
                    <a:gd name="T60" fmla="*/ 623 w 642"/>
                    <a:gd name="T61" fmla="*/ 335 h 1009"/>
                    <a:gd name="T62" fmla="*/ 604 w 642"/>
                    <a:gd name="T63" fmla="*/ 324 h 1009"/>
                    <a:gd name="T64" fmla="*/ 585 w 642"/>
                    <a:gd name="T65" fmla="*/ 321 h 1009"/>
                    <a:gd name="T66" fmla="*/ 585 w 642"/>
                    <a:gd name="T67" fmla="*/ 298 h 1009"/>
                    <a:gd name="T68" fmla="*/ 589 w 642"/>
                    <a:gd name="T69" fmla="*/ 237 h 1009"/>
                    <a:gd name="T70" fmla="*/ 595 w 642"/>
                    <a:gd name="T71" fmla="*/ 166 h 1009"/>
                    <a:gd name="T72" fmla="*/ 570 w 642"/>
                    <a:gd name="T73" fmla="*/ 89 h 1009"/>
                    <a:gd name="T74" fmla="*/ 537 w 642"/>
                    <a:gd name="T75" fmla="*/ 50 h 1009"/>
                    <a:gd name="T76" fmla="*/ 457 w 642"/>
                    <a:gd name="T77" fmla="*/ 7 h 1009"/>
                    <a:gd name="T78" fmla="*/ 356 w 642"/>
                    <a:gd name="T79" fmla="*/ 0 h 1009"/>
                    <a:gd name="T80" fmla="*/ 262 w 642"/>
                    <a:gd name="T81" fmla="*/ 11 h 1009"/>
                    <a:gd name="T82" fmla="*/ 151 w 642"/>
                    <a:gd name="T83" fmla="*/ 46 h 1009"/>
                    <a:gd name="T84" fmla="*/ 85 w 642"/>
                    <a:gd name="T85" fmla="*/ 116 h 1009"/>
                    <a:gd name="T86" fmla="*/ 81 w 642"/>
                    <a:gd name="T87" fmla="*/ 183 h 1009"/>
                    <a:gd name="T88" fmla="*/ 85 w 642"/>
                    <a:gd name="T89" fmla="*/ 230 h 1009"/>
                    <a:gd name="T90" fmla="*/ 81 w 642"/>
                    <a:gd name="T91" fmla="*/ 266 h 1009"/>
                    <a:gd name="T92" fmla="*/ 76 w 642"/>
                    <a:gd name="T93" fmla="*/ 291 h 1009"/>
                    <a:gd name="T94" fmla="*/ 56 w 642"/>
                    <a:gd name="T95" fmla="*/ 309 h 1009"/>
                    <a:gd name="T96" fmla="*/ 33 w 642"/>
                    <a:gd name="T97" fmla="*/ 320 h 1009"/>
                    <a:gd name="T98" fmla="*/ 9 w 642"/>
                    <a:gd name="T99" fmla="*/ 334 h 1009"/>
                    <a:gd name="T100" fmla="*/ 1 w 642"/>
                    <a:gd name="T101" fmla="*/ 352 h 1009"/>
                    <a:gd name="T102" fmla="*/ 0 w 642"/>
                    <a:gd name="T103" fmla="*/ 367 h 1009"/>
                    <a:gd name="T104" fmla="*/ 8 w 642"/>
                    <a:gd name="T105" fmla="*/ 387 h 1009"/>
                    <a:gd name="T106" fmla="*/ 35 w 642"/>
                    <a:gd name="T107" fmla="*/ 403 h 1009"/>
                    <a:gd name="T108" fmla="*/ 51 w 642"/>
                    <a:gd name="T109" fmla="*/ 411 h 1009"/>
                    <a:gd name="T110" fmla="*/ 65 w 642"/>
                    <a:gd name="T111" fmla="*/ 452 h 1009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642"/>
                    <a:gd name="T169" fmla="*/ 0 h 1009"/>
                    <a:gd name="T170" fmla="*/ 642 w 642"/>
                    <a:gd name="T171" fmla="*/ 1009 h 1009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642" h="1009">
                      <a:moveTo>
                        <a:pt x="65" y="452"/>
                      </a:moveTo>
                      <a:lnTo>
                        <a:pt x="79" y="535"/>
                      </a:lnTo>
                      <a:lnTo>
                        <a:pt x="84" y="613"/>
                      </a:lnTo>
                      <a:lnTo>
                        <a:pt x="91" y="677"/>
                      </a:lnTo>
                      <a:lnTo>
                        <a:pt x="100" y="739"/>
                      </a:lnTo>
                      <a:lnTo>
                        <a:pt x="116" y="818"/>
                      </a:lnTo>
                      <a:lnTo>
                        <a:pt x="141" y="891"/>
                      </a:lnTo>
                      <a:lnTo>
                        <a:pt x="153" y="922"/>
                      </a:lnTo>
                      <a:lnTo>
                        <a:pt x="178" y="962"/>
                      </a:lnTo>
                      <a:lnTo>
                        <a:pt x="209" y="985"/>
                      </a:lnTo>
                      <a:lnTo>
                        <a:pt x="234" y="997"/>
                      </a:lnTo>
                      <a:lnTo>
                        <a:pt x="263" y="1003"/>
                      </a:lnTo>
                      <a:lnTo>
                        <a:pt x="302" y="1008"/>
                      </a:lnTo>
                      <a:lnTo>
                        <a:pt x="339" y="1003"/>
                      </a:lnTo>
                      <a:lnTo>
                        <a:pt x="377" y="993"/>
                      </a:lnTo>
                      <a:lnTo>
                        <a:pt x="407" y="972"/>
                      </a:lnTo>
                      <a:lnTo>
                        <a:pt x="431" y="939"/>
                      </a:lnTo>
                      <a:lnTo>
                        <a:pt x="452" y="895"/>
                      </a:lnTo>
                      <a:lnTo>
                        <a:pt x="472" y="854"/>
                      </a:lnTo>
                      <a:lnTo>
                        <a:pt x="502" y="779"/>
                      </a:lnTo>
                      <a:lnTo>
                        <a:pt x="531" y="684"/>
                      </a:lnTo>
                      <a:lnTo>
                        <a:pt x="552" y="612"/>
                      </a:lnTo>
                      <a:lnTo>
                        <a:pt x="565" y="526"/>
                      </a:lnTo>
                      <a:lnTo>
                        <a:pt x="575" y="451"/>
                      </a:lnTo>
                      <a:lnTo>
                        <a:pt x="580" y="422"/>
                      </a:lnTo>
                      <a:lnTo>
                        <a:pt x="599" y="411"/>
                      </a:lnTo>
                      <a:lnTo>
                        <a:pt x="614" y="400"/>
                      </a:lnTo>
                      <a:lnTo>
                        <a:pt x="630" y="385"/>
                      </a:lnTo>
                      <a:lnTo>
                        <a:pt x="641" y="367"/>
                      </a:lnTo>
                      <a:lnTo>
                        <a:pt x="639" y="350"/>
                      </a:lnTo>
                      <a:lnTo>
                        <a:pt x="623" y="335"/>
                      </a:lnTo>
                      <a:lnTo>
                        <a:pt x="604" y="324"/>
                      </a:lnTo>
                      <a:lnTo>
                        <a:pt x="585" y="321"/>
                      </a:lnTo>
                      <a:lnTo>
                        <a:pt x="585" y="298"/>
                      </a:lnTo>
                      <a:lnTo>
                        <a:pt x="589" y="237"/>
                      </a:lnTo>
                      <a:lnTo>
                        <a:pt x="595" y="166"/>
                      </a:lnTo>
                      <a:lnTo>
                        <a:pt x="570" y="89"/>
                      </a:lnTo>
                      <a:lnTo>
                        <a:pt x="537" y="50"/>
                      </a:lnTo>
                      <a:lnTo>
                        <a:pt x="457" y="7"/>
                      </a:lnTo>
                      <a:lnTo>
                        <a:pt x="356" y="0"/>
                      </a:lnTo>
                      <a:lnTo>
                        <a:pt x="262" y="11"/>
                      </a:lnTo>
                      <a:lnTo>
                        <a:pt x="151" y="46"/>
                      </a:lnTo>
                      <a:lnTo>
                        <a:pt x="85" y="116"/>
                      </a:lnTo>
                      <a:lnTo>
                        <a:pt x="81" y="183"/>
                      </a:lnTo>
                      <a:lnTo>
                        <a:pt x="85" y="230"/>
                      </a:lnTo>
                      <a:lnTo>
                        <a:pt x="81" y="266"/>
                      </a:lnTo>
                      <a:lnTo>
                        <a:pt x="76" y="291"/>
                      </a:lnTo>
                      <a:lnTo>
                        <a:pt x="56" y="309"/>
                      </a:lnTo>
                      <a:lnTo>
                        <a:pt x="33" y="320"/>
                      </a:lnTo>
                      <a:lnTo>
                        <a:pt x="9" y="334"/>
                      </a:lnTo>
                      <a:lnTo>
                        <a:pt x="1" y="352"/>
                      </a:lnTo>
                      <a:lnTo>
                        <a:pt x="0" y="367"/>
                      </a:lnTo>
                      <a:lnTo>
                        <a:pt x="8" y="387"/>
                      </a:lnTo>
                      <a:lnTo>
                        <a:pt x="35" y="403"/>
                      </a:lnTo>
                      <a:lnTo>
                        <a:pt x="51" y="411"/>
                      </a:lnTo>
                      <a:lnTo>
                        <a:pt x="65" y="452"/>
                      </a:lnTo>
                    </a:path>
                  </a:pathLst>
                </a:custGeom>
                <a:solidFill>
                  <a:srgbClr val="E0A08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4" name="Group 46"/>
                <p:cNvGrpSpPr>
                  <a:grpSpLocks/>
                </p:cNvGrpSpPr>
                <p:nvPr/>
              </p:nvGrpSpPr>
              <p:grpSpPr bwMode="auto">
                <a:xfrm>
                  <a:off x="3538" y="2455"/>
                  <a:ext cx="681" cy="418"/>
                  <a:chOff x="3538" y="2455"/>
                  <a:chExt cx="681" cy="418"/>
                </a:xfrm>
              </p:grpSpPr>
              <p:sp>
                <p:nvSpPr>
                  <p:cNvPr id="32811" name="Freeform 47"/>
                  <p:cNvSpPr>
                    <a:spLocks/>
                  </p:cNvSpPr>
                  <p:nvPr/>
                </p:nvSpPr>
                <p:spPr bwMode="auto">
                  <a:xfrm>
                    <a:off x="3538" y="2455"/>
                    <a:ext cx="681" cy="418"/>
                  </a:xfrm>
                  <a:custGeom>
                    <a:avLst/>
                    <a:gdLst>
                      <a:gd name="T0" fmla="*/ 540 w 681"/>
                      <a:gd name="T1" fmla="*/ 361 h 418"/>
                      <a:gd name="T2" fmla="*/ 584 w 681"/>
                      <a:gd name="T3" fmla="*/ 408 h 418"/>
                      <a:gd name="T4" fmla="*/ 608 w 681"/>
                      <a:gd name="T5" fmla="*/ 367 h 418"/>
                      <a:gd name="T6" fmla="*/ 637 w 681"/>
                      <a:gd name="T7" fmla="*/ 326 h 418"/>
                      <a:gd name="T8" fmla="*/ 650 w 681"/>
                      <a:gd name="T9" fmla="*/ 283 h 418"/>
                      <a:gd name="T10" fmla="*/ 630 w 681"/>
                      <a:gd name="T11" fmla="*/ 250 h 418"/>
                      <a:gd name="T12" fmla="*/ 673 w 681"/>
                      <a:gd name="T13" fmla="*/ 209 h 418"/>
                      <a:gd name="T14" fmla="*/ 674 w 681"/>
                      <a:gd name="T15" fmla="*/ 169 h 418"/>
                      <a:gd name="T16" fmla="*/ 614 w 681"/>
                      <a:gd name="T17" fmla="*/ 143 h 418"/>
                      <a:gd name="T18" fmla="*/ 553 w 681"/>
                      <a:gd name="T19" fmla="*/ 127 h 418"/>
                      <a:gd name="T20" fmla="*/ 516 w 681"/>
                      <a:gd name="T21" fmla="*/ 97 h 418"/>
                      <a:gd name="T22" fmla="*/ 489 w 681"/>
                      <a:gd name="T23" fmla="*/ 68 h 418"/>
                      <a:gd name="T24" fmla="*/ 444 w 681"/>
                      <a:gd name="T25" fmla="*/ 52 h 418"/>
                      <a:gd name="T26" fmla="*/ 410 w 681"/>
                      <a:gd name="T27" fmla="*/ 37 h 418"/>
                      <a:gd name="T28" fmla="*/ 406 w 681"/>
                      <a:gd name="T29" fmla="*/ 11 h 418"/>
                      <a:gd name="T30" fmla="*/ 364 w 681"/>
                      <a:gd name="T31" fmla="*/ 4 h 418"/>
                      <a:gd name="T32" fmla="*/ 296 w 681"/>
                      <a:gd name="T33" fmla="*/ 19 h 418"/>
                      <a:gd name="T34" fmla="*/ 213 w 681"/>
                      <a:gd name="T35" fmla="*/ 8 h 418"/>
                      <a:gd name="T36" fmla="*/ 148 w 681"/>
                      <a:gd name="T37" fmla="*/ 0 h 418"/>
                      <a:gd name="T38" fmla="*/ 110 w 681"/>
                      <a:gd name="T39" fmla="*/ 35 h 418"/>
                      <a:gd name="T40" fmla="*/ 67 w 681"/>
                      <a:gd name="T41" fmla="*/ 77 h 418"/>
                      <a:gd name="T42" fmla="*/ 9 w 681"/>
                      <a:gd name="T43" fmla="*/ 111 h 418"/>
                      <a:gd name="T44" fmla="*/ 19 w 681"/>
                      <a:gd name="T45" fmla="*/ 156 h 418"/>
                      <a:gd name="T46" fmla="*/ 17 w 681"/>
                      <a:gd name="T47" fmla="*/ 192 h 418"/>
                      <a:gd name="T48" fmla="*/ 2 w 681"/>
                      <a:gd name="T49" fmla="*/ 225 h 418"/>
                      <a:gd name="T50" fmla="*/ 12 w 681"/>
                      <a:gd name="T51" fmla="*/ 272 h 418"/>
                      <a:gd name="T52" fmla="*/ 24 w 681"/>
                      <a:gd name="T53" fmla="*/ 308 h 418"/>
                      <a:gd name="T54" fmla="*/ 42 w 681"/>
                      <a:gd name="T55" fmla="*/ 359 h 418"/>
                      <a:gd name="T56" fmla="*/ 65 w 681"/>
                      <a:gd name="T57" fmla="*/ 403 h 418"/>
                      <a:gd name="T58" fmla="*/ 84 w 681"/>
                      <a:gd name="T59" fmla="*/ 396 h 418"/>
                      <a:gd name="T60" fmla="*/ 130 w 681"/>
                      <a:gd name="T61" fmla="*/ 359 h 418"/>
                      <a:gd name="T62" fmla="*/ 167 w 681"/>
                      <a:gd name="T63" fmla="*/ 322 h 418"/>
                      <a:gd name="T64" fmla="*/ 167 w 681"/>
                      <a:gd name="T65" fmla="*/ 291 h 418"/>
                      <a:gd name="T66" fmla="*/ 173 w 681"/>
                      <a:gd name="T67" fmla="*/ 267 h 418"/>
                      <a:gd name="T68" fmla="*/ 160 w 681"/>
                      <a:gd name="T69" fmla="*/ 239 h 418"/>
                      <a:gd name="T70" fmla="*/ 133 w 681"/>
                      <a:gd name="T71" fmla="*/ 228 h 418"/>
                      <a:gd name="T72" fmla="*/ 142 w 681"/>
                      <a:gd name="T73" fmla="*/ 205 h 418"/>
                      <a:gd name="T74" fmla="*/ 157 w 681"/>
                      <a:gd name="T75" fmla="*/ 187 h 418"/>
                      <a:gd name="T76" fmla="*/ 164 w 681"/>
                      <a:gd name="T77" fmla="*/ 168 h 418"/>
                      <a:gd name="T78" fmla="*/ 200 w 681"/>
                      <a:gd name="T79" fmla="*/ 162 h 418"/>
                      <a:gd name="T80" fmla="*/ 234 w 681"/>
                      <a:gd name="T81" fmla="*/ 162 h 418"/>
                      <a:gd name="T82" fmla="*/ 271 w 681"/>
                      <a:gd name="T83" fmla="*/ 157 h 418"/>
                      <a:gd name="T84" fmla="*/ 302 w 681"/>
                      <a:gd name="T85" fmla="*/ 171 h 418"/>
                      <a:gd name="T86" fmla="*/ 327 w 681"/>
                      <a:gd name="T87" fmla="*/ 186 h 418"/>
                      <a:gd name="T88" fmla="*/ 370 w 681"/>
                      <a:gd name="T89" fmla="*/ 177 h 418"/>
                      <a:gd name="T90" fmla="*/ 409 w 681"/>
                      <a:gd name="T91" fmla="*/ 157 h 418"/>
                      <a:gd name="T92" fmla="*/ 432 w 681"/>
                      <a:gd name="T93" fmla="*/ 131 h 418"/>
                      <a:gd name="T94" fmla="*/ 451 w 681"/>
                      <a:gd name="T95" fmla="*/ 116 h 418"/>
                      <a:gd name="T96" fmla="*/ 491 w 681"/>
                      <a:gd name="T97" fmla="*/ 120 h 418"/>
                      <a:gd name="T98" fmla="*/ 504 w 681"/>
                      <a:gd name="T99" fmla="*/ 149 h 418"/>
                      <a:gd name="T100" fmla="*/ 524 w 681"/>
                      <a:gd name="T101" fmla="*/ 174 h 418"/>
                      <a:gd name="T102" fmla="*/ 519 w 681"/>
                      <a:gd name="T103" fmla="*/ 197 h 418"/>
                      <a:gd name="T104" fmla="*/ 513 w 681"/>
                      <a:gd name="T105" fmla="*/ 222 h 418"/>
                      <a:gd name="T106" fmla="*/ 525 w 681"/>
                      <a:gd name="T107" fmla="*/ 248 h 418"/>
                      <a:gd name="T108" fmla="*/ 526 w 681"/>
                      <a:gd name="T109" fmla="*/ 288 h 418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w 681"/>
                      <a:gd name="T166" fmla="*/ 0 h 418"/>
                      <a:gd name="T167" fmla="*/ 681 w 681"/>
                      <a:gd name="T168" fmla="*/ 418 h 418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T165" t="T166" r="T167" b="T168"/>
                    <a:pathLst>
                      <a:path w="681" h="418">
                        <a:moveTo>
                          <a:pt x="521" y="326"/>
                        </a:moveTo>
                        <a:lnTo>
                          <a:pt x="540" y="361"/>
                        </a:lnTo>
                        <a:lnTo>
                          <a:pt x="560" y="389"/>
                        </a:lnTo>
                        <a:lnTo>
                          <a:pt x="584" y="408"/>
                        </a:lnTo>
                        <a:lnTo>
                          <a:pt x="596" y="393"/>
                        </a:lnTo>
                        <a:lnTo>
                          <a:pt x="608" y="367"/>
                        </a:lnTo>
                        <a:lnTo>
                          <a:pt x="616" y="337"/>
                        </a:lnTo>
                        <a:lnTo>
                          <a:pt x="637" y="326"/>
                        </a:lnTo>
                        <a:lnTo>
                          <a:pt x="646" y="306"/>
                        </a:lnTo>
                        <a:lnTo>
                          <a:pt x="650" y="283"/>
                        </a:lnTo>
                        <a:lnTo>
                          <a:pt x="640" y="262"/>
                        </a:lnTo>
                        <a:lnTo>
                          <a:pt x="630" y="250"/>
                        </a:lnTo>
                        <a:lnTo>
                          <a:pt x="653" y="230"/>
                        </a:lnTo>
                        <a:lnTo>
                          <a:pt x="673" y="209"/>
                        </a:lnTo>
                        <a:lnTo>
                          <a:pt x="680" y="189"/>
                        </a:lnTo>
                        <a:lnTo>
                          <a:pt x="674" y="169"/>
                        </a:lnTo>
                        <a:lnTo>
                          <a:pt x="644" y="151"/>
                        </a:lnTo>
                        <a:lnTo>
                          <a:pt x="614" y="143"/>
                        </a:lnTo>
                        <a:lnTo>
                          <a:pt x="580" y="135"/>
                        </a:lnTo>
                        <a:lnTo>
                          <a:pt x="553" y="127"/>
                        </a:lnTo>
                        <a:lnTo>
                          <a:pt x="531" y="114"/>
                        </a:lnTo>
                        <a:lnTo>
                          <a:pt x="516" y="97"/>
                        </a:lnTo>
                        <a:lnTo>
                          <a:pt x="507" y="83"/>
                        </a:lnTo>
                        <a:lnTo>
                          <a:pt x="489" y="68"/>
                        </a:lnTo>
                        <a:lnTo>
                          <a:pt x="468" y="58"/>
                        </a:lnTo>
                        <a:lnTo>
                          <a:pt x="444" y="52"/>
                        </a:lnTo>
                        <a:lnTo>
                          <a:pt x="418" y="55"/>
                        </a:lnTo>
                        <a:lnTo>
                          <a:pt x="410" y="37"/>
                        </a:lnTo>
                        <a:lnTo>
                          <a:pt x="412" y="25"/>
                        </a:lnTo>
                        <a:lnTo>
                          <a:pt x="406" y="11"/>
                        </a:lnTo>
                        <a:lnTo>
                          <a:pt x="383" y="4"/>
                        </a:lnTo>
                        <a:lnTo>
                          <a:pt x="364" y="4"/>
                        </a:lnTo>
                        <a:lnTo>
                          <a:pt x="336" y="9"/>
                        </a:lnTo>
                        <a:lnTo>
                          <a:pt x="296" y="19"/>
                        </a:lnTo>
                        <a:lnTo>
                          <a:pt x="259" y="14"/>
                        </a:lnTo>
                        <a:lnTo>
                          <a:pt x="213" y="8"/>
                        </a:lnTo>
                        <a:lnTo>
                          <a:pt x="175" y="1"/>
                        </a:lnTo>
                        <a:lnTo>
                          <a:pt x="148" y="0"/>
                        </a:lnTo>
                        <a:lnTo>
                          <a:pt x="125" y="14"/>
                        </a:lnTo>
                        <a:lnTo>
                          <a:pt x="110" y="35"/>
                        </a:lnTo>
                        <a:lnTo>
                          <a:pt x="92" y="55"/>
                        </a:lnTo>
                        <a:lnTo>
                          <a:pt x="67" y="77"/>
                        </a:lnTo>
                        <a:lnTo>
                          <a:pt x="40" y="93"/>
                        </a:lnTo>
                        <a:lnTo>
                          <a:pt x="9" y="111"/>
                        </a:lnTo>
                        <a:lnTo>
                          <a:pt x="7" y="132"/>
                        </a:lnTo>
                        <a:lnTo>
                          <a:pt x="19" y="156"/>
                        </a:lnTo>
                        <a:lnTo>
                          <a:pt x="24" y="171"/>
                        </a:lnTo>
                        <a:lnTo>
                          <a:pt x="17" y="192"/>
                        </a:lnTo>
                        <a:lnTo>
                          <a:pt x="8" y="209"/>
                        </a:lnTo>
                        <a:lnTo>
                          <a:pt x="2" y="225"/>
                        </a:lnTo>
                        <a:lnTo>
                          <a:pt x="0" y="250"/>
                        </a:lnTo>
                        <a:lnTo>
                          <a:pt x="12" y="272"/>
                        </a:lnTo>
                        <a:lnTo>
                          <a:pt x="22" y="289"/>
                        </a:lnTo>
                        <a:lnTo>
                          <a:pt x="24" y="308"/>
                        </a:lnTo>
                        <a:lnTo>
                          <a:pt x="30" y="335"/>
                        </a:lnTo>
                        <a:lnTo>
                          <a:pt x="42" y="359"/>
                        </a:lnTo>
                        <a:lnTo>
                          <a:pt x="50" y="380"/>
                        </a:lnTo>
                        <a:lnTo>
                          <a:pt x="65" y="403"/>
                        </a:lnTo>
                        <a:lnTo>
                          <a:pt x="75" y="417"/>
                        </a:lnTo>
                        <a:lnTo>
                          <a:pt x="84" y="396"/>
                        </a:lnTo>
                        <a:lnTo>
                          <a:pt x="102" y="374"/>
                        </a:lnTo>
                        <a:lnTo>
                          <a:pt x="130" y="359"/>
                        </a:lnTo>
                        <a:lnTo>
                          <a:pt x="153" y="339"/>
                        </a:lnTo>
                        <a:lnTo>
                          <a:pt x="167" y="322"/>
                        </a:lnTo>
                        <a:lnTo>
                          <a:pt x="171" y="305"/>
                        </a:lnTo>
                        <a:lnTo>
                          <a:pt x="167" y="291"/>
                        </a:lnTo>
                        <a:lnTo>
                          <a:pt x="170" y="278"/>
                        </a:lnTo>
                        <a:lnTo>
                          <a:pt x="173" y="267"/>
                        </a:lnTo>
                        <a:lnTo>
                          <a:pt x="171" y="255"/>
                        </a:lnTo>
                        <a:lnTo>
                          <a:pt x="160" y="239"/>
                        </a:lnTo>
                        <a:lnTo>
                          <a:pt x="146" y="233"/>
                        </a:lnTo>
                        <a:lnTo>
                          <a:pt x="133" y="228"/>
                        </a:lnTo>
                        <a:lnTo>
                          <a:pt x="135" y="217"/>
                        </a:lnTo>
                        <a:lnTo>
                          <a:pt x="142" y="205"/>
                        </a:lnTo>
                        <a:lnTo>
                          <a:pt x="152" y="192"/>
                        </a:lnTo>
                        <a:lnTo>
                          <a:pt x="157" y="187"/>
                        </a:lnTo>
                        <a:lnTo>
                          <a:pt x="159" y="177"/>
                        </a:lnTo>
                        <a:lnTo>
                          <a:pt x="164" y="168"/>
                        </a:lnTo>
                        <a:lnTo>
                          <a:pt x="178" y="162"/>
                        </a:lnTo>
                        <a:lnTo>
                          <a:pt x="200" y="162"/>
                        </a:lnTo>
                        <a:lnTo>
                          <a:pt x="219" y="162"/>
                        </a:lnTo>
                        <a:lnTo>
                          <a:pt x="234" y="162"/>
                        </a:lnTo>
                        <a:lnTo>
                          <a:pt x="252" y="157"/>
                        </a:lnTo>
                        <a:lnTo>
                          <a:pt x="271" y="157"/>
                        </a:lnTo>
                        <a:lnTo>
                          <a:pt x="290" y="163"/>
                        </a:lnTo>
                        <a:lnTo>
                          <a:pt x="302" y="171"/>
                        </a:lnTo>
                        <a:lnTo>
                          <a:pt x="312" y="179"/>
                        </a:lnTo>
                        <a:lnTo>
                          <a:pt x="327" y="186"/>
                        </a:lnTo>
                        <a:lnTo>
                          <a:pt x="350" y="184"/>
                        </a:lnTo>
                        <a:lnTo>
                          <a:pt x="370" y="177"/>
                        </a:lnTo>
                        <a:lnTo>
                          <a:pt x="387" y="170"/>
                        </a:lnTo>
                        <a:lnTo>
                          <a:pt x="409" y="157"/>
                        </a:lnTo>
                        <a:lnTo>
                          <a:pt x="423" y="145"/>
                        </a:lnTo>
                        <a:lnTo>
                          <a:pt x="432" y="131"/>
                        </a:lnTo>
                        <a:lnTo>
                          <a:pt x="439" y="120"/>
                        </a:lnTo>
                        <a:lnTo>
                          <a:pt x="451" y="116"/>
                        </a:lnTo>
                        <a:lnTo>
                          <a:pt x="468" y="118"/>
                        </a:lnTo>
                        <a:lnTo>
                          <a:pt x="491" y="120"/>
                        </a:lnTo>
                        <a:lnTo>
                          <a:pt x="497" y="134"/>
                        </a:lnTo>
                        <a:lnTo>
                          <a:pt x="504" y="149"/>
                        </a:lnTo>
                        <a:lnTo>
                          <a:pt x="514" y="163"/>
                        </a:lnTo>
                        <a:lnTo>
                          <a:pt x="524" y="174"/>
                        </a:lnTo>
                        <a:lnTo>
                          <a:pt x="528" y="184"/>
                        </a:lnTo>
                        <a:lnTo>
                          <a:pt x="519" y="197"/>
                        </a:lnTo>
                        <a:lnTo>
                          <a:pt x="513" y="210"/>
                        </a:lnTo>
                        <a:lnTo>
                          <a:pt x="513" y="222"/>
                        </a:lnTo>
                        <a:lnTo>
                          <a:pt x="519" y="236"/>
                        </a:lnTo>
                        <a:lnTo>
                          <a:pt x="525" y="248"/>
                        </a:lnTo>
                        <a:lnTo>
                          <a:pt x="539" y="259"/>
                        </a:lnTo>
                        <a:lnTo>
                          <a:pt x="526" y="288"/>
                        </a:lnTo>
                        <a:lnTo>
                          <a:pt x="521" y="326"/>
                        </a:lnTo>
                      </a:path>
                    </a:pathLst>
                  </a:custGeom>
                  <a:solidFill>
                    <a:srgbClr val="A04000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15" name="Group 48"/>
                  <p:cNvGrpSpPr>
                    <a:grpSpLocks/>
                  </p:cNvGrpSpPr>
                  <p:nvPr/>
                </p:nvGrpSpPr>
                <p:grpSpPr bwMode="auto">
                  <a:xfrm>
                    <a:off x="3628" y="2533"/>
                    <a:ext cx="500" cy="215"/>
                    <a:chOff x="3628" y="2533"/>
                    <a:chExt cx="500" cy="215"/>
                  </a:xfrm>
                </p:grpSpPr>
                <p:sp>
                  <p:nvSpPr>
                    <p:cNvPr id="32813" name="Freeform 49"/>
                    <p:cNvSpPr>
                      <a:spLocks/>
                    </p:cNvSpPr>
                    <p:nvPr/>
                  </p:nvSpPr>
                  <p:spPr bwMode="auto">
                    <a:xfrm>
                      <a:off x="3735" y="2551"/>
                      <a:ext cx="82" cy="65"/>
                    </a:xfrm>
                    <a:custGeom>
                      <a:avLst/>
                      <a:gdLst>
                        <a:gd name="T0" fmla="*/ 81 w 82"/>
                        <a:gd name="T1" fmla="*/ 64 h 65"/>
                        <a:gd name="T2" fmla="*/ 58 w 82"/>
                        <a:gd name="T3" fmla="*/ 55 h 65"/>
                        <a:gd name="T4" fmla="*/ 45 w 82"/>
                        <a:gd name="T5" fmla="*/ 33 h 65"/>
                        <a:gd name="T6" fmla="*/ 51 w 82"/>
                        <a:gd name="T7" fmla="*/ 18 h 65"/>
                        <a:gd name="T8" fmla="*/ 67 w 82"/>
                        <a:gd name="T9" fmla="*/ 0 h 65"/>
                        <a:gd name="T10" fmla="*/ 55 w 82"/>
                        <a:gd name="T11" fmla="*/ 5 h 65"/>
                        <a:gd name="T12" fmla="*/ 46 w 82"/>
                        <a:gd name="T13" fmla="*/ 12 h 65"/>
                        <a:gd name="T14" fmla="*/ 34 w 82"/>
                        <a:gd name="T15" fmla="*/ 22 h 65"/>
                        <a:gd name="T16" fmla="*/ 34 w 82"/>
                        <a:gd name="T17" fmla="*/ 34 h 65"/>
                        <a:gd name="T18" fmla="*/ 38 w 82"/>
                        <a:gd name="T19" fmla="*/ 42 h 65"/>
                        <a:gd name="T20" fmla="*/ 36 w 82"/>
                        <a:gd name="T21" fmla="*/ 53 h 65"/>
                        <a:gd name="T22" fmla="*/ 28 w 82"/>
                        <a:gd name="T23" fmla="*/ 47 h 65"/>
                        <a:gd name="T24" fmla="*/ 11 w 82"/>
                        <a:gd name="T25" fmla="*/ 37 h 65"/>
                        <a:gd name="T26" fmla="*/ 9 w 82"/>
                        <a:gd name="T27" fmla="*/ 24 h 65"/>
                        <a:gd name="T28" fmla="*/ 0 w 82"/>
                        <a:gd name="T29" fmla="*/ 39 h 65"/>
                        <a:gd name="T30" fmla="*/ 12 w 82"/>
                        <a:gd name="T31" fmla="*/ 53 h 65"/>
                        <a:gd name="T32" fmla="*/ 17 w 82"/>
                        <a:gd name="T33" fmla="*/ 64 h 65"/>
                        <a:gd name="T34" fmla="*/ 37 w 82"/>
                        <a:gd name="T35" fmla="*/ 63 h 65"/>
                        <a:gd name="T36" fmla="*/ 59 w 82"/>
                        <a:gd name="T37" fmla="*/ 59 h 65"/>
                        <a:gd name="T38" fmla="*/ 81 w 82"/>
                        <a:gd name="T39" fmla="*/ 64 h 65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w 82"/>
                        <a:gd name="T61" fmla="*/ 0 h 65"/>
                        <a:gd name="T62" fmla="*/ 82 w 82"/>
                        <a:gd name="T63" fmla="*/ 65 h 65"/>
                      </a:gdLst>
                      <a:ahLst/>
                      <a:cxnLst>
                        <a:cxn ang="T40">
                          <a:pos x="T0" y="T1"/>
                        </a:cxn>
                        <a:cxn ang="T41">
                          <a:pos x="T2" y="T3"/>
                        </a:cxn>
                        <a:cxn ang="T42">
                          <a:pos x="T4" y="T5"/>
                        </a:cxn>
                        <a:cxn ang="T43">
                          <a:pos x="T6" y="T7"/>
                        </a:cxn>
                        <a:cxn ang="T44">
                          <a:pos x="T8" y="T9"/>
                        </a:cxn>
                        <a:cxn ang="T45">
                          <a:pos x="T10" y="T11"/>
                        </a:cxn>
                        <a:cxn ang="T46">
                          <a:pos x="T12" y="T13"/>
                        </a:cxn>
                        <a:cxn ang="T47">
                          <a:pos x="T14" y="T15"/>
                        </a:cxn>
                        <a:cxn ang="T48">
                          <a:pos x="T16" y="T17"/>
                        </a:cxn>
                        <a:cxn ang="T49">
                          <a:pos x="T18" y="T19"/>
                        </a:cxn>
                        <a:cxn ang="T50">
                          <a:pos x="T20" y="T21"/>
                        </a:cxn>
                        <a:cxn ang="T51">
                          <a:pos x="T22" y="T23"/>
                        </a:cxn>
                        <a:cxn ang="T52">
                          <a:pos x="T24" y="T25"/>
                        </a:cxn>
                        <a:cxn ang="T53">
                          <a:pos x="T26" y="T27"/>
                        </a:cxn>
                        <a:cxn ang="T54">
                          <a:pos x="T28" y="T29"/>
                        </a:cxn>
                        <a:cxn ang="T55">
                          <a:pos x="T30" y="T31"/>
                        </a:cxn>
                        <a:cxn ang="T56">
                          <a:pos x="T32" y="T33"/>
                        </a:cxn>
                        <a:cxn ang="T57">
                          <a:pos x="T34" y="T35"/>
                        </a:cxn>
                        <a:cxn ang="T58">
                          <a:pos x="T36" y="T37"/>
                        </a:cxn>
                        <a:cxn ang="T59">
                          <a:pos x="T38" y="T39"/>
                        </a:cxn>
                      </a:cxnLst>
                      <a:rect l="T60" t="T61" r="T62" b="T63"/>
                      <a:pathLst>
                        <a:path w="82" h="65">
                          <a:moveTo>
                            <a:pt x="81" y="64"/>
                          </a:moveTo>
                          <a:lnTo>
                            <a:pt x="58" y="55"/>
                          </a:lnTo>
                          <a:lnTo>
                            <a:pt x="45" y="33"/>
                          </a:lnTo>
                          <a:lnTo>
                            <a:pt x="51" y="18"/>
                          </a:lnTo>
                          <a:lnTo>
                            <a:pt x="67" y="0"/>
                          </a:lnTo>
                          <a:lnTo>
                            <a:pt x="55" y="5"/>
                          </a:lnTo>
                          <a:lnTo>
                            <a:pt x="46" y="12"/>
                          </a:lnTo>
                          <a:lnTo>
                            <a:pt x="34" y="22"/>
                          </a:lnTo>
                          <a:lnTo>
                            <a:pt x="34" y="34"/>
                          </a:lnTo>
                          <a:lnTo>
                            <a:pt x="38" y="42"/>
                          </a:lnTo>
                          <a:lnTo>
                            <a:pt x="36" y="53"/>
                          </a:lnTo>
                          <a:lnTo>
                            <a:pt x="28" y="47"/>
                          </a:lnTo>
                          <a:lnTo>
                            <a:pt x="11" y="37"/>
                          </a:lnTo>
                          <a:lnTo>
                            <a:pt x="9" y="24"/>
                          </a:lnTo>
                          <a:lnTo>
                            <a:pt x="0" y="39"/>
                          </a:lnTo>
                          <a:lnTo>
                            <a:pt x="12" y="53"/>
                          </a:lnTo>
                          <a:lnTo>
                            <a:pt x="17" y="64"/>
                          </a:lnTo>
                          <a:lnTo>
                            <a:pt x="37" y="63"/>
                          </a:lnTo>
                          <a:lnTo>
                            <a:pt x="59" y="59"/>
                          </a:lnTo>
                          <a:lnTo>
                            <a:pt x="81" y="64"/>
                          </a:lnTo>
                        </a:path>
                      </a:pathLst>
                    </a:custGeom>
                    <a:solidFill>
                      <a:srgbClr val="604020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814" name="Freeform 50"/>
                    <p:cNvSpPr>
                      <a:spLocks/>
                    </p:cNvSpPr>
                    <p:nvPr/>
                  </p:nvSpPr>
                  <p:spPr bwMode="auto">
                    <a:xfrm>
                      <a:off x="3946" y="2533"/>
                      <a:ext cx="47" cy="41"/>
                    </a:xfrm>
                    <a:custGeom>
                      <a:avLst/>
                      <a:gdLst>
                        <a:gd name="T0" fmla="*/ 29 w 47"/>
                        <a:gd name="T1" fmla="*/ 40 h 41"/>
                        <a:gd name="T2" fmla="*/ 35 w 47"/>
                        <a:gd name="T3" fmla="*/ 19 h 41"/>
                        <a:gd name="T4" fmla="*/ 29 w 47"/>
                        <a:gd name="T5" fmla="*/ 10 h 41"/>
                        <a:gd name="T6" fmla="*/ 15 w 47"/>
                        <a:gd name="T7" fmla="*/ 5 h 41"/>
                        <a:gd name="T8" fmla="*/ 0 w 47"/>
                        <a:gd name="T9" fmla="*/ 6 h 41"/>
                        <a:gd name="T10" fmla="*/ 12 w 47"/>
                        <a:gd name="T11" fmla="*/ 0 h 41"/>
                        <a:gd name="T12" fmla="*/ 29 w 47"/>
                        <a:gd name="T13" fmla="*/ 2 h 41"/>
                        <a:gd name="T14" fmla="*/ 45 w 47"/>
                        <a:gd name="T15" fmla="*/ 13 h 41"/>
                        <a:gd name="T16" fmla="*/ 46 w 47"/>
                        <a:gd name="T17" fmla="*/ 24 h 41"/>
                        <a:gd name="T18" fmla="*/ 29 w 47"/>
                        <a:gd name="T19" fmla="*/ 40 h 41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w 47"/>
                        <a:gd name="T31" fmla="*/ 0 h 41"/>
                        <a:gd name="T32" fmla="*/ 47 w 47"/>
                        <a:gd name="T33" fmla="*/ 41 h 41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T30" t="T31" r="T32" b="T33"/>
                      <a:pathLst>
                        <a:path w="47" h="41">
                          <a:moveTo>
                            <a:pt x="29" y="40"/>
                          </a:moveTo>
                          <a:lnTo>
                            <a:pt x="35" y="19"/>
                          </a:lnTo>
                          <a:lnTo>
                            <a:pt x="29" y="10"/>
                          </a:lnTo>
                          <a:lnTo>
                            <a:pt x="15" y="5"/>
                          </a:lnTo>
                          <a:lnTo>
                            <a:pt x="0" y="6"/>
                          </a:lnTo>
                          <a:lnTo>
                            <a:pt x="12" y="0"/>
                          </a:lnTo>
                          <a:lnTo>
                            <a:pt x="29" y="2"/>
                          </a:lnTo>
                          <a:lnTo>
                            <a:pt x="45" y="13"/>
                          </a:lnTo>
                          <a:lnTo>
                            <a:pt x="46" y="24"/>
                          </a:lnTo>
                          <a:lnTo>
                            <a:pt x="29" y="40"/>
                          </a:lnTo>
                        </a:path>
                      </a:pathLst>
                    </a:custGeom>
                    <a:solidFill>
                      <a:srgbClr val="604020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815" name="Freeform 51"/>
                    <p:cNvSpPr>
                      <a:spLocks/>
                    </p:cNvSpPr>
                    <p:nvPr/>
                  </p:nvSpPr>
                  <p:spPr bwMode="auto">
                    <a:xfrm>
                      <a:off x="3628" y="2642"/>
                      <a:ext cx="41" cy="40"/>
                    </a:xfrm>
                    <a:custGeom>
                      <a:avLst/>
                      <a:gdLst>
                        <a:gd name="T0" fmla="*/ 40 w 41"/>
                        <a:gd name="T1" fmla="*/ 36 h 40"/>
                        <a:gd name="T2" fmla="*/ 16 w 41"/>
                        <a:gd name="T3" fmla="*/ 33 h 40"/>
                        <a:gd name="T4" fmla="*/ 13 w 41"/>
                        <a:gd name="T5" fmla="*/ 29 h 40"/>
                        <a:gd name="T6" fmla="*/ 3 w 41"/>
                        <a:gd name="T7" fmla="*/ 11 h 40"/>
                        <a:gd name="T8" fmla="*/ 3 w 41"/>
                        <a:gd name="T9" fmla="*/ 0 h 40"/>
                        <a:gd name="T10" fmla="*/ 0 w 41"/>
                        <a:gd name="T11" fmla="*/ 17 h 40"/>
                        <a:gd name="T12" fmla="*/ 3 w 41"/>
                        <a:gd name="T13" fmla="*/ 30 h 40"/>
                        <a:gd name="T14" fmla="*/ 10 w 41"/>
                        <a:gd name="T15" fmla="*/ 39 h 40"/>
                        <a:gd name="T16" fmla="*/ 40 w 41"/>
                        <a:gd name="T17" fmla="*/ 36 h 40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w 41"/>
                        <a:gd name="T28" fmla="*/ 0 h 40"/>
                        <a:gd name="T29" fmla="*/ 41 w 41"/>
                        <a:gd name="T30" fmla="*/ 40 h 40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T27" t="T28" r="T29" b="T30"/>
                      <a:pathLst>
                        <a:path w="41" h="40">
                          <a:moveTo>
                            <a:pt x="40" y="36"/>
                          </a:moveTo>
                          <a:lnTo>
                            <a:pt x="16" y="33"/>
                          </a:lnTo>
                          <a:lnTo>
                            <a:pt x="13" y="29"/>
                          </a:lnTo>
                          <a:lnTo>
                            <a:pt x="3" y="11"/>
                          </a:lnTo>
                          <a:lnTo>
                            <a:pt x="3" y="0"/>
                          </a:lnTo>
                          <a:lnTo>
                            <a:pt x="0" y="17"/>
                          </a:lnTo>
                          <a:lnTo>
                            <a:pt x="3" y="30"/>
                          </a:lnTo>
                          <a:lnTo>
                            <a:pt x="10" y="39"/>
                          </a:lnTo>
                          <a:lnTo>
                            <a:pt x="40" y="36"/>
                          </a:lnTo>
                        </a:path>
                      </a:pathLst>
                    </a:custGeom>
                    <a:solidFill>
                      <a:srgbClr val="604020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816" name="Freeform 52"/>
                    <p:cNvSpPr>
                      <a:spLocks/>
                    </p:cNvSpPr>
                    <p:nvPr/>
                  </p:nvSpPr>
                  <p:spPr bwMode="auto">
                    <a:xfrm>
                      <a:off x="3633" y="2679"/>
                      <a:ext cx="36" cy="43"/>
                    </a:xfrm>
                    <a:custGeom>
                      <a:avLst/>
                      <a:gdLst>
                        <a:gd name="T0" fmla="*/ 35 w 36"/>
                        <a:gd name="T1" fmla="*/ 0 h 43"/>
                        <a:gd name="T2" fmla="*/ 9 w 36"/>
                        <a:gd name="T3" fmla="*/ 13 h 43"/>
                        <a:gd name="T4" fmla="*/ 0 w 36"/>
                        <a:gd name="T5" fmla="*/ 26 h 43"/>
                        <a:gd name="T6" fmla="*/ 2 w 36"/>
                        <a:gd name="T7" fmla="*/ 37 h 43"/>
                        <a:gd name="T8" fmla="*/ 13 w 36"/>
                        <a:gd name="T9" fmla="*/ 42 h 43"/>
                        <a:gd name="T10" fmla="*/ 13 w 36"/>
                        <a:gd name="T11" fmla="*/ 35 h 43"/>
                        <a:gd name="T12" fmla="*/ 13 w 36"/>
                        <a:gd name="T13" fmla="*/ 24 h 43"/>
                        <a:gd name="T14" fmla="*/ 21 w 36"/>
                        <a:gd name="T15" fmla="*/ 18 h 43"/>
                        <a:gd name="T16" fmla="*/ 35 w 36"/>
                        <a:gd name="T17" fmla="*/ 0 h 43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w 36"/>
                        <a:gd name="T28" fmla="*/ 0 h 43"/>
                        <a:gd name="T29" fmla="*/ 36 w 36"/>
                        <a:gd name="T30" fmla="*/ 43 h 43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T27" t="T28" r="T29" b="T30"/>
                      <a:pathLst>
                        <a:path w="36" h="43">
                          <a:moveTo>
                            <a:pt x="35" y="0"/>
                          </a:moveTo>
                          <a:lnTo>
                            <a:pt x="9" y="13"/>
                          </a:lnTo>
                          <a:lnTo>
                            <a:pt x="0" y="26"/>
                          </a:lnTo>
                          <a:lnTo>
                            <a:pt x="2" y="37"/>
                          </a:lnTo>
                          <a:lnTo>
                            <a:pt x="13" y="42"/>
                          </a:lnTo>
                          <a:lnTo>
                            <a:pt x="13" y="35"/>
                          </a:lnTo>
                          <a:lnTo>
                            <a:pt x="13" y="24"/>
                          </a:lnTo>
                          <a:lnTo>
                            <a:pt x="21" y="18"/>
                          </a:lnTo>
                          <a:lnTo>
                            <a:pt x="35" y="0"/>
                          </a:lnTo>
                        </a:path>
                      </a:pathLst>
                    </a:custGeom>
                    <a:solidFill>
                      <a:srgbClr val="604020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817" name="Freeform 53"/>
                    <p:cNvSpPr>
                      <a:spLocks/>
                    </p:cNvSpPr>
                    <p:nvPr/>
                  </p:nvSpPr>
                  <p:spPr bwMode="auto">
                    <a:xfrm>
                      <a:off x="4062" y="2714"/>
                      <a:ext cx="66" cy="34"/>
                    </a:xfrm>
                    <a:custGeom>
                      <a:avLst/>
                      <a:gdLst>
                        <a:gd name="T0" fmla="*/ 12 w 66"/>
                        <a:gd name="T1" fmla="*/ 0 h 34"/>
                        <a:gd name="T2" fmla="*/ 38 w 66"/>
                        <a:gd name="T3" fmla="*/ 8 h 34"/>
                        <a:gd name="T4" fmla="*/ 53 w 66"/>
                        <a:gd name="T5" fmla="*/ 8 h 34"/>
                        <a:gd name="T6" fmla="*/ 65 w 66"/>
                        <a:gd name="T7" fmla="*/ 0 h 34"/>
                        <a:gd name="T8" fmla="*/ 56 w 66"/>
                        <a:gd name="T9" fmla="*/ 12 h 34"/>
                        <a:gd name="T10" fmla="*/ 40 w 66"/>
                        <a:gd name="T11" fmla="*/ 16 h 34"/>
                        <a:gd name="T12" fmla="*/ 46 w 66"/>
                        <a:gd name="T13" fmla="*/ 24 h 34"/>
                        <a:gd name="T14" fmla="*/ 60 w 66"/>
                        <a:gd name="T15" fmla="*/ 28 h 34"/>
                        <a:gd name="T16" fmla="*/ 33 w 66"/>
                        <a:gd name="T17" fmla="*/ 26 h 34"/>
                        <a:gd name="T18" fmla="*/ 23 w 66"/>
                        <a:gd name="T19" fmla="*/ 20 h 34"/>
                        <a:gd name="T20" fmla="*/ 16 w 66"/>
                        <a:gd name="T21" fmla="*/ 12 h 34"/>
                        <a:gd name="T22" fmla="*/ 11 w 66"/>
                        <a:gd name="T23" fmla="*/ 20 h 34"/>
                        <a:gd name="T24" fmla="*/ 10 w 66"/>
                        <a:gd name="T25" fmla="*/ 33 h 34"/>
                        <a:gd name="T26" fmla="*/ 0 w 66"/>
                        <a:gd name="T27" fmla="*/ 24 h 34"/>
                        <a:gd name="T28" fmla="*/ 4 w 66"/>
                        <a:gd name="T29" fmla="*/ 12 h 34"/>
                        <a:gd name="T30" fmla="*/ 12 w 66"/>
                        <a:gd name="T31" fmla="*/ 0 h 34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w 66"/>
                        <a:gd name="T49" fmla="*/ 0 h 34"/>
                        <a:gd name="T50" fmla="*/ 66 w 66"/>
                        <a:gd name="T51" fmla="*/ 34 h 34"/>
                      </a:gdLst>
                      <a:ahLst/>
                      <a:cxnLst>
                        <a:cxn ang="T32">
                          <a:pos x="T0" y="T1"/>
                        </a:cxn>
                        <a:cxn ang="T33">
                          <a:pos x="T2" y="T3"/>
                        </a:cxn>
                        <a:cxn ang="T34">
                          <a:pos x="T4" y="T5"/>
                        </a:cxn>
                        <a:cxn ang="T35">
                          <a:pos x="T6" y="T7"/>
                        </a:cxn>
                        <a:cxn ang="T36">
                          <a:pos x="T8" y="T9"/>
                        </a:cxn>
                        <a:cxn ang="T37">
                          <a:pos x="T10" y="T11"/>
                        </a:cxn>
                        <a:cxn ang="T38">
                          <a:pos x="T12" y="T13"/>
                        </a:cxn>
                        <a:cxn ang="T39">
                          <a:pos x="T14" y="T15"/>
                        </a:cxn>
                        <a:cxn ang="T40">
                          <a:pos x="T16" y="T17"/>
                        </a:cxn>
                        <a:cxn ang="T41">
                          <a:pos x="T18" y="T19"/>
                        </a:cxn>
                        <a:cxn ang="T42">
                          <a:pos x="T20" y="T21"/>
                        </a:cxn>
                        <a:cxn ang="T43">
                          <a:pos x="T22" y="T23"/>
                        </a:cxn>
                        <a:cxn ang="T44">
                          <a:pos x="T24" y="T25"/>
                        </a:cxn>
                        <a:cxn ang="T45">
                          <a:pos x="T26" y="T27"/>
                        </a:cxn>
                        <a:cxn ang="T46">
                          <a:pos x="T28" y="T29"/>
                        </a:cxn>
                        <a:cxn ang="T47">
                          <a:pos x="T30" y="T31"/>
                        </a:cxn>
                      </a:cxnLst>
                      <a:rect l="T48" t="T49" r="T50" b="T51"/>
                      <a:pathLst>
                        <a:path w="66" h="34">
                          <a:moveTo>
                            <a:pt x="12" y="0"/>
                          </a:moveTo>
                          <a:lnTo>
                            <a:pt x="38" y="8"/>
                          </a:lnTo>
                          <a:lnTo>
                            <a:pt x="53" y="8"/>
                          </a:lnTo>
                          <a:lnTo>
                            <a:pt x="65" y="0"/>
                          </a:lnTo>
                          <a:lnTo>
                            <a:pt x="56" y="12"/>
                          </a:lnTo>
                          <a:lnTo>
                            <a:pt x="40" y="16"/>
                          </a:lnTo>
                          <a:lnTo>
                            <a:pt x="46" y="24"/>
                          </a:lnTo>
                          <a:lnTo>
                            <a:pt x="60" y="28"/>
                          </a:lnTo>
                          <a:lnTo>
                            <a:pt x="33" y="26"/>
                          </a:lnTo>
                          <a:lnTo>
                            <a:pt x="23" y="20"/>
                          </a:lnTo>
                          <a:lnTo>
                            <a:pt x="16" y="12"/>
                          </a:lnTo>
                          <a:lnTo>
                            <a:pt x="11" y="20"/>
                          </a:lnTo>
                          <a:lnTo>
                            <a:pt x="10" y="33"/>
                          </a:lnTo>
                          <a:lnTo>
                            <a:pt x="0" y="24"/>
                          </a:lnTo>
                          <a:lnTo>
                            <a:pt x="4" y="12"/>
                          </a:lnTo>
                          <a:lnTo>
                            <a:pt x="12" y="0"/>
                          </a:lnTo>
                        </a:path>
                      </a:pathLst>
                    </a:custGeom>
                    <a:solidFill>
                      <a:srgbClr val="604020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  <p:grpSp>
            <p:nvGrpSpPr>
              <p:cNvPr id="16" name="Group 54"/>
              <p:cNvGrpSpPr>
                <a:grpSpLocks/>
              </p:cNvGrpSpPr>
              <p:nvPr/>
            </p:nvGrpSpPr>
            <p:grpSpPr bwMode="auto">
              <a:xfrm>
                <a:off x="3723" y="2672"/>
                <a:ext cx="329" cy="566"/>
                <a:chOff x="3723" y="2672"/>
                <a:chExt cx="329" cy="566"/>
              </a:xfrm>
            </p:grpSpPr>
            <p:grpSp>
              <p:nvGrpSpPr>
                <p:cNvPr id="17" name="Group 55"/>
                <p:cNvGrpSpPr>
                  <a:grpSpLocks/>
                </p:cNvGrpSpPr>
                <p:nvPr/>
              </p:nvGrpSpPr>
              <p:grpSpPr bwMode="auto">
                <a:xfrm>
                  <a:off x="3792" y="3058"/>
                  <a:ext cx="125" cy="180"/>
                  <a:chOff x="3792" y="3058"/>
                  <a:chExt cx="125" cy="180"/>
                </a:xfrm>
              </p:grpSpPr>
              <p:sp>
                <p:nvSpPr>
                  <p:cNvPr id="32803" name="Freeform 56"/>
                  <p:cNvSpPr>
                    <a:spLocks/>
                  </p:cNvSpPr>
                  <p:nvPr/>
                </p:nvSpPr>
                <p:spPr bwMode="auto">
                  <a:xfrm>
                    <a:off x="3792" y="3058"/>
                    <a:ext cx="125" cy="111"/>
                  </a:xfrm>
                  <a:custGeom>
                    <a:avLst/>
                    <a:gdLst>
                      <a:gd name="T0" fmla="*/ 6 w 125"/>
                      <a:gd name="T1" fmla="*/ 110 h 111"/>
                      <a:gd name="T2" fmla="*/ 0 w 125"/>
                      <a:gd name="T3" fmla="*/ 0 h 111"/>
                      <a:gd name="T4" fmla="*/ 19 w 125"/>
                      <a:gd name="T5" fmla="*/ 8 h 111"/>
                      <a:gd name="T6" fmla="*/ 32 w 125"/>
                      <a:gd name="T7" fmla="*/ 14 h 111"/>
                      <a:gd name="T8" fmla="*/ 49 w 125"/>
                      <a:gd name="T9" fmla="*/ 18 h 111"/>
                      <a:gd name="T10" fmla="*/ 77 w 125"/>
                      <a:gd name="T11" fmla="*/ 18 h 111"/>
                      <a:gd name="T12" fmla="*/ 94 w 125"/>
                      <a:gd name="T13" fmla="*/ 16 h 111"/>
                      <a:gd name="T14" fmla="*/ 109 w 125"/>
                      <a:gd name="T15" fmla="*/ 11 h 111"/>
                      <a:gd name="T16" fmla="*/ 124 w 125"/>
                      <a:gd name="T17" fmla="*/ 2 h 111"/>
                      <a:gd name="T18" fmla="*/ 120 w 125"/>
                      <a:gd name="T19" fmla="*/ 110 h 111"/>
                      <a:gd name="T20" fmla="*/ 6 w 125"/>
                      <a:gd name="T21" fmla="*/ 110 h 111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125"/>
                      <a:gd name="T34" fmla="*/ 0 h 111"/>
                      <a:gd name="T35" fmla="*/ 125 w 125"/>
                      <a:gd name="T36" fmla="*/ 111 h 111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125" h="111">
                        <a:moveTo>
                          <a:pt x="6" y="110"/>
                        </a:moveTo>
                        <a:lnTo>
                          <a:pt x="0" y="0"/>
                        </a:lnTo>
                        <a:lnTo>
                          <a:pt x="19" y="8"/>
                        </a:lnTo>
                        <a:lnTo>
                          <a:pt x="32" y="14"/>
                        </a:lnTo>
                        <a:lnTo>
                          <a:pt x="49" y="18"/>
                        </a:lnTo>
                        <a:lnTo>
                          <a:pt x="77" y="18"/>
                        </a:lnTo>
                        <a:lnTo>
                          <a:pt x="94" y="16"/>
                        </a:lnTo>
                        <a:lnTo>
                          <a:pt x="109" y="11"/>
                        </a:lnTo>
                        <a:lnTo>
                          <a:pt x="124" y="2"/>
                        </a:lnTo>
                        <a:lnTo>
                          <a:pt x="120" y="110"/>
                        </a:lnTo>
                        <a:lnTo>
                          <a:pt x="6" y="110"/>
                        </a:lnTo>
                      </a:path>
                    </a:pathLst>
                  </a:custGeom>
                  <a:solidFill>
                    <a:srgbClr val="000000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18" name="Group 57"/>
                  <p:cNvGrpSpPr>
                    <a:grpSpLocks/>
                  </p:cNvGrpSpPr>
                  <p:nvPr/>
                </p:nvGrpSpPr>
                <p:grpSpPr bwMode="auto">
                  <a:xfrm>
                    <a:off x="3792" y="3058"/>
                    <a:ext cx="125" cy="180"/>
                    <a:chOff x="3792" y="3058"/>
                    <a:chExt cx="125" cy="180"/>
                  </a:xfrm>
                </p:grpSpPr>
                <p:sp>
                  <p:nvSpPr>
                    <p:cNvPr id="32806" name="Oval 5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9" y="3092"/>
                      <a:ext cx="107" cy="146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807" name="Freeform 59"/>
                    <p:cNvSpPr>
                      <a:spLocks/>
                    </p:cNvSpPr>
                    <p:nvPr/>
                  </p:nvSpPr>
                  <p:spPr bwMode="auto">
                    <a:xfrm>
                      <a:off x="3792" y="3058"/>
                      <a:ext cx="125" cy="52"/>
                    </a:xfrm>
                    <a:custGeom>
                      <a:avLst/>
                      <a:gdLst>
                        <a:gd name="T0" fmla="*/ 0 w 125"/>
                        <a:gd name="T1" fmla="*/ 0 h 52"/>
                        <a:gd name="T2" fmla="*/ 18 w 125"/>
                        <a:gd name="T3" fmla="*/ 8 h 52"/>
                        <a:gd name="T4" fmla="*/ 32 w 125"/>
                        <a:gd name="T5" fmla="*/ 14 h 52"/>
                        <a:gd name="T6" fmla="*/ 53 w 125"/>
                        <a:gd name="T7" fmla="*/ 18 h 52"/>
                        <a:gd name="T8" fmla="*/ 78 w 125"/>
                        <a:gd name="T9" fmla="*/ 18 h 52"/>
                        <a:gd name="T10" fmla="*/ 96 w 125"/>
                        <a:gd name="T11" fmla="*/ 16 h 52"/>
                        <a:gd name="T12" fmla="*/ 112 w 125"/>
                        <a:gd name="T13" fmla="*/ 8 h 52"/>
                        <a:gd name="T14" fmla="*/ 124 w 125"/>
                        <a:gd name="T15" fmla="*/ 0 h 52"/>
                        <a:gd name="T16" fmla="*/ 120 w 125"/>
                        <a:gd name="T17" fmla="*/ 51 h 52"/>
                        <a:gd name="T18" fmla="*/ 5 w 125"/>
                        <a:gd name="T19" fmla="*/ 51 h 52"/>
                        <a:gd name="T20" fmla="*/ 0 w 125"/>
                        <a:gd name="T21" fmla="*/ 0 h 52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w 125"/>
                        <a:gd name="T34" fmla="*/ 0 h 52"/>
                        <a:gd name="T35" fmla="*/ 125 w 125"/>
                        <a:gd name="T36" fmla="*/ 52 h 52"/>
                      </a:gdLst>
                      <a:ahLst/>
                      <a:cxnLst>
                        <a:cxn ang="T22">
                          <a:pos x="T0" y="T1"/>
                        </a:cxn>
                        <a:cxn ang="T23">
                          <a:pos x="T2" y="T3"/>
                        </a:cxn>
                        <a:cxn ang="T24">
                          <a:pos x="T4" y="T5"/>
                        </a:cxn>
                        <a:cxn ang="T25">
                          <a:pos x="T6" y="T7"/>
                        </a:cxn>
                        <a:cxn ang="T26">
                          <a:pos x="T8" y="T9"/>
                        </a:cxn>
                        <a:cxn ang="T27">
                          <a:pos x="T10" y="T11"/>
                        </a:cxn>
                        <a:cxn ang="T28">
                          <a:pos x="T12" y="T13"/>
                        </a:cxn>
                        <a:cxn ang="T29">
                          <a:pos x="T14" y="T15"/>
                        </a:cxn>
                        <a:cxn ang="T30">
                          <a:pos x="T16" y="T17"/>
                        </a:cxn>
                        <a:cxn ang="T31">
                          <a:pos x="T18" y="T19"/>
                        </a:cxn>
                        <a:cxn ang="T32">
                          <a:pos x="T20" y="T21"/>
                        </a:cxn>
                      </a:cxnLst>
                      <a:rect l="T33" t="T34" r="T35" b="T36"/>
                      <a:pathLst>
                        <a:path w="125" h="52">
                          <a:moveTo>
                            <a:pt x="0" y="0"/>
                          </a:moveTo>
                          <a:lnTo>
                            <a:pt x="18" y="8"/>
                          </a:lnTo>
                          <a:lnTo>
                            <a:pt x="32" y="14"/>
                          </a:lnTo>
                          <a:lnTo>
                            <a:pt x="53" y="18"/>
                          </a:lnTo>
                          <a:lnTo>
                            <a:pt x="78" y="18"/>
                          </a:lnTo>
                          <a:lnTo>
                            <a:pt x="96" y="16"/>
                          </a:lnTo>
                          <a:lnTo>
                            <a:pt x="112" y="8"/>
                          </a:lnTo>
                          <a:lnTo>
                            <a:pt x="124" y="0"/>
                          </a:lnTo>
                          <a:lnTo>
                            <a:pt x="120" y="51"/>
                          </a:lnTo>
                          <a:lnTo>
                            <a:pt x="5" y="51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808" name="Oval 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21" y="3171"/>
                      <a:ext cx="62" cy="67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 w="1270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32805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3811" y="3158"/>
                    <a:ext cx="84" cy="23"/>
                  </a:xfrm>
                  <a:prstGeom prst="rect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32795" name="Freeform 62"/>
                <p:cNvSpPr>
                  <a:spLocks/>
                </p:cNvSpPr>
                <p:nvPr/>
              </p:nvSpPr>
              <p:spPr bwMode="auto">
                <a:xfrm>
                  <a:off x="3723" y="2859"/>
                  <a:ext cx="329" cy="173"/>
                </a:xfrm>
                <a:custGeom>
                  <a:avLst/>
                  <a:gdLst>
                    <a:gd name="T0" fmla="*/ 198 w 329"/>
                    <a:gd name="T1" fmla="*/ 0 h 173"/>
                    <a:gd name="T2" fmla="*/ 249 w 329"/>
                    <a:gd name="T3" fmla="*/ 11 h 173"/>
                    <a:gd name="T4" fmla="*/ 286 w 329"/>
                    <a:gd name="T5" fmla="*/ 22 h 173"/>
                    <a:gd name="T6" fmla="*/ 311 w 329"/>
                    <a:gd name="T7" fmla="*/ 36 h 173"/>
                    <a:gd name="T8" fmla="*/ 322 w 329"/>
                    <a:gd name="T9" fmla="*/ 49 h 173"/>
                    <a:gd name="T10" fmla="*/ 328 w 329"/>
                    <a:gd name="T11" fmla="*/ 72 h 173"/>
                    <a:gd name="T12" fmla="*/ 324 w 329"/>
                    <a:gd name="T13" fmla="*/ 94 h 173"/>
                    <a:gd name="T14" fmla="*/ 314 w 329"/>
                    <a:gd name="T15" fmla="*/ 116 h 173"/>
                    <a:gd name="T16" fmla="*/ 296 w 329"/>
                    <a:gd name="T17" fmla="*/ 136 h 173"/>
                    <a:gd name="T18" fmla="*/ 271 w 329"/>
                    <a:gd name="T19" fmla="*/ 150 h 173"/>
                    <a:gd name="T20" fmla="*/ 245 w 329"/>
                    <a:gd name="T21" fmla="*/ 160 h 173"/>
                    <a:gd name="T22" fmla="*/ 211 w 329"/>
                    <a:gd name="T23" fmla="*/ 169 h 173"/>
                    <a:gd name="T24" fmla="*/ 172 w 329"/>
                    <a:gd name="T25" fmla="*/ 172 h 173"/>
                    <a:gd name="T26" fmla="*/ 129 w 329"/>
                    <a:gd name="T27" fmla="*/ 172 h 173"/>
                    <a:gd name="T28" fmla="*/ 84 w 329"/>
                    <a:gd name="T29" fmla="*/ 168 h 173"/>
                    <a:gd name="T30" fmla="*/ 40 w 329"/>
                    <a:gd name="T31" fmla="*/ 158 h 173"/>
                    <a:gd name="T32" fmla="*/ 15 w 329"/>
                    <a:gd name="T33" fmla="*/ 141 h 173"/>
                    <a:gd name="T34" fmla="*/ 1 w 329"/>
                    <a:gd name="T35" fmla="*/ 123 h 173"/>
                    <a:gd name="T36" fmla="*/ 0 w 329"/>
                    <a:gd name="T37" fmla="*/ 103 h 173"/>
                    <a:gd name="T38" fmla="*/ 4 w 329"/>
                    <a:gd name="T39" fmla="*/ 83 h 173"/>
                    <a:gd name="T40" fmla="*/ 18 w 329"/>
                    <a:gd name="T41" fmla="*/ 63 h 173"/>
                    <a:gd name="T42" fmla="*/ 32 w 329"/>
                    <a:gd name="T43" fmla="*/ 45 h 173"/>
                    <a:gd name="T44" fmla="*/ 57 w 329"/>
                    <a:gd name="T45" fmla="*/ 31 h 173"/>
                    <a:gd name="T46" fmla="*/ 44 w 329"/>
                    <a:gd name="T47" fmla="*/ 22 h 173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329"/>
                    <a:gd name="T73" fmla="*/ 0 h 173"/>
                    <a:gd name="T74" fmla="*/ 329 w 329"/>
                    <a:gd name="T75" fmla="*/ 173 h 173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329" h="173">
                      <a:moveTo>
                        <a:pt x="198" y="0"/>
                      </a:moveTo>
                      <a:lnTo>
                        <a:pt x="249" y="11"/>
                      </a:lnTo>
                      <a:lnTo>
                        <a:pt x="286" y="22"/>
                      </a:lnTo>
                      <a:lnTo>
                        <a:pt x="311" y="36"/>
                      </a:lnTo>
                      <a:lnTo>
                        <a:pt x="322" y="49"/>
                      </a:lnTo>
                      <a:lnTo>
                        <a:pt x="328" y="72"/>
                      </a:lnTo>
                      <a:lnTo>
                        <a:pt x="324" y="94"/>
                      </a:lnTo>
                      <a:lnTo>
                        <a:pt x="314" y="116"/>
                      </a:lnTo>
                      <a:lnTo>
                        <a:pt x="296" y="136"/>
                      </a:lnTo>
                      <a:lnTo>
                        <a:pt x="271" y="150"/>
                      </a:lnTo>
                      <a:lnTo>
                        <a:pt x="245" y="160"/>
                      </a:lnTo>
                      <a:lnTo>
                        <a:pt x="211" y="169"/>
                      </a:lnTo>
                      <a:lnTo>
                        <a:pt x="172" y="172"/>
                      </a:lnTo>
                      <a:lnTo>
                        <a:pt x="129" y="172"/>
                      </a:lnTo>
                      <a:lnTo>
                        <a:pt x="84" y="168"/>
                      </a:lnTo>
                      <a:lnTo>
                        <a:pt x="40" y="158"/>
                      </a:lnTo>
                      <a:lnTo>
                        <a:pt x="15" y="141"/>
                      </a:lnTo>
                      <a:lnTo>
                        <a:pt x="1" y="123"/>
                      </a:lnTo>
                      <a:lnTo>
                        <a:pt x="0" y="103"/>
                      </a:lnTo>
                      <a:lnTo>
                        <a:pt x="4" y="83"/>
                      </a:lnTo>
                      <a:lnTo>
                        <a:pt x="18" y="63"/>
                      </a:lnTo>
                      <a:lnTo>
                        <a:pt x="32" y="45"/>
                      </a:lnTo>
                      <a:lnTo>
                        <a:pt x="57" y="31"/>
                      </a:lnTo>
                      <a:lnTo>
                        <a:pt x="44" y="22"/>
                      </a:lnTo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9" name="Group 63"/>
                <p:cNvGrpSpPr>
                  <a:grpSpLocks/>
                </p:cNvGrpSpPr>
                <p:nvPr/>
              </p:nvGrpSpPr>
              <p:grpSpPr bwMode="auto">
                <a:xfrm>
                  <a:off x="3741" y="2672"/>
                  <a:ext cx="277" cy="157"/>
                  <a:chOff x="3741" y="2672"/>
                  <a:chExt cx="277" cy="157"/>
                </a:xfrm>
              </p:grpSpPr>
              <p:grpSp>
                <p:nvGrpSpPr>
                  <p:cNvPr id="20" name="Group 64"/>
                  <p:cNvGrpSpPr>
                    <a:grpSpLocks/>
                  </p:cNvGrpSpPr>
                  <p:nvPr/>
                </p:nvGrpSpPr>
                <p:grpSpPr bwMode="auto">
                  <a:xfrm>
                    <a:off x="3782" y="2701"/>
                    <a:ext cx="185" cy="128"/>
                    <a:chOff x="3782" y="2701"/>
                    <a:chExt cx="185" cy="128"/>
                  </a:xfrm>
                </p:grpSpPr>
                <p:sp>
                  <p:nvSpPr>
                    <p:cNvPr id="32801" name="Oval 6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33" y="2701"/>
                      <a:ext cx="34" cy="128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802" name="Oval 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82" y="2701"/>
                      <a:ext cx="35" cy="128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1" name="Group 67"/>
                  <p:cNvGrpSpPr>
                    <a:grpSpLocks/>
                  </p:cNvGrpSpPr>
                  <p:nvPr/>
                </p:nvGrpSpPr>
                <p:grpSpPr bwMode="auto">
                  <a:xfrm>
                    <a:off x="3741" y="2672"/>
                    <a:ext cx="277" cy="26"/>
                    <a:chOff x="3741" y="2672"/>
                    <a:chExt cx="277" cy="26"/>
                  </a:xfrm>
                </p:grpSpPr>
                <p:sp>
                  <p:nvSpPr>
                    <p:cNvPr id="32799" name="Freeform 68"/>
                    <p:cNvSpPr>
                      <a:spLocks/>
                    </p:cNvSpPr>
                    <p:nvPr/>
                  </p:nvSpPr>
                  <p:spPr bwMode="auto">
                    <a:xfrm>
                      <a:off x="3741" y="2673"/>
                      <a:ext cx="110" cy="25"/>
                    </a:xfrm>
                    <a:custGeom>
                      <a:avLst/>
                      <a:gdLst>
                        <a:gd name="T0" fmla="*/ 0 w 110"/>
                        <a:gd name="T1" fmla="*/ 24 h 25"/>
                        <a:gd name="T2" fmla="*/ 25 w 110"/>
                        <a:gd name="T3" fmla="*/ 10 h 25"/>
                        <a:gd name="T4" fmla="*/ 50 w 110"/>
                        <a:gd name="T5" fmla="*/ 2 h 25"/>
                        <a:gd name="T6" fmla="*/ 81 w 110"/>
                        <a:gd name="T7" fmla="*/ 0 h 25"/>
                        <a:gd name="T8" fmla="*/ 109 w 110"/>
                        <a:gd name="T9" fmla="*/ 4 h 25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10"/>
                        <a:gd name="T16" fmla="*/ 0 h 25"/>
                        <a:gd name="T17" fmla="*/ 110 w 110"/>
                        <a:gd name="T18" fmla="*/ 25 h 25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10" h="25">
                          <a:moveTo>
                            <a:pt x="0" y="24"/>
                          </a:moveTo>
                          <a:lnTo>
                            <a:pt x="25" y="10"/>
                          </a:lnTo>
                          <a:lnTo>
                            <a:pt x="50" y="2"/>
                          </a:lnTo>
                          <a:lnTo>
                            <a:pt x="81" y="0"/>
                          </a:lnTo>
                          <a:lnTo>
                            <a:pt x="109" y="4"/>
                          </a:lnTo>
                        </a:path>
                      </a:pathLst>
                    </a:custGeom>
                    <a:noFill/>
                    <a:ln w="50800" cap="rnd">
                      <a:solidFill>
                        <a:srgbClr val="A04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800" name="Freeform 69"/>
                    <p:cNvSpPr>
                      <a:spLocks/>
                    </p:cNvSpPr>
                    <p:nvPr/>
                  </p:nvSpPr>
                  <p:spPr bwMode="auto">
                    <a:xfrm>
                      <a:off x="3910" y="2672"/>
                      <a:ext cx="108" cy="24"/>
                    </a:xfrm>
                    <a:custGeom>
                      <a:avLst/>
                      <a:gdLst>
                        <a:gd name="T0" fmla="*/ 107 w 108"/>
                        <a:gd name="T1" fmla="*/ 23 h 24"/>
                        <a:gd name="T2" fmla="*/ 82 w 108"/>
                        <a:gd name="T3" fmla="*/ 11 h 24"/>
                        <a:gd name="T4" fmla="*/ 58 w 108"/>
                        <a:gd name="T5" fmla="*/ 3 h 24"/>
                        <a:gd name="T6" fmla="*/ 28 w 108"/>
                        <a:gd name="T7" fmla="*/ 0 h 24"/>
                        <a:gd name="T8" fmla="*/ 0 w 108"/>
                        <a:gd name="T9" fmla="*/ 3 h 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08"/>
                        <a:gd name="T16" fmla="*/ 0 h 24"/>
                        <a:gd name="T17" fmla="*/ 108 w 108"/>
                        <a:gd name="T18" fmla="*/ 24 h 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08" h="24">
                          <a:moveTo>
                            <a:pt x="107" y="23"/>
                          </a:moveTo>
                          <a:lnTo>
                            <a:pt x="82" y="11"/>
                          </a:lnTo>
                          <a:lnTo>
                            <a:pt x="58" y="3"/>
                          </a:lnTo>
                          <a:lnTo>
                            <a:pt x="28" y="0"/>
                          </a:lnTo>
                          <a:lnTo>
                            <a:pt x="0" y="3"/>
                          </a:lnTo>
                        </a:path>
                      </a:pathLst>
                    </a:custGeom>
                    <a:noFill/>
                    <a:ln w="50800" cap="rnd">
                      <a:solidFill>
                        <a:srgbClr val="A04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</p:grpSp>
      <p:sp>
        <p:nvSpPr>
          <p:cNvPr id="32782" name="Rectangle 70"/>
          <p:cNvSpPr>
            <a:spLocks noChangeArrowheads="1"/>
          </p:cNvSpPr>
          <p:nvPr/>
        </p:nvSpPr>
        <p:spPr bwMode="auto">
          <a:xfrm>
            <a:off x="1106488" y="4694238"/>
            <a:ext cx="1292225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 dirty="0" err="1" smtClean="0">
                <a:solidFill>
                  <a:schemeClr val="bg2"/>
                </a:solidFill>
              </a:rPr>
              <a:t>Samp</a:t>
            </a:r>
            <a:r>
              <a:rPr lang="id-ID" b="1" dirty="0" smtClean="0">
                <a:solidFill>
                  <a:schemeClr val="bg2"/>
                </a:solidFill>
              </a:rPr>
              <a:t>el</a:t>
            </a:r>
            <a:endParaRPr lang="en-US" b="1" dirty="0">
              <a:solidFill>
                <a:schemeClr val="bg2"/>
              </a:solidFill>
            </a:endParaRPr>
          </a:p>
        </p:txBody>
      </p:sp>
      <p:sp>
        <p:nvSpPr>
          <p:cNvPr id="32783" name="Line 71"/>
          <p:cNvSpPr>
            <a:spLocks noChangeShapeType="1"/>
          </p:cNvSpPr>
          <p:nvPr/>
        </p:nvSpPr>
        <p:spPr bwMode="auto">
          <a:xfrm>
            <a:off x="4038600" y="3505200"/>
            <a:ext cx="228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" name="Group 72"/>
          <p:cNvGrpSpPr>
            <a:grpSpLocks/>
          </p:cNvGrpSpPr>
          <p:nvPr/>
        </p:nvGrpSpPr>
        <p:grpSpPr bwMode="auto">
          <a:xfrm>
            <a:off x="6553200" y="1981200"/>
            <a:ext cx="2286000" cy="1905000"/>
            <a:chOff x="4128" y="1248"/>
            <a:chExt cx="1440" cy="1200"/>
          </a:xfrm>
        </p:grpSpPr>
        <p:sp>
          <p:nvSpPr>
            <p:cNvPr id="32788" name="AutoShape 73"/>
            <p:cNvSpPr>
              <a:spLocks noChangeArrowheads="1"/>
            </p:cNvSpPr>
            <p:nvPr/>
          </p:nvSpPr>
          <p:spPr bwMode="auto">
            <a:xfrm>
              <a:off x="4128" y="1248"/>
              <a:ext cx="1436" cy="1200"/>
            </a:xfrm>
            <a:prstGeom prst="wedgeRoundRectCallout">
              <a:avLst>
                <a:gd name="adj1" fmla="val -36528"/>
                <a:gd name="adj2" fmla="val 66667"/>
                <a:gd name="adj3" fmla="val 16667"/>
              </a:avLst>
            </a:prstGeom>
            <a:solidFill>
              <a:srgbClr val="FDE0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32789" name="Rectangle 74"/>
            <p:cNvSpPr>
              <a:spLocks noChangeArrowheads="1"/>
            </p:cNvSpPr>
            <p:nvPr/>
          </p:nvSpPr>
          <p:spPr bwMode="auto">
            <a:xfrm>
              <a:off x="4176" y="1344"/>
              <a:ext cx="1392" cy="9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id-ID" b="1" dirty="0" smtClean="0"/>
                <a:t>Saya yakin (konfinden) 95% bahwa nilai </a:t>
              </a:r>
              <a:r>
                <a:rPr lang="el-GR" b="1" dirty="0" smtClean="0">
                  <a:cs typeface="Arial" charset="0"/>
                </a:rPr>
                <a:t>μ</a:t>
              </a:r>
              <a:r>
                <a:rPr lang="en-US" b="1" dirty="0" smtClean="0"/>
                <a:t> </a:t>
              </a:r>
              <a:r>
                <a:rPr lang="id-ID" b="1" dirty="0" smtClean="0"/>
                <a:t>berkisar antara   </a:t>
              </a:r>
              <a:r>
                <a:rPr lang="en-US" b="1" dirty="0" smtClean="0"/>
                <a:t>40 </a:t>
              </a:r>
              <a:r>
                <a:rPr lang="en-US" b="1" dirty="0"/>
                <a:t>&amp; 60.</a:t>
              </a:r>
            </a:p>
          </p:txBody>
        </p:sp>
      </p:grpSp>
      <p:sp>
        <p:nvSpPr>
          <p:cNvPr id="32785" name="Line 75"/>
          <p:cNvSpPr>
            <a:spLocks noChangeShapeType="1"/>
          </p:cNvSpPr>
          <p:nvPr/>
        </p:nvSpPr>
        <p:spPr bwMode="auto">
          <a:xfrm>
            <a:off x="4572000" y="27432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785CEB50-B315-434A-AAAF-42ED176B29E5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dirty="0" smtClean="0"/>
              <a:t>Rumus Umum</a:t>
            </a:r>
            <a:endParaRPr lang="en-US" dirty="0" smtClean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76400"/>
            <a:ext cx="7772400" cy="1143000"/>
          </a:xfrm>
        </p:spPr>
        <p:txBody>
          <a:bodyPr/>
          <a:lstStyle/>
          <a:p>
            <a:pPr eaLnBrk="1" hangingPunct="1"/>
            <a:r>
              <a:rPr lang="id-ID" sz="3200" dirty="0" smtClean="0">
                <a:solidFill>
                  <a:schemeClr val="folHlink"/>
                </a:solidFill>
              </a:rPr>
              <a:t>Rumus umum untuk semua interval konfidensi</a:t>
            </a:r>
            <a:r>
              <a:rPr lang="en-US" sz="3200" dirty="0" smtClean="0">
                <a:solidFill>
                  <a:schemeClr val="folHlink"/>
                </a:solidFill>
              </a:rPr>
              <a:t>: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304800" y="2895600"/>
            <a:ext cx="8410575" cy="528638"/>
          </a:xfrm>
          <a:prstGeom prst="rect">
            <a:avLst/>
          </a:prstGeom>
          <a:solidFill>
            <a:srgbClr val="FDE0BD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id-ID" sz="2800" b="1" dirty="0" smtClean="0"/>
              <a:t>Estimasi titik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  <a:sym typeface="System"/>
              </a:rPr>
              <a:t>±</a:t>
            </a:r>
            <a:r>
              <a:rPr lang="en-US" sz="2800" b="1" dirty="0" smtClean="0">
                <a:sym typeface="System"/>
              </a:rPr>
              <a:t> (</a:t>
            </a:r>
            <a:r>
              <a:rPr lang="id-ID" sz="2800" b="1" dirty="0" smtClean="0">
                <a:sym typeface="System"/>
              </a:rPr>
              <a:t>titik kritis</a:t>
            </a:r>
            <a:r>
              <a:rPr lang="en-US" sz="2800" b="1" dirty="0" smtClean="0">
                <a:sym typeface="System"/>
              </a:rPr>
              <a:t>)(</a:t>
            </a:r>
            <a:r>
              <a:rPr lang="en-US" sz="2800" b="1" dirty="0" err="1" smtClean="0">
                <a:sym typeface="System"/>
              </a:rPr>
              <a:t>Standar</a:t>
            </a:r>
            <a:r>
              <a:rPr lang="en-US" sz="2800" b="1" dirty="0" smtClean="0">
                <a:sym typeface="System"/>
              </a:rPr>
              <a:t> </a:t>
            </a:r>
            <a:r>
              <a:rPr lang="en-US" sz="2800" b="1" dirty="0">
                <a:sym typeface="System"/>
              </a:rPr>
              <a:t>Error)</a:t>
            </a:r>
          </a:p>
        </p:txBody>
      </p:sp>
      <p:sp>
        <p:nvSpPr>
          <p:cNvPr id="33797" name="Text Box 7"/>
          <p:cNvSpPr txBox="1">
            <a:spLocks noChangeArrowheads="1"/>
          </p:cNvSpPr>
          <p:nvPr/>
        </p:nvSpPr>
        <p:spPr bwMode="auto">
          <a:xfrm>
            <a:off x="533400" y="3505200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id-ID" sz="2000" dirty="0" smtClean="0"/>
              <a:t>Di mana</a:t>
            </a:r>
            <a:r>
              <a:rPr lang="en-US" sz="2000" dirty="0" smtClean="0"/>
              <a:t>:</a:t>
            </a:r>
            <a:endParaRPr lang="en-US" sz="2000" dirty="0"/>
          </a:p>
          <a:p>
            <a:pPr marL="1033463" lvl="2" indent="-119063">
              <a:buFontTx/>
              <a:buChar char="•"/>
            </a:pPr>
            <a:r>
              <a:rPr lang="id-ID" sz="2000" dirty="0" smtClean="0">
                <a:solidFill>
                  <a:schemeClr val="folHlink"/>
                </a:solidFill>
              </a:rPr>
              <a:t>Estimasi titik </a:t>
            </a:r>
            <a:r>
              <a:rPr lang="id-ID" sz="2000" dirty="0" smtClean="0">
                <a:solidFill>
                  <a:schemeClr val="folHlink"/>
                </a:solidFill>
                <a:sym typeface="Wingdings" pitchFamily="2" charset="2"/>
              </a:rPr>
              <a:t> </a:t>
            </a:r>
            <a:r>
              <a:rPr lang="en-US" sz="2000" dirty="0" smtClean="0"/>
              <a:t> </a:t>
            </a:r>
            <a:r>
              <a:rPr lang="id-ID" sz="2000" dirty="0" smtClean="0"/>
              <a:t>statistik sampel untuk menduga parameter populasi yg dikehendaki</a:t>
            </a:r>
          </a:p>
          <a:p>
            <a:pPr marL="1033463" lvl="2" indent="-119063"/>
            <a:endParaRPr lang="en-US" sz="2000" dirty="0"/>
          </a:p>
          <a:p>
            <a:pPr marL="1033463" lvl="2" indent="-119063">
              <a:buFontTx/>
              <a:buChar char="•"/>
            </a:pPr>
            <a:r>
              <a:rPr lang="id-ID" sz="2000" dirty="0" smtClean="0">
                <a:solidFill>
                  <a:schemeClr val="folHlink"/>
                </a:solidFill>
              </a:rPr>
              <a:t>Titik kritis </a:t>
            </a:r>
            <a:r>
              <a:rPr lang="id-ID" sz="2000" dirty="0" smtClean="0">
                <a:solidFill>
                  <a:schemeClr val="folHlink"/>
                </a:solidFill>
                <a:sym typeface="Wingdings" pitchFamily="2" charset="2"/>
              </a:rPr>
              <a:t> </a:t>
            </a:r>
            <a:r>
              <a:rPr lang="id-ID" sz="2000" dirty="0" smtClean="0"/>
              <a:t>nilai distribusi sampling dari estimasi titik dengan tingkat konfindensi tertentu</a:t>
            </a:r>
            <a:endParaRPr lang="en-US" sz="2000" dirty="0"/>
          </a:p>
          <a:p>
            <a:pPr marL="1033463" lvl="2" indent="-119063">
              <a:buFontTx/>
              <a:buChar char="•"/>
            </a:pPr>
            <a:endParaRPr lang="en-US" sz="2000" dirty="0"/>
          </a:p>
          <a:p>
            <a:pPr marL="1033463" lvl="2" indent="-119063">
              <a:buFontTx/>
              <a:buChar char="•"/>
            </a:pPr>
            <a:r>
              <a:rPr lang="en-US" sz="2000" dirty="0">
                <a:solidFill>
                  <a:schemeClr val="folHlink"/>
                </a:solidFill>
              </a:rPr>
              <a:t>Standard </a:t>
            </a:r>
            <a:r>
              <a:rPr lang="en-US" sz="2000" dirty="0" smtClean="0">
                <a:solidFill>
                  <a:schemeClr val="folHlink"/>
                </a:solidFill>
              </a:rPr>
              <a:t>Error</a:t>
            </a:r>
            <a:r>
              <a:rPr lang="id-ID" sz="2000" dirty="0" smtClean="0">
                <a:solidFill>
                  <a:schemeClr val="folHlink"/>
                </a:solidFill>
                <a:sym typeface="Wingdings" pitchFamily="2" charset="2"/>
              </a:rPr>
              <a:t></a:t>
            </a:r>
            <a:r>
              <a:rPr lang="en-US" sz="2000" dirty="0" smtClean="0"/>
              <a:t> </a:t>
            </a:r>
            <a:r>
              <a:rPr lang="en-US" sz="2000" dirty="0" err="1" smtClean="0"/>
              <a:t>standar</a:t>
            </a:r>
            <a:r>
              <a:rPr lang="en-US" sz="2000" dirty="0" smtClean="0"/>
              <a:t> </a:t>
            </a:r>
            <a:r>
              <a:rPr lang="en-US" sz="2000" dirty="0" err="1" smtClean="0"/>
              <a:t>devia</a:t>
            </a:r>
            <a:r>
              <a:rPr lang="id-ID" sz="2000" dirty="0" smtClean="0"/>
              <a:t>si dari estimasi titik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C8920F6A-1A8B-4E55-B024-5F9E7A1A51BF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3686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8-</a:t>
            </a:r>
            <a:fld id="{15BE9AAB-C6DE-43A6-8D9B-6E95D9776E31}" type="slidenum">
              <a:rPr lang="en-US" sz="1000"/>
              <a:pPr algn="r" defTabSz="852488"/>
              <a:t>8</a:t>
            </a:fld>
            <a:endParaRPr lang="en-US" sz="1000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dirty="0" smtClean="0"/>
              <a:t>Interval Konfidensi</a:t>
            </a:r>
            <a:endParaRPr lang="en-US" dirty="0" smtClean="0"/>
          </a:p>
        </p:txBody>
      </p:sp>
      <p:sp>
        <p:nvSpPr>
          <p:cNvPr id="36867" name="Freeform 3"/>
          <p:cNvSpPr>
            <a:spLocks/>
          </p:cNvSpPr>
          <p:nvPr/>
        </p:nvSpPr>
        <p:spPr bwMode="auto">
          <a:xfrm>
            <a:off x="1914525" y="3135313"/>
            <a:ext cx="1819275" cy="979487"/>
          </a:xfrm>
          <a:custGeom>
            <a:avLst/>
            <a:gdLst>
              <a:gd name="T0" fmla="*/ 0 w 1068"/>
              <a:gd name="T1" fmla="*/ 977204 h 429"/>
              <a:gd name="T2" fmla="*/ 1817572 w 1068"/>
              <a:gd name="T3" fmla="*/ 977204 h 429"/>
              <a:gd name="T4" fmla="*/ 1817572 w 1068"/>
              <a:gd name="T5" fmla="*/ 0 h 429"/>
              <a:gd name="T6" fmla="*/ 0 w 1068"/>
              <a:gd name="T7" fmla="*/ 0 h 429"/>
              <a:gd name="T8" fmla="*/ 0 w 1068"/>
              <a:gd name="T9" fmla="*/ 977204 h 42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68"/>
              <a:gd name="T16" fmla="*/ 0 h 429"/>
              <a:gd name="T17" fmla="*/ 1068 w 1068"/>
              <a:gd name="T18" fmla="*/ 429 h 42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68" h="429">
                <a:moveTo>
                  <a:pt x="0" y="428"/>
                </a:moveTo>
                <a:lnTo>
                  <a:pt x="1067" y="428"/>
                </a:lnTo>
                <a:lnTo>
                  <a:pt x="1067" y="0"/>
                </a:lnTo>
                <a:lnTo>
                  <a:pt x="0" y="0"/>
                </a:lnTo>
                <a:lnTo>
                  <a:pt x="0" y="428"/>
                </a:lnTo>
              </a:path>
            </a:pathLst>
          </a:custGeom>
          <a:solidFill>
            <a:srgbClr val="C7DAF7"/>
          </a:solidFill>
          <a:ln w="25400" cap="rnd">
            <a:solidFill>
              <a:srgbClr val="1A1A1A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1905000" y="3200400"/>
            <a:ext cx="1785747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id-ID" b="1" dirty="0" smtClean="0"/>
              <a:t>Mean populasi</a:t>
            </a:r>
            <a:endParaRPr lang="en-US" b="1" dirty="0"/>
          </a:p>
        </p:txBody>
      </p:sp>
      <p:sp>
        <p:nvSpPr>
          <p:cNvPr id="36869" name="Freeform 5"/>
          <p:cNvSpPr>
            <a:spLocks/>
          </p:cNvSpPr>
          <p:nvPr/>
        </p:nvSpPr>
        <p:spPr bwMode="auto">
          <a:xfrm>
            <a:off x="2971800" y="4724400"/>
            <a:ext cx="1814513" cy="1179513"/>
          </a:xfrm>
          <a:custGeom>
            <a:avLst/>
            <a:gdLst>
              <a:gd name="T0" fmla="*/ 0 w 1143"/>
              <a:gd name="T1" fmla="*/ 1177925 h 743"/>
              <a:gd name="T2" fmla="*/ 1812926 w 1143"/>
              <a:gd name="T3" fmla="*/ 1177925 h 743"/>
              <a:gd name="T4" fmla="*/ 1812926 w 1143"/>
              <a:gd name="T5" fmla="*/ 0 h 743"/>
              <a:gd name="T6" fmla="*/ 0 w 1143"/>
              <a:gd name="T7" fmla="*/ 0 h 743"/>
              <a:gd name="T8" fmla="*/ 0 w 1143"/>
              <a:gd name="T9" fmla="*/ 1177925 h 7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43"/>
              <a:gd name="T16" fmla="*/ 0 h 743"/>
              <a:gd name="T17" fmla="*/ 1143 w 1143"/>
              <a:gd name="T18" fmla="*/ 743 h 7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43" h="743">
                <a:moveTo>
                  <a:pt x="0" y="742"/>
                </a:moveTo>
                <a:lnTo>
                  <a:pt x="1142" y="742"/>
                </a:lnTo>
                <a:lnTo>
                  <a:pt x="1142" y="0"/>
                </a:lnTo>
                <a:lnTo>
                  <a:pt x="0" y="0"/>
                </a:lnTo>
                <a:lnTo>
                  <a:pt x="0" y="742"/>
                </a:lnTo>
              </a:path>
            </a:pathLst>
          </a:custGeom>
          <a:solidFill>
            <a:srgbClr val="C7DAF7"/>
          </a:solidFill>
          <a:ln w="25400" cap="rnd">
            <a:solidFill>
              <a:srgbClr val="1A1A1A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3276600" y="4953000"/>
            <a:ext cx="1195841" cy="6437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1" dirty="0"/>
              <a:t> </a:t>
            </a:r>
            <a:r>
              <a:rPr lang="el-GR" b="1" dirty="0">
                <a:cs typeface="Arial" charset="0"/>
              </a:rPr>
              <a:t>σ</a:t>
            </a:r>
            <a:r>
              <a:rPr lang="en-US" b="1" dirty="0">
                <a:cs typeface="Arial" charset="0"/>
              </a:rPr>
              <a:t> </a:t>
            </a:r>
            <a:r>
              <a:rPr lang="id-ID" b="1" dirty="0" smtClean="0"/>
              <a:t>tidak </a:t>
            </a:r>
          </a:p>
          <a:p>
            <a:pPr eaLnBrk="0" hangingPunct="0"/>
            <a:r>
              <a:rPr lang="id-ID" b="1" dirty="0" smtClean="0"/>
              <a:t>diketahui</a:t>
            </a:r>
            <a:endParaRPr lang="en-US" b="1" dirty="0"/>
          </a:p>
        </p:txBody>
      </p:sp>
      <p:sp>
        <p:nvSpPr>
          <p:cNvPr id="36871" name="Freeform 7"/>
          <p:cNvSpPr>
            <a:spLocks/>
          </p:cNvSpPr>
          <p:nvPr/>
        </p:nvSpPr>
        <p:spPr bwMode="auto">
          <a:xfrm>
            <a:off x="3657600" y="1676400"/>
            <a:ext cx="1981200" cy="1006475"/>
          </a:xfrm>
          <a:custGeom>
            <a:avLst/>
            <a:gdLst>
              <a:gd name="T0" fmla="*/ 0 w 1115"/>
              <a:gd name="T1" fmla="*/ 1004517 h 514"/>
              <a:gd name="T2" fmla="*/ 1979423 w 1115"/>
              <a:gd name="T3" fmla="*/ 1004517 h 514"/>
              <a:gd name="T4" fmla="*/ 1979423 w 1115"/>
              <a:gd name="T5" fmla="*/ 0 h 514"/>
              <a:gd name="T6" fmla="*/ 0 w 1115"/>
              <a:gd name="T7" fmla="*/ 0 h 514"/>
              <a:gd name="T8" fmla="*/ 0 w 1115"/>
              <a:gd name="T9" fmla="*/ 1004517 h 5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15"/>
              <a:gd name="T16" fmla="*/ 0 h 514"/>
              <a:gd name="T17" fmla="*/ 1115 w 1115"/>
              <a:gd name="T18" fmla="*/ 514 h 5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15" h="514">
                <a:moveTo>
                  <a:pt x="0" y="513"/>
                </a:moveTo>
                <a:lnTo>
                  <a:pt x="1114" y="513"/>
                </a:lnTo>
                <a:lnTo>
                  <a:pt x="1114" y="0"/>
                </a:lnTo>
                <a:lnTo>
                  <a:pt x="0" y="0"/>
                </a:lnTo>
                <a:lnTo>
                  <a:pt x="0" y="513"/>
                </a:lnTo>
              </a:path>
            </a:pathLst>
          </a:custGeom>
          <a:solidFill>
            <a:srgbClr val="C7DAF7"/>
          </a:solidFill>
          <a:ln w="25400" cap="rnd">
            <a:solidFill>
              <a:srgbClr val="1A1A1A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3733800" y="1752600"/>
            <a:ext cx="1375378" cy="6437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id-ID" b="1" dirty="0" smtClean="0"/>
              <a:t>Interval </a:t>
            </a:r>
          </a:p>
          <a:p>
            <a:pPr eaLnBrk="0" hangingPunct="0"/>
            <a:r>
              <a:rPr lang="id-ID" b="1" dirty="0" smtClean="0"/>
              <a:t>Konfidensi</a:t>
            </a:r>
            <a:endParaRPr lang="en-US" b="1" dirty="0"/>
          </a:p>
        </p:txBody>
      </p:sp>
      <p:sp>
        <p:nvSpPr>
          <p:cNvPr id="36874" name="Freeform 10"/>
          <p:cNvSpPr>
            <a:spLocks/>
          </p:cNvSpPr>
          <p:nvPr/>
        </p:nvSpPr>
        <p:spPr bwMode="auto">
          <a:xfrm>
            <a:off x="6172200" y="3124200"/>
            <a:ext cx="2057400" cy="1066800"/>
          </a:xfrm>
          <a:custGeom>
            <a:avLst/>
            <a:gdLst>
              <a:gd name="T0" fmla="*/ 0 w 1241"/>
              <a:gd name="T1" fmla="*/ 1064353 h 436"/>
              <a:gd name="T2" fmla="*/ 2055742 w 1241"/>
              <a:gd name="T3" fmla="*/ 1064353 h 436"/>
              <a:gd name="T4" fmla="*/ 2055742 w 1241"/>
              <a:gd name="T5" fmla="*/ 0 h 436"/>
              <a:gd name="T6" fmla="*/ 0 w 1241"/>
              <a:gd name="T7" fmla="*/ 0 h 436"/>
              <a:gd name="T8" fmla="*/ 0 w 1241"/>
              <a:gd name="T9" fmla="*/ 1064353 h 4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41"/>
              <a:gd name="T16" fmla="*/ 0 h 436"/>
              <a:gd name="T17" fmla="*/ 1241 w 1241"/>
              <a:gd name="T18" fmla="*/ 436 h 4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41" h="436">
                <a:moveTo>
                  <a:pt x="0" y="435"/>
                </a:moveTo>
                <a:lnTo>
                  <a:pt x="1240" y="435"/>
                </a:lnTo>
                <a:lnTo>
                  <a:pt x="1240" y="0"/>
                </a:lnTo>
                <a:lnTo>
                  <a:pt x="0" y="0"/>
                </a:lnTo>
                <a:lnTo>
                  <a:pt x="0" y="435"/>
                </a:lnTo>
              </a:path>
            </a:pathLst>
          </a:custGeom>
          <a:solidFill>
            <a:srgbClr val="C7DAF7"/>
          </a:solidFill>
          <a:ln w="25400" cap="rnd">
            <a:solidFill>
              <a:srgbClr val="1A1A1A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75" name="Rectangle 11"/>
          <p:cNvSpPr>
            <a:spLocks noChangeArrowheads="1"/>
          </p:cNvSpPr>
          <p:nvPr/>
        </p:nvSpPr>
        <p:spPr bwMode="auto">
          <a:xfrm>
            <a:off x="6288088" y="3257550"/>
            <a:ext cx="1865312" cy="6437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id-ID" b="1" dirty="0" smtClean="0"/>
              <a:t>Proporsi populasi</a:t>
            </a:r>
            <a:endParaRPr lang="en-US" b="1" dirty="0"/>
          </a:p>
        </p:txBody>
      </p:sp>
      <p:sp>
        <p:nvSpPr>
          <p:cNvPr id="36876" name="Freeform 12"/>
          <p:cNvSpPr>
            <a:spLocks/>
          </p:cNvSpPr>
          <p:nvPr/>
        </p:nvSpPr>
        <p:spPr bwMode="auto">
          <a:xfrm>
            <a:off x="914400" y="4724400"/>
            <a:ext cx="1724025" cy="1179513"/>
          </a:xfrm>
          <a:custGeom>
            <a:avLst/>
            <a:gdLst>
              <a:gd name="T0" fmla="*/ 0 w 1086"/>
              <a:gd name="T1" fmla="*/ 1177925 h 743"/>
              <a:gd name="T2" fmla="*/ 1722438 w 1086"/>
              <a:gd name="T3" fmla="*/ 1177925 h 743"/>
              <a:gd name="T4" fmla="*/ 1722438 w 1086"/>
              <a:gd name="T5" fmla="*/ 0 h 743"/>
              <a:gd name="T6" fmla="*/ 0 w 1086"/>
              <a:gd name="T7" fmla="*/ 0 h 743"/>
              <a:gd name="T8" fmla="*/ 0 w 1086"/>
              <a:gd name="T9" fmla="*/ 1177925 h 7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6"/>
              <a:gd name="T16" fmla="*/ 0 h 743"/>
              <a:gd name="T17" fmla="*/ 1086 w 1086"/>
              <a:gd name="T18" fmla="*/ 743 h 7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6" h="743">
                <a:moveTo>
                  <a:pt x="0" y="742"/>
                </a:moveTo>
                <a:lnTo>
                  <a:pt x="1085" y="742"/>
                </a:lnTo>
                <a:lnTo>
                  <a:pt x="1085" y="0"/>
                </a:lnTo>
                <a:lnTo>
                  <a:pt x="0" y="0"/>
                </a:lnTo>
                <a:lnTo>
                  <a:pt x="0" y="742"/>
                </a:lnTo>
              </a:path>
            </a:pathLst>
          </a:custGeom>
          <a:solidFill>
            <a:srgbClr val="FDE0BD"/>
          </a:solidFill>
          <a:ln w="25400" cap="rnd">
            <a:solidFill>
              <a:srgbClr val="1A1A1A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77" name="Rectangle 13"/>
          <p:cNvSpPr>
            <a:spLocks noChangeArrowheads="1"/>
          </p:cNvSpPr>
          <p:nvPr/>
        </p:nvSpPr>
        <p:spPr bwMode="auto">
          <a:xfrm>
            <a:off x="990600" y="5162550"/>
            <a:ext cx="1482779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1" dirty="0"/>
              <a:t> </a:t>
            </a:r>
            <a:r>
              <a:rPr lang="el-GR" b="1" dirty="0">
                <a:cs typeface="Arial" charset="0"/>
              </a:rPr>
              <a:t>σ</a:t>
            </a:r>
            <a:r>
              <a:rPr lang="en-US" b="1" dirty="0">
                <a:cs typeface="Arial" charset="0"/>
              </a:rPr>
              <a:t> </a:t>
            </a:r>
            <a:r>
              <a:rPr lang="id-ID" b="1" dirty="0" smtClean="0"/>
              <a:t>diketahui</a:t>
            </a:r>
            <a:endParaRPr lang="en-US" b="1" dirty="0"/>
          </a:p>
        </p:txBody>
      </p:sp>
      <p:sp>
        <p:nvSpPr>
          <p:cNvPr id="36878" name="Rectangle 14"/>
          <p:cNvSpPr>
            <a:spLocks noChangeArrowheads="1"/>
          </p:cNvSpPr>
          <p:nvPr/>
        </p:nvSpPr>
        <p:spPr bwMode="auto">
          <a:xfrm>
            <a:off x="2362200" y="5387975"/>
            <a:ext cx="184150" cy="92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9" name="Line 15"/>
          <p:cNvSpPr>
            <a:spLocks noChangeShapeType="1"/>
          </p:cNvSpPr>
          <p:nvPr/>
        </p:nvSpPr>
        <p:spPr bwMode="auto">
          <a:xfrm>
            <a:off x="4648200" y="26670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6880" name="Line 16"/>
          <p:cNvSpPr>
            <a:spLocks noChangeShapeType="1"/>
          </p:cNvSpPr>
          <p:nvPr/>
        </p:nvSpPr>
        <p:spPr bwMode="auto">
          <a:xfrm>
            <a:off x="2819400" y="2895600"/>
            <a:ext cx="434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6881" name="Line 17"/>
          <p:cNvSpPr>
            <a:spLocks noChangeShapeType="1"/>
          </p:cNvSpPr>
          <p:nvPr/>
        </p:nvSpPr>
        <p:spPr bwMode="auto">
          <a:xfrm>
            <a:off x="2819400" y="28956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6882" name="Line 18"/>
          <p:cNvSpPr>
            <a:spLocks noChangeShapeType="1"/>
          </p:cNvSpPr>
          <p:nvPr/>
        </p:nvSpPr>
        <p:spPr bwMode="auto">
          <a:xfrm>
            <a:off x="7162800" y="28956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6883" name="Line 19"/>
          <p:cNvSpPr>
            <a:spLocks noChangeShapeType="1"/>
          </p:cNvSpPr>
          <p:nvPr/>
        </p:nvSpPr>
        <p:spPr bwMode="auto">
          <a:xfrm>
            <a:off x="2819400" y="41148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6884" name="Line 20"/>
          <p:cNvSpPr>
            <a:spLocks noChangeShapeType="1"/>
          </p:cNvSpPr>
          <p:nvPr/>
        </p:nvSpPr>
        <p:spPr bwMode="auto">
          <a:xfrm>
            <a:off x="1752600" y="4343400"/>
            <a:ext cx="2057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6885" name="Line 21"/>
          <p:cNvSpPr>
            <a:spLocks noChangeShapeType="1"/>
          </p:cNvSpPr>
          <p:nvPr/>
        </p:nvSpPr>
        <p:spPr bwMode="auto">
          <a:xfrm>
            <a:off x="1752600" y="43434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6886" name="Line 22"/>
          <p:cNvSpPr>
            <a:spLocks noChangeShapeType="1"/>
          </p:cNvSpPr>
          <p:nvPr/>
        </p:nvSpPr>
        <p:spPr bwMode="auto">
          <a:xfrm>
            <a:off x="3810000" y="43434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82F68632-198A-419C-839E-234C72355933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205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152400"/>
            <a:ext cx="7793038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d-ID" dirty="0" smtClean="0"/>
              <a:t>Interval Konfidensi bagi</a:t>
            </a:r>
            <a:r>
              <a:rPr lang="en-US" dirty="0" smtClean="0"/>
              <a:t> </a:t>
            </a:r>
            <a:r>
              <a:rPr lang="el-GR" dirty="0" smtClean="0">
                <a:cs typeface="Arial" charset="0"/>
              </a:rPr>
              <a:t>μ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l-GR" dirty="0" smtClean="0">
                <a:cs typeface="Arial" charset="0"/>
              </a:rPr>
              <a:t>σ</a:t>
            </a:r>
            <a:r>
              <a:rPr lang="en-US" dirty="0" smtClean="0"/>
              <a:t>  </a:t>
            </a:r>
            <a:r>
              <a:rPr lang="id-ID" dirty="0" smtClean="0"/>
              <a:t>diketahui</a:t>
            </a:r>
            <a:r>
              <a:rPr lang="en-US" dirty="0" smtClean="0"/>
              <a:t>) </a:t>
            </a:r>
          </a:p>
        </p:txBody>
      </p:sp>
      <p:sp>
        <p:nvSpPr>
          <p:cNvPr id="20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0866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dirty="0" smtClean="0"/>
              <a:t>As</a:t>
            </a:r>
            <a:r>
              <a:rPr lang="id-ID" sz="2000" dirty="0" smtClean="0"/>
              <a:t>umsi-asumsi</a:t>
            </a:r>
            <a:endParaRPr lang="en-US" sz="2000" dirty="0" smtClean="0"/>
          </a:p>
          <a:p>
            <a:pPr lvl="1" eaLnBrk="1" hangingPunct="1">
              <a:lnSpc>
                <a:spcPct val="80000"/>
              </a:lnSpc>
            </a:pPr>
            <a:r>
              <a:rPr lang="id-ID" sz="2000" dirty="0" smtClean="0"/>
              <a:t>Standar deviasi </a:t>
            </a:r>
            <a:r>
              <a:rPr lang="el-GR" sz="2000" dirty="0" smtClean="0">
                <a:cs typeface="Arial" charset="0"/>
                <a:sym typeface="Symbol" pitchFamily="18" charset="2"/>
              </a:rPr>
              <a:t>σ</a:t>
            </a:r>
            <a:r>
              <a:rPr lang="en-US" sz="2000" dirty="0" smtClean="0">
                <a:sym typeface="Symbol" pitchFamily="18" charset="2"/>
              </a:rPr>
              <a:t> </a:t>
            </a:r>
            <a:r>
              <a:rPr lang="id-ID" sz="2000" dirty="0" smtClean="0">
                <a:sym typeface="Symbol" pitchFamily="18" charset="2"/>
              </a:rPr>
              <a:t>diketahui</a:t>
            </a:r>
            <a:endParaRPr lang="en-US" sz="2000" dirty="0" smtClean="0"/>
          </a:p>
          <a:p>
            <a:pPr lvl="1" eaLnBrk="1" hangingPunct="1">
              <a:lnSpc>
                <a:spcPct val="80000"/>
              </a:lnSpc>
            </a:pPr>
            <a:r>
              <a:rPr lang="id-ID" sz="2000" dirty="0" smtClean="0"/>
              <a:t>Populasi berdistribusi normal</a:t>
            </a:r>
            <a:endParaRPr lang="en-US" sz="2000" dirty="0" smtClean="0"/>
          </a:p>
          <a:p>
            <a:pPr lvl="1" eaLnBrk="1" hangingPunct="1">
              <a:lnSpc>
                <a:spcPct val="80000"/>
              </a:lnSpc>
            </a:pPr>
            <a:r>
              <a:rPr lang="id-ID" sz="2000" dirty="0" smtClean="0"/>
              <a:t>Jika populasi tidak normal, gunakan sampel besar (teori limit pusat)</a:t>
            </a:r>
            <a:endParaRPr lang="en-US" sz="2000" dirty="0" smtClean="0"/>
          </a:p>
          <a:p>
            <a:pPr eaLnBrk="1" hangingPunct="1">
              <a:lnSpc>
                <a:spcPct val="160000"/>
              </a:lnSpc>
            </a:pPr>
            <a:r>
              <a:rPr lang="id-ID" sz="2000" dirty="0" smtClean="0">
                <a:solidFill>
                  <a:schemeClr val="folHlink"/>
                </a:solidFill>
              </a:rPr>
              <a:t>Estimasi interval konfidensi</a:t>
            </a:r>
            <a:r>
              <a:rPr lang="en-US" sz="2000" dirty="0" smtClean="0">
                <a:solidFill>
                  <a:schemeClr val="folHlink"/>
                </a:solidFill>
              </a:rPr>
              <a:t>:</a:t>
            </a:r>
          </a:p>
          <a:p>
            <a:pPr eaLnBrk="1" hangingPunct="1">
              <a:lnSpc>
                <a:spcPct val="160000"/>
              </a:lnSpc>
              <a:buNone/>
            </a:pPr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160000"/>
              </a:lnSpc>
              <a:buNone/>
            </a:pPr>
            <a:endParaRPr lang="en-US" sz="20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35000"/>
              </a:spcBef>
              <a:buFont typeface="Wingdings" pitchFamily="2" charset="2"/>
              <a:buNone/>
            </a:pPr>
            <a:r>
              <a:rPr lang="en-US" sz="1600" dirty="0" smtClean="0"/>
              <a:t>	</a:t>
            </a:r>
          </a:p>
          <a:p>
            <a:pPr eaLnBrk="1" hangingPunct="1">
              <a:lnSpc>
                <a:spcPct val="80000"/>
              </a:lnSpc>
              <a:spcBef>
                <a:spcPct val="35000"/>
              </a:spcBef>
              <a:buFont typeface="Wingdings" pitchFamily="2" charset="2"/>
              <a:buNone/>
            </a:pPr>
            <a:r>
              <a:rPr lang="en-US" sz="1600" dirty="0" smtClean="0"/>
              <a:t> where          </a:t>
            </a:r>
            <a:endParaRPr lang="id-ID" sz="1600" dirty="0" smtClean="0"/>
          </a:p>
          <a:p>
            <a:pPr eaLnBrk="1" hangingPunct="1">
              <a:lnSpc>
                <a:spcPct val="80000"/>
              </a:lnSpc>
              <a:spcBef>
                <a:spcPct val="35000"/>
              </a:spcBef>
              <a:buFont typeface="Wingdings" pitchFamily="2" charset="2"/>
              <a:buNone/>
            </a:pPr>
            <a:r>
              <a:rPr lang="id-ID" sz="1600" dirty="0" smtClean="0"/>
              <a:t>		</a:t>
            </a:r>
            <a:r>
              <a:rPr lang="en-US" sz="1600" dirty="0" smtClean="0"/>
              <a:t>  </a:t>
            </a:r>
            <a:r>
              <a:rPr lang="id-ID" sz="1600" dirty="0" smtClean="0"/>
              <a:t>     estimasi titik</a:t>
            </a:r>
            <a:endParaRPr lang="en-US" sz="1600" dirty="0" smtClean="0"/>
          </a:p>
          <a:p>
            <a:pPr eaLnBrk="1" hangingPunct="1">
              <a:lnSpc>
                <a:spcPct val="80000"/>
              </a:lnSpc>
              <a:spcBef>
                <a:spcPct val="35000"/>
              </a:spcBef>
              <a:buFont typeface="Wingdings" pitchFamily="2" charset="2"/>
              <a:buNone/>
            </a:pPr>
            <a:r>
              <a:rPr lang="en-US" sz="1600" dirty="0" smtClean="0"/>
              <a:t>	       Z</a:t>
            </a:r>
            <a:r>
              <a:rPr lang="el-GR" sz="1600" baseline="-25000" dirty="0" smtClean="0">
                <a:cs typeface="Arial" charset="0"/>
              </a:rPr>
              <a:t>α</a:t>
            </a:r>
            <a:r>
              <a:rPr lang="en-US" sz="1600" baseline="-25000" dirty="0" smtClean="0">
                <a:cs typeface="Arial" charset="0"/>
              </a:rPr>
              <a:t>/2</a:t>
            </a:r>
            <a:r>
              <a:rPr lang="en-US" sz="1600" dirty="0" smtClean="0"/>
              <a:t>    </a:t>
            </a:r>
            <a:r>
              <a:rPr lang="id-ID" sz="1600" dirty="0" smtClean="0"/>
              <a:t>titik kritis distribusi normal dengan probabilitas </a:t>
            </a:r>
            <a:r>
              <a:rPr lang="en-US" sz="1600" dirty="0" smtClean="0">
                <a:sym typeface="Symbol" pitchFamily="18" charset="2"/>
              </a:rPr>
              <a:t>/2</a:t>
            </a:r>
          </a:p>
          <a:p>
            <a:pPr eaLnBrk="1" hangingPunct="1">
              <a:lnSpc>
                <a:spcPct val="80000"/>
              </a:lnSpc>
              <a:spcBef>
                <a:spcPct val="35000"/>
              </a:spcBef>
              <a:buFont typeface="Wingdings" pitchFamily="2" charset="2"/>
              <a:buNone/>
            </a:pPr>
            <a:r>
              <a:rPr lang="en-US" sz="1600" dirty="0" smtClean="0"/>
              <a:t>		       </a:t>
            </a:r>
            <a:r>
              <a:rPr lang="id-ID" sz="1600" dirty="0" smtClean="0"/>
              <a:t>standar error</a:t>
            </a:r>
            <a:endParaRPr lang="en-US" sz="1600" dirty="0" smtClean="0">
              <a:cs typeface="Arial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 smtClean="0">
                <a:cs typeface="Arial" charset="0"/>
              </a:rPr>
              <a:t>		      </a:t>
            </a:r>
            <a:endParaRPr lang="en-US" sz="1600" dirty="0" smtClean="0"/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8" name="Equation" r:id="rId3" imgW="914400" imgH="198720" progId="Equation.DSMT4">
                  <p:embed/>
                </p:oleObj>
              </mc:Choice>
              <mc:Fallback>
                <p:oleObj name="Equation" r:id="rId3" imgW="914400" imgH="1987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5"/>
          <p:cNvGraphicFramePr>
            <a:graphicFrameLocks noChangeAspect="1"/>
          </p:cNvGraphicFramePr>
          <p:nvPr/>
        </p:nvGraphicFramePr>
        <p:xfrm>
          <a:off x="2743200" y="3657600"/>
          <a:ext cx="2971800" cy="146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9" name="Equation" r:id="rId5" imgW="825480" imgH="406080" progId="Equation.3">
                  <p:embed/>
                </p:oleObj>
              </mc:Choice>
              <mc:Fallback>
                <p:oleObj name="Equation" r:id="rId5" imgW="825480" imgH="4060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657600"/>
                        <a:ext cx="2971800" cy="1462088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6"/>
          <p:cNvGraphicFramePr>
            <a:graphicFrameLocks noChangeAspect="1"/>
          </p:cNvGraphicFramePr>
          <p:nvPr/>
        </p:nvGraphicFramePr>
        <p:xfrm>
          <a:off x="1600200" y="5257800"/>
          <a:ext cx="228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0" name="Equation" r:id="rId7" imgW="152280" imgH="203040" progId="Equation.3">
                  <p:embed/>
                </p:oleObj>
              </mc:Choice>
              <mc:Fallback>
                <p:oleObj name="Equation" r:id="rId7" imgW="15228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257800"/>
                        <a:ext cx="2286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7"/>
          <p:cNvGraphicFramePr>
            <a:graphicFrameLocks noChangeAspect="1"/>
          </p:cNvGraphicFramePr>
          <p:nvPr/>
        </p:nvGraphicFramePr>
        <p:xfrm>
          <a:off x="1447800" y="5943600"/>
          <a:ext cx="512762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1" name="Equation" r:id="rId9" imgW="355320" imgH="203040" progId="Equation.3">
                  <p:embed/>
                </p:oleObj>
              </mc:Choice>
              <mc:Fallback>
                <p:oleObj name="Equation" r:id="rId9" imgW="35532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943600"/>
                        <a:ext cx="512762" cy="293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5E99E77C-648C-4AB3-A570-D25B39784997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079" name="Freeform 2"/>
          <p:cNvSpPr>
            <a:spLocks/>
          </p:cNvSpPr>
          <p:nvPr/>
        </p:nvSpPr>
        <p:spPr bwMode="auto">
          <a:xfrm>
            <a:off x="2667000" y="3452813"/>
            <a:ext cx="3886200" cy="1728787"/>
          </a:xfrm>
          <a:custGeom>
            <a:avLst/>
            <a:gdLst>
              <a:gd name="T0" fmla="*/ 0 w 2448"/>
              <a:gd name="T1" fmla="*/ 1728787 h 1089"/>
              <a:gd name="T2" fmla="*/ 0 w 2448"/>
              <a:gd name="T3" fmla="*/ 1423987 h 1089"/>
              <a:gd name="T4" fmla="*/ 152400 w 2448"/>
              <a:gd name="T5" fmla="*/ 1347787 h 1089"/>
              <a:gd name="T6" fmla="*/ 381000 w 2448"/>
              <a:gd name="T7" fmla="*/ 1195387 h 1089"/>
              <a:gd name="T8" fmla="*/ 628650 w 2448"/>
              <a:gd name="T9" fmla="*/ 981075 h 1089"/>
              <a:gd name="T10" fmla="*/ 885825 w 2448"/>
              <a:gd name="T11" fmla="*/ 714375 h 1089"/>
              <a:gd name="T12" fmla="*/ 1081087 w 2448"/>
              <a:gd name="T13" fmla="*/ 514350 h 1089"/>
              <a:gd name="T14" fmla="*/ 1209675 w 2448"/>
              <a:gd name="T15" fmla="*/ 390525 h 1089"/>
              <a:gd name="T16" fmla="*/ 1328737 w 2448"/>
              <a:gd name="T17" fmla="*/ 257175 h 1089"/>
              <a:gd name="T18" fmla="*/ 1447800 w 2448"/>
              <a:gd name="T19" fmla="*/ 204787 h 1089"/>
              <a:gd name="T20" fmla="*/ 1485900 w 2448"/>
              <a:gd name="T21" fmla="*/ 142875 h 1089"/>
              <a:gd name="T22" fmla="*/ 1709738 w 2448"/>
              <a:gd name="T23" fmla="*/ 28575 h 1089"/>
              <a:gd name="T24" fmla="*/ 1900238 w 2448"/>
              <a:gd name="T25" fmla="*/ 0 h 1089"/>
              <a:gd name="T26" fmla="*/ 2052637 w 2448"/>
              <a:gd name="T27" fmla="*/ 23812 h 1089"/>
              <a:gd name="T28" fmla="*/ 2133600 w 2448"/>
              <a:gd name="T29" fmla="*/ 52387 h 1089"/>
              <a:gd name="T30" fmla="*/ 2286000 w 2448"/>
              <a:gd name="T31" fmla="*/ 128587 h 1089"/>
              <a:gd name="T32" fmla="*/ 2505075 w 2448"/>
              <a:gd name="T33" fmla="*/ 304800 h 1089"/>
              <a:gd name="T34" fmla="*/ 2743200 w 2448"/>
              <a:gd name="T35" fmla="*/ 509587 h 1089"/>
              <a:gd name="T36" fmla="*/ 2895600 w 2448"/>
              <a:gd name="T37" fmla="*/ 661987 h 1089"/>
              <a:gd name="T38" fmla="*/ 3024187 w 2448"/>
              <a:gd name="T39" fmla="*/ 795337 h 1089"/>
              <a:gd name="T40" fmla="*/ 3200399 w 2448"/>
              <a:gd name="T41" fmla="*/ 966787 h 1089"/>
              <a:gd name="T42" fmla="*/ 3371850 w 2448"/>
              <a:gd name="T43" fmla="*/ 1109662 h 1089"/>
              <a:gd name="T44" fmla="*/ 3548063 w 2448"/>
              <a:gd name="T45" fmla="*/ 1247774 h 1089"/>
              <a:gd name="T46" fmla="*/ 3748088 w 2448"/>
              <a:gd name="T47" fmla="*/ 1362074 h 1089"/>
              <a:gd name="T48" fmla="*/ 3886200 w 2448"/>
              <a:gd name="T49" fmla="*/ 1423987 h 1089"/>
              <a:gd name="T50" fmla="*/ 3886200 w 2448"/>
              <a:gd name="T51" fmla="*/ 1728787 h 1089"/>
              <a:gd name="T52" fmla="*/ 0 w 2448"/>
              <a:gd name="T53" fmla="*/ 1728787 h 1089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2448"/>
              <a:gd name="T82" fmla="*/ 0 h 1089"/>
              <a:gd name="T83" fmla="*/ 2448 w 2448"/>
              <a:gd name="T84" fmla="*/ 1089 h 1089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2448" h="1089">
                <a:moveTo>
                  <a:pt x="0" y="1089"/>
                </a:moveTo>
                <a:lnTo>
                  <a:pt x="0" y="897"/>
                </a:lnTo>
                <a:lnTo>
                  <a:pt x="96" y="849"/>
                </a:lnTo>
                <a:lnTo>
                  <a:pt x="240" y="753"/>
                </a:lnTo>
                <a:lnTo>
                  <a:pt x="396" y="618"/>
                </a:lnTo>
                <a:lnTo>
                  <a:pt x="558" y="450"/>
                </a:lnTo>
                <a:lnTo>
                  <a:pt x="681" y="324"/>
                </a:lnTo>
                <a:lnTo>
                  <a:pt x="762" y="246"/>
                </a:lnTo>
                <a:lnTo>
                  <a:pt x="837" y="162"/>
                </a:lnTo>
                <a:lnTo>
                  <a:pt x="912" y="129"/>
                </a:lnTo>
                <a:lnTo>
                  <a:pt x="936" y="90"/>
                </a:lnTo>
                <a:lnTo>
                  <a:pt x="1077" y="18"/>
                </a:lnTo>
                <a:lnTo>
                  <a:pt x="1197" y="0"/>
                </a:lnTo>
                <a:lnTo>
                  <a:pt x="1293" y="15"/>
                </a:lnTo>
                <a:lnTo>
                  <a:pt x="1344" y="33"/>
                </a:lnTo>
                <a:lnTo>
                  <a:pt x="1440" y="81"/>
                </a:lnTo>
                <a:lnTo>
                  <a:pt x="1578" y="192"/>
                </a:lnTo>
                <a:lnTo>
                  <a:pt x="1728" y="321"/>
                </a:lnTo>
                <a:lnTo>
                  <a:pt x="1824" y="417"/>
                </a:lnTo>
                <a:lnTo>
                  <a:pt x="1905" y="501"/>
                </a:lnTo>
                <a:lnTo>
                  <a:pt x="2016" y="609"/>
                </a:lnTo>
                <a:lnTo>
                  <a:pt x="2124" y="699"/>
                </a:lnTo>
                <a:lnTo>
                  <a:pt x="2235" y="786"/>
                </a:lnTo>
                <a:lnTo>
                  <a:pt x="2361" y="858"/>
                </a:lnTo>
                <a:lnTo>
                  <a:pt x="2448" y="897"/>
                </a:lnTo>
                <a:lnTo>
                  <a:pt x="2448" y="1089"/>
                </a:lnTo>
                <a:lnTo>
                  <a:pt x="0" y="1089"/>
                </a:lnTo>
                <a:close/>
              </a:path>
            </a:pathLst>
          </a:custGeom>
          <a:solidFill>
            <a:srgbClr val="FDE0BD"/>
          </a:solidFill>
          <a:ln w="1905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0" name="Rectangle 3"/>
          <p:cNvSpPr>
            <a:spLocks noGrp="1" noChangeArrowheads="1"/>
          </p:cNvSpPr>
          <p:nvPr>
            <p:ph type="title"/>
          </p:nvPr>
        </p:nvSpPr>
        <p:spPr>
          <a:xfrm>
            <a:off x="1143000" y="0"/>
            <a:ext cx="7383463" cy="990600"/>
          </a:xfrm>
        </p:spPr>
        <p:txBody>
          <a:bodyPr/>
          <a:lstStyle/>
          <a:p>
            <a:pPr eaLnBrk="1" hangingPunct="1"/>
            <a:r>
              <a:rPr lang="id-ID" dirty="0" smtClean="0"/>
              <a:t>Menentukan Titik Kritis</a:t>
            </a:r>
            <a:r>
              <a:rPr lang="en-US" dirty="0" smtClean="0"/>
              <a:t>, Z</a:t>
            </a:r>
            <a:r>
              <a:rPr lang="el-GR" baseline="-25000" dirty="0" smtClean="0">
                <a:cs typeface="Arial" charset="0"/>
              </a:rPr>
              <a:t>α</a:t>
            </a:r>
            <a:r>
              <a:rPr lang="en-US" baseline="-25000" dirty="0" smtClean="0">
                <a:cs typeface="Arial" charset="0"/>
              </a:rPr>
              <a:t>/2</a:t>
            </a:r>
            <a:endParaRPr lang="el-GR" baseline="-25000" dirty="0" smtClean="0">
              <a:cs typeface="Arial" charset="0"/>
            </a:endParaRPr>
          </a:p>
        </p:txBody>
      </p:sp>
      <p:sp>
        <p:nvSpPr>
          <p:cNvPr id="308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7391400" cy="755650"/>
          </a:xfrm>
        </p:spPr>
        <p:txBody>
          <a:bodyPr/>
          <a:lstStyle/>
          <a:p>
            <a:pPr eaLnBrk="1" hangingPunct="1"/>
            <a:r>
              <a:rPr lang="id-ID" sz="2700" dirty="0" smtClean="0"/>
              <a:t>Perhatikan interval  konfidensi</a:t>
            </a:r>
            <a:r>
              <a:rPr lang="en-US" sz="2700" dirty="0" smtClean="0"/>
              <a:t> 95% :</a:t>
            </a:r>
          </a:p>
        </p:txBody>
      </p:sp>
      <p:sp>
        <p:nvSpPr>
          <p:cNvPr id="3082" name="Freeform 5"/>
          <p:cNvSpPr>
            <a:spLocks/>
          </p:cNvSpPr>
          <p:nvPr/>
        </p:nvSpPr>
        <p:spPr bwMode="auto">
          <a:xfrm>
            <a:off x="4552950" y="3457575"/>
            <a:ext cx="3143250" cy="1647825"/>
          </a:xfrm>
          <a:custGeom>
            <a:avLst/>
            <a:gdLst>
              <a:gd name="T0" fmla="*/ 3139761 w 901"/>
              <a:gd name="T1" fmla="*/ 1645540 h 721"/>
              <a:gd name="T2" fmla="*/ 2808342 w 901"/>
              <a:gd name="T3" fmla="*/ 1627256 h 721"/>
              <a:gd name="T4" fmla="*/ 2644377 w 901"/>
              <a:gd name="T5" fmla="*/ 1608972 h 721"/>
              <a:gd name="T6" fmla="*/ 2480412 w 901"/>
              <a:gd name="T7" fmla="*/ 1579261 h 721"/>
              <a:gd name="T8" fmla="*/ 2312958 w 901"/>
              <a:gd name="T9" fmla="*/ 1542693 h 721"/>
              <a:gd name="T10" fmla="*/ 2145504 w 901"/>
              <a:gd name="T11" fmla="*/ 1492413 h 721"/>
              <a:gd name="T12" fmla="*/ 1981539 w 901"/>
              <a:gd name="T13" fmla="*/ 1423849 h 721"/>
              <a:gd name="T14" fmla="*/ 1650119 w 901"/>
              <a:gd name="T15" fmla="*/ 1234155 h 721"/>
              <a:gd name="T16" fmla="*/ 1318700 w 901"/>
              <a:gd name="T17" fmla="*/ 964469 h 721"/>
              <a:gd name="T18" fmla="*/ 990769 w 901"/>
              <a:gd name="T19" fmla="*/ 642218 h 721"/>
              <a:gd name="T20" fmla="*/ 823315 w 901"/>
              <a:gd name="T21" fmla="*/ 477664 h 721"/>
              <a:gd name="T22" fmla="*/ 659350 w 901"/>
              <a:gd name="T23" fmla="*/ 324537 h 721"/>
              <a:gd name="T24" fmla="*/ 495385 w 901"/>
              <a:gd name="T25" fmla="*/ 189694 h 721"/>
              <a:gd name="T26" fmla="*/ 327931 w 901"/>
              <a:gd name="T27" fmla="*/ 86848 h 721"/>
              <a:gd name="T28" fmla="*/ 163965 w 901"/>
              <a:gd name="T29" fmla="*/ 20569 h 721"/>
              <a:gd name="T30" fmla="*/ 0 w 901"/>
              <a:gd name="T31" fmla="*/ 0 h 72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901"/>
              <a:gd name="T49" fmla="*/ 0 h 721"/>
              <a:gd name="T50" fmla="*/ 901 w 901"/>
              <a:gd name="T51" fmla="*/ 721 h 72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901" h="721">
                <a:moveTo>
                  <a:pt x="900" y="720"/>
                </a:moveTo>
                <a:lnTo>
                  <a:pt x="805" y="712"/>
                </a:lnTo>
                <a:lnTo>
                  <a:pt x="758" y="704"/>
                </a:lnTo>
                <a:lnTo>
                  <a:pt x="711" y="691"/>
                </a:lnTo>
                <a:lnTo>
                  <a:pt x="663" y="675"/>
                </a:lnTo>
                <a:lnTo>
                  <a:pt x="615" y="653"/>
                </a:lnTo>
                <a:lnTo>
                  <a:pt x="568" y="623"/>
                </a:lnTo>
                <a:lnTo>
                  <a:pt x="473" y="540"/>
                </a:lnTo>
                <a:lnTo>
                  <a:pt x="378" y="422"/>
                </a:lnTo>
                <a:lnTo>
                  <a:pt x="284" y="281"/>
                </a:lnTo>
                <a:lnTo>
                  <a:pt x="236" y="209"/>
                </a:lnTo>
                <a:lnTo>
                  <a:pt x="189" y="142"/>
                </a:lnTo>
                <a:lnTo>
                  <a:pt x="142" y="83"/>
                </a:lnTo>
                <a:lnTo>
                  <a:pt x="94" y="38"/>
                </a:lnTo>
                <a:lnTo>
                  <a:pt x="47" y="9"/>
                </a:lnTo>
                <a:lnTo>
                  <a:pt x="0" y="0"/>
                </a:lnTo>
              </a:path>
            </a:pathLst>
          </a:custGeom>
          <a:noFill/>
          <a:ln w="508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3" name="Freeform 6"/>
          <p:cNvSpPr>
            <a:spLocks/>
          </p:cNvSpPr>
          <p:nvPr/>
        </p:nvSpPr>
        <p:spPr bwMode="auto">
          <a:xfrm>
            <a:off x="1600200" y="3457575"/>
            <a:ext cx="2954338" cy="1647825"/>
          </a:xfrm>
          <a:custGeom>
            <a:avLst/>
            <a:gdLst>
              <a:gd name="T0" fmla="*/ 0 w 901"/>
              <a:gd name="T1" fmla="*/ 1645540 h 721"/>
              <a:gd name="T2" fmla="*/ 311501 w 901"/>
              <a:gd name="T3" fmla="*/ 1627256 h 721"/>
              <a:gd name="T4" fmla="*/ 465612 w 901"/>
              <a:gd name="T5" fmla="*/ 1608972 h 721"/>
              <a:gd name="T6" fmla="*/ 619722 w 901"/>
              <a:gd name="T7" fmla="*/ 1579261 h 721"/>
              <a:gd name="T8" fmla="*/ 777112 w 901"/>
              <a:gd name="T9" fmla="*/ 1542693 h 721"/>
              <a:gd name="T10" fmla="*/ 931223 w 901"/>
              <a:gd name="T11" fmla="*/ 1492413 h 721"/>
              <a:gd name="T12" fmla="*/ 1085334 w 901"/>
              <a:gd name="T13" fmla="*/ 1423849 h 721"/>
              <a:gd name="T14" fmla="*/ 1396835 w 901"/>
              <a:gd name="T15" fmla="*/ 1234155 h 721"/>
              <a:gd name="T16" fmla="*/ 1708336 w 901"/>
              <a:gd name="T17" fmla="*/ 964469 h 721"/>
              <a:gd name="T18" fmla="*/ 2019836 w 901"/>
              <a:gd name="T19" fmla="*/ 642218 h 721"/>
              <a:gd name="T20" fmla="*/ 2173947 w 901"/>
              <a:gd name="T21" fmla="*/ 477664 h 721"/>
              <a:gd name="T22" fmla="*/ 2328058 w 901"/>
              <a:gd name="T23" fmla="*/ 324537 h 721"/>
              <a:gd name="T24" fmla="*/ 2482169 w 901"/>
              <a:gd name="T25" fmla="*/ 189694 h 721"/>
              <a:gd name="T26" fmla="*/ 2639558 w 901"/>
              <a:gd name="T27" fmla="*/ 86848 h 721"/>
              <a:gd name="T28" fmla="*/ 2793669 w 901"/>
              <a:gd name="T29" fmla="*/ 20569 h 721"/>
              <a:gd name="T30" fmla="*/ 2951059 w 901"/>
              <a:gd name="T31" fmla="*/ 0 h 72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901"/>
              <a:gd name="T49" fmla="*/ 0 h 721"/>
              <a:gd name="T50" fmla="*/ 901 w 901"/>
              <a:gd name="T51" fmla="*/ 721 h 72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901" h="721">
                <a:moveTo>
                  <a:pt x="0" y="720"/>
                </a:moveTo>
                <a:lnTo>
                  <a:pt x="95" y="712"/>
                </a:lnTo>
                <a:lnTo>
                  <a:pt x="142" y="704"/>
                </a:lnTo>
                <a:lnTo>
                  <a:pt x="189" y="691"/>
                </a:lnTo>
                <a:lnTo>
                  <a:pt x="237" y="675"/>
                </a:lnTo>
                <a:lnTo>
                  <a:pt x="284" y="653"/>
                </a:lnTo>
                <a:lnTo>
                  <a:pt x="331" y="623"/>
                </a:lnTo>
                <a:lnTo>
                  <a:pt x="426" y="540"/>
                </a:lnTo>
                <a:lnTo>
                  <a:pt x="521" y="422"/>
                </a:lnTo>
                <a:lnTo>
                  <a:pt x="616" y="281"/>
                </a:lnTo>
                <a:lnTo>
                  <a:pt x="663" y="209"/>
                </a:lnTo>
                <a:lnTo>
                  <a:pt x="710" y="142"/>
                </a:lnTo>
                <a:lnTo>
                  <a:pt x="757" y="83"/>
                </a:lnTo>
                <a:lnTo>
                  <a:pt x="805" y="38"/>
                </a:lnTo>
                <a:lnTo>
                  <a:pt x="852" y="9"/>
                </a:lnTo>
                <a:lnTo>
                  <a:pt x="900" y="0"/>
                </a:lnTo>
              </a:path>
            </a:pathLst>
          </a:custGeom>
          <a:noFill/>
          <a:ln w="508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4" name="Line 7"/>
          <p:cNvSpPr>
            <a:spLocks noChangeShapeType="1"/>
          </p:cNvSpPr>
          <p:nvPr/>
        </p:nvSpPr>
        <p:spPr bwMode="auto">
          <a:xfrm>
            <a:off x="3052763" y="3752850"/>
            <a:ext cx="1587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5" name="Line 8"/>
          <p:cNvSpPr>
            <a:spLocks noChangeShapeType="1"/>
          </p:cNvSpPr>
          <p:nvPr/>
        </p:nvSpPr>
        <p:spPr bwMode="auto">
          <a:xfrm>
            <a:off x="3052763" y="3873500"/>
            <a:ext cx="1587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6" name="Line 9"/>
          <p:cNvSpPr>
            <a:spLocks noChangeShapeType="1"/>
          </p:cNvSpPr>
          <p:nvPr/>
        </p:nvSpPr>
        <p:spPr bwMode="auto">
          <a:xfrm>
            <a:off x="3052763" y="3995738"/>
            <a:ext cx="1587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7" name="Line 10"/>
          <p:cNvSpPr>
            <a:spLocks noChangeShapeType="1"/>
          </p:cNvSpPr>
          <p:nvPr/>
        </p:nvSpPr>
        <p:spPr bwMode="auto">
          <a:xfrm>
            <a:off x="3052763" y="4116388"/>
            <a:ext cx="1587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8" name="Line 11"/>
          <p:cNvSpPr>
            <a:spLocks noChangeShapeType="1"/>
          </p:cNvSpPr>
          <p:nvPr/>
        </p:nvSpPr>
        <p:spPr bwMode="auto">
          <a:xfrm>
            <a:off x="3052763" y="4238625"/>
            <a:ext cx="1587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9" name="Line 12"/>
          <p:cNvSpPr>
            <a:spLocks noChangeShapeType="1"/>
          </p:cNvSpPr>
          <p:nvPr/>
        </p:nvSpPr>
        <p:spPr bwMode="auto">
          <a:xfrm>
            <a:off x="3052763" y="4359275"/>
            <a:ext cx="1587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0" name="Line 13"/>
          <p:cNvSpPr>
            <a:spLocks noChangeShapeType="1"/>
          </p:cNvSpPr>
          <p:nvPr/>
        </p:nvSpPr>
        <p:spPr bwMode="auto">
          <a:xfrm>
            <a:off x="3052763" y="4479925"/>
            <a:ext cx="1587" cy="0"/>
          </a:xfrm>
          <a:prstGeom prst="line">
            <a:avLst/>
          </a:prstGeom>
          <a:noFill/>
          <a:ln w="12700">
            <a:solidFill>
              <a:srgbClr val="CDCDCD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1" name="Rectangle 14"/>
          <p:cNvSpPr>
            <a:spLocks noChangeArrowheads="1"/>
          </p:cNvSpPr>
          <p:nvPr/>
        </p:nvSpPr>
        <p:spPr bwMode="auto">
          <a:xfrm>
            <a:off x="2940050" y="3903663"/>
            <a:ext cx="92075" cy="184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2" name="Line 15"/>
          <p:cNvSpPr>
            <a:spLocks noChangeShapeType="1"/>
          </p:cNvSpPr>
          <p:nvPr/>
        </p:nvSpPr>
        <p:spPr bwMode="auto">
          <a:xfrm>
            <a:off x="1066800" y="5181600"/>
            <a:ext cx="739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3" name="Freeform 16"/>
          <p:cNvSpPr>
            <a:spLocks/>
          </p:cNvSpPr>
          <p:nvPr/>
        </p:nvSpPr>
        <p:spPr bwMode="auto">
          <a:xfrm>
            <a:off x="4567238" y="3457575"/>
            <a:ext cx="6350" cy="1724025"/>
          </a:xfrm>
          <a:custGeom>
            <a:avLst/>
            <a:gdLst>
              <a:gd name="T0" fmla="*/ 0 w 4"/>
              <a:gd name="T1" fmla="*/ 0 h 1086"/>
              <a:gd name="T2" fmla="*/ 6350 w 4"/>
              <a:gd name="T3" fmla="*/ 1724025 h 1086"/>
              <a:gd name="T4" fmla="*/ 0 60000 65536"/>
              <a:gd name="T5" fmla="*/ 0 60000 65536"/>
              <a:gd name="T6" fmla="*/ 0 w 4"/>
              <a:gd name="T7" fmla="*/ 0 h 1086"/>
              <a:gd name="T8" fmla="*/ 4 w 4"/>
              <a:gd name="T9" fmla="*/ 1086 h 10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" h="1086">
                <a:moveTo>
                  <a:pt x="0" y="0"/>
                </a:moveTo>
                <a:lnTo>
                  <a:pt x="4" y="1086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4" name="Line 17"/>
          <p:cNvSpPr>
            <a:spLocks noChangeShapeType="1"/>
          </p:cNvSpPr>
          <p:nvPr/>
        </p:nvSpPr>
        <p:spPr bwMode="auto">
          <a:xfrm flipV="1">
            <a:off x="2667000" y="2667000"/>
            <a:ext cx="0" cy="251460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5" name="Line 18"/>
          <p:cNvSpPr>
            <a:spLocks noChangeShapeType="1"/>
          </p:cNvSpPr>
          <p:nvPr/>
        </p:nvSpPr>
        <p:spPr bwMode="auto">
          <a:xfrm flipV="1">
            <a:off x="6553200" y="2667000"/>
            <a:ext cx="0" cy="251460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6" name="Line 19"/>
          <p:cNvSpPr>
            <a:spLocks noChangeShapeType="1"/>
          </p:cNvSpPr>
          <p:nvPr/>
        </p:nvSpPr>
        <p:spPr bwMode="auto">
          <a:xfrm flipH="1">
            <a:off x="2667000" y="2819400"/>
            <a:ext cx="1524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lg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7" name="Line 20"/>
          <p:cNvSpPr>
            <a:spLocks noChangeShapeType="1"/>
          </p:cNvSpPr>
          <p:nvPr/>
        </p:nvSpPr>
        <p:spPr bwMode="auto">
          <a:xfrm>
            <a:off x="4114800" y="2819400"/>
            <a:ext cx="24384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lg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8" name="Text Box 21"/>
          <p:cNvSpPr txBox="1">
            <a:spLocks noChangeArrowheads="1"/>
          </p:cNvSpPr>
          <p:nvPr/>
        </p:nvSpPr>
        <p:spPr bwMode="auto">
          <a:xfrm>
            <a:off x="1371600" y="5181600"/>
            <a:ext cx="27432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Z</a:t>
            </a:r>
            <a:r>
              <a:rPr lang="el-GR" b="1" baseline="-25000">
                <a:cs typeface="Arial" charset="0"/>
              </a:rPr>
              <a:t>α</a:t>
            </a:r>
            <a:r>
              <a:rPr lang="en-US" b="1" baseline="-25000">
                <a:cs typeface="Arial" charset="0"/>
              </a:rPr>
              <a:t>/2</a:t>
            </a:r>
            <a:r>
              <a:rPr lang="en-US" b="1">
                <a:cs typeface="Arial" charset="0"/>
              </a:rPr>
              <a:t> </a:t>
            </a:r>
            <a:r>
              <a:rPr lang="en-US" b="1"/>
              <a:t>= -1.96</a:t>
            </a:r>
          </a:p>
        </p:txBody>
      </p:sp>
      <p:sp>
        <p:nvSpPr>
          <p:cNvPr id="3099" name="Text Box 22"/>
          <p:cNvSpPr txBox="1">
            <a:spLocks noChangeArrowheads="1"/>
          </p:cNvSpPr>
          <p:nvPr/>
        </p:nvSpPr>
        <p:spPr bwMode="auto">
          <a:xfrm>
            <a:off x="5257800" y="5181600"/>
            <a:ext cx="27432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Z</a:t>
            </a:r>
            <a:r>
              <a:rPr lang="el-GR" b="1" baseline="-25000">
                <a:cs typeface="Arial" charset="0"/>
              </a:rPr>
              <a:t>α</a:t>
            </a:r>
            <a:r>
              <a:rPr lang="en-US" b="1" baseline="-25000">
                <a:cs typeface="Arial" charset="0"/>
              </a:rPr>
              <a:t>/2</a:t>
            </a:r>
            <a:r>
              <a:rPr lang="en-US" b="1">
                <a:cs typeface="Arial" charset="0"/>
              </a:rPr>
              <a:t> </a:t>
            </a:r>
            <a:r>
              <a:rPr lang="en-US" b="1"/>
              <a:t>= 1.96</a:t>
            </a:r>
          </a:p>
        </p:txBody>
      </p:sp>
      <p:graphicFrame>
        <p:nvGraphicFramePr>
          <p:cNvPr id="3074" name="Object 23"/>
          <p:cNvGraphicFramePr>
            <a:graphicFrameLocks noChangeAspect="1"/>
          </p:cNvGraphicFramePr>
          <p:nvPr/>
        </p:nvGraphicFramePr>
        <p:xfrm>
          <a:off x="2444750" y="2335213"/>
          <a:ext cx="41910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2" name="Equation" r:id="rId4" imgW="1981080" imgH="203040" progId="Equation.DSMT4">
                  <p:embed/>
                </p:oleObj>
              </mc:Choice>
              <mc:Fallback>
                <p:oleObj name="Equation" r:id="rId4" imgW="1981080" imgH="20304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0" y="2335213"/>
                        <a:ext cx="4191000" cy="430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24"/>
          <p:cNvGraphicFramePr>
            <a:graphicFrameLocks noChangeAspect="1"/>
          </p:cNvGraphicFramePr>
          <p:nvPr/>
        </p:nvGraphicFramePr>
        <p:xfrm>
          <a:off x="847725" y="4038600"/>
          <a:ext cx="1211263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3" name="Equation" r:id="rId6" imgW="685800" imgH="393480" progId="Equation.3">
                  <p:embed/>
                </p:oleObj>
              </mc:Choice>
              <mc:Fallback>
                <p:oleObj name="Equation" r:id="rId6" imgW="685800" imgH="3934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725" y="4038600"/>
                        <a:ext cx="1211263" cy="696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25"/>
          <p:cNvGraphicFramePr>
            <a:graphicFrameLocks noChangeAspect="1"/>
          </p:cNvGraphicFramePr>
          <p:nvPr/>
        </p:nvGraphicFramePr>
        <p:xfrm>
          <a:off x="7170738" y="4038600"/>
          <a:ext cx="1211262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4" name="Equation" r:id="rId8" imgW="685800" imgH="393480" progId="Equation.3">
                  <p:embed/>
                </p:oleObj>
              </mc:Choice>
              <mc:Fallback>
                <p:oleObj name="Equation" r:id="rId8" imgW="685800" imgH="39348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0738" y="4038600"/>
                        <a:ext cx="1211262" cy="696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0" name="Line 26"/>
          <p:cNvSpPr>
            <a:spLocks noChangeShapeType="1"/>
          </p:cNvSpPr>
          <p:nvPr/>
        </p:nvSpPr>
        <p:spPr bwMode="auto">
          <a:xfrm>
            <a:off x="1676400" y="4572000"/>
            <a:ext cx="6096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101" name="Line 27"/>
          <p:cNvSpPr>
            <a:spLocks noChangeShapeType="1"/>
          </p:cNvSpPr>
          <p:nvPr/>
        </p:nvSpPr>
        <p:spPr bwMode="auto">
          <a:xfrm flipH="1">
            <a:off x="6781800" y="4495800"/>
            <a:ext cx="3810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102" name="Text Box 28"/>
          <p:cNvSpPr txBox="1">
            <a:spLocks noChangeArrowheads="1"/>
          </p:cNvSpPr>
          <p:nvPr/>
        </p:nvSpPr>
        <p:spPr bwMode="auto">
          <a:xfrm>
            <a:off x="3733800" y="5791200"/>
            <a:ext cx="182880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id-ID" sz="1600" b="1" dirty="0" smtClean="0">
                <a:solidFill>
                  <a:schemeClr val="folHlink"/>
                </a:solidFill>
              </a:rPr>
              <a:t>Estimasi titik</a:t>
            </a:r>
            <a:endParaRPr lang="en-US" sz="1600" b="1" dirty="0">
              <a:solidFill>
                <a:schemeClr val="folHlink"/>
              </a:solidFill>
            </a:endParaRPr>
          </a:p>
        </p:txBody>
      </p:sp>
      <p:sp>
        <p:nvSpPr>
          <p:cNvPr id="3103" name="Text Box 29"/>
          <p:cNvSpPr txBox="1">
            <a:spLocks noChangeArrowheads="1"/>
          </p:cNvSpPr>
          <p:nvPr/>
        </p:nvSpPr>
        <p:spPr bwMode="auto">
          <a:xfrm>
            <a:off x="2286000" y="5638800"/>
            <a:ext cx="1752600" cy="4406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70000"/>
              </a:lnSpc>
              <a:spcBef>
                <a:spcPct val="20000"/>
              </a:spcBef>
            </a:pPr>
            <a:r>
              <a:rPr lang="id-ID" sz="1600" b="1" dirty="0" smtClean="0">
                <a:solidFill>
                  <a:schemeClr val="folHlink"/>
                </a:solidFill>
              </a:rPr>
              <a:t>Batas bawah konfidensi</a:t>
            </a:r>
            <a:endParaRPr lang="en-US" sz="1600" b="1" dirty="0">
              <a:solidFill>
                <a:schemeClr val="folHlink"/>
              </a:solidFill>
            </a:endParaRPr>
          </a:p>
        </p:txBody>
      </p:sp>
      <p:sp>
        <p:nvSpPr>
          <p:cNvPr id="3104" name="Text Box 30"/>
          <p:cNvSpPr txBox="1">
            <a:spLocks noChangeArrowheads="1"/>
          </p:cNvSpPr>
          <p:nvPr/>
        </p:nvSpPr>
        <p:spPr bwMode="auto">
          <a:xfrm>
            <a:off x="6172200" y="5638800"/>
            <a:ext cx="1676400" cy="4406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70000"/>
              </a:lnSpc>
              <a:spcBef>
                <a:spcPct val="20000"/>
              </a:spcBef>
            </a:pPr>
            <a:r>
              <a:rPr lang="id-ID" sz="1600" b="1" dirty="0" smtClean="0">
                <a:solidFill>
                  <a:schemeClr val="folHlink"/>
                </a:solidFill>
              </a:rPr>
              <a:t>Batas atas konfidensi</a:t>
            </a:r>
            <a:endParaRPr lang="en-US" sz="1600" b="1" dirty="0">
              <a:solidFill>
                <a:schemeClr val="folHlink"/>
              </a:solidFill>
            </a:endParaRPr>
          </a:p>
        </p:txBody>
      </p:sp>
      <p:sp>
        <p:nvSpPr>
          <p:cNvPr id="3105" name="Text Box 31"/>
          <p:cNvSpPr txBox="1">
            <a:spLocks noChangeArrowheads="1"/>
          </p:cNvSpPr>
          <p:nvPr/>
        </p:nvSpPr>
        <p:spPr bwMode="auto">
          <a:xfrm>
            <a:off x="228600" y="5257800"/>
            <a:ext cx="1828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/>
              <a:t>Z units:</a:t>
            </a:r>
          </a:p>
        </p:txBody>
      </p:sp>
      <p:sp>
        <p:nvSpPr>
          <p:cNvPr id="3106" name="Text Box 32"/>
          <p:cNvSpPr txBox="1">
            <a:spLocks noChangeArrowheads="1"/>
          </p:cNvSpPr>
          <p:nvPr/>
        </p:nvSpPr>
        <p:spPr bwMode="auto">
          <a:xfrm>
            <a:off x="228600" y="5715000"/>
            <a:ext cx="1828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>
                <a:solidFill>
                  <a:schemeClr val="folHlink"/>
                </a:solidFill>
              </a:rPr>
              <a:t>X units:</a:t>
            </a:r>
          </a:p>
        </p:txBody>
      </p:sp>
      <p:sp>
        <p:nvSpPr>
          <p:cNvPr id="3108" name="Text Box 34"/>
          <p:cNvSpPr txBox="1">
            <a:spLocks noChangeArrowheads="1"/>
          </p:cNvSpPr>
          <p:nvPr/>
        </p:nvSpPr>
        <p:spPr bwMode="auto">
          <a:xfrm>
            <a:off x="4419600" y="5257800"/>
            <a:ext cx="304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/>
              <a:t>0</a:t>
            </a:r>
          </a:p>
        </p:txBody>
      </p:sp>
      <p:sp>
        <p:nvSpPr>
          <p:cNvPr id="3109" name="Rectangle 35"/>
          <p:cNvSpPr>
            <a:spLocks noChangeArrowheads="1"/>
          </p:cNvSpPr>
          <p:nvPr/>
        </p:nvSpPr>
        <p:spPr bwMode="auto">
          <a:xfrm>
            <a:off x="1905000" y="5257800"/>
            <a:ext cx="1600200" cy="381000"/>
          </a:xfrm>
          <a:prstGeom prst="rect">
            <a:avLst/>
          </a:prstGeom>
          <a:noFill/>
          <a:ln w="19050" algn="ctr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077" name="Object 36"/>
          <p:cNvGraphicFramePr>
            <a:graphicFrameLocks noChangeAspect="1"/>
          </p:cNvGraphicFramePr>
          <p:nvPr/>
        </p:nvGraphicFramePr>
        <p:xfrm>
          <a:off x="6838950" y="1614488"/>
          <a:ext cx="220503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5" name="Equation" r:id="rId10" imgW="863280" imgH="215640" progId="Equation.3">
                  <p:embed/>
                </p:oleObj>
              </mc:Choice>
              <mc:Fallback>
                <p:oleObj name="Equation" r:id="rId10" imgW="863280" imgH="21564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8950" y="1614488"/>
                        <a:ext cx="2205038" cy="50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0" name="Rectangle 37"/>
          <p:cNvSpPr>
            <a:spLocks noChangeArrowheads="1"/>
          </p:cNvSpPr>
          <p:nvPr/>
        </p:nvSpPr>
        <p:spPr bwMode="auto">
          <a:xfrm>
            <a:off x="6934200" y="1600200"/>
            <a:ext cx="2057400" cy="533400"/>
          </a:xfrm>
          <a:prstGeom prst="rect">
            <a:avLst/>
          </a:prstGeom>
          <a:noFill/>
          <a:ln w="19050" algn="ctr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11" name="Rectangle 38"/>
          <p:cNvSpPr>
            <a:spLocks noChangeArrowheads="1"/>
          </p:cNvSpPr>
          <p:nvPr/>
        </p:nvSpPr>
        <p:spPr bwMode="auto">
          <a:xfrm>
            <a:off x="5867400" y="5257800"/>
            <a:ext cx="1524000" cy="381000"/>
          </a:xfrm>
          <a:prstGeom prst="rect">
            <a:avLst/>
          </a:prstGeom>
          <a:noFill/>
          <a:ln w="19050" algn="ctr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633C041D-E3E3-405D-958F-94639F9FA54B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409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8-</a:t>
            </a:r>
            <a:fld id="{51146FFD-5B0C-4952-9C8A-98DDEC560E6A}" type="slidenum">
              <a:rPr lang="en-US" sz="1000"/>
              <a:pPr algn="r" defTabSz="852488"/>
              <a:t>11</a:t>
            </a:fld>
            <a:endParaRPr lang="en-US" sz="1000"/>
          </a:p>
        </p:txBody>
      </p:sp>
      <p:sp>
        <p:nvSpPr>
          <p:cNvPr id="4100" name="Rectangle 2"/>
          <p:cNvSpPr>
            <a:spLocks noChangeArrowheads="1"/>
          </p:cNvSpPr>
          <p:nvPr/>
        </p:nvSpPr>
        <p:spPr bwMode="auto">
          <a:xfrm>
            <a:off x="1676400" y="2743200"/>
            <a:ext cx="5715000" cy="3581400"/>
          </a:xfrm>
          <a:prstGeom prst="rect">
            <a:avLst/>
          </a:prstGeom>
          <a:solidFill>
            <a:srgbClr val="FDE0BD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title"/>
          </p:nvPr>
        </p:nvSpPr>
        <p:spPr>
          <a:xfrm>
            <a:off x="1447800" y="381000"/>
            <a:ext cx="7239000" cy="838200"/>
          </a:xfrm>
        </p:spPr>
        <p:txBody>
          <a:bodyPr/>
          <a:lstStyle/>
          <a:p>
            <a:pPr defTabSz="914400" eaLnBrk="1" hangingPunct="1"/>
            <a:r>
              <a:rPr lang="id-ID" dirty="0" smtClean="0"/>
              <a:t>Tingkat Konfidensi yg sering dipakai</a:t>
            </a:r>
            <a:endParaRPr lang="en-US" dirty="0" smtClean="0"/>
          </a:p>
        </p:txBody>
      </p:sp>
      <p:sp>
        <p:nvSpPr>
          <p:cNvPr id="410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1258888"/>
          </a:xfrm>
        </p:spPr>
        <p:txBody>
          <a:bodyPr/>
          <a:lstStyle/>
          <a:p>
            <a:pPr marL="342900" indent="-342900" defTabSz="914400" eaLnBrk="1" hangingPunct="1"/>
            <a:r>
              <a:rPr lang="en-US" dirty="0" smtClean="0"/>
              <a:t>90%, 95%, and 99%</a:t>
            </a:r>
          </a:p>
        </p:txBody>
      </p:sp>
      <p:sp>
        <p:nvSpPr>
          <p:cNvPr id="4103" name="Text Box 5"/>
          <p:cNvSpPr txBox="1">
            <a:spLocks noChangeArrowheads="1"/>
          </p:cNvSpPr>
          <p:nvPr/>
        </p:nvSpPr>
        <p:spPr bwMode="auto">
          <a:xfrm>
            <a:off x="1752600" y="2895600"/>
            <a:ext cx="1828800" cy="707886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d-ID" sz="2000" b="1" i="1" dirty="0" smtClean="0"/>
              <a:t>Tingkat konfidensi</a:t>
            </a:r>
            <a:endParaRPr lang="en-US" sz="2000" b="1" i="1" dirty="0"/>
          </a:p>
        </p:txBody>
      </p:sp>
      <p:sp>
        <p:nvSpPr>
          <p:cNvPr id="4104" name="Text Box 6"/>
          <p:cNvSpPr txBox="1">
            <a:spLocks noChangeArrowheads="1"/>
          </p:cNvSpPr>
          <p:nvPr/>
        </p:nvSpPr>
        <p:spPr bwMode="auto">
          <a:xfrm>
            <a:off x="3657600" y="2743200"/>
            <a:ext cx="1828800" cy="1169551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d-ID" sz="2000" b="1" i="1" dirty="0" smtClean="0"/>
              <a:t>Koefisien konfidensi</a:t>
            </a:r>
            <a:r>
              <a:rPr lang="en-US" sz="2000" b="1" i="1" dirty="0" smtClean="0"/>
              <a:t>,</a:t>
            </a:r>
            <a:endParaRPr lang="en-US" sz="2000" b="1" i="1" dirty="0"/>
          </a:p>
          <a:p>
            <a:pPr algn="ctr">
              <a:spcBef>
                <a:spcPct val="50000"/>
              </a:spcBef>
            </a:pPr>
            <a:r>
              <a:rPr lang="en-US" sz="2000" b="1" dirty="0"/>
              <a:t> </a:t>
            </a:r>
          </a:p>
        </p:txBody>
      </p:sp>
      <p:sp>
        <p:nvSpPr>
          <p:cNvPr id="4105" name="Text Box 7"/>
          <p:cNvSpPr txBox="1">
            <a:spLocks noChangeArrowheads="1"/>
          </p:cNvSpPr>
          <p:nvPr/>
        </p:nvSpPr>
        <p:spPr bwMode="auto">
          <a:xfrm>
            <a:off x="5715000" y="3048000"/>
            <a:ext cx="15240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i="1" dirty="0"/>
              <a:t>Z</a:t>
            </a:r>
            <a:r>
              <a:rPr lang="el-GR" sz="2000" b="1" i="1" baseline="-25000" dirty="0">
                <a:cs typeface="Arial" charset="0"/>
              </a:rPr>
              <a:t>α</a:t>
            </a:r>
            <a:r>
              <a:rPr lang="en-US" sz="2000" b="1" i="1" baseline="-25000" dirty="0" smtClean="0">
                <a:cs typeface="Arial" charset="0"/>
              </a:rPr>
              <a:t>/2</a:t>
            </a:r>
            <a:endParaRPr lang="en-US" sz="2000" b="1" dirty="0"/>
          </a:p>
        </p:txBody>
      </p:sp>
      <p:sp>
        <p:nvSpPr>
          <p:cNvPr id="4106" name="Text Box 8"/>
          <p:cNvSpPr txBox="1">
            <a:spLocks noChangeArrowheads="1"/>
          </p:cNvSpPr>
          <p:nvPr/>
        </p:nvSpPr>
        <p:spPr bwMode="auto">
          <a:xfrm>
            <a:off x="6019800" y="3733800"/>
            <a:ext cx="990600" cy="25876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b="1"/>
              <a:t>1.28</a:t>
            </a:r>
          </a:p>
          <a:p>
            <a:pPr>
              <a:spcBef>
                <a:spcPct val="20000"/>
              </a:spcBef>
            </a:pPr>
            <a:r>
              <a:rPr lang="en-US" sz="2000" b="1">
                <a:solidFill>
                  <a:schemeClr val="folHlink"/>
                </a:solidFill>
              </a:rPr>
              <a:t>1.645</a:t>
            </a:r>
          </a:p>
          <a:p>
            <a:pPr>
              <a:spcBef>
                <a:spcPct val="20000"/>
              </a:spcBef>
            </a:pPr>
            <a:r>
              <a:rPr lang="en-US" sz="2000" b="1">
                <a:solidFill>
                  <a:schemeClr val="folHlink"/>
                </a:solidFill>
              </a:rPr>
              <a:t>1.96</a:t>
            </a:r>
          </a:p>
          <a:p>
            <a:pPr>
              <a:spcBef>
                <a:spcPct val="20000"/>
              </a:spcBef>
            </a:pPr>
            <a:r>
              <a:rPr lang="en-US" sz="2000" b="1"/>
              <a:t>2.33</a:t>
            </a:r>
          </a:p>
          <a:p>
            <a:pPr>
              <a:spcBef>
                <a:spcPct val="20000"/>
              </a:spcBef>
            </a:pPr>
            <a:r>
              <a:rPr lang="en-US" sz="2000" b="1">
                <a:solidFill>
                  <a:schemeClr val="folHlink"/>
                </a:solidFill>
              </a:rPr>
              <a:t>2.58</a:t>
            </a:r>
          </a:p>
          <a:p>
            <a:pPr>
              <a:spcBef>
                <a:spcPct val="20000"/>
              </a:spcBef>
            </a:pPr>
            <a:r>
              <a:rPr lang="en-US" sz="2000" b="1"/>
              <a:t>3.08</a:t>
            </a:r>
          </a:p>
          <a:p>
            <a:pPr>
              <a:spcBef>
                <a:spcPct val="20000"/>
              </a:spcBef>
            </a:pPr>
            <a:r>
              <a:rPr lang="en-US" sz="2000" b="1"/>
              <a:t>3.27</a:t>
            </a:r>
          </a:p>
        </p:txBody>
      </p:sp>
      <p:sp>
        <p:nvSpPr>
          <p:cNvPr id="4107" name="Text Box 9"/>
          <p:cNvSpPr txBox="1">
            <a:spLocks noChangeArrowheads="1"/>
          </p:cNvSpPr>
          <p:nvPr/>
        </p:nvSpPr>
        <p:spPr bwMode="auto">
          <a:xfrm>
            <a:off x="4191000" y="3733800"/>
            <a:ext cx="990600" cy="25876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b="1"/>
              <a:t>0.80</a:t>
            </a:r>
          </a:p>
          <a:p>
            <a:pPr>
              <a:spcBef>
                <a:spcPct val="20000"/>
              </a:spcBef>
            </a:pPr>
            <a:r>
              <a:rPr lang="en-US" sz="2000" b="1">
                <a:solidFill>
                  <a:schemeClr val="folHlink"/>
                </a:solidFill>
              </a:rPr>
              <a:t>0.90</a:t>
            </a:r>
          </a:p>
          <a:p>
            <a:pPr>
              <a:spcBef>
                <a:spcPct val="20000"/>
              </a:spcBef>
            </a:pPr>
            <a:r>
              <a:rPr lang="en-US" sz="2000" b="1">
                <a:solidFill>
                  <a:schemeClr val="folHlink"/>
                </a:solidFill>
              </a:rPr>
              <a:t>0.95</a:t>
            </a:r>
          </a:p>
          <a:p>
            <a:pPr>
              <a:spcBef>
                <a:spcPct val="20000"/>
              </a:spcBef>
            </a:pPr>
            <a:r>
              <a:rPr lang="en-US" sz="2000" b="1"/>
              <a:t>0.98</a:t>
            </a:r>
          </a:p>
          <a:p>
            <a:pPr>
              <a:spcBef>
                <a:spcPct val="20000"/>
              </a:spcBef>
            </a:pPr>
            <a:r>
              <a:rPr lang="en-US" sz="2000" b="1">
                <a:solidFill>
                  <a:schemeClr val="folHlink"/>
                </a:solidFill>
              </a:rPr>
              <a:t>0.99</a:t>
            </a:r>
          </a:p>
          <a:p>
            <a:pPr>
              <a:spcBef>
                <a:spcPct val="20000"/>
              </a:spcBef>
            </a:pPr>
            <a:r>
              <a:rPr lang="en-US" sz="2000" b="1"/>
              <a:t>0.998</a:t>
            </a:r>
          </a:p>
          <a:p>
            <a:pPr>
              <a:spcBef>
                <a:spcPct val="20000"/>
              </a:spcBef>
            </a:pPr>
            <a:r>
              <a:rPr lang="en-US" sz="2000" b="1"/>
              <a:t>0.999</a:t>
            </a:r>
          </a:p>
        </p:txBody>
      </p:sp>
      <p:sp>
        <p:nvSpPr>
          <p:cNvPr id="4108" name="Text Box 10"/>
          <p:cNvSpPr txBox="1">
            <a:spLocks noChangeArrowheads="1"/>
          </p:cNvSpPr>
          <p:nvPr/>
        </p:nvSpPr>
        <p:spPr bwMode="auto">
          <a:xfrm>
            <a:off x="2286000" y="3733800"/>
            <a:ext cx="990600" cy="25876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b="1"/>
              <a:t>80%</a:t>
            </a:r>
          </a:p>
          <a:p>
            <a:pPr>
              <a:spcBef>
                <a:spcPct val="20000"/>
              </a:spcBef>
            </a:pPr>
            <a:r>
              <a:rPr lang="en-US" sz="2000" b="1">
                <a:solidFill>
                  <a:schemeClr val="folHlink"/>
                </a:solidFill>
              </a:rPr>
              <a:t>90%</a:t>
            </a:r>
          </a:p>
          <a:p>
            <a:pPr>
              <a:spcBef>
                <a:spcPct val="20000"/>
              </a:spcBef>
            </a:pPr>
            <a:r>
              <a:rPr lang="en-US" sz="2000" b="1">
                <a:solidFill>
                  <a:schemeClr val="folHlink"/>
                </a:solidFill>
              </a:rPr>
              <a:t>95%</a:t>
            </a:r>
          </a:p>
          <a:p>
            <a:pPr>
              <a:spcBef>
                <a:spcPct val="20000"/>
              </a:spcBef>
            </a:pPr>
            <a:r>
              <a:rPr lang="en-US" sz="2000" b="1"/>
              <a:t>98%</a:t>
            </a:r>
          </a:p>
          <a:p>
            <a:pPr>
              <a:spcBef>
                <a:spcPct val="20000"/>
              </a:spcBef>
            </a:pPr>
            <a:r>
              <a:rPr lang="en-US" sz="2000" b="1">
                <a:solidFill>
                  <a:schemeClr val="folHlink"/>
                </a:solidFill>
              </a:rPr>
              <a:t>99%</a:t>
            </a:r>
          </a:p>
          <a:p>
            <a:pPr>
              <a:spcBef>
                <a:spcPct val="20000"/>
              </a:spcBef>
            </a:pPr>
            <a:r>
              <a:rPr lang="en-US" sz="2000" b="1"/>
              <a:t>99.8%</a:t>
            </a:r>
          </a:p>
          <a:p>
            <a:pPr>
              <a:spcBef>
                <a:spcPct val="20000"/>
              </a:spcBef>
            </a:pPr>
            <a:r>
              <a:rPr lang="en-US" sz="2000" b="1"/>
              <a:t>99.9%</a:t>
            </a:r>
          </a:p>
        </p:txBody>
      </p:sp>
      <p:sp>
        <p:nvSpPr>
          <p:cNvPr id="4109" name="Line 11"/>
          <p:cNvSpPr>
            <a:spLocks noChangeShapeType="1"/>
          </p:cNvSpPr>
          <p:nvPr/>
        </p:nvSpPr>
        <p:spPr bwMode="auto">
          <a:xfrm>
            <a:off x="1676400" y="3733800"/>
            <a:ext cx="5715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2"/>
          <p:cNvSpPr>
            <a:spLocks noChangeShapeType="1"/>
          </p:cNvSpPr>
          <p:nvPr/>
        </p:nvSpPr>
        <p:spPr bwMode="auto">
          <a:xfrm>
            <a:off x="3581400" y="2743200"/>
            <a:ext cx="0" cy="3581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3"/>
          <p:cNvSpPr>
            <a:spLocks noChangeShapeType="1"/>
          </p:cNvSpPr>
          <p:nvPr/>
        </p:nvSpPr>
        <p:spPr bwMode="auto">
          <a:xfrm>
            <a:off x="5562600" y="2743200"/>
            <a:ext cx="0" cy="3581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8" name="Object 14"/>
          <p:cNvGraphicFramePr>
            <a:graphicFrameLocks noChangeAspect="1"/>
          </p:cNvGraphicFramePr>
          <p:nvPr/>
        </p:nvGraphicFramePr>
        <p:xfrm>
          <a:off x="4178300" y="3352800"/>
          <a:ext cx="7239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20" name="Equation" r:id="rId4" imgW="342720" imgH="177480" progId="Equation.3">
                  <p:embed/>
                </p:oleObj>
              </mc:Choice>
              <mc:Fallback>
                <p:oleObj name="Equation" r:id="rId4" imgW="342720" imgH="1774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3352800"/>
                        <a:ext cx="723900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2362F281-8856-4268-A474-B5DAB98D04CF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5129" name="Line 24"/>
          <p:cNvSpPr>
            <a:spLocks noChangeShapeType="1"/>
          </p:cNvSpPr>
          <p:nvPr/>
        </p:nvSpPr>
        <p:spPr bwMode="auto">
          <a:xfrm flipV="1">
            <a:off x="4572000" y="3200400"/>
            <a:ext cx="0" cy="2286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5130" name="Line 2"/>
          <p:cNvSpPr>
            <a:spLocks noChangeShapeType="1"/>
          </p:cNvSpPr>
          <p:nvPr/>
        </p:nvSpPr>
        <p:spPr bwMode="auto">
          <a:xfrm>
            <a:off x="4572000" y="3733800"/>
            <a:ext cx="0" cy="23622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2" name="Object 3"/>
          <p:cNvGraphicFramePr>
            <a:graphicFrameLocks noChangeAspect="1"/>
          </p:cNvGraphicFramePr>
          <p:nvPr/>
        </p:nvGraphicFramePr>
        <p:xfrm>
          <a:off x="4191000" y="3429000"/>
          <a:ext cx="673100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54" name="Equation" r:id="rId4" imgW="431640" imgH="241200" progId="Equation.3">
                  <p:embed/>
                </p:oleObj>
              </mc:Choice>
              <mc:Fallback>
                <p:oleObj name="Equation" r:id="rId4" imgW="431640" imgH="24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429000"/>
                        <a:ext cx="673100" cy="300038"/>
                      </a:xfrm>
                      <a:prstGeom prst="rect">
                        <a:avLst/>
                      </a:prstGeom>
                      <a:solidFill>
                        <a:srgbClr val="73FFDA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" name="Rectangle 4"/>
          <p:cNvSpPr>
            <a:spLocks noChangeArrowheads="1"/>
          </p:cNvSpPr>
          <p:nvPr/>
        </p:nvSpPr>
        <p:spPr bwMode="auto">
          <a:xfrm>
            <a:off x="228600" y="3276600"/>
            <a:ext cx="2209800" cy="2895600"/>
          </a:xfrm>
          <a:prstGeom prst="rect">
            <a:avLst/>
          </a:prstGeom>
          <a:solidFill>
            <a:srgbClr val="FDE0BD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2" name="Freeform 5"/>
          <p:cNvSpPr>
            <a:spLocks/>
          </p:cNvSpPr>
          <p:nvPr/>
        </p:nvSpPr>
        <p:spPr bwMode="auto">
          <a:xfrm>
            <a:off x="2584450" y="2603500"/>
            <a:ext cx="1222375" cy="604838"/>
          </a:xfrm>
          <a:custGeom>
            <a:avLst/>
            <a:gdLst>
              <a:gd name="T0" fmla="*/ 1219200 w 770"/>
              <a:gd name="T1" fmla="*/ 604838 h 381"/>
              <a:gd name="T2" fmla="*/ 0 w 770"/>
              <a:gd name="T3" fmla="*/ 600075 h 381"/>
              <a:gd name="T4" fmla="*/ 579438 w 770"/>
              <a:gd name="T5" fmla="*/ 463550 h 381"/>
              <a:gd name="T6" fmla="*/ 854075 w 770"/>
              <a:gd name="T7" fmla="*/ 322263 h 381"/>
              <a:gd name="T8" fmla="*/ 1047750 w 770"/>
              <a:gd name="T9" fmla="*/ 184150 h 381"/>
              <a:gd name="T10" fmla="*/ 1222375 w 770"/>
              <a:gd name="T11" fmla="*/ 0 h 381"/>
              <a:gd name="T12" fmla="*/ 1222375 w 770"/>
              <a:gd name="T13" fmla="*/ 558800 h 3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70"/>
              <a:gd name="T22" fmla="*/ 0 h 381"/>
              <a:gd name="T23" fmla="*/ 770 w 770"/>
              <a:gd name="T24" fmla="*/ 381 h 38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70" h="381">
                <a:moveTo>
                  <a:pt x="768" y="381"/>
                </a:moveTo>
                <a:lnTo>
                  <a:pt x="0" y="378"/>
                </a:lnTo>
                <a:lnTo>
                  <a:pt x="365" y="292"/>
                </a:lnTo>
                <a:lnTo>
                  <a:pt x="538" y="203"/>
                </a:lnTo>
                <a:lnTo>
                  <a:pt x="660" y="116"/>
                </a:lnTo>
                <a:lnTo>
                  <a:pt x="770" y="0"/>
                </a:lnTo>
                <a:lnTo>
                  <a:pt x="770" y="352"/>
                </a:lnTo>
              </a:path>
            </a:pathLst>
          </a:custGeom>
          <a:solidFill>
            <a:srgbClr val="C7DAF7"/>
          </a:solidFill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3" name="Freeform 6"/>
          <p:cNvSpPr>
            <a:spLocks/>
          </p:cNvSpPr>
          <p:nvPr/>
        </p:nvSpPr>
        <p:spPr bwMode="auto">
          <a:xfrm>
            <a:off x="5408613" y="2603500"/>
            <a:ext cx="1176337" cy="604838"/>
          </a:xfrm>
          <a:custGeom>
            <a:avLst/>
            <a:gdLst>
              <a:gd name="T0" fmla="*/ 4762 w 741"/>
              <a:gd name="T1" fmla="*/ 604838 h 381"/>
              <a:gd name="T2" fmla="*/ 1176337 w 741"/>
              <a:gd name="T3" fmla="*/ 600075 h 381"/>
              <a:gd name="T4" fmla="*/ 681037 w 741"/>
              <a:gd name="T5" fmla="*/ 476250 h 381"/>
              <a:gd name="T6" fmla="*/ 442912 w 741"/>
              <a:gd name="T7" fmla="*/ 390525 h 381"/>
              <a:gd name="T8" fmla="*/ 190500 w 741"/>
              <a:gd name="T9" fmla="*/ 209550 h 381"/>
              <a:gd name="T10" fmla="*/ 0 w 741"/>
              <a:gd name="T11" fmla="*/ 0 h 381"/>
              <a:gd name="T12" fmla="*/ 0 w 741"/>
              <a:gd name="T13" fmla="*/ 558800 h 3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41"/>
              <a:gd name="T22" fmla="*/ 0 h 381"/>
              <a:gd name="T23" fmla="*/ 741 w 741"/>
              <a:gd name="T24" fmla="*/ 381 h 38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41" h="381">
                <a:moveTo>
                  <a:pt x="3" y="381"/>
                </a:moveTo>
                <a:lnTo>
                  <a:pt x="741" y="378"/>
                </a:lnTo>
                <a:lnTo>
                  <a:pt x="429" y="300"/>
                </a:lnTo>
                <a:lnTo>
                  <a:pt x="279" y="246"/>
                </a:lnTo>
                <a:lnTo>
                  <a:pt x="120" y="132"/>
                </a:lnTo>
                <a:lnTo>
                  <a:pt x="0" y="0"/>
                </a:lnTo>
                <a:lnTo>
                  <a:pt x="0" y="352"/>
                </a:lnTo>
              </a:path>
            </a:pathLst>
          </a:custGeom>
          <a:solidFill>
            <a:srgbClr val="C7DAF7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4" name="Line 7"/>
          <p:cNvSpPr>
            <a:spLocks noChangeShapeType="1"/>
          </p:cNvSpPr>
          <p:nvPr/>
        </p:nvSpPr>
        <p:spPr bwMode="auto">
          <a:xfrm>
            <a:off x="3808413" y="26035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5" name="Line 8"/>
          <p:cNvSpPr>
            <a:spLocks noChangeShapeType="1"/>
          </p:cNvSpPr>
          <p:nvPr/>
        </p:nvSpPr>
        <p:spPr bwMode="auto">
          <a:xfrm>
            <a:off x="5408613" y="26035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6" name="Rectangle 9"/>
          <p:cNvSpPr>
            <a:spLocks noGrp="1" noChangeArrowheads="1"/>
          </p:cNvSpPr>
          <p:nvPr>
            <p:ph type="title"/>
          </p:nvPr>
        </p:nvSpPr>
        <p:spPr>
          <a:xfrm>
            <a:off x="1143000" y="457200"/>
            <a:ext cx="7793038" cy="762000"/>
          </a:xfrm>
        </p:spPr>
        <p:txBody>
          <a:bodyPr/>
          <a:lstStyle/>
          <a:p>
            <a:pPr eaLnBrk="1" hangingPunct="1"/>
            <a:r>
              <a:rPr lang="en-US" dirty="0" smtClean="0"/>
              <a:t>Interval</a:t>
            </a:r>
            <a:r>
              <a:rPr lang="id-ID" dirty="0" smtClean="0"/>
              <a:t> dan Tingkat Konfidensi</a:t>
            </a:r>
            <a:endParaRPr lang="en-US" dirty="0" smtClean="0"/>
          </a:p>
        </p:txBody>
      </p:sp>
      <p:sp>
        <p:nvSpPr>
          <p:cNvPr id="5137" name="Rectangle 10"/>
          <p:cNvSpPr>
            <a:spLocks noChangeArrowheads="1"/>
          </p:cNvSpPr>
          <p:nvPr/>
        </p:nvSpPr>
        <p:spPr bwMode="auto">
          <a:xfrm>
            <a:off x="3352800" y="6172200"/>
            <a:ext cx="2514600" cy="397545"/>
          </a:xfrm>
          <a:prstGeom prst="rect">
            <a:avLst/>
          </a:prstGeom>
          <a:solidFill>
            <a:srgbClr val="C7DAF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id-ID" sz="2000" dirty="0" smtClean="0"/>
              <a:t>Interval Konfidensi</a:t>
            </a:r>
            <a:endParaRPr lang="en-US" dirty="0"/>
          </a:p>
        </p:txBody>
      </p:sp>
      <p:sp>
        <p:nvSpPr>
          <p:cNvPr id="5138" name="Line 11"/>
          <p:cNvSpPr>
            <a:spLocks noChangeShapeType="1"/>
          </p:cNvSpPr>
          <p:nvPr/>
        </p:nvSpPr>
        <p:spPr bwMode="auto">
          <a:xfrm>
            <a:off x="4570413" y="1908175"/>
            <a:ext cx="0" cy="1238250"/>
          </a:xfrm>
          <a:prstGeom prst="line">
            <a:avLst/>
          </a:prstGeom>
          <a:noFill/>
          <a:ln w="19050" cap="rnd">
            <a:solidFill>
              <a:srgbClr val="006666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9" name="Rectangle 12"/>
          <p:cNvSpPr>
            <a:spLocks noChangeArrowheads="1"/>
          </p:cNvSpPr>
          <p:nvPr/>
        </p:nvSpPr>
        <p:spPr bwMode="auto">
          <a:xfrm>
            <a:off x="304800" y="3276600"/>
            <a:ext cx="2127250" cy="28705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lnSpc>
                <a:spcPct val="85000"/>
              </a:lnSpc>
              <a:spcBef>
                <a:spcPct val="50000"/>
              </a:spcBef>
            </a:pPr>
            <a:r>
              <a:rPr lang="id-ID" sz="2400" dirty="0" smtClean="0"/>
              <a:t>Interval bervariasi antara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  <a:p>
            <a:pPr eaLnBrk="0" hangingPunct="0">
              <a:lnSpc>
                <a:spcPct val="85000"/>
              </a:lnSpc>
              <a:spcBef>
                <a:spcPct val="50000"/>
              </a:spcBef>
            </a:pPr>
            <a:r>
              <a:rPr lang="en-US" dirty="0"/>
              <a:t>    </a:t>
            </a:r>
            <a:r>
              <a:rPr lang="id-ID" dirty="0" smtClean="0"/>
              <a:t>hingga</a:t>
            </a:r>
            <a:r>
              <a:rPr lang="en-US" dirty="0" smtClean="0"/>
              <a:t>   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5140" name="Rectangle 13"/>
          <p:cNvSpPr>
            <a:spLocks noChangeArrowheads="1"/>
          </p:cNvSpPr>
          <p:nvPr/>
        </p:nvSpPr>
        <p:spPr bwMode="auto">
          <a:xfrm>
            <a:off x="6746875" y="4064000"/>
            <a:ext cx="2244725" cy="1834861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70000"/>
              </a:spcBef>
            </a:pPr>
            <a:r>
              <a:rPr lang="en-US" dirty="0"/>
              <a:t>(1-</a:t>
            </a:r>
            <a:r>
              <a:rPr lang="en-US" dirty="0">
                <a:sym typeface="Symbol" pitchFamily="18" charset="2"/>
              </a:rPr>
              <a:t></a:t>
            </a:r>
            <a:r>
              <a:rPr lang="en-US" dirty="0">
                <a:sym typeface="System"/>
              </a:rPr>
              <a:t>)x100%</a:t>
            </a:r>
            <a:r>
              <a:rPr lang="en-US" dirty="0"/>
              <a:t/>
            </a:r>
            <a:br>
              <a:rPr lang="en-US" dirty="0"/>
            </a:br>
            <a:r>
              <a:rPr lang="id-ID" dirty="0" smtClean="0"/>
              <a:t>interval yang dibuat akan mengandung nilai </a:t>
            </a:r>
            <a:r>
              <a:rPr lang="el-GR" dirty="0" smtClean="0">
                <a:cs typeface="Arial" charset="0"/>
              </a:rPr>
              <a:t>μ</a:t>
            </a:r>
            <a:r>
              <a:rPr lang="en-US" dirty="0"/>
              <a:t>; </a:t>
            </a:r>
          </a:p>
          <a:p>
            <a:pPr eaLnBrk="0" hangingPunct="0">
              <a:spcBef>
                <a:spcPct val="30000"/>
              </a:spcBef>
            </a:pPr>
            <a:r>
              <a:rPr lang="id-ID" dirty="0" smtClean="0">
                <a:sym typeface="System"/>
              </a:rPr>
              <a:t>Sedangkan </a:t>
            </a:r>
            <a:r>
              <a:rPr lang="en-US" dirty="0" smtClean="0">
                <a:sym typeface="System"/>
              </a:rPr>
              <a:t>(</a:t>
            </a:r>
            <a:r>
              <a:rPr lang="en-US" dirty="0">
                <a:sym typeface="Symbol" pitchFamily="18" charset="2"/>
              </a:rPr>
              <a:t></a:t>
            </a:r>
            <a:r>
              <a:rPr lang="en-US" dirty="0">
                <a:sym typeface="System"/>
              </a:rPr>
              <a:t>)x100%</a:t>
            </a:r>
            <a:r>
              <a:rPr lang="en-US" dirty="0"/>
              <a:t> </a:t>
            </a:r>
            <a:r>
              <a:rPr lang="id-ID" dirty="0" smtClean="0"/>
              <a:t>tidak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141" name="Line 14"/>
          <p:cNvSpPr>
            <a:spLocks noChangeShapeType="1"/>
          </p:cNvSpPr>
          <p:nvPr/>
        </p:nvSpPr>
        <p:spPr bwMode="auto">
          <a:xfrm>
            <a:off x="4572000" y="3152775"/>
            <a:ext cx="0" cy="158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42" name="Freeform 15"/>
          <p:cNvSpPr>
            <a:spLocks/>
          </p:cNvSpPr>
          <p:nvPr/>
        </p:nvSpPr>
        <p:spPr bwMode="auto">
          <a:xfrm>
            <a:off x="4572000" y="1905000"/>
            <a:ext cx="2012950" cy="1258888"/>
          </a:xfrm>
          <a:custGeom>
            <a:avLst/>
            <a:gdLst>
              <a:gd name="T0" fmla="*/ 2011363 w 1268"/>
              <a:gd name="T1" fmla="*/ 1257300 h 793"/>
              <a:gd name="T2" fmla="*/ 1800225 w 1268"/>
              <a:gd name="T3" fmla="*/ 1243013 h 793"/>
              <a:gd name="T4" fmla="*/ 1692275 w 1268"/>
              <a:gd name="T5" fmla="*/ 1227138 h 793"/>
              <a:gd name="T6" fmla="*/ 1585912 w 1268"/>
              <a:gd name="T7" fmla="*/ 1206500 h 793"/>
              <a:gd name="T8" fmla="*/ 1481137 w 1268"/>
              <a:gd name="T9" fmla="*/ 1179513 h 793"/>
              <a:gd name="T10" fmla="*/ 1374775 w 1268"/>
              <a:gd name="T11" fmla="*/ 1139825 h 793"/>
              <a:gd name="T12" fmla="*/ 1270000 w 1268"/>
              <a:gd name="T13" fmla="*/ 1089025 h 793"/>
              <a:gd name="T14" fmla="*/ 1055687 w 1268"/>
              <a:gd name="T15" fmla="*/ 941388 h 793"/>
              <a:gd name="T16" fmla="*/ 844550 w 1268"/>
              <a:gd name="T17" fmla="*/ 736600 h 793"/>
              <a:gd name="T18" fmla="*/ 633412 w 1268"/>
              <a:gd name="T19" fmla="*/ 492125 h 793"/>
              <a:gd name="T20" fmla="*/ 530225 w 1268"/>
              <a:gd name="T21" fmla="*/ 365125 h 793"/>
              <a:gd name="T22" fmla="*/ 422275 w 1268"/>
              <a:gd name="T23" fmla="*/ 247650 h 793"/>
              <a:gd name="T24" fmla="*/ 315912 w 1268"/>
              <a:gd name="T25" fmla="*/ 147638 h 793"/>
              <a:gd name="T26" fmla="*/ 211138 w 1268"/>
              <a:gd name="T27" fmla="*/ 66675 h 793"/>
              <a:gd name="T28" fmla="*/ 104775 w 1268"/>
              <a:gd name="T29" fmla="*/ 15875 h 793"/>
              <a:gd name="T30" fmla="*/ 0 w 1268"/>
              <a:gd name="T31" fmla="*/ 0 h 79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268"/>
              <a:gd name="T49" fmla="*/ 0 h 793"/>
              <a:gd name="T50" fmla="*/ 1268 w 1268"/>
              <a:gd name="T51" fmla="*/ 793 h 793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268" h="793">
                <a:moveTo>
                  <a:pt x="1267" y="792"/>
                </a:moveTo>
                <a:lnTo>
                  <a:pt x="1134" y="783"/>
                </a:lnTo>
                <a:lnTo>
                  <a:pt x="1066" y="773"/>
                </a:lnTo>
                <a:lnTo>
                  <a:pt x="999" y="760"/>
                </a:lnTo>
                <a:lnTo>
                  <a:pt x="933" y="743"/>
                </a:lnTo>
                <a:lnTo>
                  <a:pt x="866" y="718"/>
                </a:lnTo>
                <a:lnTo>
                  <a:pt x="800" y="686"/>
                </a:lnTo>
                <a:lnTo>
                  <a:pt x="665" y="593"/>
                </a:lnTo>
                <a:lnTo>
                  <a:pt x="532" y="464"/>
                </a:lnTo>
                <a:lnTo>
                  <a:pt x="399" y="310"/>
                </a:lnTo>
                <a:lnTo>
                  <a:pt x="334" y="230"/>
                </a:lnTo>
                <a:lnTo>
                  <a:pt x="266" y="156"/>
                </a:lnTo>
                <a:lnTo>
                  <a:pt x="199" y="93"/>
                </a:lnTo>
                <a:lnTo>
                  <a:pt x="133" y="42"/>
                </a:lnTo>
                <a:lnTo>
                  <a:pt x="66" y="10"/>
                </a:lnTo>
                <a:lnTo>
                  <a:pt x="0" y="0"/>
                </a:lnTo>
              </a:path>
            </a:pathLst>
          </a:custGeom>
          <a:noFill/>
          <a:ln w="50800" cap="rnd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43" name="Freeform 16"/>
          <p:cNvSpPr>
            <a:spLocks/>
          </p:cNvSpPr>
          <p:nvPr/>
        </p:nvSpPr>
        <p:spPr bwMode="auto">
          <a:xfrm>
            <a:off x="2589213" y="1908175"/>
            <a:ext cx="2012950" cy="1258888"/>
          </a:xfrm>
          <a:custGeom>
            <a:avLst/>
            <a:gdLst>
              <a:gd name="T0" fmla="*/ 0 w 1268"/>
              <a:gd name="T1" fmla="*/ 1257300 h 793"/>
              <a:gd name="T2" fmla="*/ 211138 w 1268"/>
              <a:gd name="T3" fmla="*/ 1243013 h 793"/>
              <a:gd name="T4" fmla="*/ 315912 w 1268"/>
              <a:gd name="T5" fmla="*/ 1227138 h 793"/>
              <a:gd name="T6" fmla="*/ 422275 w 1268"/>
              <a:gd name="T7" fmla="*/ 1206500 h 793"/>
              <a:gd name="T8" fmla="*/ 527050 w 1268"/>
              <a:gd name="T9" fmla="*/ 1179513 h 793"/>
              <a:gd name="T10" fmla="*/ 633412 w 1268"/>
              <a:gd name="T11" fmla="*/ 1139825 h 793"/>
              <a:gd name="T12" fmla="*/ 741362 w 1268"/>
              <a:gd name="T13" fmla="*/ 1089025 h 793"/>
              <a:gd name="T14" fmla="*/ 952500 w 1268"/>
              <a:gd name="T15" fmla="*/ 941388 h 793"/>
              <a:gd name="T16" fmla="*/ 1163637 w 1268"/>
              <a:gd name="T17" fmla="*/ 736600 h 793"/>
              <a:gd name="T18" fmla="*/ 1374775 w 1268"/>
              <a:gd name="T19" fmla="*/ 492125 h 793"/>
              <a:gd name="T20" fmla="*/ 1481137 w 1268"/>
              <a:gd name="T21" fmla="*/ 365125 h 793"/>
              <a:gd name="T22" fmla="*/ 1585912 w 1268"/>
              <a:gd name="T23" fmla="*/ 247650 h 793"/>
              <a:gd name="T24" fmla="*/ 1692275 w 1268"/>
              <a:gd name="T25" fmla="*/ 147638 h 793"/>
              <a:gd name="T26" fmla="*/ 1797050 w 1268"/>
              <a:gd name="T27" fmla="*/ 66675 h 793"/>
              <a:gd name="T28" fmla="*/ 1903413 w 1268"/>
              <a:gd name="T29" fmla="*/ 15875 h 793"/>
              <a:gd name="T30" fmla="*/ 2011363 w 1268"/>
              <a:gd name="T31" fmla="*/ 0 h 79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268"/>
              <a:gd name="T49" fmla="*/ 0 h 793"/>
              <a:gd name="T50" fmla="*/ 1268 w 1268"/>
              <a:gd name="T51" fmla="*/ 793 h 793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268" h="793">
                <a:moveTo>
                  <a:pt x="0" y="792"/>
                </a:moveTo>
                <a:lnTo>
                  <a:pt x="133" y="783"/>
                </a:lnTo>
                <a:lnTo>
                  <a:pt x="199" y="773"/>
                </a:lnTo>
                <a:lnTo>
                  <a:pt x="266" y="760"/>
                </a:lnTo>
                <a:lnTo>
                  <a:pt x="332" y="743"/>
                </a:lnTo>
                <a:lnTo>
                  <a:pt x="399" y="718"/>
                </a:lnTo>
                <a:lnTo>
                  <a:pt x="467" y="686"/>
                </a:lnTo>
                <a:lnTo>
                  <a:pt x="600" y="593"/>
                </a:lnTo>
                <a:lnTo>
                  <a:pt x="733" y="464"/>
                </a:lnTo>
                <a:lnTo>
                  <a:pt x="866" y="310"/>
                </a:lnTo>
                <a:lnTo>
                  <a:pt x="933" y="230"/>
                </a:lnTo>
                <a:lnTo>
                  <a:pt x="999" y="156"/>
                </a:lnTo>
                <a:lnTo>
                  <a:pt x="1066" y="93"/>
                </a:lnTo>
                <a:lnTo>
                  <a:pt x="1132" y="42"/>
                </a:lnTo>
                <a:lnTo>
                  <a:pt x="1199" y="10"/>
                </a:lnTo>
                <a:lnTo>
                  <a:pt x="1267" y="0"/>
                </a:lnTo>
              </a:path>
            </a:pathLst>
          </a:custGeom>
          <a:noFill/>
          <a:ln w="50800" cap="rnd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44" name="Line 17"/>
          <p:cNvSpPr>
            <a:spLocks noChangeShapeType="1"/>
          </p:cNvSpPr>
          <p:nvPr/>
        </p:nvSpPr>
        <p:spPr bwMode="auto">
          <a:xfrm>
            <a:off x="2513013" y="3213100"/>
            <a:ext cx="4191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45" name="Line 18"/>
          <p:cNvSpPr>
            <a:spLocks noChangeShapeType="1"/>
          </p:cNvSpPr>
          <p:nvPr/>
        </p:nvSpPr>
        <p:spPr bwMode="auto">
          <a:xfrm>
            <a:off x="2663825" y="2681288"/>
            <a:ext cx="1588" cy="1587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46" name="Rectangle 19"/>
          <p:cNvSpPr>
            <a:spLocks noChangeArrowheads="1"/>
          </p:cNvSpPr>
          <p:nvPr/>
        </p:nvSpPr>
        <p:spPr bwMode="auto">
          <a:xfrm>
            <a:off x="1371600" y="1447800"/>
            <a:ext cx="6570663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id-ID" dirty="0" smtClean="0"/>
              <a:t>Distribusi Sampling Mean/Rata2</a:t>
            </a:r>
            <a:endParaRPr lang="en-US" dirty="0"/>
          </a:p>
        </p:txBody>
      </p:sp>
      <p:sp>
        <p:nvSpPr>
          <p:cNvPr id="5147" name="Freeform 20"/>
          <p:cNvSpPr>
            <a:spLocks/>
          </p:cNvSpPr>
          <p:nvPr/>
        </p:nvSpPr>
        <p:spPr bwMode="auto">
          <a:xfrm>
            <a:off x="5715000" y="4114800"/>
            <a:ext cx="304800" cy="1828800"/>
          </a:xfrm>
          <a:custGeom>
            <a:avLst/>
            <a:gdLst>
              <a:gd name="T0" fmla="*/ 0 w 432"/>
              <a:gd name="T1" fmla="*/ 0 h 1007"/>
              <a:gd name="T2" fmla="*/ 59972 w 432"/>
              <a:gd name="T3" fmla="*/ 9080 h 1007"/>
              <a:gd name="T4" fmla="*/ 105833 w 432"/>
              <a:gd name="T5" fmla="*/ 41770 h 1007"/>
              <a:gd name="T6" fmla="*/ 124178 w 432"/>
              <a:gd name="T7" fmla="*/ 61747 h 1007"/>
              <a:gd name="T8" fmla="*/ 138289 w 432"/>
              <a:gd name="T9" fmla="*/ 81724 h 1007"/>
              <a:gd name="T10" fmla="*/ 147461 w 432"/>
              <a:gd name="T11" fmla="*/ 112597 h 1007"/>
              <a:gd name="T12" fmla="*/ 152400 w 432"/>
              <a:gd name="T13" fmla="*/ 143471 h 1007"/>
              <a:gd name="T14" fmla="*/ 152400 w 432"/>
              <a:gd name="T15" fmla="*/ 753676 h 1007"/>
              <a:gd name="T16" fmla="*/ 156633 w 432"/>
              <a:gd name="T17" fmla="*/ 784550 h 1007"/>
              <a:gd name="T18" fmla="*/ 165806 w 432"/>
              <a:gd name="T19" fmla="*/ 815423 h 1007"/>
              <a:gd name="T20" fmla="*/ 179917 w 432"/>
              <a:gd name="T21" fmla="*/ 835400 h 1007"/>
              <a:gd name="T22" fmla="*/ 198261 w 432"/>
              <a:gd name="T23" fmla="*/ 866274 h 1007"/>
              <a:gd name="T24" fmla="*/ 244122 w 432"/>
              <a:gd name="T25" fmla="*/ 897147 h 1007"/>
              <a:gd name="T26" fmla="*/ 304094 w 432"/>
              <a:gd name="T27" fmla="*/ 908044 h 1007"/>
              <a:gd name="T28" fmla="*/ 244122 w 432"/>
              <a:gd name="T29" fmla="*/ 918940 h 1007"/>
              <a:gd name="T30" fmla="*/ 198261 w 432"/>
              <a:gd name="T31" fmla="*/ 958894 h 1007"/>
              <a:gd name="T32" fmla="*/ 179917 w 432"/>
              <a:gd name="T33" fmla="*/ 980687 h 1007"/>
              <a:gd name="T34" fmla="*/ 165806 w 432"/>
              <a:gd name="T35" fmla="*/ 1000664 h 1007"/>
              <a:gd name="T36" fmla="*/ 156633 w 432"/>
              <a:gd name="T37" fmla="*/ 1031538 h 1007"/>
              <a:gd name="T38" fmla="*/ 152400 w 432"/>
              <a:gd name="T39" fmla="*/ 1062411 h 1007"/>
              <a:gd name="T40" fmla="*/ 152400 w 432"/>
              <a:gd name="T41" fmla="*/ 1672617 h 1007"/>
              <a:gd name="T42" fmla="*/ 147461 w 432"/>
              <a:gd name="T43" fmla="*/ 1703490 h 1007"/>
              <a:gd name="T44" fmla="*/ 138289 w 432"/>
              <a:gd name="T45" fmla="*/ 1734363 h 1007"/>
              <a:gd name="T46" fmla="*/ 124178 w 432"/>
              <a:gd name="T47" fmla="*/ 1754340 h 1007"/>
              <a:gd name="T48" fmla="*/ 105833 w 432"/>
              <a:gd name="T49" fmla="*/ 1785214 h 1007"/>
              <a:gd name="T50" fmla="*/ 59972 w 432"/>
              <a:gd name="T51" fmla="*/ 1816087 h 1007"/>
              <a:gd name="T52" fmla="*/ 0 w 432"/>
              <a:gd name="T53" fmla="*/ 1826984 h 1007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432"/>
              <a:gd name="T82" fmla="*/ 0 h 1007"/>
              <a:gd name="T83" fmla="*/ 432 w 432"/>
              <a:gd name="T84" fmla="*/ 1007 h 1007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432" h="1007">
                <a:moveTo>
                  <a:pt x="0" y="0"/>
                </a:moveTo>
                <a:lnTo>
                  <a:pt x="85" y="5"/>
                </a:lnTo>
                <a:lnTo>
                  <a:pt x="150" y="23"/>
                </a:lnTo>
                <a:lnTo>
                  <a:pt x="176" y="34"/>
                </a:lnTo>
                <a:lnTo>
                  <a:pt x="196" y="45"/>
                </a:lnTo>
                <a:lnTo>
                  <a:pt x="209" y="62"/>
                </a:lnTo>
                <a:lnTo>
                  <a:pt x="216" y="79"/>
                </a:lnTo>
                <a:lnTo>
                  <a:pt x="216" y="415"/>
                </a:lnTo>
                <a:lnTo>
                  <a:pt x="222" y="432"/>
                </a:lnTo>
                <a:lnTo>
                  <a:pt x="235" y="449"/>
                </a:lnTo>
                <a:lnTo>
                  <a:pt x="255" y="460"/>
                </a:lnTo>
                <a:lnTo>
                  <a:pt x="281" y="477"/>
                </a:lnTo>
                <a:lnTo>
                  <a:pt x="346" y="494"/>
                </a:lnTo>
                <a:lnTo>
                  <a:pt x="431" y="500"/>
                </a:lnTo>
                <a:lnTo>
                  <a:pt x="346" y="506"/>
                </a:lnTo>
                <a:lnTo>
                  <a:pt x="281" y="528"/>
                </a:lnTo>
                <a:lnTo>
                  <a:pt x="255" y="540"/>
                </a:lnTo>
                <a:lnTo>
                  <a:pt x="235" y="551"/>
                </a:lnTo>
                <a:lnTo>
                  <a:pt x="222" y="568"/>
                </a:lnTo>
                <a:lnTo>
                  <a:pt x="216" y="585"/>
                </a:lnTo>
                <a:lnTo>
                  <a:pt x="216" y="921"/>
                </a:lnTo>
                <a:lnTo>
                  <a:pt x="209" y="938"/>
                </a:lnTo>
                <a:lnTo>
                  <a:pt x="196" y="955"/>
                </a:lnTo>
                <a:lnTo>
                  <a:pt x="176" y="966"/>
                </a:lnTo>
                <a:lnTo>
                  <a:pt x="150" y="983"/>
                </a:lnTo>
                <a:lnTo>
                  <a:pt x="85" y="1000"/>
                </a:lnTo>
                <a:lnTo>
                  <a:pt x="0" y="1006"/>
                </a:lnTo>
              </a:path>
            </a:pathLst>
          </a:custGeom>
          <a:noFill/>
          <a:ln w="28575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48" name="Line 22"/>
          <p:cNvSpPr>
            <a:spLocks noChangeShapeType="1"/>
          </p:cNvSpPr>
          <p:nvPr/>
        </p:nvSpPr>
        <p:spPr bwMode="auto">
          <a:xfrm flipH="1">
            <a:off x="5637213" y="2743200"/>
            <a:ext cx="382587" cy="241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49" name="Line 23"/>
          <p:cNvSpPr>
            <a:spLocks noChangeShapeType="1"/>
          </p:cNvSpPr>
          <p:nvPr/>
        </p:nvSpPr>
        <p:spPr bwMode="auto">
          <a:xfrm>
            <a:off x="3200400" y="2743200"/>
            <a:ext cx="379413" cy="241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3" name="Object 30"/>
          <p:cNvGraphicFramePr>
            <a:graphicFrameLocks noChangeAspect="1"/>
          </p:cNvGraphicFramePr>
          <p:nvPr/>
        </p:nvGraphicFramePr>
        <p:xfrm>
          <a:off x="293688" y="4127500"/>
          <a:ext cx="1928812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55" name="Equation" r:id="rId6" imgW="888840" imgH="406080" progId="Equation.3">
                  <p:embed/>
                </p:oleObj>
              </mc:Choice>
              <mc:Fallback>
                <p:oleObj name="Equation" r:id="rId6" imgW="888840" imgH="40608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8" y="4127500"/>
                        <a:ext cx="1928812" cy="884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31"/>
          <p:cNvGraphicFramePr>
            <a:graphicFrameLocks noChangeAspect="1"/>
          </p:cNvGraphicFramePr>
          <p:nvPr/>
        </p:nvGraphicFramePr>
        <p:xfrm>
          <a:off x="279400" y="5272088"/>
          <a:ext cx="1957388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56" name="Equation" r:id="rId8" imgW="901440" imgH="406080" progId="Equation.DSMT4">
                  <p:embed/>
                </p:oleObj>
              </mc:Choice>
              <mc:Fallback>
                <p:oleObj name="Equation" r:id="rId8" imgW="901440" imgH="40608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" y="5272088"/>
                        <a:ext cx="1957388" cy="882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0" name="Line 32"/>
          <p:cNvSpPr>
            <a:spLocks noChangeShapeType="1"/>
          </p:cNvSpPr>
          <p:nvPr/>
        </p:nvSpPr>
        <p:spPr bwMode="auto">
          <a:xfrm>
            <a:off x="2438400" y="4648200"/>
            <a:ext cx="3048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51" name="Text Box 33"/>
          <p:cNvSpPr txBox="1">
            <a:spLocks noChangeArrowheads="1"/>
          </p:cNvSpPr>
          <p:nvPr/>
        </p:nvSpPr>
        <p:spPr bwMode="auto">
          <a:xfrm>
            <a:off x="6704013" y="2984500"/>
            <a:ext cx="457200" cy="5191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/>
              <a:t>x</a:t>
            </a:r>
          </a:p>
        </p:txBody>
      </p:sp>
      <p:sp>
        <p:nvSpPr>
          <p:cNvPr id="5152" name="Line 34"/>
          <p:cNvSpPr>
            <a:spLocks noChangeShapeType="1"/>
          </p:cNvSpPr>
          <p:nvPr/>
        </p:nvSpPr>
        <p:spPr bwMode="auto">
          <a:xfrm>
            <a:off x="6856413" y="3136900"/>
            <a:ext cx="15240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53" name="Line 21"/>
          <p:cNvSpPr>
            <a:spLocks noChangeShapeType="1"/>
          </p:cNvSpPr>
          <p:nvPr/>
        </p:nvSpPr>
        <p:spPr bwMode="auto">
          <a:xfrm>
            <a:off x="3725863" y="4572000"/>
            <a:ext cx="12954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54" name="Line 25"/>
          <p:cNvSpPr>
            <a:spLocks noChangeShapeType="1"/>
          </p:cNvSpPr>
          <p:nvPr/>
        </p:nvSpPr>
        <p:spPr bwMode="auto">
          <a:xfrm>
            <a:off x="3048000" y="5715000"/>
            <a:ext cx="1295400" cy="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55" name="Line 26"/>
          <p:cNvSpPr>
            <a:spLocks noChangeShapeType="1"/>
          </p:cNvSpPr>
          <p:nvPr/>
        </p:nvSpPr>
        <p:spPr bwMode="auto">
          <a:xfrm>
            <a:off x="4343400" y="5943600"/>
            <a:ext cx="12954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56" name="Line 27"/>
          <p:cNvSpPr>
            <a:spLocks noChangeShapeType="1"/>
          </p:cNvSpPr>
          <p:nvPr/>
        </p:nvSpPr>
        <p:spPr bwMode="auto">
          <a:xfrm>
            <a:off x="3603625" y="4876800"/>
            <a:ext cx="12954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57" name="Line 28"/>
          <p:cNvSpPr>
            <a:spLocks noChangeShapeType="1"/>
          </p:cNvSpPr>
          <p:nvPr/>
        </p:nvSpPr>
        <p:spPr bwMode="auto">
          <a:xfrm>
            <a:off x="4157663" y="5181600"/>
            <a:ext cx="12954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58" name="Line 29"/>
          <p:cNvSpPr>
            <a:spLocks noChangeShapeType="1"/>
          </p:cNvSpPr>
          <p:nvPr/>
        </p:nvSpPr>
        <p:spPr bwMode="auto">
          <a:xfrm>
            <a:off x="3973513" y="5486400"/>
            <a:ext cx="12954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59" name="Line 35"/>
          <p:cNvSpPr>
            <a:spLocks noChangeShapeType="1"/>
          </p:cNvSpPr>
          <p:nvPr/>
        </p:nvSpPr>
        <p:spPr bwMode="auto">
          <a:xfrm>
            <a:off x="4205288" y="4114800"/>
            <a:ext cx="12954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54"/>
          <p:cNvGrpSpPr>
            <a:grpSpLocks/>
          </p:cNvGrpSpPr>
          <p:nvPr/>
        </p:nvGrpSpPr>
        <p:grpSpPr bwMode="auto">
          <a:xfrm>
            <a:off x="4572000" y="3689350"/>
            <a:ext cx="533400" cy="366713"/>
            <a:chOff x="4724400" y="3733800"/>
            <a:chExt cx="533400" cy="366713"/>
          </a:xfrm>
        </p:grpSpPr>
        <p:sp>
          <p:nvSpPr>
            <p:cNvPr id="5175" name="Text Box 36"/>
            <p:cNvSpPr txBox="1">
              <a:spLocks noChangeArrowheads="1"/>
            </p:cNvSpPr>
            <p:nvPr/>
          </p:nvSpPr>
          <p:spPr bwMode="auto">
            <a:xfrm>
              <a:off x="4724400" y="3733800"/>
              <a:ext cx="533400" cy="36671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/>
                <a:t>x</a:t>
              </a:r>
              <a:r>
                <a:rPr lang="en-US" sz="1800" baseline="-25000"/>
                <a:t>1</a:t>
              </a:r>
            </a:p>
          </p:txBody>
        </p:sp>
        <p:sp>
          <p:nvSpPr>
            <p:cNvPr id="5176" name="Line 37"/>
            <p:cNvSpPr>
              <a:spLocks noChangeShapeType="1"/>
            </p:cNvSpPr>
            <p:nvPr/>
          </p:nvSpPr>
          <p:spPr bwMode="auto">
            <a:xfrm>
              <a:off x="4876800" y="3810000"/>
              <a:ext cx="152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55"/>
          <p:cNvGrpSpPr>
            <a:grpSpLocks/>
          </p:cNvGrpSpPr>
          <p:nvPr/>
        </p:nvGrpSpPr>
        <p:grpSpPr bwMode="auto">
          <a:xfrm>
            <a:off x="4135438" y="4011613"/>
            <a:ext cx="890587" cy="519112"/>
            <a:chOff x="4038600" y="4038600"/>
            <a:chExt cx="890814" cy="519113"/>
          </a:xfrm>
        </p:grpSpPr>
        <p:sp>
          <p:nvSpPr>
            <p:cNvPr id="5172" name="Oval 38"/>
            <p:cNvSpPr>
              <a:spLocks noChangeArrowheads="1"/>
            </p:cNvSpPr>
            <p:nvPr/>
          </p:nvSpPr>
          <p:spPr bwMode="auto">
            <a:xfrm>
              <a:off x="4777014" y="40386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3" name="Text Box 39"/>
            <p:cNvSpPr txBox="1">
              <a:spLocks noChangeArrowheads="1"/>
            </p:cNvSpPr>
            <p:nvPr/>
          </p:nvSpPr>
          <p:spPr bwMode="auto">
            <a:xfrm>
              <a:off x="4038600" y="4191000"/>
              <a:ext cx="533400" cy="36671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/>
                <a:t>x</a:t>
              </a:r>
              <a:r>
                <a:rPr lang="en-US" sz="1800" baseline="-25000"/>
                <a:t>2</a:t>
              </a:r>
            </a:p>
          </p:txBody>
        </p:sp>
        <p:sp>
          <p:nvSpPr>
            <p:cNvPr id="5174" name="Line 40"/>
            <p:cNvSpPr>
              <a:spLocks noChangeShapeType="1"/>
            </p:cNvSpPr>
            <p:nvPr/>
          </p:nvSpPr>
          <p:spPr bwMode="auto">
            <a:xfrm>
              <a:off x="4185136" y="4284784"/>
              <a:ext cx="152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62" name="Oval 41"/>
          <p:cNvSpPr>
            <a:spLocks noChangeArrowheads="1"/>
          </p:cNvSpPr>
          <p:nvPr/>
        </p:nvSpPr>
        <p:spPr bwMode="auto">
          <a:xfrm>
            <a:off x="4297363" y="4495800"/>
            <a:ext cx="152400" cy="152400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63" name="Oval 42"/>
          <p:cNvSpPr>
            <a:spLocks noChangeArrowheads="1"/>
          </p:cNvSpPr>
          <p:nvPr/>
        </p:nvSpPr>
        <p:spPr bwMode="auto">
          <a:xfrm>
            <a:off x="4175125" y="4800600"/>
            <a:ext cx="152400" cy="152400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64" name="Oval 43"/>
          <p:cNvSpPr>
            <a:spLocks noChangeArrowheads="1"/>
          </p:cNvSpPr>
          <p:nvPr/>
        </p:nvSpPr>
        <p:spPr bwMode="auto">
          <a:xfrm>
            <a:off x="4729163" y="5105400"/>
            <a:ext cx="152400" cy="152400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65" name="Oval 44"/>
          <p:cNvSpPr>
            <a:spLocks noChangeArrowheads="1"/>
          </p:cNvSpPr>
          <p:nvPr/>
        </p:nvSpPr>
        <p:spPr bwMode="auto">
          <a:xfrm>
            <a:off x="4545013" y="5410200"/>
            <a:ext cx="152400" cy="152400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66" name="Oval 45"/>
          <p:cNvSpPr>
            <a:spLocks noChangeArrowheads="1"/>
          </p:cNvSpPr>
          <p:nvPr/>
        </p:nvSpPr>
        <p:spPr bwMode="auto">
          <a:xfrm>
            <a:off x="3619500" y="5638800"/>
            <a:ext cx="152400" cy="152400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67" name="Oval 46"/>
          <p:cNvSpPr>
            <a:spLocks noChangeArrowheads="1"/>
          </p:cNvSpPr>
          <p:nvPr/>
        </p:nvSpPr>
        <p:spPr bwMode="auto">
          <a:xfrm>
            <a:off x="4914900" y="5867400"/>
            <a:ext cx="152400" cy="152400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5" name="Object 47"/>
          <p:cNvGraphicFramePr>
            <a:graphicFrameLocks noChangeAspect="1"/>
          </p:cNvGraphicFramePr>
          <p:nvPr/>
        </p:nvGraphicFramePr>
        <p:xfrm>
          <a:off x="2667000" y="2514600"/>
          <a:ext cx="533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57" name="Equation" r:id="rId10" imgW="266400" imgH="177480" progId="Equation.3">
                  <p:embed/>
                </p:oleObj>
              </mc:Choice>
              <mc:Fallback>
                <p:oleObj name="Equation" r:id="rId10" imgW="266400" imgH="17748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514600"/>
                        <a:ext cx="5334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48"/>
          <p:cNvGraphicFramePr>
            <a:graphicFrameLocks noChangeAspect="1"/>
          </p:cNvGraphicFramePr>
          <p:nvPr/>
        </p:nvGraphicFramePr>
        <p:xfrm>
          <a:off x="6019800" y="2514600"/>
          <a:ext cx="533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58" name="Equation" r:id="rId12" imgW="266400" imgH="177480" progId="Equation.3">
                  <p:embed/>
                </p:oleObj>
              </mc:Choice>
              <mc:Fallback>
                <p:oleObj name="Equation" r:id="rId12" imgW="266400" imgH="17748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514600"/>
                        <a:ext cx="5334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49"/>
          <p:cNvGraphicFramePr>
            <a:graphicFrameLocks noChangeAspect="1"/>
          </p:cNvGraphicFramePr>
          <p:nvPr/>
        </p:nvGraphicFramePr>
        <p:xfrm>
          <a:off x="4267200" y="2438400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59" name="Equation" r:id="rId13" imgW="342720" imgH="177480" progId="Equation.3">
                  <p:embed/>
                </p:oleObj>
              </mc:Choice>
              <mc:Fallback>
                <p:oleObj name="Equation" r:id="rId13" imgW="342720" imgH="17748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438400"/>
                        <a:ext cx="6858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70" name="Line 32"/>
          <p:cNvSpPr>
            <a:spLocks noChangeShapeType="1"/>
          </p:cNvSpPr>
          <p:nvPr/>
        </p:nvSpPr>
        <p:spPr bwMode="auto">
          <a:xfrm flipH="1" flipV="1">
            <a:off x="6096000" y="5029200"/>
            <a:ext cx="6858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71" name="Freeform 20"/>
          <p:cNvSpPr>
            <a:spLocks/>
          </p:cNvSpPr>
          <p:nvPr/>
        </p:nvSpPr>
        <p:spPr bwMode="auto">
          <a:xfrm rot="10800000">
            <a:off x="2819400" y="4114800"/>
            <a:ext cx="304800" cy="1828800"/>
          </a:xfrm>
          <a:custGeom>
            <a:avLst/>
            <a:gdLst>
              <a:gd name="T0" fmla="*/ 0 w 432"/>
              <a:gd name="T1" fmla="*/ 0 h 1007"/>
              <a:gd name="T2" fmla="*/ 59972 w 432"/>
              <a:gd name="T3" fmla="*/ 9080 h 1007"/>
              <a:gd name="T4" fmla="*/ 105833 w 432"/>
              <a:gd name="T5" fmla="*/ 41770 h 1007"/>
              <a:gd name="T6" fmla="*/ 124178 w 432"/>
              <a:gd name="T7" fmla="*/ 61747 h 1007"/>
              <a:gd name="T8" fmla="*/ 138289 w 432"/>
              <a:gd name="T9" fmla="*/ 81724 h 1007"/>
              <a:gd name="T10" fmla="*/ 147461 w 432"/>
              <a:gd name="T11" fmla="*/ 112597 h 1007"/>
              <a:gd name="T12" fmla="*/ 152400 w 432"/>
              <a:gd name="T13" fmla="*/ 143471 h 1007"/>
              <a:gd name="T14" fmla="*/ 152400 w 432"/>
              <a:gd name="T15" fmla="*/ 753676 h 1007"/>
              <a:gd name="T16" fmla="*/ 156633 w 432"/>
              <a:gd name="T17" fmla="*/ 784550 h 1007"/>
              <a:gd name="T18" fmla="*/ 165806 w 432"/>
              <a:gd name="T19" fmla="*/ 815423 h 1007"/>
              <a:gd name="T20" fmla="*/ 179917 w 432"/>
              <a:gd name="T21" fmla="*/ 835400 h 1007"/>
              <a:gd name="T22" fmla="*/ 198261 w 432"/>
              <a:gd name="T23" fmla="*/ 866274 h 1007"/>
              <a:gd name="T24" fmla="*/ 244122 w 432"/>
              <a:gd name="T25" fmla="*/ 897147 h 1007"/>
              <a:gd name="T26" fmla="*/ 304094 w 432"/>
              <a:gd name="T27" fmla="*/ 908044 h 1007"/>
              <a:gd name="T28" fmla="*/ 244122 w 432"/>
              <a:gd name="T29" fmla="*/ 918940 h 1007"/>
              <a:gd name="T30" fmla="*/ 198261 w 432"/>
              <a:gd name="T31" fmla="*/ 958894 h 1007"/>
              <a:gd name="T32" fmla="*/ 179917 w 432"/>
              <a:gd name="T33" fmla="*/ 980687 h 1007"/>
              <a:gd name="T34" fmla="*/ 165806 w 432"/>
              <a:gd name="T35" fmla="*/ 1000664 h 1007"/>
              <a:gd name="T36" fmla="*/ 156633 w 432"/>
              <a:gd name="T37" fmla="*/ 1031538 h 1007"/>
              <a:gd name="T38" fmla="*/ 152400 w 432"/>
              <a:gd name="T39" fmla="*/ 1062411 h 1007"/>
              <a:gd name="T40" fmla="*/ 152400 w 432"/>
              <a:gd name="T41" fmla="*/ 1672617 h 1007"/>
              <a:gd name="T42" fmla="*/ 147461 w 432"/>
              <a:gd name="T43" fmla="*/ 1703490 h 1007"/>
              <a:gd name="T44" fmla="*/ 138289 w 432"/>
              <a:gd name="T45" fmla="*/ 1734363 h 1007"/>
              <a:gd name="T46" fmla="*/ 124178 w 432"/>
              <a:gd name="T47" fmla="*/ 1754340 h 1007"/>
              <a:gd name="T48" fmla="*/ 105833 w 432"/>
              <a:gd name="T49" fmla="*/ 1785214 h 1007"/>
              <a:gd name="T50" fmla="*/ 59972 w 432"/>
              <a:gd name="T51" fmla="*/ 1816087 h 1007"/>
              <a:gd name="T52" fmla="*/ 0 w 432"/>
              <a:gd name="T53" fmla="*/ 1826984 h 1007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432"/>
              <a:gd name="T82" fmla="*/ 0 h 1007"/>
              <a:gd name="T83" fmla="*/ 432 w 432"/>
              <a:gd name="T84" fmla="*/ 1007 h 1007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432" h="1007">
                <a:moveTo>
                  <a:pt x="0" y="0"/>
                </a:moveTo>
                <a:lnTo>
                  <a:pt x="85" y="5"/>
                </a:lnTo>
                <a:lnTo>
                  <a:pt x="150" y="23"/>
                </a:lnTo>
                <a:lnTo>
                  <a:pt x="176" y="34"/>
                </a:lnTo>
                <a:lnTo>
                  <a:pt x="196" y="45"/>
                </a:lnTo>
                <a:lnTo>
                  <a:pt x="209" y="62"/>
                </a:lnTo>
                <a:lnTo>
                  <a:pt x="216" y="79"/>
                </a:lnTo>
                <a:lnTo>
                  <a:pt x="216" y="415"/>
                </a:lnTo>
                <a:lnTo>
                  <a:pt x="222" y="432"/>
                </a:lnTo>
                <a:lnTo>
                  <a:pt x="235" y="449"/>
                </a:lnTo>
                <a:lnTo>
                  <a:pt x="255" y="460"/>
                </a:lnTo>
                <a:lnTo>
                  <a:pt x="281" y="477"/>
                </a:lnTo>
                <a:lnTo>
                  <a:pt x="346" y="494"/>
                </a:lnTo>
                <a:lnTo>
                  <a:pt x="431" y="500"/>
                </a:lnTo>
                <a:lnTo>
                  <a:pt x="346" y="506"/>
                </a:lnTo>
                <a:lnTo>
                  <a:pt x="281" y="528"/>
                </a:lnTo>
                <a:lnTo>
                  <a:pt x="255" y="540"/>
                </a:lnTo>
                <a:lnTo>
                  <a:pt x="235" y="551"/>
                </a:lnTo>
                <a:lnTo>
                  <a:pt x="222" y="568"/>
                </a:lnTo>
                <a:lnTo>
                  <a:pt x="216" y="585"/>
                </a:lnTo>
                <a:lnTo>
                  <a:pt x="216" y="921"/>
                </a:lnTo>
                <a:lnTo>
                  <a:pt x="209" y="938"/>
                </a:lnTo>
                <a:lnTo>
                  <a:pt x="196" y="955"/>
                </a:lnTo>
                <a:lnTo>
                  <a:pt x="176" y="966"/>
                </a:lnTo>
                <a:lnTo>
                  <a:pt x="150" y="983"/>
                </a:lnTo>
                <a:lnTo>
                  <a:pt x="85" y="1000"/>
                </a:lnTo>
                <a:lnTo>
                  <a:pt x="0" y="1006"/>
                </a:lnTo>
              </a:path>
            </a:pathLst>
          </a:custGeom>
          <a:noFill/>
          <a:ln w="28575" cap="rnd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50179B86-F197-4B96-971C-1E24249BB0CA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4915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8-</a:t>
            </a:r>
            <a:fld id="{28EBD4CE-524D-4786-A2E0-FE1CF42A0697}" type="slidenum">
              <a:rPr lang="en-US" sz="1000"/>
              <a:pPr algn="r" defTabSz="852488"/>
              <a:t>13</a:t>
            </a:fld>
            <a:endParaRPr lang="en-US" sz="1000"/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822450" y="304800"/>
            <a:ext cx="6032500" cy="838200"/>
          </a:xfrm>
        </p:spPr>
        <p:txBody>
          <a:bodyPr/>
          <a:lstStyle/>
          <a:p>
            <a:pPr defTabSz="914400" eaLnBrk="1" hangingPunct="1"/>
            <a:r>
              <a:rPr lang="id-ID" dirty="0" smtClean="0"/>
              <a:t>Contoh</a:t>
            </a:r>
            <a:endParaRPr lang="en-US" dirty="0" smtClean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467600" cy="4114800"/>
          </a:xfrm>
        </p:spPr>
        <p:txBody>
          <a:bodyPr/>
          <a:lstStyle/>
          <a:p>
            <a:pPr marL="342900" indent="-342900" defTabSz="914400" eaLnBrk="1" hangingPunct="1"/>
            <a:r>
              <a:rPr lang="id-ID" sz="2000" dirty="0" smtClean="0"/>
              <a:t>Suatu penelitian tertarik untuk mengetahui rata2 hasil tangkapan kapal di suatu perairan. Suatu sampel yang terdiri atas 256 kapal menunjukkan bahwa rata2 tangkapan adalah 454.2 kw/bulan. Standar deviasi populasi ini adalah 20.5 kw/bulan. Beberapa pertanyaan yg ingin dijawab dr penelitian tsb:</a:t>
            </a:r>
          </a:p>
          <a:p>
            <a:pPr marL="715963" lvl="1" indent="-342900" defTabSz="914400"/>
            <a:r>
              <a:rPr lang="id-ID" sz="1600" dirty="0" smtClean="0"/>
              <a:t>Berapa rata2 populasi?</a:t>
            </a:r>
          </a:p>
          <a:p>
            <a:pPr marL="715963" lvl="1" indent="-342900" defTabSz="914400"/>
            <a:r>
              <a:rPr lang="id-ID" sz="1600" dirty="0" smtClean="0"/>
              <a:t>Berapa kisaran nilai rata2 populasi bila diinginkan tingkat konfidensi 95%?</a:t>
            </a:r>
          </a:p>
          <a:p>
            <a:pPr marL="715963" lvl="1" indent="-342900" defTabSz="914400"/>
            <a:r>
              <a:rPr lang="id-ID" sz="1600" dirty="0" smtClean="0"/>
              <a:t>Bagaimana menginterpretasi hasil tsb?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90600" y="5410200"/>
            <a:ext cx="3352800" cy="609600"/>
          </a:xfrm>
          <a:prstGeom prst="rect">
            <a:avLst/>
          </a:prstGeom>
          <a:solidFill>
            <a:srgbClr val="FDE0BD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Rata2 populasi</a:t>
            </a:r>
            <a:r>
              <a:rPr lang="id-ID" dirty="0" smtClean="0">
                <a:sym typeface="Wingdings" pitchFamily="2" charset="2"/>
              </a:rPr>
              <a:t> diestimasi sekitar 454.2 </a:t>
            </a:r>
            <a:r>
              <a:rPr lang="en-US" dirty="0" smtClean="0">
                <a:sym typeface="Wingdings" pitchFamily="2" charset="2"/>
              </a:rPr>
              <a:t>kw</a:t>
            </a:r>
            <a:r>
              <a:rPr lang="id-ID" dirty="0" smtClean="0">
                <a:sym typeface="Wingdings" pitchFamily="2" charset="2"/>
              </a:rPr>
              <a:t>/</a:t>
            </a:r>
            <a:r>
              <a:rPr lang="en-US" dirty="0" err="1" smtClean="0">
                <a:sym typeface="Wingdings" pitchFamily="2" charset="2"/>
              </a:rPr>
              <a:t>bulan</a:t>
            </a:r>
            <a:r>
              <a:rPr lang="id-ID" dirty="0" smtClean="0">
                <a:sym typeface="Wingdings" pitchFamily="2" charset="2"/>
              </a:rPr>
              <a:t> (estimasi titik)</a:t>
            </a:r>
          </a:p>
          <a:p>
            <a:r>
              <a:rPr lang="id-ID" dirty="0" smtClean="0">
                <a:sym typeface="Wingdings" pitchFamily="2" charset="2"/>
              </a:rPr>
              <a:t>Kisaran rata2 populasi</a:t>
            </a:r>
            <a:endParaRPr lang="id-ID" dirty="0"/>
          </a:p>
        </p:txBody>
      </p:sp>
      <p:graphicFrame>
        <p:nvGraphicFramePr>
          <p:cNvPr id="277506" name="Object 3"/>
          <p:cNvGraphicFramePr>
            <a:graphicFrameLocks noChangeAspect="1"/>
          </p:cNvGraphicFramePr>
          <p:nvPr/>
        </p:nvGraphicFramePr>
        <p:xfrm>
          <a:off x="1219200" y="3505200"/>
          <a:ext cx="49022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68" name="Equation" r:id="rId3" imgW="2298600" imgH="1143000" progId="Equation.DSMT4">
                  <p:embed/>
                </p:oleObj>
              </mc:Choice>
              <mc:Fallback>
                <p:oleObj name="Equation" r:id="rId3" imgW="2298600" imgH="1143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505200"/>
                        <a:ext cx="4902200" cy="243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D26FCDA9-4762-40E5-B4AE-1AC80AAF56D0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5222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8-</a:t>
            </a:r>
            <a:fld id="{C94CC463-8F0D-4D2B-8DE7-E1C651AEA03D}" type="slidenum">
              <a:rPr lang="en-US" sz="1000"/>
              <a:pPr algn="r" defTabSz="852488"/>
              <a:t>15</a:t>
            </a:fld>
            <a:endParaRPr lang="en-US" sz="100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305800" cy="4724400"/>
          </a:xfrm>
        </p:spPr>
        <p:txBody>
          <a:bodyPr/>
          <a:lstStyle/>
          <a:p>
            <a:pPr marL="342900" indent="-342900" defTabSz="914400" eaLnBrk="1" hangingPunct="1">
              <a:lnSpc>
                <a:spcPct val="105000"/>
              </a:lnSpc>
              <a:spcBef>
                <a:spcPct val="40000"/>
              </a:spcBef>
            </a:pPr>
            <a:r>
              <a:rPr lang="id-ID" sz="3200" dirty="0" smtClean="0"/>
              <a:t>Interpretasi</a:t>
            </a:r>
          </a:p>
          <a:p>
            <a:pPr marL="715963" lvl="1" indent="-342900" defTabSz="914400">
              <a:lnSpc>
                <a:spcPct val="105000"/>
              </a:lnSpc>
              <a:spcBef>
                <a:spcPct val="40000"/>
              </a:spcBef>
            </a:pPr>
            <a:r>
              <a:rPr lang="id-ID" dirty="0" smtClean="0">
                <a:solidFill>
                  <a:schemeClr val="folHlink"/>
                </a:solidFill>
              </a:rPr>
              <a:t>Dengan tingkat keyakinan 95%, rata2 sebenarnya dari hasil tangkapan kapal berkisar antara 451.69 – 456.71 kw/bulan.  </a:t>
            </a:r>
          </a:p>
          <a:p>
            <a:pPr marL="715963" lvl="1" indent="-342900" defTabSz="914400">
              <a:lnSpc>
                <a:spcPct val="105000"/>
              </a:lnSpc>
              <a:spcBef>
                <a:spcPct val="40000"/>
              </a:spcBef>
            </a:pPr>
            <a:r>
              <a:rPr lang="id-ID" dirty="0" smtClean="0">
                <a:solidFill>
                  <a:schemeClr val="folHlink"/>
                </a:solidFill>
              </a:rPr>
              <a:t>Mesikupun rata2 sebenarnya boleh jadi tidak ada dalam interval ini, namun 95% interval konfidensi yang dibentuk dengan cara ini akan memuat nilai rata2 populasi</a:t>
            </a:r>
            <a:endParaRPr lang="en-US" sz="1200" dirty="0" smtClean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6" name="Freeform 12"/>
          <p:cNvSpPr>
            <a:spLocks/>
          </p:cNvSpPr>
          <p:nvPr/>
        </p:nvSpPr>
        <p:spPr bwMode="auto">
          <a:xfrm>
            <a:off x="2971800" y="4724400"/>
            <a:ext cx="1724025" cy="1179513"/>
          </a:xfrm>
          <a:custGeom>
            <a:avLst/>
            <a:gdLst>
              <a:gd name="T0" fmla="*/ 0 w 1086"/>
              <a:gd name="T1" fmla="*/ 1177925 h 743"/>
              <a:gd name="T2" fmla="*/ 1722438 w 1086"/>
              <a:gd name="T3" fmla="*/ 1177925 h 743"/>
              <a:gd name="T4" fmla="*/ 1722438 w 1086"/>
              <a:gd name="T5" fmla="*/ 0 h 743"/>
              <a:gd name="T6" fmla="*/ 0 w 1086"/>
              <a:gd name="T7" fmla="*/ 0 h 743"/>
              <a:gd name="T8" fmla="*/ 0 w 1086"/>
              <a:gd name="T9" fmla="*/ 1177925 h 7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6"/>
              <a:gd name="T16" fmla="*/ 0 h 743"/>
              <a:gd name="T17" fmla="*/ 1086 w 1086"/>
              <a:gd name="T18" fmla="*/ 743 h 7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6" h="743">
                <a:moveTo>
                  <a:pt x="0" y="742"/>
                </a:moveTo>
                <a:lnTo>
                  <a:pt x="1085" y="742"/>
                </a:lnTo>
                <a:lnTo>
                  <a:pt x="1085" y="0"/>
                </a:lnTo>
                <a:lnTo>
                  <a:pt x="0" y="0"/>
                </a:lnTo>
                <a:lnTo>
                  <a:pt x="0" y="742"/>
                </a:lnTo>
              </a:path>
            </a:pathLst>
          </a:custGeom>
          <a:solidFill>
            <a:srgbClr val="FDE0BD"/>
          </a:solidFill>
          <a:ln w="25400" cap="rnd">
            <a:solidFill>
              <a:srgbClr val="1A1A1A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C8920F6A-1A8B-4E55-B024-5F9E7A1A51BF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3686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8-</a:t>
            </a:r>
            <a:fld id="{15BE9AAB-C6DE-43A6-8D9B-6E95D9776E31}" type="slidenum">
              <a:rPr lang="en-US" sz="1000"/>
              <a:pPr algn="r" defTabSz="852488"/>
              <a:t>16</a:t>
            </a:fld>
            <a:endParaRPr lang="en-US" sz="1000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dirty="0" smtClean="0"/>
              <a:t>Interval Konfidensi</a:t>
            </a:r>
            <a:endParaRPr lang="en-US" dirty="0" smtClean="0"/>
          </a:p>
        </p:txBody>
      </p:sp>
      <p:sp>
        <p:nvSpPr>
          <p:cNvPr id="36867" name="Freeform 3"/>
          <p:cNvSpPr>
            <a:spLocks/>
          </p:cNvSpPr>
          <p:nvPr/>
        </p:nvSpPr>
        <p:spPr bwMode="auto">
          <a:xfrm>
            <a:off x="1914525" y="3135313"/>
            <a:ext cx="1819275" cy="979487"/>
          </a:xfrm>
          <a:custGeom>
            <a:avLst/>
            <a:gdLst>
              <a:gd name="T0" fmla="*/ 0 w 1068"/>
              <a:gd name="T1" fmla="*/ 977204 h 429"/>
              <a:gd name="T2" fmla="*/ 1817572 w 1068"/>
              <a:gd name="T3" fmla="*/ 977204 h 429"/>
              <a:gd name="T4" fmla="*/ 1817572 w 1068"/>
              <a:gd name="T5" fmla="*/ 0 h 429"/>
              <a:gd name="T6" fmla="*/ 0 w 1068"/>
              <a:gd name="T7" fmla="*/ 0 h 429"/>
              <a:gd name="T8" fmla="*/ 0 w 1068"/>
              <a:gd name="T9" fmla="*/ 977204 h 42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68"/>
              <a:gd name="T16" fmla="*/ 0 h 429"/>
              <a:gd name="T17" fmla="*/ 1068 w 1068"/>
              <a:gd name="T18" fmla="*/ 429 h 42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68" h="429">
                <a:moveTo>
                  <a:pt x="0" y="428"/>
                </a:moveTo>
                <a:lnTo>
                  <a:pt x="1067" y="428"/>
                </a:lnTo>
                <a:lnTo>
                  <a:pt x="1067" y="0"/>
                </a:lnTo>
                <a:lnTo>
                  <a:pt x="0" y="0"/>
                </a:lnTo>
                <a:lnTo>
                  <a:pt x="0" y="428"/>
                </a:lnTo>
              </a:path>
            </a:pathLst>
          </a:custGeom>
          <a:solidFill>
            <a:srgbClr val="C7DAF7"/>
          </a:solidFill>
          <a:ln w="25400" cap="rnd">
            <a:solidFill>
              <a:srgbClr val="1A1A1A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1905000" y="3200400"/>
            <a:ext cx="1785747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id-ID" b="1" dirty="0" smtClean="0"/>
              <a:t>Mean populasi</a:t>
            </a:r>
            <a:endParaRPr lang="en-US" b="1" dirty="0"/>
          </a:p>
        </p:txBody>
      </p:sp>
      <p:sp>
        <p:nvSpPr>
          <p:cNvPr id="36869" name="Freeform 5"/>
          <p:cNvSpPr>
            <a:spLocks/>
          </p:cNvSpPr>
          <p:nvPr/>
        </p:nvSpPr>
        <p:spPr bwMode="auto">
          <a:xfrm>
            <a:off x="914400" y="4724400"/>
            <a:ext cx="1814513" cy="1179513"/>
          </a:xfrm>
          <a:custGeom>
            <a:avLst/>
            <a:gdLst>
              <a:gd name="T0" fmla="*/ 0 w 1143"/>
              <a:gd name="T1" fmla="*/ 1177925 h 743"/>
              <a:gd name="T2" fmla="*/ 1812926 w 1143"/>
              <a:gd name="T3" fmla="*/ 1177925 h 743"/>
              <a:gd name="T4" fmla="*/ 1812926 w 1143"/>
              <a:gd name="T5" fmla="*/ 0 h 743"/>
              <a:gd name="T6" fmla="*/ 0 w 1143"/>
              <a:gd name="T7" fmla="*/ 0 h 743"/>
              <a:gd name="T8" fmla="*/ 0 w 1143"/>
              <a:gd name="T9" fmla="*/ 1177925 h 7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43"/>
              <a:gd name="T16" fmla="*/ 0 h 743"/>
              <a:gd name="T17" fmla="*/ 1143 w 1143"/>
              <a:gd name="T18" fmla="*/ 743 h 7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43" h="743">
                <a:moveTo>
                  <a:pt x="0" y="742"/>
                </a:moveTo>
                <a:lnTo>
                  <a:pt x="1142" y="742"/>
                </a:lnTo>
                <a:lnTo>
                  <a:pt x="1142" y="0"/>
                </a:lnTo>
                <a:lnTo>
                  <a:pt x="0" y="0"/>
                </a:lnTo>
                <a:lnTo>
                  <a:pt x="0" y="742"/>
                </a:lnTo>
              </a:path>
            </a:pathLst>
          </a:custGeom>
          <a:solidFill>
            <a:srgbClr val="C7DAF7"/>
          </a:solidFill>
          <a:ln w="25400" cap="rnd">
            <a:solidFill>
              <a:srgbClr val="1A1A1A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3276600" y="4953000"/>
            <a:ext cx="1195841" cy="6437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1" dirty="0"/>
              <a:t> </a:t>
            </a:r>
            <a:r>
              <a:rPr lang="el-GR" b="1" dirty="0">
                <a:cs typeface="Arial" charset="0"/>
              </a:rPr>
              <a:t>σ</a:t>
            </a:r>
            <a:r>
              <a:rPr lang="en-US" b="1" dirty="0">
                <a:cs typeface="Arial" charset="0"/>
              </a:rPr>
              <a:t> </a:t>
            </a:r>
            <a:r>
              <a:rPr lang="id-ID" b="1" dirty="0" smtClean="0"/>
              <a:t>tidak </a:t>
            </a:r>
          </a:p>
          <a:p>
            <a:pPr eaLnBrk="0" hangingPunct="0"/>
            <a:r>
              <a:rPr lang="id-ID" b="1" dirty="0" smtClean="0"/>
              <a:t>diketahui</a:t>
            </a:r>
            <a:endParaRPr lang="en-US" b="1" dirty="0"/>
          </a:p>
        </p:txBody>
      </p:sp>
      <p:sp>
        <p:nvSpPr>
          <p:cNvPr id="36871" name="Freeform 7"/>
          <p:cNvSpPr>
            <a:spLocks/>
          </p:cNvSpPr>
          <p:nvPr/>
        </p:nvSpPr>
        <p:spPr bwMode="auto">
          <a:xfrm>
            <a:off x="3657600" y="1676400"/>
            <a:ext cx="1981200" cy="1006475"/>
          </a:xfrm>
          <a:custGeom>
            <a:avLst/>
            <a:gdLst>
              <a:gd name="T0" fmla="*/ 0 w 1115"/>
              <a:gd name="T1" fmla="*/ 1004517 h 514"/>
              <a:gd name="T2" fmla="*/ 1979423 w 1115"/>
              <a:gd name="T3" fmla="*/ 1004517 h 514"/>
              <a:gd name="T4" fmla="*/ 1979423 w 1115"/>
              <a:gd name="T5" fmla="*/ 0 h 514"/>
              <a:gd name="T6" fmla="*/ 0 w 1115"/>
              <a:gd name="T7" fmla="*/ 0 h 514"/>
              <a:gd name="T8" fmla="*/ 0 w 1115"/>
              <a:gd name="T9" fmla="*/ 1004517 h 5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15"/>
              <a:gd name="T16" fmla="*/ 0 h 514"/>
              <a:gd name="T17" fmla="*/ 1115 w 1115"/>
              <a:gd name="T18" fmla="*/ 514 h 5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15" h="514">
                <a:moveTo>
                  <a:pt x="0" y="513"/>
                </a:moveTo>
                <a:lnTo>
                  <a:pt x="1114" y="513"/>
                </a:lnTo>
                <a:lnTo>
                  <a:pt x="1114" y="0"/>
                </a:lnTo>
                <a:lnTo>
                  <a:pt x="0" y="0"/>
                </a:lnTo>
                <a:lnTo>
                  <a:pt x="0" y="513"/>
                </a:lnTo>
              </a:path>
            </a:pathLst>
          </a:custGeom>
          <a:solidFill>
            <a:srgbClr val="C7DAF7"/>
          </a:solidFill>
          <a:ln w="25400" cap="rnd">
            <a:solidFill>
              <a:srgbClr val="1A1A1A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3733800" y="1752600"/>
            <a:ext cx="1375378" cy="6437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id-ID" b="1" dirty="0" smtClean="0"/>
              <a:t>Interval </a:t>
            </a:r>
          </a:p>
          <a:p>
            <a:pPr eaLnBrk="0" hangingPunct="0"/>
            <a:r>
              <a:rPr lang="id-ID" b="1" dirty="0" smtClean="0"/>
              <a:t>Konfidensi</a:t>
            </a:r>
            <a:endParaRPr lang="en-US" b="1" dirty="0"/>
          </a:p>
        </p:txBody>
      </p:sp>
      <p:sp>
        <p:nvSpPr>
          <p:cNvPr id="36874" name="Freeform 10"/>
          <p:cNvSpPr>
            <a:spLocks/>
          </p:cNvSpPr>
          <p:nvPr/>
        </p:nvSpPr>
        <p:spPr bwMode="auto">
          <a:xfrm>
            <a:off x="6172200" y="3124200"/>
            <a:ext cx="2057400" cy="1066800"/>
          </a:xfrm>
          <a:custGeom>
            <a:avLst/>
            <a:gdLst>
              <a:gd name="T0" fmla="*/ 0 w 1241"/>
              <a:gd name="T1" fmla="*/ 1064353 h 436"/>
              <a:gd name="T2" fmla="*/ 2055742 w 1241"/>
              <a:gd name="T3" fmla="*/ 1064353 h 436"/>
              <a:gd name="T4" fmla="*/ 2055742 w 1241"/>
              <a:gd name="T5" fmla="*/ 0 h 436"/>
              <a:gd name="T6" fmla="*/ 0 w 1241"/>
              <a:gd name="T7" fmla="*/ 0 h 436"/>
              <a:gd name="T8" fmla="*/ 0 w 1241"/>
              <a:gd name="T9" fmla="*/ 1064353 h 4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41"/>
              <a:gd name="T16" fmla="*/ 0 h 436"/>
              <a:gd name="T17" fmla="*/ 1241 w 1241"/>
              <a:gd name="T18" fmla="*/ 436 h 4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41" h="436">
                <a:moveTo>
                  <a:pt x="0" y="435"/>
                </a:moveTo>
                <a:lnTo>
                  <a:pt x="1240" y="435"/>
                </a:lnTo>
                <a:lnTo>
                  <a:pt x="1240" y="0"/>
                </a:lnTo>
                <a:lnTo>
                  <a:pt x="0" y="0"/>
                </a:lnTo>
                <a:lnTo>
                  <a:pt x="0" y="435"/>
                </a:lnTo>
              </a:path>
            </a:pathLst>
          </a:custGeom>
          <a:solidFill>
            <a:srgbClr val="C7DAF7"/>
          </a:solidFill>
          <a:ln w="25400" cap="rnd">
            <a:solidFill>
              <a:srgbClr val="1A1A1A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75" name="Rectangle 11"/>
          <p:cNvSpPr>
            <a:spLocks noChangeArrowheads="1"/>
          </p:cNvSpPr>
          <p:nvPr/>
        </p:nvSpPr>
        <p:spPr bwMode="auto">
          <a:xfrm>
            <a:off x="6288088" y="3257550"/>
            <a:ext cx="1865312" cy="6437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id-ID" b="1" dirty="0" smtClean="0"/>
              <a:t>Proporsi populasi</a:t>
            </a:r>
            <a:endParaRPr lang="en-US" b="1" dirty="0"/>
          </a:p>
        </p:txBody>
      </p:sp>
      <p:sp>
        <p:nvSpPr>
          <p:cNvPr id="36877" name="Rectangle 13"/>
          <p:cNvSpPr>
            <a:spLocks noChangeArrowheads="1"/>
          </p:cNvSpPr>
          <p:nvPr/>
        </p:nvSpPr>
        <p:spPr bwMode="auto">
          <a:xfrm>
            <a:off x="990600" y="5162550"/>
            <a:ext cx="1482779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1" dirty="0"/>
              <a:t> </a:t>
            </a:r>
            <a:r>
              <a:rPr lang="el-GR" b="1" dirty="0">
                <a:cs typeface="Arial" charset="0"/>
              </a:rPr>
              <a:t>σ</a:t>
            </a:r>
            <a:r>
              <a:rPr lang="en-US" b="1" dirty="0">
                <a:cs typeface="Arial" charset="0"/>
              </a:rPr>
              <a:t> </a:t>
            </a:r>
            <a:r>
              <a:rPr lang="id-ID" b="1" dirty="0" smtClean="0"/>
              <a:t>diketahui</a:t>
            </a:r>
            <a:endParaRPr lang="en-US" b="1" dirty="0"/>
          </a:p>
        </p:txBody>
      </p:sp>
      <p:sp>
        <p:nvSpPr>
          <p:cNvPr id="36878" name="Rectangle 14"/>
          <p:cNvSpPr>
            <a:spLocks noChangeArrowheads="1"/>
          </p:cNvSpPr>
          <p:nvPr/>
        </p:nvSpPr>
        <p:spPr bwMode="auto">
          <a:xfrm>
            <a:off x="2362200" y="5387975"/>
            <a:ext cx="184150" cy="92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9" name="Line 15"/>
          <p:cNvSpPr>
            <a:spLocks noChangeShapeType="1"/>
          </p:cNvSpPr>
          <p:nvPr/>
        </p:nvSpPr>
        <p:spPr bwMode="auto">
          <a:xfrm>
            <a:off x="4648200" y="26670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6880" name="Line 16"/>
          <p:cNvSpPr>
            <a:spLocks noChangeShapeType="1"/>
          </p:cNvSpPr>
          <p:nvPr/>
        </p:nvSpPr>
        <p:spPr bwMode="auto">
          <a:xfrm>
            <a:off x="2819400" y="2895600"/>
            <a:ext cx="434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6881" name="Line 17"/>
          <p:cNvSpPr>
            <a:spLocks noChangeShapeType="1"/>
          </p:cNvSpPr>
          <p:nvPr/>
        </p:nvSpPr>
        <p:spPr bwMode="auto">
          <a:xfrm>
            <a:off x="2819400" y="28956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6882" name="Line 18"/>
          <p:cNvSpPr>
            <a:spLocks noChangeShapeType="1"/>
          </p:cNvSpPr>
          <p:nvPr/>
        </p:nvSpPr>
        <p:spPr bwMode="auto">
          <a:xfrm>
            <a:off x="7162800" y="28956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6883" name="Line 19"/>
          <p:cNvSpPr>
            <a:spLocks noChangeShapeType="1"/>
          </p:cNvSpPr>
          <p:nvPr/>
        </p:nvSpPr>
        <p:spPr bwMode="auto">
          <a:xfrm>
            <a:off x="2819400" y="41148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6884" name="Line 20"/>
          <p:cNvSpPr>
            <a:spLocks noChangeShapeType="1"/>
          </p:cNvSpPr>
          <p:nvPr/>
        </p:nvSpPr>
        <p:spPr bwMode="auto">
          <a:xfrm>
            <a:off x="1752600" y="4343400"/>
            <a:ext cx="2057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6885" name="Line 21"/>
          <p:cNvSpPr>
            <a:spLocks noChangeShapeType="1"/>
          </p:cNvSpPr>
          <p:nvPr/>
        </p:nvSpPr>
        <p:spPr bwMode="auto">
          <a:xfrm>
            <a:off x="1752600" y="43434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6886" name="Line 22"/>
          <p:cNvSpPr>
            <a:spLocks noChangeShapeType="1"/>
          </p:cNvSpPr>
          <p:nvPr/>
        </p:nvSpPr>
        <p:spPr bwMode="auto">
          <a:xfrm>
            <a:off x="3810000" y="43434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55D2CE8D-220B-4C78-965E-6FBCCCF83112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en-US"/>
              <a:t>Copyright ©2012 Pearson Education, Inc. publishing as Prentice Hall</a:t>
            </a:r>
          </a:p>
        </p:txBody>
      </p:sp>
      <p:sp>
        <p:nvSpPr>
          <p:cNvPr id="5427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8-</a:t>
            </a:r>
            <a:fld id="{BE83914F-30E8-4074-96E7-5468577EB7F7}" type="slidenum">
              <a:rPr lang="en-US" sz="1000"/>
              <a:pPr algn="r" defTabSz="852488"/>
              <a:t>17</a:t>
            </a:fld>
            <a:endParaRPr lang="en-US" sz="1000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dirty="0" smtClean="0"/>
              <a:t>Apakah standar deviasi populasi</a:t>
            </a:r>
            <a:r>
              <a:rPr lang="en-US" dirty="0" smtClean="0"/>
              <a:t> </a:t>
            </a:r>
            <a:r>
              <a:rPr lang="id-ID" dirty="0" smtClean="0"/>
              <a:t>(</a:t>
            </a:r>
            <a:r>
              <a:rPr lang="el-GR" dirty="0" smtClean="0">
                <a:cs typeface="Arial" charset="0"/>
              </a:rPr>
              <a:t>σ</a:t>
            </a:r>
            <a:r>
              <a:rPr lang="id-ID" dirty="0" smtClean="0">
                <a:cs typeface="Arial" charset="0"/>
              </a:rPr>
              <a:t>) selalu diketahui</a:t>
            </a:r>
            <a:r>
              <a:rPr lang="en-US" dirty="0" smtClean="0">
                <a:cs typeface="Arial" charset="0"/>
              </a:rPr>
              <a:t>?</a:t>
            </a:r>
            <a:endParaRPr lang="el-GR" dirty="0" smtClean="0">
              <a:cs typeface="Arial" charset="0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d-ID" sz="2400" dirty="0" smtClean="0"/>
              <a:t>Tentu saja tidak</a:t>
            </a:r>
            <a:endParaRPr lang="en-US" sz="2400" dirty="0" smtClean="0"/>
          </a:p>
          <a:p>
            <a:pPr eaLnBrk="1" hangingPunct="1"/>
            <a:endParaRPr lang="en-US" sz="2400" dirty="0" smtClean="0"/>
          </a:p>
          <a:p>
            <a:pPr eaLnBrk="1" hangingPunct="1"/>
            <a:r>
              <a:rPr lang="id-ID" sz="2400" dirty="0" smtClean="0"/>
              <a:t>Dalam dunia nyata, </a:t>
            </a:r>
            <a:r>
              <a:rPr lang="el-GR" sz="2400" dirty="0" smtClean="0">
                <a:cs typeface="Arial" charset="0"/>
              </a:rPr>
              <a:t>σ</a:t>
            </a:r>
            <a:r>
              <a:rPr lang="en-US" sz="2400" dirty="0" smtClean="0">
                <a:cs typeface="Arial" charset="0"/>
              </a:rPr>
              <a:t> </a:t>
            </a:r>
            <a:r>
              <a:rPr lang="id-ID" sz="2400" dirty="0" smtClean="0">
                <a:cs typeface="Arial" charset="0"/>
              </a:rPr>
              <a:t>sangat jarang diketahui</a:t>
            </a:r>
            <a:endParaRPr lang="en-US" sz="2400" dirty="0" smtClean="0">
              <a:cs typeface="Arial" charset="0"/>
            </a:endParaRPr>
          </a:p>
          <a:p>
            <a:pPr eaLnBrk="1" hangingPunct="1"/>
            <a:endParaRPr lang="en-US" sz="2400" dirty="0" smtClean="0">
              <a:cs typeface="Arial" charset="0"/>
            </a:endParaRPr>
          </a:p>
          <a:p>
            <a:pPr eaLnBrk="1" hangingPunct="1"/>
            <a:r>
              <a:rPr lang="id-ID" sz="2400" dirty="0" smtClean="0"/>
              <a:t>Jika ada situasi dimana </a:t>
            </a:r>
            <a:r>
              <a:rPr lang="el-GR" sz="2400" dirty="0" smtClean="0">
                <a:cs typeface="Arial" charset="0"/>
              </a:rPr>
              <a:t>σ</a:t>
            </a:r>
            <a:r>
              <a:rPr lang="en-US" sz="2400" dirty="0" smtClean="0">
                <a:cs typeface="Arial" charset="0"/>
              </a:rPr>
              <a:t> </a:t>
            </a:r>
            <a:r>
              <a:rPr lang="id-ID" sz="2400" dirty="0" smtClean="0">
                <a:cs typeface="Arial" charset="0"/>
              </a:rPr>
              <a:t>diketahui</a:t>
            </a:r>
            <a:r>
              <a:rPr lang="en-US" sz="2400" dirty="0" smtClean="0">
                <a:cs typeface="Arial" charset="0"/>
              </a:rPr>
              <a:t>, </a:t>
            </a:r>
            <a:r>
              <a:rPr lang="id-ID" sz="2400" dirty="0" smtClean="0">
                <a:cs typeface="Arial" charset="0"/>
              </a:rPr>
              <a:t>maka</a:t>
            </a:r>
            <a:r>
              <a:rPr lang="en-US" sz="2400" dirty="0" smtClean="0">
                <a:cs typeface="Arial" charset="0"/>
              </a:rPr>
              <a:t> µ </a:t>
            </a:r>
            <a:r>
              <a:rPr lang="id-ID" sz="2400" dirty="0" smtClean="0">
                <a:cs typeface="Arial" charset="0"/>
              </a:rPr>
              <a:t>juga pasti diketahui</a:t>
            </a:r>
          </a:p>
          <a:p>
            <a:pPr eaLnBrk="1" hangingPunct="1"/>
            <a:endParaRPr lang="en-US" sz="2400" dirty="0" smtClean="0">
              <a:cs typeface="Arial" charset="0"/>
            </a:endParaRPr>
          </a:p>
          <a:p>
            <a:pPr eaLnBrk="1" hangingPunct="1"/>
            <a:r>
              <a:rPr lang="id-ID" sz="2400" dirty="0" smtClean="0">
                <a:cs typeface="Arial" charset="0"/>
              </a:rPr>
              <a:t>Jika </a:t>
            </a:r>
            <a:r>
              <a:rPr lang="en-US" sz="2400" dirty="0" smtClean="0">
                <a:cs typeface="Arial" charset="0"/>
              </a:rPr>
              <a:t>µ </a:t>
            </a:r>
            <a:r>
              <a:rPr lang="id-ID" sz="2400" dirty="0" smtClean="0">
                <a:cs typeface="Arial" charset="0"/>
              </a:rPr>
              <a:t>diketahui, maka kita tidak perlu repot untuk mengumpulkan data sampel</a:t>
            </a:r>
            <a:endParaRPr lang="en-US" sz="2400" dirty="0" smtClean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DD597BB6-C37C-4115-AA07-BBD3AFF8FEB0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62000" y="1828800"/>
            <a:ext cx="8001000" cy="44958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id-ID" sz="3200" dirty="0" smtClean="0"/>
              <a:t>Jika standar deviasi populasi </a:t>
            </a:r>
            <a:r>
              <a:rPr lang="el-GR" sz="3200" dirty="0" smtClean="0">
                <a:cs typeface="Arial" charset="0"/>
                <a:sym typeface="Symbol" pitchFamily="18" charset="2"/>
              </a:rPr>
              <a:t>σ</a:t>
            </a:r>
            <a:r>
              <a:rPr lang="en-US" sz="3200" dirty="0" smtClean="0">
                <a:sym typeface="Symbol" pitchFamily="18" charset="2"/>
              </a:rPr>
              <a:t>  </a:t>
            </a:r>
            <a:r>
              <a:rPr lang="id-ID" sz="3200" dirty="0" smtClean="0">
                <a:sym typeface="Symbol" pitchFamily="18" charset="2"/>
              </a:rPr>
              <a:t>tidak diketahui</a:t>
            </a:r>
            <a:r>
              <a:rPr lang="en-US" sz="3200" dirty="0" smtClean="0">
                <a:sym typeface="Symbol" pitchFamily="18" charset="2"/>
              </a:rPr>
              <a:t>, </a:t>
            </a:r>
            <a:r>
              <a:rPr lang="id-ID" sz="3200" dirty="0" smtClean="0">
                <a:sym typeface="Symbol" pitchFamily="18" charset="2"/>
              </a:rPr>
              <a:t>kita dapat </a:t>
            </a:r>
            <a:r>
              <a:rPr lang="id-ID" sz="3200" dirty="0" smtClean="0">
                <a:solidFill>
                  <a:schemeClr val="folHlink"/>
                </a:solidFill>
                <a:sym typeface="Symbol" pitchFamily="18" charset="2"/>
              </a:rPr>
              <a:t>menggantinya dengan standar deviasi sampel,</a:t>
            </a:r>
            <a:r>
              <a:rPr lang="en-US" sz="3200" dirty="0" smtClean="0">
                <a:solidFill>
                  <a:schemeClr val="folHlink"/>
                </a:solidFill>
                <a:sym typeface="Symbol" pitchFamily="18" charset="2"/>
              </a:rPr>
              <a:t> S</a:t>
            </a:r>
            <a:r>
              <a:rPr lang="en-US" sz="3200" dirty="0" smtClean="0">
                <a:sym typeface="Symbol" pitchFamily="18" charset="2"/>
              </a:rPr>
              <a:t> </a:t>
            </a:r>
            <a:r>
              <a:rPr lang="id-ID" sz="3200" dirty="0" smtClean="0">
                <a:sym typeface="Symbol" pitchFamily="18" charset="2"/>
              </a:rPr>
              <a:t>.</a:t>
            </a:r>
            <a:endParaRPr lang="en-US" sz="3200" dirty="0" smtClean="0">
              <a:sym typeface="Symbol" pitchFamily="18" charset="2"/>
            </a:endParaRPr>
          </a:p>
          <a:p>
            <a:pPr eaLnBrk="1" hangingPunct="1">
              <a:spcBef>
                <a:spcPct val="60000"/>
              </a:spcBef>
            </a:pPr>
            <a:r>
              <a:rPr lang="id-ID" sz="3200" dirty="0" smtClean="0">
                <a:sym typeface="Symbol" pitchFamily="18" charset="2"/>
              </a:rPr>
              <a:t>Konsekuensinya, ketidakpastian menjadi meningkat, karena </a:t>
            </a:r>
            <a:r>
              <a:rPr lang="en-US" sz="3200" dirty="0" smtClean="0">
                <a:sym typeface="Symbol" pitchFamily="18" charset="2"/>
              </a:rPr>
              <a:t>S  </a:t>
            </a:r>
            <a:r>
              <a:rPr lang="id-ID" sz="3200" dirty="0" smtClean="0">
                <a:sym typeface="Symbol" pitchFamily="18" charset="2"/>
              </a:rPr>
              <a:t>bervariasi antar sampel</a:t>
            </a:r>
          </a:p>
          <a:p>
            <a:pPr eaLnBrk="1" hangingPunct="1">
              <a:spcBef>
                <a:spcPct val="60000"/>
              </a:spcBef>
            </a:pPr>
            <a:r>
              <a:rPr lang="id-ID" sz="3200" dirty="0" smtClean="0">
                <a:sym typeface="Symbol" pitchFamily="18" charset="2"/>
              </a:rPr>
              <a:t>Dengan demikian, digunakan </a:t>
            </a:r>
            <a:r>
              <a:rPr lang="en-US" sz="3200" dirty="0" err="1" smtClean="0">
                <a:solidFill>
                  <a:schemeClr val="folHlink"/>
                </a:solidFill>
                <a:sym typeface="Symbol" pitchFamily="18" charset="2"/>
              </a:rPr>
              <a:t>distribu</a:t>
            </a:r>
            <a:r>
              <a:rPr lang="id-ID" sz="3200" dirty="0" smtClean="0">
                <a:solidFill>
                  <a:schemeClr val="folHlink"/>
                </a:solidFill>
                <a:sym typeface="Symbol" pitchFamily="18" charset="2"/>
              </a:rPr>
              <a:t>si-t</a:t>
            </a:r>
            <a:r>
              <a:rPr lang="en-US" sz="3200" dirty="0" smtClean="0">
                <a:sym typeface="Symbol" pitchFamily="18" charset="2"/>
              </a:rPr>
              <a:t> </a:t>
            </a:r>
            <a:r>
              <a:rPr lang="id-ID" sz="3200" dirty="0" smtClean="0">
                <a:sym typeface="Symbol" pitchFamily="18" charset="2"/>
              </a:rPr>
              <a:t>bukan distribusi normal</a:t>
            </a:r>
            <a:endParaRPr lang="en-US" sz="3200" dirty="0" smtClean="0">
              <a:sym typeface="Symbol" pitchFamily="18" charset="2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793038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d-ID" dirty="0" smtClean="0"/>
              <a:t>Interval Konfidensi Bagi</a:t>
            </a:r>
            <a:r>
              <a:rPr lang="en-US" dirty="0" smtClean="0"/>
              <a:t> </a:t>
            </a:r>
            <a:r>
              <a:rPr lang="el-GR" dirty="0" smtClean="0">
                <a:cs typeface="Arial" charset="0"/>
              </a:rPr>
              <a:t>μ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l-GR" dirty="0" smtClean="0">
                <a:cs typeface="Arial" charset="0"/>
              </a:rPr>
              <a:t>σ</a:t>
            </a:r>
            <a:r>
              <a:rPr lang="en-US" dirty="0" smtClean="0"/>
              <a:t> </a:t>
            </a:r>
            <a:r>
              <a:rPr lang="id-ID" dirty="0" smtClean="0"/>
              <a:t>tidak diketahui</a:t>
            </a:r>
            <a:r>
              <a:rPr lang="en-US" dirty="0" smtClean="0"/>
              <a:t>) </a:t>
            </a:r>
          </a:p>
        </p:txBody>
      </p:sp>
      <p:sp>
        <p:nvSpPr>
          <p:cNvPr id="55301" name="Rectangle 6"/>
          <p:cNvSpPr>
            <a:spLocks noChangeArrowheads="1"/>
          </p:cNvSpPr>
          <p:nvPr/>
        </p:nvSpPr>
        <p:spPr bwMode="auto">
          <a:xfrm>
            <a:off x="7772400" y="1143000"/>
            <a:ext cx="12573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DCOV</a:t>
            </a:r>
            <a:r>
              <a:rPr lang="en-US" u="sng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F8188E8A-BB96-4CBC-BC6D-C9A0D9EED4EB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95400" y="1752600"/>
            <a:ext cx="5943600" cy="4532313"/>
          </a:xfrm>
        </p:spPr>
        <p:txBody>
          <a:bodyPr/>
          <a:lstStyle/>
          <a:p>
            <a:pPr eaLnBrk="1" hangingPunct="1"/>
            <a:r>
              <a:rPr lang="id-ID" dirty="0" smtClean="0"/>
              <a:t>Interval konfidensi</a:t>
            </a:r>
            <a:r>
              <a:rPr lang="en-US" dirty="0" smtClean="0"/>
              <a:t>:</a:t>
            </a:r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/>
              <a:t>	(</a:t>
            </a:r>
            <a:r>
              <a:rPr lang="id-ID" sz="1800" dirty="0" smtClean="0"/>
              <a:t>dimana</a:t>
            </a:r>
            <a:r>
              <a:rPr lang="en-US" sz="1800" dirty="0" smtClean="0"/>
              <a:t> t</a:t>
            </a:r>
            <a:r>
              <a:rPr lang="el-GR" sz="1800" baseline="-25000" dirty="0" smtClean="0">
                <a:cs typeface="Arial" charset="0"/>
              </a:rPr>
              <a:t>α</a:t>
            </a:r>
            <a:r>
              <a:rPr lang="en-US" sz="1800" baseline="-25000" dirty="0" smtClean="0">
                <a:cs typeface="Arial" charset="0"/>
              </a:rPr>
              <a:t>/2</a:t>
            </a:r>
            <a:r>
              <a:rPr lang="id-ID" sz="1800" baseline="-25000" dirty="0" smtClean="0">
                <a:cs typeface="Arial" charset="0"/>
              </a:rPr>
              <a:t>,db</a:t>
            </a:r>
            <a:r>
              <a:rPr lang="en-US" sz="1800" dirty="0" smtClean="0"/>
              <a:t> </a:t>
            </a:r>
            <a:r>
              <a:rPr lang="id-ID" sz="1800" dirty="0" smtClean="0"/>
              <a:t>adalah titik kritis distribusi t dengan derajat bebas (db) = </a:t>
            </a:r>
            <a:r>
              <a:rPr lang="en-US" sz="1800" dirty="0" smtClean="0"/>
              <a:t>n -1</a:t>
            </a:r>
            <a:r>
              <a:rPr lang="id-ID" sz="1800" dirty="0" smtClean="0"/>
              <a:t> dan </a:t>
            </a:r>
            <a:r>
              <a:rPr lang="en-US" sz="1800" dirty="0" smtClean="0"/>
              <a:t> </a:t>
            </a:r>
            <a:r>
              <a:rPr lang="id-ID" sz="1800" dirty="0" smtClean="0"/>
              <a:t>luas area masing2 </a:t>
            </a:r>
            <a:r>
              <a:rPr lang="el-GR" sz="1800" dirty="0" smtClean="0">
                <a:cs typeface="Arial" charset="0"/>
              </a:rPr>
              <a:t>α</a:t>
            </a:r>
            <a:r>
              <a:rPr lang="en-US" sz="1800" dirty="0" smtClean="0">
                <a:cs typeface="Arial" charset="0"/>
              </a:rPr>
              <a:t>/2 </a:t>
            </a:r>
            <a:r>
              <a:rPr lang="id-ID" sz="1800" dirty="0" smtClean="0">
                <a:cs typeface="Arial" charset="0"/>
              </a:rPr>
              <a:t>di setiap sisi</a:t>
            </a:r>
            <a:r>
              <a:rPr lang="en-US" sz="1800" dirty="0" smtClean="0"/>
              <a:t>) 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793038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d-ID" dirty="0" smtClean="0"/>
              <a:t>Interval Konfidensi Bagi</a:t>
            </a:r>
            <a:r>
              <a:rPr lang="en-US" dirty="0" smtClean="0"/>
              <a:t> </a:t>
            </a:r>
            <a:r>
              <a:rPr lang="el-GR" dirty="0" smtClean="0">
                <a:cs typeface="Arial" charset="0"/>
              </a:rPr>
              <a:t>μ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l-GR" dirty="0" smtClean="0">
                <a:cs typeface="Arial" charset="0"/>
              </a:rPr>
              <a:t>σ</a:t>
            </a:r>
            <a:r>
              <a:rPr lang="en-US" dirty="0" smtClean="0"/>
              <a:t> </a:t>
            </a:r>
            <a:r>
              <a:rPr lang="id-ID" dirty="0" smtClean="0"/>
              <a:t>tidak diketahui</a:t>
            </a:r>
            <a:r>
              <a:rPr lang="en-US" dirty="0" smtClean="0"/>
              <a:t>) </a:t>
            </a:r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/>
        </p:nvGraphicFramePr>
        <p:xfrm>
          <a:off x="2928938" y="2265363"/>
          <a:ext cx="2908300" cy="141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092" name="Equation" r:id="rId3" imgW="863280" imgH="419040" progId="Equation.DSMT4">
                  <p:embed/>
                </p:oleObj>
              </mc:Choice>
              <mc:Fallback>
                <p:oleObj name="Equation" r:id="rId3" imgW="863280" imgH="419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2265363"/>
                        <a:ext cx="2908300" cy="1412875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A1FD0FE9-66EA-4AC3-9407-F2340590ECE1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60418" name="Line 2"/>
          <p:cNvSpPr>
            <a:spLocks noChangeShapeType="1"/>
          </p:cNvSpPr>
          <p:nvPr/>
        </p:nvSpPr>
        <p:spPr bwMode="auto">
          <a:xfrm>
            <a:off x="1905000" y="3048000"/>
            <a:ext cx="1025525" cy="76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419" name="Line 3"/>
          <p:cNvSpPr>
            <a:spLocks noChangeShapeType="1"/>
          </p:cNvSpPr>
          <p:nvPr/>
        </p:nvSpPr>
        <p:spPr bwMode="auto">
          <a:xfrm>
            <a:off x="1905000" y="3048000"/>
            <a:ext cx="574675" cy="6651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dirty="0" smtClean="0"/>
              <a:t>Distribusi t</a:t>
            </a:r>
            <a:endParaRPr lang="en-US" dirty="0" smtClean="0"/>
          </a:p>
        </p:txBody>
      </p:sp>
      <p:sp>
        <p:nvSpPr>
          <p:cNvPr id="60421" name="Freeform 5"/>
          <p:cNvSpPr>
            <a:spLocks/>
          </p:cNvSpPr>
          <p:nvPr/>
        </p:nvSpPr>
        <p:spPr bwMode="auto">
          <a:xfrm>
            <a:off x="4511675" y="2717800"/>
            <a:ext cx="3014663" cy="1209675"/>
          </a:xfrm>
          <a:custGeom>
            <a:avLst/>
            <a:gdLst>
              <a:gd name="T0" fmla="*/ 3013076 w 1899"/>
              <a:gd name="T1" fmla="*/ 1208088 h 762"/>
              <a:gd name="T2" fmla="*/ 2698751 w 1899"/>
              <a:gd name="T3" fmla="*/ 1195388 h 762"/>
              <a:gd name="T4" fmla="*/ 2538413 w 1899"/>
              <a:gd name="T5" fmla="*/ 1181100 h 762"/>
              <a:gd name="T6" fmla="*/ 2381251 w 1899"/>
              <a:gd name="T7" fmla="*/ 1162050 h 762"/>
              <a:gd name="T8" fmla="*/ 2222501 w 1899"/>
              <a:gd name="T9" fmla="*/ 1131888 h 762"/>
              <a:gd name="T10" fmla="*/ 2062163 w 1899"/>
              <a:gd name="T11" fmla="*/ 1095375 h 762"/>
              <a:gd name="T12" fmla="*/ 1905001 w 1899"/>
              <a:gd name="T13" fmla="*/ 1046163 h 762"/>
              <a:gd name="T14" fmla="*/ 1587500 w 1899"/>
              <a:gd name="T15" fmla="*/ 906463 h 762"/>
              <a:gd name="T16" fmla="*/ 1268413 w 1899"/>
              <a:gd name="T17" fmla="*/ 708025 h 762"/>
              <a:gd name="T18" fmla="*/ 950913 w 1899"/>
              <a:gd name="T19" fmla="*/ 473075 h 762"/>
              <a:gd name="T20" fmla="*/ 793750 w 1899"/>
              <a:gd name="T21" fmla="*/ 350837 h 762"/>
              <a:gd name="T22" fmla="*/ 636588 w 1899"/>
              <a:gd name="T23" fmla="*/ 239713 h 762"/>
              <a:gd name="T24" fmla="*/ 474663 w 1899"/>
              <a:gd name="T25" fmla="*/ 141288 h 762"/>
              <a:gd name="T26" fmla="*/ 317500 w 1899"/>
              <a:gd name="T27" fmla="*/ 65088 h 762"/>
              <a:gd name="T28" fmla="*/ 157163 w 1899"/>
              <a:gd name="T29" fmla="*/ 15875 h 762"/>
              <a:gd name="T30" fmla="*/ 0 w 1899"/>
              <a:gd name="T31" fmla="*/ 0 h 76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99"/>
              <a:gd name="T49" fmla="*/ 0 h 762"/>
              <a:gd name="T50" fmla="*/ 1899 w 1899"/>
              <a:gd name="T51" fmla="*/ 762 h 76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99" h="762">
                <a:moveTo>
                  <a:pt x="1898" y="761"/>
                </a:moveTo>
                <a:lnTo>
                  <a:pt x="1700" y="753"/>
                </a:lnTo>
                <a:lnTo>
                  <a:pt x="1599" y="744"/>
                </a:lnTo>
                <a:lnTo>
                  <a:pt x="1500" y="732"/>
                </a:lnTo>
                <a:lnTo>
                  <a:pt x="1400" y="713"/>
                </a:lnTo>
                <a:lnTo>
                  <a:pt x="1299" y="690"/>
                </a:lnTo>
                <a:lnTo>
                  <a:pt x="1200" y="659"/>
                </a:lnTo>
                <a:lnTo>
                  <a:pt x="1000" y="571"/>
                </a:lnTo>
                <a:lnTo>
                  <a:pt x="799" y="446"/>
                </a:lnTo>
                <a:lnTo>
                  <a:pt x="599" y="298"/>
                </a:lnTo>
                <a:lnTo>
                  <a:pt x="500" y="221"/>
                </a:lnTo>
                <a:lnTo>
                  <a:pt x="401" y="151"/>
                </a:lnTo>
                <a:lnTo>
                  <a:pt x="299" y="89"/>
                </a:lnTo>
                <a:lnTo>
                  <a:pt x="200" y="41"/>
                </a:lnTo>
                <a:lnTo>
                  <a:pt x="99" y="10"/>
                </a:lnTo>
                <a:lnTo>
                  <a:pt x="0" y="0"/>
                </a:lnTo>
              </a:path>
            </a:pathLst>
          </a:custGeom>
          <a:noFill/>
          <a:ln w="50800" cap="rnd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0422" name="Freeform 6"/>
          <p:cNvSpPr>
            <a:spLocks/>
          </p:cNvSpPr>
          <p:nvPr/>
        </p:nvSpPr>
        <p:spPr bwMode="auto">
          <a:xfrm>
            <a:off x="1497013" y="2717800"/>
            <a:ext cx="3016250" cy="1209675"/>
          </a:xfrm>
          <a:custGeom>
            <a:avLst/>
            <a:gdLst>
              <a:gd name="T0" fmla="*/ 0 w 1900"/>
              <a:gd name="T1" fmla="*/ 1208088 h 762"/>
              <a:gd name="T2" fmla="*/ 319088 w 1900"/>
              <a:gd name="T3" fmla="*/ 1195388 h 762"/>
              <a:gd name="T4" fmla="*/ 476250 w 1900"/>
              <a:gd name="T5" fmla="*/ 1181100 h 762"/>
              <a:gd name="T6" fmla="*/ 633413 w 1900"/>
              <a:gd name="T7" fmla="*/ 1162050 h 762"/>
              <a:gd name="T8" fmla="*/ 793750 w 1900"/>
              <a:gd name="T9" fmla="*/ 1131888 h 762"/>
              <a:gd name="T10" fmla="*/ 950913 w 1900"/>
              <a:gd name="T11" fmla="*/ 1095375 h 762"/>
              <a:gd name="T12" fmla="*/ 1112838 w 1900"/>
              <a:gd name="T13" fmla="*/ 1046163 h 762"/>
              <a:gd name="T14" fmla="*/ 1427163 w 1900"/>
              <a:gd name="T15" fmla="*/ 906463 h 762"/>
              <a:gd name="T16" fmla="*/ 1744663 w 1900"/>
              <a:gd name="T17" fmla="*/ 708025 h 762"/>
              <a:gd name="T18" fmla="*/ 2063750 w 1900"/>
              <a:gd name="T19" fmla="*/ 473075 h 762"/>
              <a:gd name="T20" fmla="*/ 2220913 w 1900"/>
              <a:gd name="T21" fmla="*/ 350837 h 762"/>
              <a:gd name="T22" fmla="*/ 2381250 w 1900"/>
              <a:gd name="T23" fmla="*/ 239713 h 762"/>
              <a:gd name="T24" fmla="*/ 2538413 w 1900"/>
              <a:gd name="T25" fmla="*/ 141288 h 762"/>
              <a:gd name="T26" fmla="*/ 2695575 w 1900"/>
              <a:gd name="T27" fmla="*/ 65088 h 762"/>
              <a:gd name="T28" fmla="*/ 2857500 w 1900"/>
              <a:gd name="T29" fmla="*/ 15875 h 762"/>
              <a:gd name="T30" fmla="*/ 3014663 w 1900"/>
              <a:gd name="T31" fmla="*/ 0 h 76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00"/>
              <a:gd name="T49" fmla="*/ 0 h 762"/>
              <a:gd name="T50" fmla="*/ 1900 w 1900"/>
              <a:gd name="T51" fmla="*/ 762 h 76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00" h="762">
                <a:moveTo>
                  <a:pt x="0" y="761"/>
                </a:moveTo>
                <a:lnTo>
                  <a:pt x="201" y="753"/>
                </a:lnTo>
                <a:lnTo>
                  <a:pt x="300" y="744"/>
                </a:lnTo>
                <a:lnTo>
                  <a:pt x="399" y="732"/>
                </a:lnTo>
                <a:lnTo>
                  <a:pt x="500" y="713"/>
                </a:lnTo>
                <a:lnTo>
                  <a:pt x="599" y="690"/>
                </a:lnTo>
                <a:lnTo>
                  <a:pt x="701" y="659"/>
                </a:lnTo>
                <a:lnTo>
                  <a:pt x="899" y="571"/>
                </a:lnTo>
                <a:lnTo>
                  <a:pt x="1099" y="446"/>
                </a:lnTo>
                <a:lnTo>
                  <a:pt x="1300" y="298"/>
                </a:lnTo>
                <a:lnTo>
                  <a:pt x="1399" y="221"/>
                </a:lnTo>
                <a:lnTo>
                  <a:pt x="1500" y="151"/>
                </a:lnTo>
                <a:lnTo>
                  <a:pt x="1599" y="89"/>
                </a:lnTo>
                <a:lnTo>
                  <a:pt x="1698" y="41"/>
                </a:lnTo>
                <a:lnTo>
                  <a:pt x="1800" y="10"/>
                </a:lnTo>
                <a:lnTo>
                  <a:pt x="1899" y="0"/>
                </a:lnTo>
              </a:path>
            </a:pathLst>
          </a:custGeom>
          <a:noFill/>
          <a:ln w="50800" cap="rnd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0423" name="Freeform 7"/>
          <p:cNvSpPr>
            <a:spLocks/>
          </p:cNvSpPr>
          <p:nvPr/>
        </p:nvSpPr>
        <p:spPr bwMode="auto">
          <a:xfrm>
            <a:off x="4511675" y="2106613"/>
            <a:ext cx="2041525" cy="1820862"/>
          </a:xfrm>
          <a:custGeom>
            <a:avLst/>
            <a:gdLst>
              <a:gd name="T0" fmla="*/ 2039938 w 1286"/>
              <a:gd name="T1" fmla="*/ 1819275 h 1147"/>
              <a:gd name="T2" fmla="*/ 1825625 w 1286"/>
              <a:gd name="T3" fmla="*/ 1795462 h 1147"/>
              <a:gd name="T4" fmla="*/ 1717675 w 1286"/>
              <a:gd name="T5" fmla="*/ 1776412 h 1147"/>
              <a:gd name="T6" fmla="*/ 1609725 w 1286"/>
              <a:gd name="T7" fmla="*/ 1746250 h 1147"/>
              <a:gd name="T8" fmla="*/ 1501775 w 1286"/>
              <a:gd name="T9" fmla="*/ 1706562 h 1147"/>
              <a:gd name="T10" fmla="*/ 1397000 w 1286"/>
              <a:gd name="T11" fmla="*/ 1647825 h 1147"/>
              <a:gd name="T12" fmla="*/ 1289050 w 1286"/>
              <a:gd name="T13" fmla="*/ 1576387 h 1147"/>
              <a:gd name="T14" fmla="*/ 1071562 w 1286"/>
              <a:gd name="T15" fmla="*/ 1362074 h 1147"/>
              <a:gd name="T16" fmla="*/ 858838 w 1286"/>
              <a:gd name="T17" fmla="*/ 1066800 h 1147"/>
              <a:gd name="T18" fmla="*/ 646112 w 1286"/>
              <a:gd name="T19" fmla="*/ 709612 h 1147"/>
              <a:gd name="T20" fmla="*/ 538162 w 1286"/>
              <a:gd name="T21" fmla="*/ 528637 h 1147"/>
              <a:gd name="T22" fmla="*/ 428625 w 1286"/>
              <a:gd name="T23" fmla="*/ 357187 h 1147"/>
              <a:gd name="T24" fmla="*/ 320675 w 1286"/>
              <a:gd name="T25" fmla="*/ 209550 h 1147"/>
              <a:gd name="T26" fmla="*/ 215900 w 1286"/>
              <a:gd name="T27" fmla="*/ 95250 h 1147"/>
              <a:gd name="T28" fmla="*/ 107950 w 1286"/>
              <a:gd name="T29" fmla="*/ 22225 h 1147"/>
              <a:gd name="T30" fmla="*/ 0 w 1286"/>
              <a:gd name="T31" fmla="*/ 0 h 114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286"/>
              <a:gd name="T49" fmla="*/ 0 h 1147"/>
              <a:gd name="T50" fmla="*/ 1286 w 1286"/>
              <a:gd name="T51" fmla="*/ 1147 h 114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286" h="1147">
                <a:moveTo>
                  <a:pt x="1285" y="1146"/>
                </a:moveTo>
                <a:lnTo>
                  <a:pt x="1150" y="1131"/>
                </a:lnTo>
                <a:lnTo>
                  <a:pt x="1082" y="1119"/>
                </a:lnTo>
                <a:lnTo>
                  <a:pt x="1014" y="1100"/>
                </a:lnTo>
                <a:lnTo>
                  <a:pt x="946" y="1075"/>
                </a:lnTo>
                <a:lnTo>
                  <a:pt x="880" y="1038"/>
                </a:lnTo>
                <a:lnTo>
                  <a:pt x="812" y="993"/>
                </a:lnTo>
                <a:lnTo>
                  <a:pt x="675" y="858"/>
                </a:lnTo>
                <a:lnTo>
                  <a:pt x="541" y="672"/>
                </a:lnTo>
                <a:lnTo>
                  <a:pt x="407" y="447"/>
                </a:lnTo>
                <a:lnTo>
                  <a:pt x="339" y="333"/>
                </a:lnTo>
                <a:lnTo>
                  <a:pt x="270" y="225"/>
                </a:lnTo>
                <a:lnTo>
                  <a:pt x="202" y="132"/>
                </a:lnTo>
                <a:lnTo>
                  <a:pt x="136" y="60"/>
                </a:lnTo>
                <a:lnTo>
                  <a:pt x="68" y="14"/>
                </a:lnTo>
                <a:lnTo>
                  <a:pt x="0" y="0"/>
                </a:lnTo>
              </a:path>
            </a:pathLst>
          </a:custGeom>
          <a:noFill/>
          <a:ln w="50800" cap="rnd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0424" name="Freeform 8"/>
          <p:cNvSpPr>
            <a:spLocks/>
          </p:cNvSpPr>
          <p:nvPr/>
        </p:nvSpPr>
        <p:spPr bwMode="auto">
          <a:xfrm>
            <a:off x="2471738" y="2106613"/>
            <a:ext cx="2041525" cy="1820862"/>
          </a:xfrm>
          <a:custGeom>
            <a:avLst/>
            <a:gdLst>
              <a:gd name="T0" fmla="*/ 0 w 1286"/>
              <a:gd name="T1" fmla="*/ 1819275 h 1147"/>
              <a:gd name="T2" fmla="*/ 215900 w 1286"/>
              <a:gd name="T3" fmla="*/ 1795462 h 1147"/>
              <a:gd name="T4" fmla="*/ 323850 w 1286"/>
              <a:gd name="T5" fmla="*/ 1776412 h 1147"/>
              <a:gd name="T6" fmla="*/ 428625 w 1286"/>
              <a:gd name="T7" fmla="*/ 1746250 h 1147"/>
              <a:gd name="T8" fmla="*/ 538162 w 1286"/>
              <a:gd name="T9" fmla="*/ 1706562 h 1147"/>
              <a:gd name="T10" fmla="*/ 646112 w 1286"/>
              <a:gd name="T11" fmla="*/ 1647825 h 1147"/>
              <a:gd name="T12" fmla="*/ 750887 w 1286"/>
              <a:gd name="T13" fmla="*/ 1576387 h 1147"/>
              <a:gd name="T14" fmla="*/ 966788 w 1286"/>
              <a:gd name="T15" fmla="*/ 1362074 h 1147"/>
              <a:gd name="T16" fmla="*/ 1179512 w 1286"/>
              <a:gd name="T17" fmla="*/ 1066800 h 1147"/>
              <a:gd name="T18" fmla="*/ 1397000 w 1286"/>
              <a:gd name="T19" fmla="*/ 709612 h 1147"/>
              <a:gd name="T20" fmla="*/ 1501775 w 1286"/>
              <a:gd name="T21" fmla="*/ 528637 h 1147"/>
              <a:gd name="T22" fmla="*/ 1609725 w 1286"/>
              <a:gd name="T23" fmla="*/ 357187 h 1147"/>
              <a:gd name="T24" fmla="*/ 1717675 w 1286"/>
              <a:gd name="T25" fmla="*/ 209550 h 1147"/>
              <a:gd name="T26" fmla="*/ 1825625 w 1286"/>
              <a:gd name="T27" fmla="*/ 95250 h 1147"/>
              <a:gd name="T28" fmla="*/ 1931988 w 1286"/>
              <a:gd name="T29" fmla="*/ 22225 h 1147"/>
              <a:gd name="T30" fmla="*/ 2039938 w 1286"/>
              <a:gd name="T31" fmla="*/ 0 h 114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286"/>
              <a:gd name="T49" fmla="*/ 0 h 1147"/>
              <a:gd name="T50" fmla="*/ 1286 w 1286"/>
              <a:gd name="T51" fmla="*/ 1147 h 114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286" h="1147">
                <a:moveTo>
                  <a:pt x="0" y="1146"/>
                </a:moveTo>
                <a:lnTo>
                  <a:pt x="136" y="1131"/>
                </a:lnTo>
                <a:lnTo>
                  <a:pt x="204" y="1119"/>
                </a:lnTo>
                <a:lnTo>
                  <a:pt x="270" y="1100"/>
                </a:lnTo>
                <a:lnTo>
                  <a:pt x="339" y="1075"/>
                </a:lnTo>
                <a:lnTo>
                  <a:pt x="407" y="1038"/>
                </a:lnTo>
                <a:lnTo>
                  <a:pt x="473" y="993"/>
                </a:lnTo>
                <a:lnTo>
                  <a:pt x="609" y="858"/>
                </a:lnTo>
                <a:lnTo>
                  <a:pt x="743" y="672"/>
                </a:lnTo>
                <a:lnTo>
                  <a:pt x="880" y="447"/>
                </a:lnTo>
                <a:lnTo>
                  <a:pt x="946" y="333"/>
                </a:lnTo>
                <a:lnTo>
                  <a:pt x="1014" y="225"/>
                </a:lnTo>
                <a:lnTo>
                  <a:pt x="1082" y="132"/>
                </a:lnTo>
                <a:lnTo>
                  <a:pt x="1150" y="60"/>
                </a:lnTo>
                <a:lnTo>
                  <a:pt x="1217" y="14"/>
                </a:lnTo>
                <a:lnTo>
                  <a:pt x="1285" y="0"/>
                </a:lnTo>
              </a:path>
            </a:pathLst>
          </a:custGeom>
          <a:noFill/>
          <a:ln w="50800" cap="rnd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0425" name="Rectangle 9"/>
          <p:cNvSpPr>
            <a:spLocks noChangeArrowheads="1"/>
          </p:cNvSpPr>
          <p:nvPr/>
        </p:nvSpPr>
        <p:spPr bwMode="auto">
          <a:xfrm>
            <a:off x="7861300" y="3802063"/>
            <a:ext cx="293688" cy="576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/>
              <a:t>t</a:t>
            </a:r>
          </a:p>
        </p:txBody>
      </p:sp>
      <p:sp>
        <p:nvSpPr>
          <p:cNvPr id="60426" name="Line 10"/>
          <p:cNvSpPr>
            <a:spLocks noChangeShapeType="1"/>
          </p:cNvSpPr>
          <p:nvPr/>
        </p:nvSpPr>
        <p:spPr bwMode="auto">
          <a:xfrm flipH="1">
            <a:off x="4495800" y="1447800"/>
            <a:ext cx="0" cy="259080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427" name="Freeform 11"/>
          <p:cNvSpPr>
            <a:spLocks/>
          </p:cNvSpPr>
          <p:nvPr/>
        </p:nvSpPr>
        <p:spPr bwMode="auto">
          <a:xfrm>
            <a:off x="4511675" y="1400175"/>
            <a:ext cx="1365250" cy="2527300"/>
          </a:xfrm>
          <a:custGeom>
            <a:avLst/>
            <a:gdLst>
              <a:gd name="T0" fmla="*/ 1363663 w 860"/>
              <a:gd name="T1" fmla="*/ 2525713 h 1592"/>
              <a:gd name="T2" fmla="*/ 1222375 w 860"/>
              <a:gd name="T3" fmla="*/ 2495550 h 1592"/>
              <a:gd name="T4" fmla="*/ 1150938 w 860"/>
              <a:gd name="T5" fmla="*/ 2466975 h 1592"/>
              <a:gd name="T6" fmla="*/ 1077913 w 860"/>
              <a:gd name="T7" fmla="*/ 2427288 h 1592"/>
              <a:gd name="T8" fmla="*/ 1006475 w 860"/>
              <a:gd name="T9" fmla="*/ 2368550 h 1592"/>
              <a:gd name="T10" fmla="*/ 935038 w 860"/>
              <a:gd name="T11" fmla="*/ 2289175 h 1592"/>
              <a:gd name="T12" fmla="*/ 862013 w 860"/>
              <a:gd name="T13" fmla="*/ 2187575 h 1592"/>
              <a:gd name="T14" fmla="*/ 717550 w 860"/>
              <a:gd name="T15" fmla="*/ 1892300 h 1592"/>
              <a:gd name="T16" fmla="*/ 573088 w 860"/>
              <a:gd name="T17" fmla="*/ 1481137 h 1592"/>
              <a:gd name="T18" fmla="*/ 431800 w 860"/>
              <a:gd name="T19" fmla="*/ 985838 h 1592"/>
              <a:gd name="T20" fmla="*/ 360362 w 860"/>
              <a:gd name="T21" fmla="*/ 733425 h 1592"/>
              <a:gd name="T22" fmla="*/ 288925 w 860"/>
              <a:gd name="T23" fmla="*/ 496888 h 1592"/>
              <a:gd name="T24" fmla="*/ 215900 w 860"/>
              <a:gd name="T25" fmla="*/ 292100 h 1592"/>
              <a:gd name="T26" fmla="*/ 144463 w 860"/>
              <a:gd name="T27" fmla="*/ 134938 h 1592"/>
              <a:gd name="T28" fmla="*/ 71438 w 860"/>
              <a:gd name="T29" fmla="*/ 33338 h 1592"/>
              <a:gd name="T30" fmla="*/ 0 w 860"/>
              <a:gd name="T31" fmla="*/ 0 h 159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860"/>
              <a:gd name="T49" fmla="*/ 0 h 1592"/>
              <a:gd name="T50" fmla="*/ 860 w 860"/>
              <a:gd name="T51" fmla="*/ 1592 h 159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860" h="1592">
                <a:moveTo>
                  <a:pt x="859" y="1591"/>
                </a:moveTo>
                <a:lnTo>
                  <a:pt x="770" y="1572"/>
                </a:lnTo>
                <a:lnTo>
                  <a:pt x="725" y="1554"/>
                </a:lnTo>
                <a:lnTo>
                  <a:pt x="679" y="1529"/>
                </a:lnTo>
                <a:lnTo>
                  <a:pt x="634" y="1492"/>
                </a:lnTo>
                <a:lnTo>
                  <a:pt x="589" y="1442"/>
                </a:lnTo>
                <a:lnTo>
                  <a:pt x="543" y="1378"/>
                </a:lnTo>
                <a:lnTo>
                  <a:pt x="452" y="1192"/>
                </a:lnTo>
                <a:lnTo>
                  <a:pt x="361" y="933"/>
                </a:lnTo>
                <a:lnTo>
                  <a:pt x="272" y="621"/>
                </a:lnTo>
                <a:lnTo>
                  <a:pt x="227" y="462"/>
                </a:lnTo>
                <a:lnTo>
                  <a:pt x="182" y="313"/>
                </a:lnTo>
                <a:lnTo>
                  <a:pt x="136" y="184"/>
                </a:lnTo>
                <a:lnTo>
                  <a:pt x="91" y="85"/>
                </a:lnTo>
                <a:lnTo>
                  <a:pt x="45" y="21"/>
                </a:lnTo>
                <a:lnTo>
                  <a:pt x="0" y="0"/>
                </a:lnTo>
              </a:path>
            </a:pathLst>
          </a:custGeom>
          <a:noFill/>
          <a:ln w="50800" cap="rnd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0428" name="Freeform 12"/>
          <p:cNvSpPr>
            <a:spLocks/>
          </p:cNvSpPr>
          <p:nvPr/>
        </p:nvSpPr>
        <p:spPr bwMode="auto">
          <a:xfrm>
            <a:off x="3146425" y="1400175"/>
            <a:ext cx="1366838" cy="2527300"/>
          </a:xfrm>
          <a:custGeom>
            <a:avLst/>
            <a:gdLst>
              <a:gd name="T0" fmla="*/ 0 w 861"/>
              <a:gd name="T1" fmla="*/ 2525713 h 1592"/>
              <a:gd name="T2" fmla="*/ 144463 w 861"/>
              <a:gd name="T3" fmla="*/ 2495550 h 1592"/>
              <a:gd name="T4" fmla="*/ 217488 w 861"/>
              <a:gd name="T5" fmla="*/ 2466975 h 1592"/>
              <a:gd name="T6" fmla="*/ 288925 w 861"/>
              <a:gd name="T7" fmla="*/ 2427288 h 1592"/>
              <a:gd name="T8" fmla="*/ 358775 w 861"/>
              <a:gd name="T9" fmla="*/ 2368550 h 1592"/>
              <a:gd name="T10" fmla="*/ 430213 w 861"/>
              <a:gd name="T11" fmla="*/ 2289175 h 1592"/>
              <a:gd name="T12" fmla="*/ 501650 w 861"/>
              <a:gd name="T13" fmla="*/ 2187575 h 1592"/>
              <a:gd name="T14" fmla="*/ 646113 w 861"/>
              <a:gd name="T15" fmla="*/ 1892300 h 1592"/>
              <a:gd name="T16" fmla="*/ 790575 w 861"/>
              <a:gd name="T17" fmla="*/ 1481137 h 1592"/>
              <a:gd name="T18" fmla="*/ 935038 w 861"/>
              <a:gd name="T19" fmla="*/ 985838 h 1592"/>
              <a:gd name="T20" fmla="*/ 1008063 w 861"/>
              <a:gd name="T21" fmla="*/ 733425 h 1592"/>
              <a:gd name="T22" fmla="*/ 1079500 w 861"/>
              <a:gd name="T23" fmla="*/ 496888 h 1592"/>
              <a:gd name="T24" fmla="*/ 1147763 w 861"/>
              <a:gd name="T25" fmla="*/ 292100 h 1592"/>
              <a:gd name="T26" fmla="*/ 1220788 w 861"/>
              <a:gd name="T27" fmla="*/ 134938 h 1592"/>
              <a:gd name="T28" fmla="*/ 1292225 w 861"/>
              <a:gd name="T29" fmla="*/ 33338 h 1592"/>
              <a:gd name="T30" fmla="*/ 1365250 w 861"/>
              <a:gd name="T31" fmla="*/ 0 h 159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861"/>
              <a:gd name="T49" fmla="*/ 0 h 1592"/>
              <a:gd name="T50" fmla="*/ 861 w 861"/>
              <a:gd name="T51" fmla="*/ 1592 h 159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861" h="1592">
                <a:moveTo>
                  <a:pt x="0" y="1591"/>
                </a:moveTo>
                <a:lnTo>
                  <a:pt x="91" y="1572"/>
                </a:lnTo>
                <a:lnTo>
                  <a:pt x="137" y="1554"/>
                </a:lnTo>
                <a:lnTo>
                  <a:pt x="182" y="1529"/>
                </a:lnTo>
                <a:lnTo>
                  <a:pt x="226" y="1492"/>
                </a:lnTo>
                <a:lnTo>
                  <a:pt x="271" y="1442"/>
                </a:lnTo>
                <a:lnTo>
                  <a:pt x="316" y="1378"/>
                </a:lnTo>
                <a:lnTo>
                  <a:pt x="407" y="1192"/>
                </a:lnTo>
                <a:lnTo>
                  <a:pt x="498" y="933"/>
                </a:lnTo>
                <a:lnTo>
                  <a:pt x="589" y="621"/>
                </a:lnTo>
                <a:lnTo>
                  <a:pt x="635" y="462"/>
                </a:lnTo>
                <a:lnTo>
                  <a:pt x="680" y="313"/>
                </a:lnTo>
                <a:lnTo>
                  <a:pt x="723" y="184"/>
                </a:lnTo>
                <a:lnTo>
                  <a:pt x="769" y="85"/>
                </a:lnTo>
                <a:lnTo>
                  <a:pt x="814" y="21"/>
                </a:lnTo>
                <a:lnTo>
                  <a:pt x="860" y="0"/>
                </a:lnTo>
              </a:path>
            </a:pathLst>
          </a:custGeom>
          <a:noFill/>
          <a:ln w="50800" cap="rnd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0429" name="Line 13"/>
          <p:cNvSpPr>
            <a:spLocks noChangeShapeType="1"/>
          </p:cNvSpPr>
          <p:nvPr/>
        </p:nvSpPr>
        <p:spPr bwMode="auto">
          <a:xfrm>
            <a:off x="7745413" y="3943350"/>
            <a:ext cx="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430" name="Line 14"/>
          <p:cNvSpPr>
            <a:spLocks noChangeShapeType="1"/>
          </p:cNvSpPr>
          <p:nvPr/>
        </p:nvSpPr>
        <p:spPr bwMode="auto">
          <a:xfrm>
            <a:off x="7099300" y="3943350"/>
            <a:ext cx="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431" name="Line 15"/>
          <p:cNvSpPr>
            <a:spLocks noChangeShapeType="1"/>
          </p:cNvSpPr>
          <p:nvPr/>
        </p:nvSpPr>
        <p:spPr bwMode="auto">
          <a:xfrm>
            <a:off x="6450013" y="3943350"/>
            <a:ext cx="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432" name="Line 16"/>
          <p:cNvSpPr>
            <a:spLocks noChangeShapeType="1"/>
          </p:cNvSpPr>
          <p:nvPr/>
        </p:nvSpPr>
        <p:spPr bwMode="auto">
          <a:xfrm>
            <a:off x="5803900" y="3943350"/>
            <a:ext cx="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433" name="Line 17"/>
          <p:cNvSpPr>
            <a:spLocks noChangeShapeType="1"/>
          </p:cNvSpPr>
          <p:nvPr/>
        </p:nvSpPr>
        <p:spPr bwMode="auto">
          <a:xfrm>
            <a:off x="5157788" y="3943350"/>
            <a:ext cx="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434" name="Line 18"/>
          <p:cNvSpPr>
            <a:spLocks noChangeShapeType="1"/>
          </p:cNvSpPr>
          <p:nvPr/>
        </p:nvSpPr>
        <p:spPr bwMode="auto">
          <a:xfrm>
            <a:off x="4511675" y="3943350"/>
            <a:ext cx="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435" name="Line 19"/>
          <p:cNvSpPr>
            <a:spLocks noChangeShapeType="1"/>
          </p:cNvSpPr>
          <p:nvPr/>
        </p:nvSpPr>
        <p:spPr bwMode="auto">
          <a:xfrm>
            <a:off x="3865563" y="3943350"/>
            <a:ext cx="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436" name="Line 20"/>
          <p:cNvSpPr>
            <a:spLocks noChangeShapeType="1"/>
          </p:cNvSpPr>
          <p:nvPr/>
        </p:nvSpPr>
        <p:spPr bwMode="auto">
          <a:xfrm>
            <a:off x="3219450" y="3943350"/>
            <a:ext cx="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437" name="Line 21"/>
          <p:cNvSpPr>
            <a:spLocks noChangeShapeType="1"/>
          </p:cNvSpPr>
          <p:nvPr/>
        </p:nvSpPr>
        <p:spPr bwMode="auto">
          <a:xfrm>
            <a:off x="2573338" y="3943350"/>
            <a:ext cx="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438" name="Line 22"/>
          <p:cNvSpPr>
            <a:spLocks noChangeShapeType="1"/>
          </p:cNvSpPr>
          <p:nvPr/>
        </p:nvSpPr>
        <p:spPr bwMode="auto">
          <a:xfrm>
            <a:off x="1927225" y="3943350"/>
            <a:ext cx="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439" name="Rectangle 23"/>
          <p:cNvSpPr>
            <a:spLocks noChangeArrowheads="1"/>
          </p:cNvSpPr>
          <p:nvPr/>
        </p:nvSpPr>
        <p:spPr bwMode="auto">
          <a:xfrm>
            <a:off x="4114800" y="3962400"/>
            <a:ext cx="796925" cy="515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800"/>
              <a:t>0</a:t>
            </a:r>
          </a:p>
        </p:txBody>
      </p:sp>
      <p:sp>
        <p:nvSpPr>
          <p:cNvPr id="60440" name="Line 24"/>
          <p:cNvSpPr>
            <a:spLocks noChangeShapeType="1"/>
          </p:cNvSpPr>
          <p:nvPr/>
        </p:nvSpPr>
        <p:spPr bwMode="auto">
          <a:xfrm flipH="1">
            <a:off x="5978525" y="2819400"/>
            <a:ext cx="6858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441" name="Rectangle 25"/>
          <p:cNvSpPr>
            <a:spLocks noChangeArrowheads="1"/>
          </p:cNvSpPr>
          <p:nvPr/>
        </p:nvSpPr>
        <p:spPr bwMode="auto">
          <a:xfrm>
            <a:off x="6477000" y="2438400"/>
            <a:ext cx="1787525" cy="406400"/>
          </a:xfrm>
          <a:prstGeom prst="rect">
            <a:avLst/>
          </a:prstGeom>
          <a:solidFill>
            <a:srgbClr val="FFCC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dirty="0"/>
              <a:t>t  (</a:t>
            </a:r>
            <a:r>
              <a:rPr lang="en-US" sz="2000" dirty="0" smtClean="0"/>
              <a:t>d</a:t>
            </a:r>
            <a:r>
              <a:rPr lang="id-ID" sz="2000" dirty="0" smtClean="0"/>
              <a:t>b</a:t>
            </a:r>
            <a:r>
              <a:rPr lang="en-US" sz="2000" dirty="0" smtClean="0"/>
              <a:t> </a:t>
            </a:r>
            <a:r>
              <a:rPr lang="en-US" sz="2000" dirty="0"/>
              <a:t>= 5)</a:t>
            </a:r>
          </a:p>
        </p:txBody>
      </p:sp>
      <p:sp>
        <p:nvSpPr>
          <p:cNvPr id="60442" name="Line 26"/>
          <p:cNvSpPr>
            <a:spLocks noChangeShapeType="1"/>
          </p:cNvSpPr>
          <p:nvPr/>
        </p:nvSpPr>
        <p:spPr bwMode="auto">
          <a:xfrm flipH="1">
            <a:off x="5140325" y="2057400"/>
            <a:ext cx="9271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443" name="Rectangle 27"/>
          <p:cNvSpPr>
            <a:spLocks noChangeArrowheads="1"/>
          </p:cNvSpPr>
          <p:nvPr/>
        </p:nvSpPr>
        <p:spPr bwMode="auto">
          <a:xfrm>
            <a:off x="5638800" y="1676400"/>
            <a:ext cx="1787525" cy="406400"/>
          </a:xfrm>
          <a:prstGeom prst="rect">
            <a:avLst/>
          </a:prstGeom>
          <a:solidFill>
            <a:srgbClr val="C7DAF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dirty="0"/>
              <a:t> t  (</a:t>
            </a:r>
            <a:r>
              <a:rPr lang="en-US" sz="2000" dirty="0" smtClean="0"/>
              <a:t>d</a:t>
            </a:r>
            <a:r>
              <a:rPr lang="id-ID" sz="2000" dirty="0" smtClean="0"/>
              <a:t>b</a:t>
            </a:r>
            <a:r>
              <a:rPr lang="en-US" sz="2000" dirty="0" smtClean="0"/>
              <a:t> </a:t>
            </a:r>
            <a:r>
              <a:rPr lang="en-US" sz="2000" dirty="0"/>
              <a:t>= 13)</a:t>
            </a:r>
          </a:p>
        </p:txBody>
      </p:sp>
      <p:sp>
        <p:nvSpPr>
          <p:cNvPr id="60445" name="Line 29"/>
          <p:cNvSpPr>
            <a:spLocks noChangeShapeType="1"/>
          </p:cNvSpPr>
          <p:nvPr/>
        </p:nvSpPr>
        <p:spPr bwMode="auto">
          <a:xfrm>
            <a:off x="3921125" y="914400"/>
            <a:ext cx="4572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446" name="Rectangle 30"/>
          <p:cNvSpPr>
            <a:spLocks noChangeArrowheads="1"/>
          </p:cNvSpPr>
          <p:nvPr/>
        </p:nvSpPr>
        <p:spPr bwMode="auto">
          <a:xfrm>
            <a:off x="2209800" y="533400"/>
            <a:ext cx="1787525" cy="951543"/>
          </a:xfrm>
          <a:prstGeom prst="rect">
            <a:avLst/>
          </a:prstGeom>
          <a:solidFill>
            <a:srgbClr val="FFE98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id-ID" sz="2000" dirty="0" smtClean="0"/>
              <a:t>Normal standar</a:t>
            </a:r>
            <a:endParaRPr lang="en-US" sz="2000" dirty="0"/>
          </a:p>
          <a:p>
            <a:pPr algn="ctr" eaLnBrk="0" hangingPunct="0">
              <a:lnSpc>
                <a:spcPct val="30000"/>
              </a:lnSpc>
              <a:spcBef>
                <a:spcPct val="50000"/>
              </a:spcBef>
            </a:pPr>
            <a:r>
              <a:rPr lang="en-US" sz="2000" dirty="0"/>
              <a:t>(t with </a:t>
            </a:r>
            <a:r>
              <a:rPr lang="en-US" sz="2000" dirty="0" smtClean="0"/>
              <a:t>d</a:t>
            </a:r>
            <a:r>
              <a:rPr lang="id-ID" sz="2000" dirty="0" smtClean="0"/>
              <a:t>b</a:t>
            </a:r>
            <a:r>
              <a:rPr lang="en-US" sz="2000" dirty="0" smtClean="0"/>
              <a:t>= </a:t>
            </a:r>
            <a:r>
              <a:rPr lang="en-US" sz="2000" dirty="0">
                <a:cs typeface="Arial" charset="0"/>
              </a:rPr>
              <a:t>∞</a:t>
            </a:r>
            <a:r>
              <a:rPr lang="en-US" sz="2000" dirty="0">
                <a:sym typeface="System"/>
              </a:rPr>
              <a:t>)</a:t>
            </a:r>
          </a:p>
        </p:txBody>
      </p:sp>
      <p:sp>
        <p:nvSpPr>
          <p:cNvPr id="60447" name="Line 31"/>
          <p:cNvSpPr>
            <a:spLocks noChangeShapeType="1"/>
          </p:cNvSpPr>
          <p:nvPr/>
        </p:nvSpPr>
        <p:spPr bwMode="auto">
          <a:xfrm>
            <a:off x="1295400" y="4038600"/>
            <a:ext cx="6400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448" name="Text Box 32"/>
          <p:cNvSpPr txBox="1">
            <a:spLocks noChangeArrowheads="1"/>
          </p:cNvSpPr>
          <p:nvPr/>
        </p:nvSpPr>
        <p:spPr bwMode="auto">
          <a:xfrm>
            <a:off x="1355725" y="1487488"/>
            <a:ext cx="184150" cy="4572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0449" name="Rectangle 33"/>
          <p:cNvSpPr>
            <a:spLocks noChangeArrowheads="1"/>
          </p:cNvSpPr>
          <p:nvPr/>
        </p:nvSpPr>
        <p:spPr bwMode="auto">
          <a:xfrm>
            <a:off x="1828800" y="5181600"/>
            <a:ext cx="6096000" cy="43447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8" tIns="44450" rIns="90488" bIns="44450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800" dirty="0"/>
              <a:t>Note:  t       Z  </a:t>
            </a:r>
            <a:r>
              <a:rPr lang="id-ID" sz="2800" dirty="0" smtClean="0"/>
              <a:t>seiring pertambahan n</a:t>
            </a:r>
            <a:endParaRPr lang="en-US" sz="2800" dirty="0"/>
          </a:p>
        </p:txBody>
      </p:sp>
      <p:sp>
        <p:nvSpPr>
          <p:cNvPr id="60450" name="Line 34"/>
          <p:cNvSpPr>
            <a:spLocks noChangeShapeType="1"/>
          </p:cNvSpPr>
          <p:nvPr/>
        </p:nvSpPr>
        <p:spPr bwMode="auto">
          <a:xfrm>
            <a:off x="3124200" y="52578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B0858129-FE7D-46CF-828A-3A2ECE26E7F2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6144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8-</a:t>
            </a:r>
            <a:fld id="{44A7D8F3-BFF2-45AB-91C2-7B1FD06FECD8}" type="slidenum">
              <a:rPr lang="en-US" sz="1000"/>
              <a:pPr algn="r" defTabSz="852488"/>
              <a:t>21</a:t>
            </a:fld>
            <a:endParaRPr lang="en-US" sz="1000"/>
          </a:p>
        </p:txBody>
      </p:sp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990600" y="2438400"/>
            <a:ext cx="990600" cy="708025"/>
          </a:xfrm>
          <a:prstGeom prst="rect">
            <a:avLst/>
          </a:prstGeom>
          <a:solidFill>
            <a:srgbClr val="FDE0BD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dirty="0" smtClean="0"/>
              <a:t>Tabel t</a:t>
            </a:r>
            <a:endParaRPr lang="en-US" dirty="0" smtClean="0"/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990600" y="1828800"/>
            <a:ext cx="2895600" cy="609600"/>
          </a:xfrm>
          <a:prstGeom prst="rect">
            <a:avLst/>
          </a:prstGeom>
          <a:solidFill>
            <a:srgbClr val="FDE0BD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45" name="Rectangle 5"/>
          <p:cNvSpPr>
            <a:spLocks noChangeArrowheads="1"/>
          </p:cNvSpPr>
          <p:nvPr/>
        </p:nvSpPr>
        <p:spPr bwMode="auto">
          <a:xfrm>
            <a:off x="990600" y="1828800"/>
            <a:ext cx="2895600" cy="469900"/>
          </a:xfrm>
          <a:prstGeom prst="rect">
            <a:avLst/>
          </a:prstGeom>
          <a:solidFill>
            <a:srgbClr val="FDE0BD"/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l-GR" sz="2500" b="1" dirty="0" smtClean="0">
                <a:solidFill>
                  <a:srgbClr val="010000"/>
                </a:solidFill>
              </a:rPr>
              <a:t>α</a:t>
            </a:r>
            <a:endParaRPr lang="en-US" sz="2500" b="1" dirty="0">
              <a:solidFill>
                <a:srgbClr val="010000"/>
              </a:solidFill>
            </a:endParaRPr>
          </a:p>
        </p:txBody>
      </p:sp>
      <p:sp>
        <p:nvSpPr>
          <p:cNvPr id="61446" name="Rectangle 6"/>
          <p:cNvSpPr>
            <a:spLocks noChangeArrowheads="1"/>
          </p:cNvSpPr>
          <p:nvPr/>
        </p:nvSpPr>
        <p:spPr bwMode="auto">
          <a:xfrm>
            <a:off x="419100" y="2416175"/>
            <a:ext cx="590550" cy="708025"/>
          </a:xfrm>
          <a:prstGeom prst="rect">
            <a:avLst/>
          </a:prstGeom>
          <a:solidFill>
            <a:srgbClr val="C7DAF7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47" name="Rectangle 7"/>
          <p:cNvSpPr>
            <a:spLocks noChangeArrowheads="1"/>
          </p:cNvSpPr>
          <p:nvPr/>
        </p:nvSpPr>
        <p:spPr bwMode="auto">
          <a:xfrm>
            <a:off x="479425" y="2501900"/>
            <a:ext cx="511175" cy="1243930"/>
          </a:xfrm>
          <a:prstGeom prst="rect">
            <a:avLst/>
          </a:prstGeom>
          <a:solidFill>
            <a:srgbClr val="C7DAF7"/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sz="2500" b="1" dirty="0" smtClean="0">
                <a:solidFill>
                  <a:schemeClr val="folHlink"/>
                </a:solidFill>
              </a:rPr>
              <a:t>d</a:t>
            </a:r>
            <a:r>
              <a:rPr lang="id-ID" sz="2500" b="1" dirty="0" smtClean="0">
                <a:solidFill>
                  <a:schemeClr val="folHlink"/>
                </a:solidFill>
              </a:rPr>
              <a:t>b</a:t>
            </a:r>
            <a:endParaRPr lang="en-US" sz="2500" b="1" dirty="0">
              <a:solidFill>
                <a:schemeClr val="folHlink"/>
              </a:solidFill>
            </a:endParaRPr>
          </a:p>
          <a:p>
            <a:pPr eaLnBrk="0" hangingPunct="0"/>
            <a:endParaRPr lang="en-US" sz="2500" b="1" dirty="0">
              <a:solidFill>
                <a:schemeClr val="folHlink"/>
              </a:solidFill>
            </a:endParaRPr>
          </a:p>
        </p:txBody>
      </p:sp>
      <p:sp>
        <p:nvSpPr>
          <p:cNvPr id="61448" name="Rectangle 8"/>
          <p:cNvSpPr>
            <a:spLocks noChangeArrowheads="1"/>
          </p:cNvSpPr>
          <p:nvPr/>
        </p:nvSpPr>
        <p:spPr bwMode="auto">
          <a:xfrm>
            <a:off x="1150938" y="2501900"/>
            <a:ext cx="677862" cy="469900"/>
          </a:xfrm>
          <a:prstGeom prst="rect">
            <a:avLst/>
          </a:prstGeom>
          <a:solidFill>
            <a:srgbClr val="FDE0BD"/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sz="2500">
                <a:solidFill>
                  <a:srgbClr val="010000"/>
                </a:solidFill>
              </a:rPr>
              <a:t>.10</a:t>
            </a:r>
          </a:p>
        </p:txBody>
      </p:sp>
      <p:sp>
        <p:nvSpPr>
          <p:cNvPr id="61449" name="Rectangle 9"/>
          <p:cNvSpPr>
            <a:spLocks noChangeArrowheads="1"/>
          </p:cNvSpPr>
          <p:nvPr/>
        </p:nvSpPr>
        <p:spPr bwMode="auto">
          <a:xfrm>
            <a:off x="1949450" y="2416175"/>
            <a:ext cx="1022350" cy="708025"/>
          </a:xfrm>
          <a:prstGeom prst="rect">
            <a:avLst/>
          </a:prstGeom>
          <a:solidFill>
            <a:srgbClr val="FDE0BD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50" name="Rectangle 10"/>
          <p:cNvSpPr>
            <a:spLocks noChangeArrowheads="1"/>
          </p:cNvSpPr>
          <p:nvPr/>
        </p:nvSpPr>
        <p:spPr bwMode="auto">
          <a:xfrm>
            <a:off x="2095500" y="2501900"/>
            <a:ext cx="723900" cy="469900"/>
          </a:xfrm>
          <a:prstGeom prst="rect">
            <a:avLst/>
          </a:prstGeom>
          <a:solidFill>
            <a:srgbClr val="FDE0BD"/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sz="2500" b="1">
                <a:solidFill>
                  <a:srgbClr val="010000"/>
                </a:solidFill>
              </a:rPr>
              <a:t>.05</a:t>
            </a:r>
          </a:p>
        </p:txBody>
      </p:sp>
      <p:sp>
        <p:nvSpPr>
          <p:cNvPr id="61451" name="Rectangle 11"/>
          <p:cNvSpPr>
            <a:spLocks noChangeArrowheads="1"/>
          </p:cNvSpPr>
          <p:nvPr/>
        </p:nvSpPr>
        <p:spPr bwMode="auto">
          <a:xfrm>
            <a:off x="2924175" y="2416175"/>
            <a:ext cx="962025" cy="695325"/>
          </a:xfrm>
          <a:prstGeom prst="rect">
            <a:avLst/>
          </a:prstGeom>
          <a:solidFill>
            <a:srgbClr val="FDE0BD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52" name="Rectangle 12"/>
          <p:cNvSpPr>
            <a:spLocks noChangeArrowheads="1"/>
          </p:cNvSpPr>
          <p:nvPr/>
        </p:nvSpPr>
        <p:spPr bwMode="auto">
          <a:xfrm>
            <a:off x="3033713" y="2508250"/>
            <a:ext cx="806450" cy="474663"/>
          </a:xfrm>
          <a:prstGeom prst="rect">
            <a:avLst/>
          </a:prstGeom>
          <a:solidFill>
            <a:srgbClr val="FDE0BD"/>
          </a:solidFill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500">
                <a:solidFill>
                  <a:srgbClr val="010000"/>
                </a:solidFill>
              </a:rPr>
              <a:t>.025</a:t>
            </a:r>
          </a:p>
        </p:txBody>
      </p:sp>
      <p:sp>
        <p:nvSpPr>
          <p:cNvPr id="61453" name="Rectangle 13"/>
          <p:cNvSpPr>
            <a:spLocks noChangeArrowheads="1"/>
          </p:cNvSpPr>
          <p:nvPr/>
        </p:nvSpPr>
        <p:spPr bwMode="auto">
          <a:xfrm>
            <a:off x="419100" y="3124200"/>
            <a:ext cx="590550" cy="685800"/>
          </a:xfrm>
          <a:prstGeom prst="rect">
            <a:avLst/>
          </a:prstGeom>
          <a:solidFill>
            <a:srgbClr val="C7DAF7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54" name="Rectangle 14"/>
          <p:cNvSpPr>
            <a:spLocks noChangeArrowheads="1"/>
          </p:cNvSpPr>
          <p:nvPr/>
        </p:nvSpPr>
        <p:spPr bwMode="auto">
          <a:xfrm>
            <a:off x="525463" y="3240088"/>
            <a:ext cx="357187" cy="469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500">
                <a:solidFill>
                  <a:schemeClr val="folHlink"/>
                </a:solidFill>
              </a:rPr>
              <a:t>1</a:t>
            </a:r>
          </a:p>
        </p:txBody>
      </p:sp>
      <p:sp>
        <p:nvSpPr>
          <p:cNvPr id="61455" name="Rectangle 15"/>
          <p:cNvSpPr>
            <a:spLocks noChangeArrowheads="1"/>
          </p:cNvSpPr>
          <p:nvPr/>
        </p:nvSpPr>
        <p:spPr bwMode="auto">
          <a:xfrm>
            <a:off x="973138" y="3240088"/>
            <a:ext cx="984250" cy="4746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500"/>
              <a:t>3.078</a:t>
            </a:r>
          </a:p>
        </p:txBody>
      </p:sp>
      <p:sp>
        <p:nvSpPr>
          <p:cNvPr id="61456" name="Rectangle 16"/>
          <p:cNvSpPr>
            <a:spLocks noChangeArrowheads="1"/>
          </p:cNvSpPr>
          <p:nvPr/>
        </p:nvSpPr>
        <p:spPr bwMode="auto">
          <a:xfrm>
            <a:off x="1917700" y="3240088"/>
            <a:ext cx="984250" cy="4746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500"/>
              <a:t>6.314</a:t>
            </a:r>
          </a:p>
        </p:txBody>
      </p:sp>
      <p:sp>
        <p:nvSpPr>
          <p:cNvPr id="61457" name="Rectangle 17"/>
          <p:cNvSpPr>
            <a:spLocks noChangeArrowheads="1"/>
          </p:cNvSpPr>
          <p:nvPr/>
        </p:nvSpPr>
        <p:spPr bwMode="auto">
          <a:xfrm>
            <a:off x="2886075" y="3240088"/>
            <a:ext cx="1162050" cy="4746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500"/>
              <a:t>12.706</a:t>
            </a:r>
          </a:p>
        </p:txBody>
      </p:sp>
      <p:sp>
        <p:nvSpPr>
          <p:cNvPr id="61458" name="Rectangle 18"/>
          <p:cNvSpPr>
            <a:spLocks noChangeArrowheads="1"/>
          </p:cNvSpPr>
          <p:nvPr/>
        </p:nvSpPr>
        <p:spPr bwMode="auto">
          <a:xfrm>
            <a:off x="419100" y="3814763"/>
            <a:ext cx="590550" cy="695325"/>
          </a:xfrm>
          <a:prstGeom prst="rect">
            <a:avLst/>
          </a:prstGeom>
          <a:solidFill>
            <a:srgbClr val="C7DAF7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59" name="Rectangle 19"/>
          <p:cNvSpPr>
            <a:spLocks noChangeArrowheads="1"/>
          </p:cNvSpPr>
          <p:nvPr/>
        </p:nvSpPr>
        <p:spPr bwMode="auto">
          <a:xfrm>
            <a:off x="512763" y="3906838"/>
            <a:ext cx="385762" cy="530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900" b="1">
                <a:solidFill>
                  <a:schemeClr val="folHlink"/>
                </a:solidFill>
              </a:rPr>
              <a:t>2</a:t>
            </a:r>
          </a:p>
        </p:txBody>
      </p:sp>
      <p:sp>
        <p:nvSpPr>
          <p:cNvPr id="61460" name="Rectangle 20"/>
          <p:cNvSpPr>
            <a:spLocks noChangeArrowheads="1"/>
          </p:cNvSpPr>
          <p:nvPr/>
        </p:nvSpPr>
        <p:spPr bwMode="auto">
          <a:xfrm>
            <a:off x="973138" y="3900488"/>
            <a:ext cx="984250" cy="4746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500"/>
              <a:t>1.886</a:t>
            </a:r>
          </a:p>
        </p:txBody>
      </p:sp>
      <p:sp>
        <p:nvSpPr>
          <p:cNvPr id="61461" name="Rectangle 23"/>
          <p:cNvSpPr>
            <a:spLocks noChangeArrowheads="1"/>
          </p:cNvSpPr>
          <p:nvPr/>
        </p:nvSpPr>
        <p:spPr bwMode="auto">
          <a:xfrm>
            <a:off x="419100" y="4495800"/>
            <a:ext cx="590550" cy="674688"/>
          </a:xfrm>
          <a:prstGeom prst="rect">
            <a:avLst/>
          </a:prstGeom>
          <a:solidFill>
            <a:srgbClr val="C7DAF7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62" name="Rectangle 24"/>
          <p:cNvSpPr>
            <a:spLocks noChangeArrowheads="1"/>
          </p:cNvSpPr>
          <p:nvPr/>
        </p:nvSpPr>
        <p:spPr bwMode="auto">
          <a:xfrm>
            <a:off x="525463" y="4621213"/>
            <a:ext cx="357187" cy="469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500">
                <a:solidFill>
                  <a:schemeClr val="folHlink"/>
                </a:solidFill>
              </a:rPr>
              <a:t>3</a:t>
            </a:r>
          </a:p>
        </p:txBody>
      </p:sp>
      <p:sp>
        <p:nvSpPr>
          <p:cNvPr id="61463" name="Rectangle 25"/>
          <p:cNvSpPr>
            <a:spLocks noChangeArrowheads="1"/>
          </p:cNvSpPr>
          <p:nvPr/>
        </p:nvSpPr>
        <p:spPr bwMode="auto">
          <a:xfrm>
            <a:off x="973138" y="4621213"/>
            <a:ext cx="984250" cy="4746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500"/>
              <a:t>1.638</a:t>
            </a:r>
          </a:p>
        </p:txBody>
      </p:sp>
      <p:sp>
        <p:nvSpPr>
          <p:cNvPr id="61464" name="Rectangle 26"/>
          <p:cNvSpPr>
            <a:spLocks noChangeArrowheads="1"/>
          </p:cNvSpPr>
          <p:nvPr/>
        </p:nvSpPr>
        <p:spPr bwMode="auto">
          <a:xfrm>
            <a:off x="1917700" y="4621213"/>
            <a:ext cx="984250" cy="4746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500"/>
              <a:t>2.353</a:t>
            </a:r>
          </a:p>
        </p:txBody>
      </p:sp>
      <p:sp>
        <p:nvSpPr>
          <p:cNvPr id="61465" name="Rectangle 27"/>
          <p:cNvSpPr>
            <a:spLocks noChangeArrowheads="1"/>
          </p:cNvSpPr>
          <p:nvPr/>
        </p:nvSpPr>
        <p:spPr bwMode="auto">
          <a:xfrm>
            <a:off x="3063875" y="4621213"/>
            <a:ext cx="984250" cy="4746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500"/>
              <a:t>3.182</a:t>
            </a:r>
          </a:p>
        </p:txBody>
      </p:sp>
      <p:sp>
        <p:nvSpPr>
          <p:cNvPr id="61466" name="Line 28"/>
          <p:cNvSpPr>
            <a:spLocks noChangeShapeType="1"/>
          </p:cNvSpPr>
          <p:nvPr/>
        </p:nvSpPr>
        <p:spPr bwMode="auto">
          <a:xfrm flipH="1">
            <a:off x="6629400" y="3962400"/>
            <a:ext cx="0" cy="17526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67" name="Rectangle 29"/>
          <p:cNvSpPr>
            <a:spLocks noChangeArrowheads="1"/>
          </p:cNvSpPr>
          <p:nvPr/>
        </p:nvSpPr>
        <p:spPr bwMode="auto">
          <a:xfrm>
            <a:off x="6543675" y="4708525"/>
            <a:ext cx="92075" cy="184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68" name="Freeform 30"/>
          <p:cNvSpPr>
            <a:spLocks/>
          </p:cNvSpPr>
          <p:nvPr/>
        </p:nvSpPr>
        <p:spPr bwMode="auto">
          <a:xfrm>
            <a:off x="7543800" y="5210175"/>
            <a:ext cx="819150" cy="500063"/>
          </a:xfrm>
          <a:custGeom>
            <a:avLst/>
            <a:gdLst>
              <a:gd name="T0" fmla="*/ 9525 w 516"/>
              <a:gd name="T1" fmla="*/ 0 h 315"/>
              <a:gd name="T2" fmla="*/ 9525 w 516"/>
              <a:gd name="T3" fmla="*/ 38100 h 315"/>
              <a:gd name="T4" fmla="*/ 15875 w 516"/>
              <a:gd name="T5" fmla="*/ 12700 h 315"/>
              <a:gd name="T6" fmla="*/ 63500 w 516"/>
              <a:gd name="T7" fmla="*/ 80963 h 315"/>
              <a:gd name="T8" fmla="*/ 177800 w 516"/>
              <a:gd name="T9" fmla="*/ 195263 h 315"/>
              <a:gd name="T10" fmla="*/ 220662 w 516"/>
              <a:gd name="T11" fmla="*/ 241300 h 315"/>
              <a:gd name="T12" fmla="*/ 288925 w 516"/>
              <a:gd name="T13" fmla="*/ 309563 h 315"/>
              <a:gd name="T14" fmla="*/ 336550 w 516"/>
              <a:gd name="T15" fmla="*/ 331788 h 315"/>
              <a:gd name="T16" fmla="*/ 428625 w 516"/>
              <a:gd name="T17" fmla="*/ 377825 h 315"/>
              <a:gd name="T18" fmla="*/ 519112 w 516"/>
              <a:gd name="T19" fmla="*/ 423863 h 315"/>
              <a:gd name="T20" fmla="*/ 655637 w 516"/>
              <a:gd name="T21" fmla="*/ 468313 h 315"/>
              <a:gd name="T22" fmla="*/ 819150 w 516"/>
              <a:gd name="T23" fmla="*/ 500063 h 315"/>
              <a:gd name="T24" fmla="*/ 19050 w 516"/>
              <a:gd name="T25" fmla="*/ 495300 h 315"/>
              <a:gd name="T26" fmla="*/ 0 w 516"/>
              <a:gd name="T27" fmla="*/ 19050 h 315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516"/>
              <a:gd name="T43" fmla="*/ 0 h 315"/>
              <a:gd name="T44" fmla="*/ 516 w 516"/>
              <a:gd name="T45" fmla="*/ 315 h 315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516" h="315">
                <a:moveTo>
                  <a:pt x="6" y="0"/>
                </a:moveTo>
                <a:lnTo>
                  <a:pt x="6" y="24"/>
                </a:lnTo>
                <a:lnTo>
                  <a:pt x="10" y="8"/>
                </a:lnTo>
                <a:lnTo>
                  <a:pt x="40" y="51"/>
                </a:lnTo>
                <a:lnTo>
                  <a:pt x="112" y="123"/>
                </a:lnTo>
                <a:lnTo>
                  <a:pt x="139" y="152"/>
                </a:lnTo>
                <a:lnTo>
                  <a:pt x="182" y="195"/>
                </a:lnTo>
                <a:lnTo>
                  <a:pt x="212" y="209"/>
                </a:lnTo>
                <a:lnTo>
                  <a:pt x="270" y="238"/>
                </a:lnTo>
                <a:lnTo>
                  <a:pt x="327" y="267"/>
                </a:lnTo>
                <a:lnTo>
                  <a:pt x="413" y="295"/>
                </a:lnTo>
                <a:lnTo>
                  <a:pt x="516" y="315"/>
                </a:lnTo>
                <a:lnTo>
                  <a:pt x="12" y="312"/>
                </a:lnTo>
                <a:lnTo>
                  <a:pt x="0" y="12"/>
                </a:lnTo>
              </a:path>
            </a:pathLst>
          </a:custGeom>
          <a:solidFill>
            <a:schemeClr val="accent1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469" name="Freeform 31"/>
          <p:cNvSpPr>
            <a:spLocks/>
          </p:cNvSpPr>
          <p:nvPr/>
        </p:nvSpPr>
        <p:spPr bwMode="auto">
          <a:xfrm>
            <a:off x="6626225" y="3929063"/>
            <a:ext cx="1830388" cy="1763712"/>
          </a:xfrm>
          <a:custGeom>
            <a:avLst/>
            <a:gdLst>
              <a:gd name="T0" fmla="*/ 1828801 w 1153"/>
              <a:gd name="T1" fmla="*/ 1762125 h 1111"/>
              <a:gd name="T2" fmla="*/ 1636713 w 1153"/>
              <a:gd name="T3" fmla="*/ 1739900 h 1111"/>
              <a:gd name="T4" fmla="*/ 1541463 w 1153"/>
              <a:gd name="T5" fmla="*/ 1720850 h 1111"/>
              <a:gd name="T6" fmla="*/ 1443038 w 1153"/>
              <a:gd name="T7" fmla="*/ 1690687 h 1111"/>
              <a:gd name="T8" fmla="*/ 1347788 w 1153"/>
              <a:gd name="T9" fmla="*/ 1652587 h 1111"/>
              <a:gd name="T10" fmla="*/ 1250950 w 1153"/>
              <a:gd name="T11" fmla="*/ 1598612 h 1111"/>
              <a:gd name="T12" fmla="*/ 1155700 w 1153"/>
              <a:gd name="T13" fmla="*/ 1525587 h 1111"/>
              <a:gd name="T14" fmla="*/ 963613 w 1153"/>
              <a:gd name="T15" fmla="*/ 1320799 h 1111"/>
              <a:gd name="T16" fmla="*/ 769938 w 1153"/>
              <a:gd name="T17" fmla="*/ 1031875 h 1111"/>
              <a:gd name="T18" fmla="*/ 577850 w 1153"/>
              <a:gd name="T19" fmla="*/ 688975 h 1111"/>
              <a:gd name="T20" fmla="*/ 482600 w 1153"/>
              <a:gd name="T21" fmla="*/ 512762 h 1111"/>
              <a:gd name="T22" fmla="*/ 385763 w 1153"/>
              <a:gd name="T23" fmla="*/ 349250 h 1111"/>
              <a:gd name="T24" fmla="*/ 290513 w 1153"/>
              <a:gd name="T25" fmla="*/ 206375 h 1111"/>
              <a:gd name="T26" fmla="*/ 193675 w 1153"/>
              <a:gd name="T27" fmla="*/ 95250 h 1111"/>
              <a:gd name="T28" fmla="*/ 98425 w 1153"/>
              <a:gd name="T29" fmla="*/ 25400 h 1111"/>
              <a:gd name="T30" fmla="*/ 0 w 1153"/>
              <a:gd name="T31" fmla="*/ 0 h 111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153"/>
              <a:gd name="T49" fmla="*/ 0 h 1111"/>
              <a:gd name="T50" fmla="*/ 1153 w 1153"/>
              <a:gd name="T51" fmla="*/ 1111 h 111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153" h="1111">
                <a:moveTo>
                  <a:pt x="1152" y="1110"/>
                </a:moveTo>
                <a:lnTo>
                  <a:pt x="1031" y="1096"/>
                </a:lnTo>
                <a:lnTo>
                  <a:pt x="971" y="1084"/>
                </a:lnTo>
                <a:lnTo>
                  <a:pt x="909" y="1065"/>
                </a:lnTo>
                <a:lnTo>
                  <a:pt x="849" y="1041"/>
                </a:lnTo>
                <a:lnTo>
                  <a:pt x="788" y="1007"/>
                </a:lnTo>
                <a:lnTo>
                  <a:pt x="728" y="961"/>
                </a:lnTo>
                <a:lnTo>
                  <a:pt x="607" y="832"/>
                </a:lnTo>
                <a:lnTo>
                  <a:pt x="485" y="650"/>
                </a:lnTo>
                <a:lnTo>
                  <a:pt x="364" y="434"/>
                </a:lnTo>
                <a:lnTo>
                  <a:pt x="304" y="323"/>
                </a:lnTo>
                <a:lnTo>
                  <a:pt x="243" y="220"/>
                </a:lnTo>
                <a:lnTo>
                  <a:pt x="183" y="130"/>
                </a:lnTo>
                <a:lnTo>
                  <a:pt x="122" y="60"/>
                </a:lnTo>
                <a:lnTo>
                  <a:pt x="62" y="16"/>
                </a:lnTo>
                <a:lnTo>
                  <a:pt x="0" y="0"/>
                </a:lnTo>
              </a:path>
            </a:pathLst>
          </a:custGeom>
          <a:noFill/>
          <a:ln w="50800" cap="rnd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470" name="Freeform 32"/>
          <p:cNvSpPr>
            <a:spLocks/>
          </p:cNvSpPr>
          <p:nvPr/>
        </p:nvSpPr>
        <p:spPr bwMode="auto">
          <a:xfrm>
            <a:off x="4799013" y="3929063"/>
            <a:ext cx="1828800" cy="1763712"/>
          </a:xfrm>
          <a:custGeom>
            <a:avLst/>
            <a:gdLst>
              <a:gd name="T0" fmla="*/ 0 w 1152"/>
              <a:gd name="T1" fmla="*/ 1762125 h 1111"/>
              <a:gd name="T2" fmla="*/ 192087 w 1152"/>
              <a:gd name="T3" fmla="*/ 1739900 h 1111"/>
              <a:gd name="T4" fmla="*/ 288925 w 1152"/>
              <a:gd name="T5" fmla="*/ 1720850 h 1111"/>
              <a:gd name="T6" fmla="*/ 384175 w 1152"/>
              <a:gd name="T7" fmla="*/ 1690687 h 1111"/>
              <a:gd name="T8" fmla="*/ 482600 w 1152"/>
              <a:gd name="T9" fmla="*/ 1652587 h 1111"/>
              <a:gd name="T10" fmla="*/ 576262 w 1152"/>
              <a:gd name="T11" fmla="*/ 1598612 h 1111"/>
              <a:gd name="T12" fmla="*/ 674687 w 1152"/>
              <a:gd name="T13" fmla="*/ 1525587 h 1111"/>
              <a:gd name="T14" fmla="*/ 866775 w 1152"/>
              <a:gd name="T15" fmla="*/ 1320799 h 1111"/>
              <a:gd name="T16" fmla="*/ 1057275 w 1152"/>
              <a:gd name="T17" fmla="*/ 1031875 h 1111"/>
              <a:gd name="T18" fmla="*/ 1249362 w 1152"/>
              <a:gd name="T19" fmla="*/ 688975 h 1111"/>
              <a:gd name="T20" fmla="*/ 1347787 w 1152"/>
              <a:gd name="T21" fmla="*/ 512762 h 1111"/>
              <a:gd name="T22" fmla="*/ 1443037 w 1152"/>
              <a:gd name="T23" fmla="*/ 349250 h 1111"/>
              <a:gd name="T24" fmla="*/ 1539875 w 1152"/>
              <a:gd name="T25" fmla="*/ 206375 h 1111"/>
              <a:gd name="T26" fmla="*/ 1635125 w 1152"/>
              <a:gd name="T27" fmla="*/ 95250 h 1111"/>
              <a:gd name="T28" fmla="*/ 1731963 w 1152"/>
              <a:gd name="T29" fmla="*/ 25400 h 1111"/>
              <a:gd name="T30" fmla="*/ 1827213 w 1152"/>
              <a:gd name="T31" fmla="*/ 0 h 111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152"/>
              <a:gd name="T49" fmla="*/ 0 h 1111"/>
              <a:gd name="T50" fmla="*/ 1152 w 1152"/>
              <a:gd name="T51" fmla="*/ 1111 h 111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152" h="1111">
                <a:moveTo>
                  <a:pt x="0" y="1110"/>
                </a:moveTo>
                <a:lnTo>
                  <a:pt x="121" y="1096"/>
                </a:lnTo>
                <a:lnTo>
                  <a:pt x="182" y="1084"/>
                </a:lnTo>
                <a:lnTo>
                  <a:pt x="242" y="1065"/>
                </a:lnTo>
                <a:lnTo>
                  <a:pt x="304" y="1041"/>
                </a:lnTo>
                <a:lnTo>
                  <a:pt x="363" y="1007"/>
                </a:lnTo>
                <a:lnTo>
                  <a:pt x="425" y="961"/>
                </a:lnTo>
                <a:lnTo>
                  <a:pt x="546" y="832"/>
                </a:lnTo>
                <a:lnTo>
                  <a:pt x="666" y="650"/>
                </a:lnTo>
                <a:lnTo>
                  <a:pt x="787" y="434"/>
                </a:lnTo>
                <a:lnTo>
                  <a:pt x="849" y="323"/>
                </a:lnTo>
                <a:lnTo>
                  <a:pt x="909" y="220"/>
                </a:lnTo>
                <a:lnTo>
                  <a:pt x="970" y="130"/>
                </a:lnTo>
                <a:lnTo>
                  <a:pt x="1030" y="60"/>
                </a:lnTo>
                <a:lnTo>
                  <a:pt x="1091" y="16"/>
                </a:lnTo>
                <a:lnTo>
                  <a:pt x="1151" y="0"/>
                </a:lnTo>
              </a:path>
            </a:pathLst>
          </a:custGeom>
          <a:noFill/>
          <a:ln w="50800" cap="rnd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471" name="Line 33"/>
          <p:cNvSpPr>
            <a:spLocks noChangeShapeType="1"/>
          </p:cNvSpPr>
          <p:nvPr/>
        </p:nvSpPr>
        <p:spPr bwMode="auto">
          <a:xfrm>
            <a:off x="8488363" y="5703888"/>
            <a:ext cx="0" cy="1587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72" name="Line 34"/>
          <p:cNvSpPr>
            <a:spLocks noChangeShapeType="1"/>
          </p:cNvSpPr>
          <p:nvPr/>
        </p:nvSpPr>
        <p:spPr bwMode="auto">
          <a:xfrm>
            <a:off x="8118475" y="5703888"/>
            <a:ext cx="0" cy="1587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73" name="Line 35"/>
          <p:cNvSpPr>
            <a:spLocks noChangeShapeType="1"/>
          </p:cNvSpPr>
          <p:nvPr/>
        </p:nvSpPr>
        <p:spPr bwMode="auto">
          <a:xfrm>
            <a:off x="7745413" y="5703888"/>
            <a:ext cx="0" cy="1587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74" name="Line 36"/>
          <p:cNvSpPr>
            <a:spLocks noChangeShapeType="1"/>
          </p:cNvSpPr>
          <p:nvPr/>
        </p:nvSpPr>
        <p:spPr bwMode="auto">
          <a:xfrm>
            <a:off x="7372350" y="5703888"/>
            <a:ext cx="0" cy="1587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75" name="Line 37"/>
          <p:cNvSpPr>
            <a:spLocks noChangeShapeType="1"/>
          </p:cNvSpPr>
          <p:nvPr/>
        </p:nvSpPr>
        <p:spPr bwMode="auto">
          <a:xfrm>
            <a:off x="6999288" y="5703888"/>
            <a:ext cx="0" cy="1587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76" name="Line 38"/>
          <p:cNvSpPr>
            <a:spLocks noChangeShapeType="1"/>
          </p:cNvSpPr>
          <p:nvPr/>
        </p:nvSpPr>
        <p:spPr bwMode="auto">
          <a:xfrm>
            <a:off x="6626225" y="5703888"/>
            <a:ext cx="0" cy="1587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77" name="Line 39"/>
          <p:cNvSpPr>
            <a:spLocks noChangeShapeType="1"/>
          </p:cNvSpPr>
          <p:nvPr/>
        </p:nvSpPr>
        <p:spPr bwMode="auto">
          <a:xfrm>
            <a:off x="6253163" y="5703888"/>
            <a:ext cx="0" cy="1587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78" name="Line 40"/>
          <p:cNvSpPr>
            <a:spLocks noChangeShapeType="1"/>
          </p:cNvSpPr>
          <p:nvPr/>
        </p:nvSpPr>
        <p:spPr bwMode="auto">
          <a:xfrm>
            <a:off x="5883275" y="5703888"/>
            <a:ext cx="0" cy="1587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79" name="Line 41"/>
          <p:cNvSpPr>
            <a:spLocks noChangeShapeType="1"/>
          </p:cNvSpPr>
          <p:nvPr/>
        </p:nvSpPr>
        <p:spPr bwMode="auto">
          <a:xfrm>
            <a:off x="5510213" y="5703888"/>
            <a:ext cx="0" cy="1587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80" name="Line 42"/>
          <p:cNvSpPr>
            <a:spLocks noChangeShapeType="1"/>
          </p:cNvSpPr>
          <p:nvPr/>
        </p:nvSpPr>
        <p:spPr bwMode="auto">
          <a:xfrm>
            <a:off x="5137150" y="5703888"/>
            <a:ext cx="0" cy="1587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81" name="Rectangle 43"/>
          <p:cNvSpPr>
            <a:spLocks noChangeArrowheads="1"/>
          </p:cNvSpPr>
          <p:nvPr/>
        </p:nvSpPr>
        <p:spPr bwMode="auto">
          <a:xfrm>
            <a:off x="8307388" y="5691188"/>
            <a:ext cx="303212" cy="530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900" b="1" i="1">
                <a:solidFill>
                  <a:schemeClr val="folHlink"/>
                </a:solidFill>
              </a:rPr>
              <a:t>t</a:t>
            </a:r>
          </a:p>
        </p:txBody>
      </p:sp>
      <p:sp>
        <p:nvSpPr>
          <p:cNvPr id="61482" name="Rectangle 44"/>
          <p:cNvSpPr>
            <a:spLocks noChangeArrowheads="1"/>
          </p:cNvSpPr>
          <p:nvPr/>
        </p:nvSpPr>
        <p:spPr bwMode="auto">
          <a:xfrm>
            <a:off x="6416675" y="5665788"/>
            <a:ext cx="385763" cy="530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900" b="1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61483" name="Rectangle 45"/>
          <p:cNvSpPr>
            <a:spLocks noChangeArrowheads="1"/>
          </p:cNvSpPr>
          <p:nvPr/>
        </p:nvSpPr>
        <p:spPr bwMode="auto">
          <a:xfrm>
            <a:off x="7086600" y="5791200"/>
            <a:ext cx="1085850" cy="528638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800" b="1">
                <a:solidFill>
                  <a:schemeClr val="hlink"/>
                </a:solidFill>
              </a:rPr>
              <a:t>2.920</a:t>
            </a:r>
          </a:p>
        </p:txBody>
      </p:sp>
      <p:sp>
        <p:nvSpPr>
          <p:cNvPr id="61484" name="Rectangle 46"/>
          <p:cNvSpPr>
            <a:spLocks noChangeArrowheads="1"/>
          </p:cNvSpPr>
          <p:nvPr/>
        </p:nvSpPr>
        <p:spPr bwMode="auto">
          <a:xfrm>
            <a:off x="1371600" y="5410200"/>
            <a:ext cx="2590800" cy="1013098"/>
          </a:xfrm>
          <a:prstGeom prst="rect">
            <a:avLst/>
          </a:prstGeom>
          <a:solidFill>
            <a:srgbClr val="C7DAF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id-ID" sz="2000" dirty="0" smtClean="0"/>
              <a:t>Nilai yang ada dalam tabel, memuat nilai t (bukan probabilitas)</a:t>
            </a:r>
            <a:endParaRPr lang="en-US" sz="2000" dirty="0"/>
          </a:p>
        </p:txBody>
      </p:sp>
      <p:sp>
        <p:nvSpPr>
          <p:cNvPr id="61485" name="Line 47"/>
          <p:cNvSpPr>
            <a:spLocks noChangeShapeType="1"/>
          </p:cNvSpPr>
          <p:nvPr/>
        </p:nvSpPr>
        <p:spPr bwMode="auto">
          <a:xfrm flipH="1">
            <a:off x="2286000" y="5029200"/>
            <a:ext cx="152400" cy="45720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86" name="Line 48"/>
          <p:cNvSpPr>
            <a:spLocks noChangeShapeType="1"/>
          </p:cNvSpPr>
          <p:nvPr/>
        </p:nvSpPr>
        <p:spPr bwMode="auto">
          <a:xfrm flipV="1">
            <a:off x="7696200" y="4953000"/>
            <a:ext cx="304800" cy="595313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87" name="Line 49"/>
          <p:cNvSpPr>
            <a:spLocks noChangeShapeType="1"/>
          </p:cNvSpPr>
          <p:nvPr/>
        </p:nvSpPr>
        <p:spPr bwMode="auto">
          <a:xfrm>
            <a:off x="1905000" y="2362200"/>
            <a:ext cx="0" cy="26733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88" name="Line 50"/>
          <p:cNvSpPr>
            <a:spLocks noChangeShapeType="1"/>
          </p:cNvSpPr>
          <p:nvPr/>
        </p:nvSpPr>
        <p:spPr bwMode="auto">
          <a:xfrm flipH="1">
            <a:off x="2895600" y="2362200"/>
            <a:ext cx="0" cy="26733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89" name="Line 51"/>
          <p:cNvSpPr>
            <a:spLocks noChangeShapeType="1"/>
          </p:cNvSpPr>
          <p:nvPr/>
        </p:nvSpPr>
        <p:spPr bwMode="auto">
          <a:xfrm>
            <a:off x="1676400" y="5029200"/>
            <a:ext cx="609600" cy="45720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90" name="Rectangle 52"/>
          <p:cNvSpPr>
            <a:spLocks noChangeArrowheads="1"/>
          </p:cNvSpPr>
          <p:nvPr/>
        </p:nvSpPr>
        <p:spPr bwMode="auto">
          <a:xfrm>
            <a:off x="5638800" y="2133600"/>
            <a:ext cx="2320925" cy="1197764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  <a:tabLst>
                <a:tab pos="8229600" algn="r"/>
              </a:tabLst>
            </a:pPr>
            <a:r>
              <a:rPr lang="id-ID" dirty="0" smtClean="0"/>
              <a:t>Misal</a:t>
            </a:r>
            <a:r>
              <a:rPr lang="en-US" dirty="0" smtClean="0"/>
              <a:t>: </a:t>
            </a:r>
            <a:r>
              <a:rPr lang="en-US" dirty="0"/>
              <a:t>n = 3     </a:t>
            </a:r>
            <a:br>
              <a:rPr lang="en-US" dirty="0"/>
            </a:br>
            <a:r>
              <a:rPr lang="en-US" dirty="0" smtClean="0"/>
              <a:t>d</a:t>
            </a:r>
            <a:r>
              <a:rPr lang="id-ID" dirty="0" smtClean="0"/>
              <a:t>b</a:t>
            </a:r>
            <a:r>
              <a:rPr lang="en-US" dirty="0" smtClean="0"/>
              <a:t>= </a:t>
            </a:r>
            <a:r>
              <a:rPr lang="en-US" i="1" dirty="0"/>
              <a:t>n</a:t>
            </a:r>
            <a:r>
              <a:rPr lang="en-US" dirty="0"/>
              <a:t> - 1 = 2 </a:t>
            </a:r>
            <a:br>
              <a:rPr lang="en-US" dirty="0"/>
            </a:br>
            <a:r>
              <a:rPr lang="en-US" dirty="0"/>
              <a:t>       </a:t>
            </a:r>
            <a:r>
              <a:rPr lang="en-US" dirty="0">
                <a:latin typeface="System"/>
                <a:sym typeface="Symbol" pitchFamily="18" charset="2"/>
              </a:rPr>
              <a:t></a:t>
            </a:r>
            <a:r>
              <a:rPr lang="en-US" dirty="0"/>
              <a:t> = 0.10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latin typeface="System"/>
                <a:sym typeface="Symbol" pitchFamily="18" charset="2"/>
              </a:rPr>
              <a:t></a:t>
            </a:r>
            <a:r>
              <a:rPr lang="en-US" dirty="0"/>
              <a:t>/2 = 0.05</a:t>
            </a:r>
          </a:p>
        </p:txBody>
      </p:sp>
      <p:sp>
        <p:nvSpPr>
          <p:cNvPr id="61491" name="Rectangle 53"/>
          <p:cNvSpPr>
            <a:spLocks noChangeArrowheads="1"/>
          </p:cNvSpPr>
          <p:nvPr/>
        </p:nvSpPr>
        <p:spPr bwMode="auto">
          <a:xfrm>
            <a:off x="7467600" y="4495800"/>
            <a:ext cx="1676400" cy="515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>
                <a:latin typeface="System"/>
                <a:sym typeface="Symbol" pitchFamily="18" charset="2"/>
              </a:rPr>
              <a:t></a:t>
            </a:r>
            <a:r>
              <a:rPr lang="en-US"/>
              <a:t>/2 = 0.05</a:t>
            </a:r>
          </a:p>
        </p:txBody>
      </p:sp>
      <p:sp>
        <p:nvSpPr>
          <p:cNvPr id="61492" name="Line 54"/>
          <p:cNvSpPr>
            <a:spLocks noChangeShapeType="1"/>
          </p:cNvSpPr>
          <p:nvPr/>
        </p:nvSpPr>
        <p:spPr bwMode="auto">
          <a:xfrm>
            <a:off x="457200" y="4495800"/>
            <a:ext cx="33528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93" name="Line 55"/>
          <p:cNvSpPr>
            <a:spLocks noChangeShapeType="1"/>
          </p:cNvSpPr>
          <p:nvPr/>
        </p:nvSpPr>
        <p:spPr bwMode="auto">
          <a:xfrm>
            <a:off x="457200" y="3810000"/>
            <a:ext cx="33528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94" name="Line 56"/>
          <p:cNvSpPr>
            <a:spLocks noChangeShapeType="1"/>
          </p:cNvSpPr>
          <p:nvPr/>
        </p:nvSpPr>
        <p:spPr bwMode="auto">
          <a:xfrm>
            <a:off x="457200" y="3124200"/>
            <a:ext cx="34290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95" name="Line 57"/>
          <p:cNvSpPr>
            <a:spLocks noChangeShapeType="1"/>
          </p:cNvSpPr>
          <p:nvPr/>
        </p:nvSpPr>
        <p:spPr bwMode="auto">
          <a:xfrm>
            <a:off x="4724400" y="5715000"/>
            <a:ext cx="3886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96" name="Line 58"/>
          <p:cNvSpPr>
            <a:spLocks noChangeShapeType="1"/>
          </p:cNvSpPr>
          <p:nvPr/>
        </p:nvSpPr>
        <p:spPr bwMode="auto">
          <a:xfrm>
            <a:off x="2895600" y="4267200"/>
            <a:ext cx="4114800" cy="1600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97" name="Line 59"/>
          <p:cNvSpPr>
            <a:spLocks noChangeShapeType="1"/>
          </p:cNvSpPr>
          <p:nvPr/>
        </p:nvSpPr>
        <p:spPr bwMode="auto">
          <a:xfrm>
            <a:off x="990600" y="1828800"/>
            <a:ext cx="0" cy="33528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98" name="Line 60"/>
          <p:cNvSpPr>
            <a:spLocks noChangeShapeType="1"/>
          </p:cNvSpPr>
          <p:nvPr/>
        </p:nvSpPr>
        <p:spPr bwMode="auto">
          <a:xfrm>
            <a:off x="990600" y="23622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99" name="Line 61"/>
          <p:cNvSpPr>
            <a:spLocks noChangeShapeType="1"/>
          </p:cNvSpPr>
          <p:nvPr/>
        </p:nvSpPr>
        <p:spPr bwMode="auto">
          <a:xfrm>
            <a:off x="7543800" y="57150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501" name="Rectangle 64"/>
          <p:cNvSpPr>
            <a:spLocks noChangeArrowheads="1"/>
          </p:cNvSpPr>
          <p:nvPr/>
        </p:nvSpPr>
        <p:spPr bwMode="auto">
          <a:xfrm>
            <a:off x="7772400" y="1143000"/>
            <a:ext cx="12573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DCOV</a:t>
            </a:r>
            <a:r>
              <a:rPr lang="en-US" u="sng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61502" name="Rectangle 27"/>
          <p:cNvSpPr>
            <a:spLocks noChangeArrowheads="1"/>
          </p:cNvSpPr>
          <p:nvPr/>
        </p:nvSpPr>
        <p:spPr bwMode="auto">
          <a:xfrm>
            <a:off x="3063875" y="3886200"/>
            <a:ext cx="984250" cy="4746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500"/>
              <a:t>4.303</a:t>
            </a:r>
          </a:p>
        </p:txBody>
      </p:sp>
      <p:sp>
        <p:nvSpPr>
          <p:cNvPr id="61503" name="Rectangle 45"/>
          <p:cNvSpPr>
            <a:spLocks noChangeArrowheads="1"/>
          </p:cNvSpPr>
          <p:nvPr/>
        </p:nvSpPr>
        <p:spPr bwMode="auto">
          <a:xfrm>
            <a:off x="1905000" y="3886200"/>
            <a:ext cx="990600" cy="474663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500" b="1">
                <a:solidFill>
                  <a:schemeClr val="hlink"/>
                </a:solidFill>
              </a:rPr>
              <a:t>2.920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8077200" cy="26670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2700" dirty="0" smtClean="0"/>
              <a:t>   </a:t>
            </a:r>
            <a:r>
              <a:rPr lang="id-ID" sz="2700" dirty="0" smtClean="0"/>
              <a:t>Suatu sampel ikan diambil secara acak berukuran </a:t>
            </a:r>
            <a:r>
              <a:rPr lang="en-US" sz="2700" dirty="0" smtClean="0"/>
              <a:t>n = 25 </a:t>
            </a:r>
            <a:r>
              <a:rPr lang="id-ID" sz="2700" dirty="0" smtClean="0"/>
              <a:t>memiliki</a:t>
            </a:r>
            <a:r>
              <a:rPr lang="en-US" sz="2700" dirty="0" smtClean="0"/>
              <a:t> </a:t>
            </a:r>
            <a:r>
              <a:rPr lang="id-ID" sz="2700" dirty="0" smtClean="0"/>
              <a:t>rata-rata panjang 50 mm dan standar deviasi sampel 8 mm. Buatlah interval konfidensi 95% bagi</a:t>
            </a:r>
            <a:r>
              <a:rPr lang="en-US" sz="2700" dirty="0" smtClean="0"/>
              <a:t> </a:t>
            </a:r>
            <a:r>
              <a:rPr lang="id-ID" sz="2700" dirty="0" smtClean="0"/>
              <a:t>rata-rata panjang ikan.</a:t>
            </a:r>
            <a:endParaRPr lang="en-US" sz="2700" dirty="0" smtClean="0"/>
          </a:p>
        </p:txBody>
      </p:sp>
      <p:sp>
        <p:nvSpPr>
          <p:cNvPr id="819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sz="3600" dirty="0" smtClean="0"/>
              <a:t>Contoh</a:t>
            </a: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/>
          <p:cNvSpPr>
            <a:spLocks noChangeArrowheads="1"/>
          </p:cNvSpPr>
          <p:nvPr/>
        </p:nvSpPr>
        <p:spPr bwMode="auto">
          <a:xfrm>
            <a:off x="1066800" y="1600200"/>
            <a:ext cx="7315200" cy="1524000"/>
          </a:xfrm>
          <a:prstGeom prst="rect">
            <a:avLst/>
          </a:prstGeom>
          <a:solidFill>
            <a:srgbClr val="C7DAF7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20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8077200" cy="26670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2700" dirty="0" smtClean="0"/>
              <a:t>   </a:t>
            </a:r>
            <a:endParaRPr lang="id-ID" sz="2700" dirty="0" smtClean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endParaRPr lang="id-ID" sz="2700" dirty="0" smtClean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endParaRPr lang="en-US" sz="2700" dirty="0" smtClean="0"/>
          </a:p>
          <a:p>
            <a:pPr lvl="1" eaLnBrk="1" hangingPunct="1">
              <a:lnSpc>
                <a:spcPct val="110000"/>
              </a:lnSpc>
            </a:pPr>
            <a:r>
              <a:rPr lang="en-US" sz="2300" dirty="0" smtClean="0"/>
              <a:t>d</a:t>
            </a:r>
            <a:r>
              <a:rPr lang="id-ID" sz="2300" dirty="0" smtClean="0"/>
              <a:t>b</a:t>
            </a:r>
            <a:r>
              <a:rPr lang="en-US" sz="2300" dirty="0" smtClean="0"/>
              <a:t> = n – 1 = 24,  </a:t>
            </a:r>
            <a:r>
              <a:rPr lang="id-ID" sz="2300" dirty="0" smtClean="0"/>
              <a:t>sehingga</a:t>
            </a:r>
            <a:endParaRPr lang="en-US" sz="2300" dirty="0" smtClean="0"/>
          </a:p>
          <a:p>
            <a:pPr lvl="1" eaLnBrk="1" hangingPunct="1">
              <a:buFont typeface="Wingdings" pitchFamily="2" charset="2"/>
              <a:buNone/>
            </a:pPr>
            <a:endParaRPr lang="en-US" sz="2300" dirty="0" smtClean="0"/>
          </a:p>
          <a:p>
            <a:pPr lvl="1" eaLnBrk="1" hangingPunct="1">
              <a:buFont typeface="Wingdings" pitchFamily="2" charset="2"/>
              <a:buNone/>
            </a:pPr>
            <a:r>
              <a:rPr lang="id-ID" dirty="0" smtClean="0"/>
              <a:t>Interval konfidensi 95%</a:t>
            </a:r>
            <a:endParaRPr lang="el-GR" sz="2300" dirty="0" smtClean="0"/>
          </a:p>
        </p:txBody>
      </p:sp>
      <p:sp>
        <p:nvSpPr>
          <p:cNvPr id="1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F1CB004C-71F3-4AC0-AB07-54E3DADD6ACB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8198" name="Rectangle 3"/>
          <p:cNvSpPr>
            <a:spLocks noChangeArrowheads="1"/>
          </p:cNvSpPr>
          <p:nvPr/>
        </p:nvSpPr>
        <p:spPr bwMode="auto">
          <a:xfrm>
            <a:off x="2895600" y="6096000"/>
            <a:ext cx="3200400" cy="762000"/>
          </a:xfrm>
          <a:prstGeom prst="rect">
            <a:avLst/>
          </a:prstGeom>
          <a:solidFill>
            <a:srgbClr val="FDE0BD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19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sz="3600" dirty="0" smtClean="0"/>
              <a:t>Contoh</a:t>
            </a:r>
            <a:endParaRPr lang="en-US" sz="3600" dirty="0" smtClean="0"/>
          </a:p>
        </p:txBody>
      </p:sp>
      <p:graphicFrame>
        <p:nvGraphicFramePr>
          <p:cNvPr id="8194" name="Object 7"/>
          <p:cNvGraphicFramePr>
            <a:graphicFrameLocks noChangeAspect="1"/>
          </p:cNvGraphicFramePr>
          <p:nvPr/>
        </p:nvGraphicFramePr>
        <p:xfrm>
          <a:off x="5381625" y="3429000"/>
          <a:ext cx="32797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18" name="Equation" r:id="rId3" imgW="1409400" imgH="241200" progId="Equation.DSMT4">
                  <p:embed/>
                </p:oleObj>
              </mc:Choice>
              <mc:Fallback>
                <p:oleObj name="Equation" r:id="rId3" imgW="140940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25" y="3429000"/>
                        <a:ext cx="3279775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8"/>
          <p:cNvGraphicFramePr>
            <a:graphicFrameLocks noChangeAspect="1"/>
          </p:cNvGraphicFramePr>
          <p:nvPr/>
        </p:nvGraphicFramePr>
        <p:xfrm>
          <a:off x="2124075" y="4765675"/>
          <a:ext cx="375285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19" name="Equation" r:id="rId5" imgW="2133360" imgH="609480" progId="Equation.DSMT4">
                  <p:embed/>
                </p:oleObj>
              </mc:Choice>
              <mc:Fallback>
                <p:oleObj name="Equation" r:id="rId5" imgW="2133360" imgH="6094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765675"/>
                        <a:ext cx="3752850" cy="1025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" name="Text Box 9"/>
          <p:cNvSpPr txBox="1">
            <a:spLocks noChangeArrowheads="1"/>
          </p:cNvSpPr>
          <p:nvPr/>
        </p:nvSpPr>
        <p:spPr bwMode="auto">
          <a:xfrm>
            <a:off x="3048000" y="6248400"/>
            <a:ext cx="3276600" cy="46166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/>
              <a:t>46.698 </a:t>
            </a:r>
            <a:r>
              <a:rPr lang="en-US" sz="2400" b="1" dirty="0">
                <a:cs typeface="Arial" charset="0"/>
              </a:rPr>
              <a:t>≤ </a:t>
            </a:r>
            <a:r>
              <a:rPr lang="el-GR" sz="2400" b="1" dirty="0">
                <a:latin typeface="Times New Roman" pitchFamily="18" charset="0"/>
                <a:cs typeface="Times New Roman" pitchFamily="18" charset="0"/>
              </a:rPr>
              <a:t>μ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cs typeface="Arial" charset="0"/>
              </a:rPr>
              <a:t>≤</a:t>
            </a:r>
            <a:r>
              <a:rPr lang="en-US" sz="2400" b="1" dirty="0"/>
              <a:t> 53.302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9200" y="1812971"/>
            <a:ext cx="7010400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id-ID" dirty="0" smtClean="0"/>
              <a:t>Suatu sampel ikan diambil secara acak berukuran </a:t>
            </a:r>
            <a:r>
              <a:rPr lang="en-US" dirty="0" smtClean="0"/>
              <a:t>n = 25 </a:t>
            </a:r>
            <a:r>
              <a:rPr lang="id-ID" dirty="0" smtClean="0"/>
              <a:t>memiliki</a:t>
            </a:r>
            <a:r>
              <a:rPr lang="en-US" dirty="0" smtClean="0"/>
              <a:t> </a:t>
            </a:r>
            <a:r>
              <a:rPr lang="id-ID" dirty="0" smtClean="0"/>
              <a:t>rata-rata panjang 50 mm dan standar deviasi sampel 8 mm. Buatlah interval konfidensi 95% bagi rata-rata panjang ikan.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4" name="Freeform 10"/>
          <p:cNvSpPr>
            <a:spLocks/>
          </p:cNvSpPr>
          <p:nvPr/>
        </p:nvSpPr>
        <p:spPr bwMode="auto">
          <a:xfrm>
            <a:off x="2971800" y="4724400"/>
            <a:ext cx="2057400" cy="1143000"/>
          </a:xfrm>
          <a:custGeom>
            <a:avLst/>
            <a:gdLst>
              <a:gd name="T0" fmla="*/ 0 w 1241"/>
              <a:gd name="T1" fmla="*/ 1064353 h 436"/>
              <a:gd name="T2" fmla="*/ 2055742 w 1241"/>
              <a:gd name="T3" fmla="*/ 1064353 h 436"/>
              <a:gd name="T4" fmla="*/ 2055742 w 1241"/>
              <a:gd name="T5" fmla="*/ 0 h 436"/>
              <a:gd name="T6" fmla="*/ 0 w 1241"/>
              <a:gd name="T7" fmla="*/ 0 h 436"/>
              <a:gd name="T8" fmla="*/ 0 w 1241"/>
              <a:gd name="T9" fmla="*/ 1064353 h 4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41"/>
              <a:gd name="T16" fmla="*/ 0 h 436"/>
              <a:gd name="T17" fmla="*/ 1241 w 1241"/>
              <a:gd name="T18" fmla="*/ 436 h 4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41" h="436">
                <a:moveTo>
                  <a:pt x="0" y="435"/>
                </a:moveTo>
                <a:lnTo>
                  <a:pt x="1240" y="435"/>
                </a:lnTo>
                <a:lnTo>
                  <a:pt x="1240" y="0"/>
                </a:lnTo>
                <a:lnTo>
                  <a:pt x="0" y="0"/>
                </a:lnTo>
                <a:lnTo>
                  <a:pt x="0" y="435"/>
                </a:lnTo>
              </a:path>
            </a:pathLst>
          </a:custGeom>
          <a:solidFill>
            <a:srgbClr val="C7DAF7"/>
          </a:solidFill>
          <a:ln w="25400" cap="rnd">
            <a:solidFill>
              <a:srgbClr val="1A1A1A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76" name="Freeform 12"/>
          <p:cNvSpPr>
            <a:spLocks/>
          </p:cNvSpPr>
          <p:nvPr/>
        </p:nvSpPr>
        <p:spPr bwMode="auto">
          <a:xfrm>
            <a:off x="6324600" y="3124200"/>
            <a:ext cx="1724025" cy="1179513"/>
          </a:xfrm>
          <a:custGeom>
            <a:avLst/>
            <a:gdLst>
              <a:gd name="T0" fmla="*/ 0 w 1086"/>
              <a:gd name="T1" fmla="*/ 1177925 h 743"/>
              <a:gd name="T2" fmla="*/ 1722438 w 1086"/>
              <a:gd name="T3" fmla="*/ 1177925 h 743"/>
              <a:gd name="T4" fmla="*/ 1722438 w 1086"/>
              <a:gd name="T5" fmla="*/ 0 h 743"/>
              <a:gd name="T6" fmla="*/ 0 w 1086"/>
              <a:gd name="T7" fmla="*/ 0 h 743"/>
              <a:gd name="T8" fmla="*/ 0 w 1086"/>
              <a:gd name="T9" fmla="*/ 1177925 h 7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6"/>
              <a:gd name="T16" fmla="*/ 0 h 743"/>
              <a:gd name="T17" fmla="*/ 1086 w 1086"/>
              <a:gd name="T18" fmla="*/ 743 h 7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6" h="743">
                <a:moveTo>
                  <a:pt x="0" y="742"/>
                </a:moveTo>
                <a:lnTo>
                  <a:pt x="1085" y="742"/>
                </a:lnTo>
                <a:lnTo>
                  <a:pt x="1085" y="0"/>
                </a:lnTo>
                <a:lnTo>
                  <a:pt x="0" y="0"/>
                </a:lnTo>
                <a:lnTo>
                  <a:pt x="0" y="742"/>
                </a:lnTo>
              </a:path>
            </a:pathLst>
          </a:custGeom>
          <a:solidFill>
            <a:srgbClr val="FDE0BD"/>
          </a:solidFill>
          <a:ln w="25400" cap="rnd">
            <a:solidFill>
              <a:srgbClr val="1A1A1A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C8920F6A-1A8B-4E55-B024-5F9E7A1A51BF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dirty="0" smtClean="0"/>
              <a:t>Interval Konfidensi</a:t>
            </a:r>
            <a:endParaRPr lang="en-US" dirty="0" smtClean="0"/>
          </a:p>
        </p:txBody>
      </p:sp>
      <p:sp>
        <p:nvSpPr>
          <p:cNvPr id="36867" name="Freeform 3"/>
          <p:cNvSpPr>
            <a:spLocks/>
          </p:cNvSpPr>
          <p:nvPr/>
        </p:nvSpPr>
        <p:spPr bwMode="auto">
          <a:xfrm>
            <a:off x="1914525" y="3135313"/>
            <a:ext cx="1819275" cy="979487"/>
          </a:xfrm>
          <a:custGeom>
            <a:avLst/>
            <a:gdLst>
              <a:gd name="T0" fmla="*/ 0 w 1068"/>
              <a:gd name="T1" fmla="*/ 977204 h 429"/>
              <a:gd name="T2" fmla="*/ 1817572 w 1068"/>
              <a:gd name="T3" fmla="*/ 977204 h 429"/>
              <a:gd name="T4" fmla="*/ 1817572 w 1068"/>
              <a:gd name="T5" fmla="*/ 0 h 429"/>
              <a:gd name="T6" fmla="*/ 0 w 1068"/>
              <a:gd name="T7" fmla="*/ 0 h 429"/>
              <a:gd name="T8" fmla="*/ 0 w 1068"/>
              <a:gd name="T9" fmla="*/ 977204 h 42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68"/>
              <a:gd name="T16" fmla="*/ 0 h 429"/>
              <a:gd name="T17" fmla="*/ 1068 w 1068"/>
              <a:gd name="T18" fmla="*/ 429 h 42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68" h="429">
                <a:moveTo>
                  <a:pt x="0" y="428"/>
                </a:moveTo>
                <a:lnTo>
                  <a:pt x="1067" y="428"/>
                </a:lnTo>
                <a:lnTo>
                  <a:pt x="1067" y="0"/>
                </a:lnTo>
                <a:lnTo>
                  <a:pt x="0" y="0"/>
                </a:lnTo>
                <a:lnTo>
                  <a:pt x="0" y="428"/>
                </a:lnTo>
              </a:path>
            </a:pathLst>
          </a:custGeom>
          <a:solidFill>
            <a:srgbClr val="C7DAF7"/>
          </a:solidFill>
          <a:ln w="25400" cap="rnd">
            <a:solidFill>
              <a:srgbClr val="1A1A1A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1905000" y="3200400"/>
            <a:ext cx="1785747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id-ID" b="1" dirty="0" smtClean="0"/>
              <a:t>Mean populasi</a:t>
            </a:r>
            <a:endParaRPr lang="en-US" b="1" dirty="0"/>
          </a:p>
        </p:txBody>
      </p:sp>
      <p:sp>
        <p:nvSpPr>
          <p:cNvPr id="36869" name="Freeform 5"/>
          <p:cNvSpPr>
            <a:spLocks/>
          </p:cNvSpPr>
          <p:nvPr/>
        </p:nvSpPr>
        <p:spPr bwMode="auto">
          <a:xfrm>
            <a:off x="914400" y="4724400"/>
            <a:ext cx="1814513" cy="1179513"/>
          </a:xfrm>
          <a:custGeom>
            <a:avLst/>
            <a:gdLst>
              <a:gd name="T0" fmla="*/ 0 w 1143"/>
              <a:gd name="T1" fmla="*/ 1177925 h 743"/>
              <a:gd name="T2" fmla="*/ 1812926 w 1143"/>
              <a:gd name="T3" fmla="*/ 1177925 h 743"/>
              <a:gd name="T4" fmla="*/ 1812926 w 1143"/>
              <a:gd name="T5" fmla="*/ 0 h 743"/>
              <a:gd name="T6" fmla="*/ 0 w 1143"/>
              <a:gd name="T7" fmla="*/ 0 h 743"/>
              <a:gd name="T8" fmla="*/ 0 w 1143"/>
              <a:gd name="T9" fmla="*/ 1177925 h 7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43"/>
              <a:gd name="T16" fmla="*/ 0 h 743"/>
              <a:gd name="T17" fmla="*/ 1143 w 1143"/>
              <a:gd name="T18" fmla="*/ 743 h 7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43" h="743">
                <a:moveTo>
                  <a:pt x="0" y="742"/>
                </a:moveTo>
                <a:lnTo>
                  <a:pt x="1142" y="742"/>
                </a:lnTo>
                <a:lnTo>
                  <a:pt x="1142" y="0"/>
                </a:lnTo>
                <a:lnTo>
                  <a:pt x="0" y="0"/>
                </a:lnTo>
                <a:lnTo>
                  <a:pt x="0" y="742"/>
                </a:lnTo>
              </a:path>
            </a:pathLst>
          </a:custGeom>
          <a:solidFill>
            <a:srgbClr val="C7DAF7"/>
          </a:solidFill>
          <a:ln w="25400" cap="rnd">
            <a:solidFill>
              <a:srgbClr val="1A1A1A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3276600" y="4953000"/>
            <a:ext cx="1195841" cy="6437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1" dirty="0"/>
              <a:t> </a:t>
            </a:r>
            <a:r>
              <a:rPr lang="el-GR" b="1" dirty="0">
                <a:cs typeface="Arial" charset="0"/>
              </a:rPr>
              <a:t>σ</a:t>
            </a:r>
            <a:r>
              <a:rPr lang="en-US" b="1" dirty="0">
                <a:cs typeface="Arial" charset="0"/>
              </a:rPr>
              <a:t> </a:t>
            </a:r>
            <a:r>
              <a:rPr lang="id-ID" b="1" dirty="0" smtClean="0"/>
              <a:t>tidak </a:t>
            </a:r>
          </a:p>
          <a:p>
            <a:pPr eaLnBrk="0" hangingPunct="0"/>
            <a:r>
              <a:rPr lang="id-ID" b="1" dirty="0" smtClean="0"/>
              <a:t>diketahui</a:t>
            </a:r>
            <a:endParaRPr lang="en-US" b="1" dirty="0"/>
          </a:p>
        </p:txBody>
      </p:sp>
      <p:sp>
        <p:nvSpPr>
          <p:cNvPr id="36871" name="Freeform 7"/>
          <p:cNvSpPr>
            <a:spLocks/>
          </p:cNvSpPr>
          <p:nvPr/>
        </p:nvSpPr>
        <p:spPr bwMode="auto">
          <a:xfrm>
            <a:off x="3657600" y="1676400"/>
            <a:ext cx="1981200" cy="1006475"/>
          </a:xfrm>
          <a:custGeom>
            <a:avLst/>
            <a:gdLst>
              <a:gd name="T0" fmla="*/ 0 w 1115"/>
              <a:gd name="T1" fmla="*/ 1004517 h 514"/>
              <a:gd name="T2" fmla="*/ 1979423 w 1115"/>
              <a:gd name="T3" fmla="*/ 1004517 h 514"/>
              <a:gd name="T4" fmla="*/ 1979423 w 1115"/>
              <a:gd name="T5" fmla="*/ 0 h 514"/>
              <a:gd name="T6" fmla="*/ 0 w 1115"/>
              <a:gd name="T7" fmla="*/ 0 h 514"/>
              <a:gd name="T8" fmla="*/ 0 w 1115"/>
              <a:gd name="T9" fmla="*/ 1004517 h 5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15"/>
              <a:gd name="T16" fmla="*/ 0 h 514"/>
              <a:gd name="T17" fmla="*/ 1115 w 1115"/>
              <a:gd name="T18" fmla="*/ 514 h 5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15" h="514">
                <a:moveTo>
                  <a:pt x="0" y="513"/>
                </a:moveTo>
                <a:lnTo>
                  <a:pt x="1114" y="513"/>
                </a:lnTo>
                <a:lnTo>
                  <a:pt x="1114" y="0"/>
                </a:lnTo>
                <a:lnTo>
                  <a:pt x="0" y="0"/>
                </a:lnTo>
                <a:lnTo>
                  <a:pt x="0" y="513"/>
                </a:lnTo>
              </a:path>
            </a:pathLst>
          </a:custGeom>
          <a:solidFill>
            <a:srgbClr val="C7DAF7"/>
          </a:solidFill>
          <a:ln w="25400" cap="rnd">
            <a:solidFill>
              <a:srgbClr val="1A1A1A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3733800" y="1752600"/>
            <a:ext cx="1375378" cy="6437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id-ID" b="1" dirty="0" smtClean="0"/>
              <a:t>Interval </a:t>
            </a:r>
          </a:p>
          <a:p>
            <a:pPr eaLnBrk="0" hangingPunct="0"/>
            <a:r>
              <a:rPr lang="id-ID" b="1" dirty="0" smtClean="0"/>
              <a:t>Konfidensi</a:t>
            </a:r>
            <a:endParaRPr lang="en-US" b="1" dirty="0"/>
          </a:p>
        </p:txBody>
      </p:sp>
      <p:sp>
        <p:nvSpPr>
          <p:cNvPr id="36875" name="Rectangle 11"/>
          <p:cNvSpPr>
            <a:spLocks noChangeArrowheads="1"/>
          </p:cNvSpPr>
          <p:nvPr/>
        </p:nvSpPr>
        <p:spPr bwMode="auto">
          <a:xfrm>
            <a:off x="6324600" y="3276600"/>
            <a:ext cx="1865312" cy="6437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id-ID" b="1" dirty="0" smtClean="0"/>
              <a:t>Proporsi populasi</a:t>
            </a:r>
            <a:endParaRPr lang="en-US" b="1" dirty="0"/>
          </a:p>
        </p:txBody>
      </p:sp>
      <p:sp>
        <p:nvSpPr>
          <p:cNvPr id="36877" name="Rectangle 13"/>
          <p:cNvSpPr>
            <a:spLocks noChangeArrowheads="1"/>
          </p:cNvSpPr>
          <p:nvPr/>
        </p:nvSpPr>
        <p:spPr bwMode="auto">
          <a:xfrm>
            <a:off x="990600" y="5162550"/>
            <a:ext cx="1482779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1" dirty="0"/>
              <a:t> </a:t>
            </a:r>
            <a:r>
              <a:rPr lang="el-GR" b="1" dirty="0">
                <a:cs typeface="Arial" charset="0"/>
              </a:rPr>
              <a:t>σ</a:t>
            </a:r>
            <a:r>
              <a:rPr lang="en-US" b="1" dirty="0">
                <a:cs typeface="Arial" charset="0"/>
              </a:rPr>
              <a:t> </a:t>
            </a:r>
            <a:r>
              <a:rPr lang="id-ID" b="1" dirty="0" smtClean="0"/>
              <a:t>diketahui</a:t>
            </a:r>
            <a:endParaRPr lang="en-US" b="1" dirty="0"/>
          </a:p>
        </p:txBody>
      </p:sp>
      <p:sp>
        <p:nvSpPr>
          <p:cNvPr id="36878" name="Rectangle 14"/>
          <p:cNvSpPr>
            <a:spLocks noChangeArrowheads="1"/>
          </p:cNvSpPr>
          <p:nvPr/>
        </p:nvSpPr>
        <p:spPr bwMode="auto">
          <a:xfrm>
            <a:off x="2362200" y="5387975"/>
            <a:ext cx="184150" cy="92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9" name="Line 15"/>
          <p:cNvSpPr>
            <a:spLocks noChangeShapeType="1"/>
          </p:cNvSpPr>
          <p:nvPr/>
        </p:nvSpPr>
        <p:spPr bwMode="auto">
          <a:xfrm>
            <a:off x="4648200" y="26670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6880" name="Line 16"/>
          <p:cNvSpPr>
            <a:spLocks noChangeShapeType="1"/>
          </p:cNvSpPr>
          <p:nvPr/>
        </p:nvSpPr>
        <p:spPr bwMode="auto">
          <a:xfrm>
            <a:off x="2819400" y="2895600"/>
            <a:ext cx="434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6881" name="Line 17"/>
          <p:cNvSpPr>
            <a:spLocks noChangeShapeType="1"/>
          </p:cNvSpPr>
          <p:nvPr/>
        </p:nvSpPr>
        <p:spPr bwMode="auto">
          <a:xfrm>
            <a:off x="2819400" y="28956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6882" name="Line 18"/>
          <p:cNvSpPr>
            <a:spLocks noChangeShapeType="1"/>
          </p:cNvSpPr>
          <p:nvPr/>
        </p:nvSpPr>
        <p:spPr bwMode="auto">
          <a:xfrm>
            <a:off x="7162800" y="28956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6883" name="Line 19"/>
          <p:cNvSpPr>
            <a:spLocks noChangeShapeType="1"/>
          </p:cNvSpPr>
          <p:nvPr/>
        </p:nvSpPr>
        <p:spPr bwMode="auto">
          <a:xfrm>
            <a:off x="2819400" y="41148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6884" name="Line 20"/>
          <p:cNvSpPr>
            <a:spLocks noChangeShapeType="1"/>
          </p:cNvSpPr>
          <p:nvPr/>
        </p:nvSpPr>
        <p:spPr bwMode="auto">
          <a:xfrm>
            <a:off x="1752600" y="4343400"/>
            <a:ext cx="2057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6885" name="Line 21"/>
          <p:cNvSpPr>
            <a:spLocks noChangeShapeType="1"/>
          </p:cNvSpPr>
          <p:nvPr/>
        </p:nvSpPr>
        <p:spPr bwMode="auto">
          <a:xfrm>
            <a:off x="1752600" y="43434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6886" name="Line 22"/>
          <p:cNvSpPr>
            <a:spLocks noChangeShapeType="1"/>
          </p:cNvSpPr>
          <p:nvPr/>
        </p:nvSpPr>
        <p:spPr bwMode="auto">
          <a:xfrm>
            <a:off x="3810000" y="43434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390BDED3-CF9B-433D-8581-2E412CBDD230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315200" cy="1066800"/>
          </a:xfrm>
        </p:spPr>
        <p:txBody>
          <a:bodyPr/>
          <a:lstStyle/>
          <a:p>
            <a:pPr defTabSz="914400" eaLnBrk="1" hangingPunct="1">
              <a:lnSpc>
                <a:spcPct val="70000"/>
              </a:lnSpc>
            </a:pPr>
            <a:r>
              <a:rPr lang="id-ID" dirty="0" smtClean="0"/>
              <a:t>Interval Konfidensi Proporsi Populasi</a:t>
            </a:r>
            <a:r>
              <a:rPr lang="en-US" dirty="0" smtClean="0"/>
              <a:t>, </a:t>
            </a:r>
            <a:r>
              <a:rPr lang="el-GR" dirty="0" smtClean="0">
                <a:latin typeface="Times New Roman" pitchFamily="18" charset="0"/>
                <a:cs typeface="Times New Roman" pitchFamily="18" charset="0"/>
              </a:rPr>
              <a:t>π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676400"/>
            <a:ext cx="7696200" cy="4195763"/>
          </a:xfrm>
        </p:spPr>
        <p:txBody>
          <a:bodyPr/>
          <a:lstStyle/>
          <a:p>
            <a:pPr marL="342900" indent="-342900" defTabSz="914400" eaLnBrk="1" hangingPunct="1"/>
            <a:r>
              <a:rPr lang="id-ID" sz="2700" dirty="0" smtClean="0"/>
              <a:t>Distribusi dari proprosi sampel akan mendekati normal jika ukuran sampel cukup besar, dengan standar deviasi</a:t>
            </a:r>
            <a:endParaRPr lang="en-US" sz="2700" dirty="0" smtClean="0"/>
          </a:p>
          <a:p>
            <a:pPr marL="342900" indent="-342900" defTabSz="914400" eaLnBrk="1" hangingPunct="1"/>
            <a:endParaRPr lang="en-US" sz="2700" dirty="0" smtClean="0"/>
          </a:p>
          <a:p>
            <a:pPr marL="342900" indent="-342900" defTabSz="914400" eaLnBrk="1" hangingPunct="1"/>
            <a:endParaRPr lang="id-ID" sz="2700" dirty="0" smtClean="0"/>
          </a:p>
          <a:p>
            <a:pPr marL="342900" indent="-342900" defTabSz="914400" eaLnBrk="1" hangingPunct="1"/>
            <a:endParaRPr lang="en-US" sz="2700" dirty="0" smtClean="0"/>
          </a:p>
          <a:p>
            <a:pPr marL="342900" indent="-342900" defTabSz="914400" eaLnBrk="1" hangingPunct="1"/>
            <a:r>
              <a:rPr lang="id-ID" sz="2700" dirty="0" smtClean="0"/>
              <a:t>Standar deviasi tersebut kemudian diestimasi dengan statistik sampel</a:t>
            </a:r>
            <a:endParaRPr lang="en-US" sz="2700" dirty="0" smtClean="0"/>
          </a:p>
        </p:txBody>
      </p:sp>
      <p:graphicFrame>
        <p:nvGraphicFramePr>
          <p:cNvPr id="9218" name="Object 5"/>
          <p:cNvGraphicFramePr>
            <a:graphicFrameLocks noChangeAspect="1"/>
          </p:cNvGraphicFramePr>
          <p:nvPr/>
        </p:nvGraphicFramePr>
        <p:xfrm>
          <a:off x="3962400" y="5410200"/>
          <a:ext cx="1711325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42" name="Equation" r:id="rId4" imgW="634680" imgH="444240" progId="Equation.DSMT4">
                  <p:embed/>
                </p:oleObj>
              </mc:Choice>
              <mc:Fallback>
                <p:oleObj name="Equation" r:id="rId4" imgW="634680" imgH="4442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410200"/>
                        <a:ext cx="1711325" cy="1195388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6"/>
          <p:cNvGraphicFramePr>
            <a:graphicFrameLocks noChangeAspect="1"/>
          </p:cNvGraphicFramePr>
          <p:nvPr/>
        </p:nvGraphicFramePr>
        <p:xfrm>
          <a:off x="3370263" y="3124200"/>
          <a:ext cx="2782887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43" name="Equation" r:id="rId6" imgW="990360" imgH="444240" progId="Equation.3">
                  <p:embed/>
                </p:oleObj>
              </mc:Choice>
              <mc:Fallback>
                <p:oleObj name="Equation" r:id="rId6" imgW="990360" imgH="4442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0263" y="3124200"/>
                        <a:ext cx="2782887" cy="1247775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075F7B75-B251-465F-94E9-694C9660BE1B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457200"/>
            <a:ext cx="7924800" cy="762000"/>
          </a:xfrm>
        </p:spPr>
        <p:txBody>
          <a:bodyPr/>
          <a:lstStyle/>
          <a:p>
            <a:pPr defTabSz="914400" eaLnBrk="1" hangingPunct="1"/>
            <a:r>
              <a:rPr lang="id-ID" dirty="0" smtClean="0"/>
              <a:t>Interval Konfidensi Proporsi Populasi</a:t>
            </a:r>
            <a:r>
              <a:rPr lang="en-US" dirty="0" smtClean="0"/>
              <a:t>, </a:t>
            </a:r>
            <a:r>
              <a:rPr lang="el-GR" dirty="0" smtClean="0">
                <a:latin typeface="Times New Roman" pitchFamily="18" charset="0"/>
                <a:cs typeface="Times New Roman" pitchFamily="18" charset="0"/>
              </a:rPr>
              <a:t>π</a:t>
            </a:r>
            <a:endParaRPr lang="en-US" dirty="0" smtClean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305800" cy="4572000"/>
          </a:xfrm>
        </p:spPr>
        <p:txBody>
          <a:bodyPr/>
          <a:lstStyle/>
          <a:p>
            <a:pPr marL="342900" indent="-342900" defTabSz="914400" eaLnBrk="1" hangingPunct="1">
              <a:lnSpc>
                <a:spcPct val="90000"/>
              </a:lnSpc>
            </a:pPr>
            <a:r>
              <a:rPr lang="id-ID" dirty="0" smtClean="0"/>
              <a:t>Interval konfidensi bagi </a:t>
            </a:r>
            <a:r>
              <a:rPr lang="el-GR" dirty="0" smtClean="0"/>
              <a:t>π</a:t>
            </a:r>
            <a:endParaRPr lang="en-US" dirty="0" smtClean="0"/>
          </a:p>
          <a:p>
            <a:pPr marL="342900" indent="-342900" defTabSz="914400" eaLnBrk="1" hangingPunct="1">
              <a:lnSpc>
                <a:spcPct val="90000"/>
              </a:lnSpc>
            </a:pPr>
            <a:endParaRPr lang="en-US" dirty="0" smtClean="0"/>
          </a:p>
          <a:p>
            <a:pPr marL="342900" indent="-342900" defTabSz="914400" eaLnBrk="1" hangingPunct="1">
              <a:lnSpc>
                <a:spcPct val="90000"/>
              </a:lnSpc>
            </a:pPr>
            <a:endParaRPr lang="en-US" dirty="0" smtClean="0"/>
          </a:p>
          <a:p>
            <a:pPr marL="342900" indent="-342900" defTabSz="914400" eaLnBrk="1" hangingPunct="1">
              <a:lnSpc>
                <a:spcPct val="20000"/>
              </a:lnSpc>
            </a:pPr>
            <a:endParaRPr lang="en-US" dirty="0" smtClean="0"/>
          </a:p>
          <a:p>
            <a:pPr marL="342900" indent="-342900" defTabSz="914400" eaLnBrk="1" hangingPunct="1">
              <a:lnSpc>
                <a:spcPct val="90000"/>
              </a:lnSpc>
            </a:pPr>
            <a:endParaRPr lang="en-US" dirty="0" smtClean="0"/>
          </a:p>
          <a:p>
            <a:pPr marL="342900" indent="-342900" defTabSz="914400" eaLnBrk="1" hangingPunct="1">
              <a:lnSpc>
                <a:spcPct val="90000"/>
              </a:lnSpc>
            </a:pPr>
            <a:r>
              <a:rPr lang="id-ID" sz="2400" dirty="0" smtClean="0"/>
              <a:t>Di mana</a:t>
            </a:r>
            <a:endParaRPr lang="en-US" sz="2400" dirty="0" smtClean="0"/>
          </a:p>
          <a:p>
            <a:pPr marL="742950" lvl="1" indent="-285750" defTabSz="914400" eaLnBrk="1" hangingPunct="1">
              <a:lnSpc>
                <a:spcPct val="90000"/>
              </a:lnSpc>
            </a:pPr>
            <a:r>
              <a:rPr lang="en-US" sz="1900" dirty="0" smtClean="0"/>
              <a:t>Z</a:t>
            </a:r>
            <a:r>
              <a:rPr lang="el-GR" sz="1900" baseline="-25000" dirty="0" smtClean="0">
                <a:cs typeface="Arial" charset="0"/>
              </a:rPr>
              <a:t>α</a:t>
            </a:r>
            <a:r>
              <a:rPr lang="en-US" sz="1900" baseline="-25000" dirty="0" smtClean="0">
                <a:cs typeface="Arial" charset="0"/>
              </a:rPr>
              <a:t>/2</a:t>
            </a:r>
            <a:r>
              <a:rPr lang="en-US" sz="1900" dirty="0" smtClean="0"/>
              <a:t> </a:t>
            </a:r>
            <a:r>
              <a:rPr lang="id-ID" sz="1900" dirty="0" smtClean="0"/>
              <a:t>:</a:t>
            </a:r>
            <a:r>
              <a:rPr lang="en-US" sz="1900" dirty="0" smtClean="0"/>
              <a:t> </a:t>
            </a:r>
            <a:r>
              <a:rPr lang="id-ID" sz="1900" dirty="0" smtClean="0"/>
              <a:t>nilai Z untuk tingkat konfidensi 1-</a:t>
            </a:r>
            <a:r>
              <a:rPr lang="el-GR" sz="1900" dirty="0" smtClean="0"/>
              <a:t>α</a:t>
            </a:r>
            <a:endParaRPr lang="en-US" sz="1900" dirty="0" smtClean="0"/>
          </a:p>
          <a:p>
            <a:pPr marL="742950" lvl="1" indent="-285750" defTabSz="914400" eaLnBrk="1" hangingPunct="1">
              <a:lnSpc>
                <a:spcPct val="90000"/>
              </a:lnSpc>
            </a:pPr>
            <a:r>
              <a:rPr lang="en-US" sz="1900" dirty="0" smtClean="0"/>
              <a:t>p     </a:t>
            </a:r>
            <a:r>
              <a:rPr lang="id-ID" sz="1900" dirty="0" smtClean="0"/>
              <a:t>: proporsi sampel</a:t>
            </a:r>
            <a:endParaRPr lang="en-US" sz="1900" dirty="0" smtClean="0"/>
          </a:p>
          <a:p>
            <a:pPr marL="742950" lvl="1" indent="-285750" defTabSz="914400" eaLnBrk="1" hangingPunct="1">
              <a:lnSpc>
                <a:spcPct val="90000"/>
              </a:lnSpc>
            </a:pPr>
            <a:r>
              <a:rPr lang="en-US" sz="1900" dirty="0" smtClean="0"/>
              <a:t>n     </a:t>
            </a:r>
            <a:r>
              <a:rPr lang="id-ID" sz="1900" dirty="0" smtClean="0"/>
              <a:t>: ukuran sampel</a:t>
            </a:r>
            <a:endParaRPr lang="en-US" sz="1900" dirty="0" smtClean="0"/>
          </a:p>
          <a:p>
            <a:pPr marL="342900" indent="-342900" defTabSz="914400" eaLnBrk="1" hangingPunct="1">
              <a:lnSpc>
                <a:spcPct val="90000"/>
              </a:lnSpc>
            </a:pPr>
            <a:r>
              <a:rPr lang="en-US" sz="2100" dirty="0" smtClean="0"/>
              <a:t>Note:  </a:t>
            </a:r>
            <a:r>
              <a:rPr lang="id-ID" sz="2100" dirty="0" smtClean="0"/>
              <a:t>nilai X harus memenuhi </a:t>
            </a:r>
            <a:r>
              <a:rPr lang="en-US" sz="2100" dirty="0" smtClean="0"/>
              <a:t>X &gt; 5 </a:t>
            </a:r>
            <a:r>
              <a:rPr lang="id-ID" sz="2100" dirty="0" smtClean="0"/>
              <a:t>dan</a:t>
            </a:r>
            <a:r>
              <a:rPr lang="en-US" sz="2100" dirty="0" smtClean="0"/>
              <a:t> n – X &gt; 5</a:t>
            </a:r>
          </a:p>
        </p:txBody>
      </p:sp>
      <p:graphicFrame>
        <p:nvGraphicFramePr>
          <p:cNvPr id="10242" name="Object 4"/>
          <p:cNvGraphicFramePr>
            <a:graphicFrameLocks noChangeAspect="1"/>
          </p:cNvGraphicFramePr>
          <p:nvPr/>
        </p:nvGraphicFramePr>
        <p:xfrm>
          <a:off x="2590800" y="2209800"/>
          <a:ext cx="3738562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64" name="Equation" r:id="rId4" imgW="1130040" imgH="406080" progId="Equation.3">
                  <p:embed/>
                </p:oleObj>
              </mc:Choice>
              <mc:Fallback>
                <p:oleObj name="Equation" r:id="rId4" imgW="1130040" imgH="4060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209800"/>
                        <a:ext cx="3738562" cy="1343025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7CF63841-DC29-4ED9-AC60-01ACCF7401A2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7475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8-</a:t>
            </a:r>
            <a:fld id="{C6BB06B6-89F0-4AAB-8455-8BD7C8382973}" type="slidenum">
              <a:rPr lang="en-US" sz="1000"/>
              <a:pPr algn="r" defTabSz="852488"/>
              <a:t>27</a:t>
            </a:fld>
            <a:endParaRPr lang="en-US" sz="1000"/>
          </a:p>
        </p:txBody>
      </p:sp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0013" y="228600"/>
            <a:ext cx="6032500" cy="914400"/>
          </a:xfrm>
        </p:spPr>
        <p:txBody>
          <a:bodyPr/>
          <a:lstStyle/>
          <a:p>
            <a:pPr defTabSz="914400" eaLnBrk="1" hangingPunct="1"/>
            <a:r>
              <a:rPr lang="id-ID" dirty="0" smtClean="0"/>
              <a:t>Contoh</a:t>
            </a:r>
            <a:endParaRPr lang="en-US" dirty="0" smtClean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941513"/>
            <a:ext cx="7315200" cy="3022600"/>
          </a:xfrm>
        </p:spPr>
        <p:txBody>
          <a:bodyPr/>
          <a:lstStyle/>
          <a:p>
            <a:pPr marL="342900" indent="-342900" defTabSz="914400" eaLnBrk="1" hangingPunct="1">
              <a:lnSpc>
                <a:spcPct val="120000"/>
              </a:lnSpc>
              <a:spcBef>
                <a:spcPct val="40000"/>
              </a:spcBef>
            </a:pPr>
            <a:r>
              <a:rPr lang="id-ID" dirty="0" smtClean="0"/>
              <a:t>Suatu sampel acak berukuran 100 ekor ikan menunjukkan bahwa 25 diantaranya memiliki tag.</a:t>
            </a:r>
          </a:p>
          <a:p>
            <a:pPr marL="342900" indent="-342900" defTabSz="914400" eaLnBrk="1" hangingPunct="1">
              <a:lnSpc>
                <a:spcPct val="120000"/>
              </a:lnSpc>
              <a:spcBef>
                <a:spcPct val="40000"/>
              </a:spcBef>
              <a:buNone/>
            </a:pPr>
            <a:endParaRPr lang="en-US" dirty="0" smtClean="0"/>
          </a:p>
          <a:p>
            <a:pPr marL="342900" indent="-342900" defTabSz="914400" eaLnBrk="1" hangingPunct="1">
              <a:lnSpc>
                <a:spcPct val="120000"/>
              </a:lnSpc>
              <a:spcBef>
                <a:spcPct val="40000"/>
              </a:spcBef>
            </a:pPr>
            <a:r>
              <a:rPr lang="id-ID" dirty="0" smtClean="0"/>
              <a:t>Buat interval konfidensi 95% untuk proporsi sebenarnya anggota populasi yang memiliki tag.</a:t>
            </a:r>
            <a:endParaRPr 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en-US"/>
              <a:t>Chap 8-</a:t>
            </a:r>
            <a:fld id="{3B2AECF3-630D-441C-9DDF-D9995FCF46BA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11269" name="Rectangle 2"/>
          <p:cNvSpPr>
            <a:spLocks noChangeArrowheads="1"/>
          </p:cNvSpPr>
          <p:nvPr/>
        </p:nvSpPr>
        <p:spPr bwMode="auto">
          <a:xfrm>
            <a:off x="2286000" y="5791200"/>
            <a:ext cx="4495800" cy="609600"/>
          </a:xfrm>
          <a:prstGeom prst="rect">
            <a:avLst/>
          </a:prstGeom>
          <a:solidFill>
            <a:srgbClr val="FDE0BD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title"/>
          </p:nvPr>
        </p:nvSpPr>
        <p:spPr>
          <a:xfrm>
            <a:off x="1657350" y="228600"/>
            <a:ext cx="5773738" cy="990600"/>
          </a:xfrm>
        </p:spPr>
        <p:txBody>
          <a:bodyPr/>
          <a:lstStyle/>
          <a:p>
            <a:pPr defTabSz="914400" eaLnBrk="1" hangingPunct="1"/>
            <a:r>
              <a:rPr lang="id-ID" dirty="0" smtClean="0"/>
              <a:t>Contoh</a:t>
            </a:r>
            <a:endParaRPr lang="en-US" dirty="0" smtClean="0"/>
          </a:p>
        </p:txBody>
      </p:sp>
      <p:sp>
        <p:nvSpPr>
          <p:cNvPr id="1127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219200" y="1447800"/>
            <a:ext cx="7315200" cy="1981200"/>
          </a:xfrm>
        </p:spPr>
        <p:txBody>
          <a:bodyPr/>
          <a:lstStyle/>
          <a:p>
            <a:pPr marL="342900" indent="-342900" defTabSz="914400">
              <a:lnSpc>
                <a:spcPct val="120000"/>
              </a:lnSpc>
              <a:spcBef>
                <a:spcPct val="40000"/>
              </a:spcBef>
            </a:pPr>
            <a:r>
              <a:rPr lang="id-ID" sz="2400" dirty="0" smtClean="0"/>
              <a:t>Suatu sampel acak berukuran 100 ekor ikan menunjukkan bahwa 25 diantaranya memiliki tag.</a:t>
            </a:r>
          </a:p>
          <a:p>
            <a:pPr marL="342900" indent="-342900" defTabSz="914400" eaLnBrk="1" hangingPunct="1">
              <a:lnSpc>
                <a:spcPct val="120000"/>
              </a:lnSpc>
              <a:spcBef>
                <a:spcPct val="40000"/>
              </a:spcBef>
            </a:pPr>
            <a:endParaRPr lang="en-US" sz="2400" dirty="0" smtClean="0"/>
          </a:p>
        </p:txBody>
      </p:sp>
      <p:graphicFrame>
        <p:nvGraphicFramePr>
          <p:cNvPr id="11266" name="Object 8"/>
          <p:cNvGraphicFramePr>
            <a:graphicFrameLocks noChangeAspect="1"/>
          </p:cNvGraphicFramePr>
          <p:nvPr/>
        </p:nvGraphicFramePr>
        <p:xfrm>
          <a:off x="2106613" y="4065588"/>
          <a:ext cx="5122862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0" name="Equation" r:id="rId4" imgW="2209680" imgH="533160" progId="Equation.3">
                  <p:embed/>
                </p:oleObj>
              </mc:Choice>
              <mc:Fallback>
                <p:oleObj name="Equation" r:id="rId4" imgW="2209680" imgH="53316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613" y="4065588"/>
                        <a:ext cx="5122862" cy="1236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9"/>
          <p:cNvGraphicFramePr>
            <a:graphicFrameLocks noChangeAspect="1"/>
          </p:cNvGraphicFramePr>
          <p:nvPr/>
        </p:nvGraphicFramePr>
        <p:xfrm>
          <a:off x="2324100" y="5368925"/>
          <a:ext cx="42672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1" name="Equation" r:id="rId6" imgW="1422360" imgH="406080" progId="Equation.3">
                  <p:embed/>
                </p:oleObj>
              </mc:Choice>
              <mc:Fallback>
                <p:oleObj name="Equation" r:id="rId6" imgW="1422360" imgH="4060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5368925"/>
                        <a:ext cx="4267200" cy="1003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73" name="Picture 11" descr="left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848600" y="5375275"/>
            <a:ext cx="1200150" cy="112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6" name="TextBox 12"/>
          <p:cNvSpPr txBox="1">
            <a:spLocks noChangeArrowheads="1"/>
          </p:cNvSpPr>
          <p:nvPr/>
        </p:nvSpPr>
        <p:spPr bwMode="auto">
          <a:xfrm>
            <a:off x="1295400" y="3429000"/>
            <a:ext cx="7659688" cy="4619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np = 100 * 0.25 = 25 &gt; 5 &amp; n(1-p) = 100 * 0.75 = 75 &gt; 5</a:t>
            </a:r>
          </a:p>
        </p:txBody>
      </p:sp>
      <p:sp>
        <p:nvSpPr>
          <p:cNvPr id="11277" name="TextBox 13"/>
          <p:cNvSpPr txBox="1">
            <a:spLocks noChangeArrowheads="1"/>
          </p:cNvSpPr>
          <p:nvPr/>
        </p:nvSpPr>
        <p:spPr bwMode="auto">
          <a:xfrm>
            <a:off x="152400" y="4267200"/>
            <a:ext cx="1441420" cy="1200329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d-ID" sz="1800" dirty="0" smtClean="0"/>
              <a:t>Pastikan </a:t>
            </a:r>
          </a:p>
          <a:p>
            <a:r>
              <a:rPr lang="id-ID" sz="1800" dirty="0" smtClean="0"/>
              <a:t>ukuran</a:t>
            </a:r>
          </a:p>
          <a:p>
            <a:r>
              <a:rPr lang="id-ID" dirty="0" smtClean="0"/>
              <a:t>Sampel </a:t>
            </a:r>
          </a:p>
          <a:p>
            <a:r>
              <a:rPr lang="id-ID" dirty="0" smtClean="0"/>
              <a:t>cukup besar</a:t>
            </a:r>
            <a:endParaRPr lang="en-US" sz="1800" dirty="0"/>
          </a:p>
        </p:txBody>
      </p:sp>
      <p:cxnSp>
        <p:nvCxnSpPr>
          <p:cNvPr id="11278" name="Shape 15"/>
          <p:cNvCxnSpPr>
            <a:cxnSpLocks noChangeShapeType="1"/>
            <a:stCxn id="11277" idx="0"/>
            <a:endCxn id="11276" idx="1"/>
          </p:cNvCxnSpPr>
          <p:nvPr/>
        </p:nvCxnSpPr>
        <p:spPr bwMode="auto">
          <a:xfrm rot="5400000" flipH="1" flipV="1">
            <a:off x="780646" y="3752446"/>
            <a:ext cx="607218" cy="422290"/>
          </a:xfrm>
          <a:prstGeom prst="bentConnector2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enHall3">
  <a:themeElements>
    <a:clrScheme name="PrenHall3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PrenHall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PrenHall3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nHall3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3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3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nHall3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3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3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</TotalTime>
  <Words>1015</Words>
  <Application>Microsoft Office PowerPoint</Application>
  <PresentationFormat>On-screen Show (4:3)</PresentationFormat>
  <Paragraphs>272</Paragraphs>
  <Slides>28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Symbol</vt:lpstr>
      <vt:lpstr>System</vt:lpstr>
      <vt:lpstr>Times New Roman</vt:lpstr>
      <vt:lpstr>Wingdings</vt:lpstr>
      <vt:lpstr>Office Theme</vt:lpstr>
      <vt:lpstr>PrenHall3</vt:lpstr>
      <vt:lpstr>Equation</vt:lpstr>
      <vt:lpstr>PowerPoint Presentation</vt:lpstr>
      <vt:lpstr>Materi</vt:lpstr>
      <vt:lpstr>Estimasi Titik dan Interval Konfidensi</vt:lpstr>
      <vt:lpstr>Estimasi Titik</vt:lpstr>
      <vt:lpstr>Interval Konfidensi</vt:lpstr>
      <vt:lpstr>Proses Estimasi</vt:lpstr>
      <vt:lpstr>Rumus Umum</vt:lpstr>
      <vt:lpstr>Interval Konfidensi</vt:lpstr>
      <vt:lpstr>Interval Konfidensi bagi μ (σ  diketahui) </vt:lpstr>
      <vt:lpstr>Menentukan Titik Kritis, Zα/2</vt:lpstr>
      <vt:lpstr>Tingkat Konfidensi yg sering dipakai</vt:lpstr>
      <vt:lpstr>Interval dan Tingkat Konfidensi</vt:lpstr>
      <vt:lpstr>Contoh</vt:lpstr>
      <vt:lpstr>Contoh</vt:lpstr>
      <vt:lpstr>PowerPoint Presentation</vt:lpstr>
      <vt:lpstr>Interval Konfidensi</vt:lpstr>
      <vt:lpstr>Apakah standar deviasi populasi (σ) selalu diketahui?</vt:lpstr>
      <vt:lpstr>Interval Konfidensi Bagi μ (σ tidak diketahui) </vt:lpstr>
      <vt:lpstr>Interval Konfidensi Bagi μ (σ tidak diketahui) </vt:lpstr>
      <vt:lpstr>Distribusi t</vt:lpstr>
      <vt:lpstr>Tabel t</vt:lpstr>
      <vt:lpstr>Contoh</vt:lpstr>
      <vt:lpstr>Contoh</vt:lpstr>
      <vt:lpstr>Interval Konfidensi</vt:lpstr>
      <vt:lpstr>Interval Konfidensi Proporsi Populasi, π</vt:lpstr>
      <vt:lpstr>Interval Konfidensi Proporsi Populasi, π</vt:lpstr>
      <vt:lpstr>Contoh</vt:lpstr>
      <vt:lpstr>Contoh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Lenovo</dc:creator>
  <cp:lastModifiedBy>Muhammad Arif Rahman</cp:lastModifiedBy>
  <cp:revision>31</cp:revision>
  <dcterms:created xsi:type="dcterms:W3CDTF">2016-02-28T10:00:07Z</dcterms:created>
  <dcterms:modified xsi:type="dcterms:W3CDTF">2017-03-28T15:46:51Z</dcterms:modified>
</cp:coreProperties>
</file>