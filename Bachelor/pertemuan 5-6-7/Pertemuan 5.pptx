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6"/>
  </p:notesMasterIdLst>
  <p:sldIdLst>
    <p:sldId id="257" r:id="rId3"/>
    <p:sldId id="258" r:id="rId4"/>
    <p:sldId id="261" r:id="rId5"/>
    <p:sldId id="310" r:id="rId6"/>
    <p:sldId id="263" r:id="rId7"/>
    <p:sldId id="264" r:id="rId8"/>
    <p:sldId id="265" r:id="rId9"/>
    <p:sldId id="311" r:id="rId10"/>
    <p:sldId id="266" r:id="rId11"/>
    <p:sldId id="312" r:id="rId12"/>
    <p:sldId id="267" r:id="rId13"/>
    <p:sldId id="262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313" r:id="rId31"/>
    <p:sldId id="314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4" r:id="rId40"/>
    <p:sldId id="302" r:id="rId41"/>
    <p:sldId id="307" r:id="rId42"/>
    <p:sldId id="309" r:id="rId43"/>
    <p:sldId id="297" r:id="rId44"/>
    <p:sldId id="299" r:id="rId45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 autoAdjust="0"/>
    <p:restoredTop sz="90000" autoAdjust="0"/>
  </p:normalViewPr>
  <p:slideViewPr>
    <p:cSldViewPr>
      <p:cViewPr varScale="1">
        <p:scale>
          <a:sx n="63" d="100"/>
          <a:sy n="63" d="100"/>
        </p:scale>
        <p:origin x="14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Sheet1!$E$5:$E$9</c:f>
              <c:numCache>
                <c:formatCode>General</c:formatCode>
                <c:ptCount val="5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</c:numCache>
            </c:numRef>
          </c:cat>
          <c:val>
            <c:numRef>
              <c:f>Sheet1!$F$5:$F$9</c:f>
              <c:numCache>
                <c:formatCode>0.00</c:formatCode>
                <c:ptCount val="5"/>
                <c:pt idx="0">
                  <c:v>0.16666666666666669</c:v>
                </c:pt>
                <c:pt idx="1">
                  <c:v>0.16666666666666669</c:v>
                </c:pt>
                <c:pt idx="2">
                  <c:v>0.33333333333333331</c:v>
                </c:pt>
                <c:pt idx="3">
                  <c:v>0.16666666666666669</c:v>
                </c:pt>
                <c:pt idx="4">
                  <c:v>0.16666666666666669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4708384"/>
        <c:axId val="134708776"/>
      </c:barChart>
      <c:catAx>
        <c:axId val="1347083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rata-rata sampel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34708776"/>
        <c:crosses val="autoZero"/>
        <c:auto val="1"/>
        <c:lblAlgn val="ctr"/>
        <c:lblOffset val="100"/>
        <c:noMultiLvlLbl val="0"/>
      </c:catAx>
      <c:valAx>
        <c:axId val="13470877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probabilitas</a:t>
                </a:r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3470838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981650731158587"/>
          <c:y val="2.3373983739837397E-2"/>
          <c:w val="0.7887549212598427"/>
          <c:h val="0.74382785993214262"/>
        </c:manualLayout>
      </c:layout>
      <c:barChart>
        <c:barDir val="col"/>
        <c:grouping val="clustered"/>
        <c:varyColors val="0"/>
        <c:ser>
          <c:idx val="0"/>
          <c:order val="0"/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Sheet1!$E$5:$E$9</c:f>
              <c:numCache>
                <c:formatCode>General</c:formatCode>
                <c:ptCount val="5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</c:numCache>
            </c:numRef>
          </c:cat>
          <c:val>
            <c:numRef>
              <c:f>Sheet1!$F$5:$F$9</c:f>
              <c:numCache>
                <c:formatCode>0.00</c:formatCode>
                <c:ptCount val="5"/>
                <c:pt idx="0">
                  <c:v>0.16666666666666666</c:v>
                </c:pt>
                <c:pt idx="1">
                  <c:v>0.16666666666666666</c:v>
                </c:pt>
                <c:pt idx="2">
                  <c:v>0.33333333333333331</c:v>
                </c:pt>
                <c:pt idx="3">
                  <c:v>0.16666666666666666</c:v>
                </c:pt>
                <c:pt idx="4">
                  <c:v>0.16666666666666666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4709952"/>
        <c:axId val="134710344"/>
      </c:barChart>
      <c:catAx>
        <c:axId val="1347099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rata-rata sampel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34710344"/>
        <c:crosses val="autoZero"/>
        <c:auto val="1"/>
        <c:lblAlgn val="ctr"/>
        <c:lblOffset val="100"/>
        <c:noMultiLvlLbl val="0"/>
      </c:catAx>
      <c:valAx>
        <c:axId val="13471034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probabilitas</a:t>
                </a:r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3470995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emf"/><Relationship Id="rId4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08269-0876-4094-960B-B1D2E6121D14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314EB-69DA-4118-8E22-73632E2D0326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810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1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2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96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 smtClean="0"/>
              <a:t>Misal</a:t>
            </a:r>
            <a:r>
              <a:rPr lang="en-US" sz="1200" dirty="0" smtClean="0"/>
              <a:t> :  </a:t>
            </a:r>
            <a:r>
              <a:rPr lang="en-US" sz="1200" dirty="0" err="1" smtClean="0"/>
              <a:t>Rukun</a:t>
            </a:r>
            <a:r>
              <a:rPr lang="en-US" sz="1200" dirty="0" smtClean="0"/>
              <a:t> </a:t>
            </a:r>
            <a:r>
              <a:rPr lang="en-US" sz="1200" dirty="0" err="1" smtClean="0"/>
              <a:t>Nelayan</a:t>
            </a:r>
            <a:r>
              <a:rPr lang="en-US" sz="1200" dirty="0" smtClean="0"/>
              <a:t> (RN) yang </a:t>
            </a:r>
            <a:r>
              <a:rPr lang="en-US" sz="1200" dirty="0" err="1" smtClean="0"/>
              <a:t>ada</a:t>
            </a:r>
            <a:r>
              <a:rPr lang="en-US" sz="1200" dirty="0" smtClean="0"/>
              <a:t> di </a:t>
            </a:r>
            <a:r>
              <a:rPr lang="en-US" sz="1200" dirty="0" err="1" smtClean="0"/>
              <a:t>Kecamatan</a:t>
            </a:r>
            <a:r>
              <a:rPr lang="en-US" sz="1200" dirty="0" smtClean="0"/>
              <a:t> </a:t>
            </a:r>
            <a:r>
              <a:rPr lang="en-US" sz="1200" dirty="0" err="1" smtClean="0"/>
              <a:t>Brondong</a:t>
            </a:r>
            <a:r>
              <a:rPr lang="en-US" sz="1200" dirty="0" smtClean="0"/>
              <a:t> </a:t>
            </a:r>
            <a:r>
              <a:rPr lang="en-US" sz="1200" dirty="0" err="1" smtClean="0"/>
              <a:t>dibagi</a:t>
            </a:r>
            <a:r>
              <a:rPr lang="en-US" sz="1200" dirty="0" smtClean="0"/>
              <a:t> (</a:t>
            </a:r>
            <a:r>
              <a:rPr lang="en-US" sz="1200" dirty="0" err="1" smtClean="0"/>
              <a:t>dicluster</a:t>
            </a:r>
            <a:r>
              <a:rPr lang="en-US" sz="1200" dirty="0" smtClean="0"/>
              <a:t>)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16</a:t>
            </a:r>
            <a:r>
              <a:rPr lang="en-US" sz="1200" baseline="0" dirty="0" smtClean="0"/>
              <a:t> RN, </a:t>
            </a:r>
            <a:r>
              <a:rPr lang="en-US" sz="1200" dirty="0" err="1" smtClean="0"/>
              <a:t>diambil</a:t>
            </a:r>
            <a:r>
              <a:rPr lang="en-US" sz="1200" dirty="0" smtClean="0"/>
              <a:t> 3</a:t>
            </a:r>
            <a:r>
              <a:rPr lang="en-US" sz="1200" baseline="0" dirty="0" smtClean="0"/>
              <a:t> </a:t>
            </a:r>
            <a:r>
              <a:rPr lang="en-US" sz="1200" dirty="0" smtClean="0"/>
              <a:t>RN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acak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dijadikan</a:t>
            </a:r>
            <a:r>
              <a:rPr lang="en-US" sz="1200" dirty="0" smtClean="0"/>
              <a:t> </a:t>
            </a:r>
            <a:r>
              <a:rPr lang="en-US" sz="1200" dirty="0" err="1" smtClean="0"/>
              <a:t>sampel</a:t>
            </a:r>
            <a:r>
              <a:rPr lang="en-US" sz="1200" dirty="0" smtClean="0"/>
              <a:t> </a:t>
            </a:r>
            <a:r>
              <a:rPr lang="en-US" sz="1200" dirty="0" err="1" smtClean="0"/>
              <a:t>penelitian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6720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Snow ball </a:t>
            </a:r>
            <a:r>
              <a:rPr lang="en-US" dirty="0" err="1" smtClean="0"/>
              <a:t>smpling</a:t>
            </a:r>
            <a:r>
              <a:rPr lang="en-US" baseline="0" dirty="0" smtClean="0"/>
              <a:t>: </a:t>
            </a:r>
            <a:r>
              <a:rPr lang="en-US" dirty="0" smtClean="0"/>
              <a:t>Cara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dipakai</a:t>
            </a:r>
            <a:r>
              <a:rPr lang="en-US" dirty="0" smtClean="0"/>
              <a:t> </a:t>
            </a:r>
            <a:r>
              <a:rPr lang="en-US" dirty="0" err="1" smtClean="0"/>
              <a:t>ketika</a:t>
            </a:r>
            <a:r>
              <a:rPr lang="en-US" dirty="0" smtClean="0"/>
              <a:t> </a:t>
            </a:r>
            <a:r>
              <a:rPr lang="en-US" dirty="0" err="1" smtClean="0"/>
              <a:t>peneliti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tahu</a:t>
            </a:r>
            <a:r>
              <a:rPr lang="en-US" dirty="0" smtClean="0"/>
              <a:t> </a:t>
            </a:r>
            <a:r>
              <a:rPr lang="en-US" dirty="0" err="1" smtClean="0"/>
              <a:t>tentang</a:t>
            </a:r>
            <a:r>
              <a:rPr lang="en-US" dirty="0" smtClean="0"/>
              <a:t> </a:t>
            </a:r>
            <a:r>
              <a:rPr lang="en-US" dirty="0" err="1" smtClean="0"/>
              <a:t>populasi</a:t>
            </a:r>
            <a:r>
              <a:rPr lang="en-US" dirty="0" smtClean="0"/>
              <a:t> </a:t>
            </a:r>
            <a:r>
              <a:rPr lang="en-US" dirty="0" err="1" smtClean="0"/>
              <a:t>penelitiannya</a:t>
            </a:r>
            <a:r>
              <a:rPr lang="en-US" dirty="0" smtClean="0"/>
              <a:t>.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tahu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orang yang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penilaiannya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dijadikan</a:t>
            </a:r>
            <a:r>
              <a:rPr lang="en-US" dirty="0" smtClean="0"/>
              <a:t> </a:t>
            </a:r>
            <a:r>
              <a:rPr lang="en-US" dirty="0" err="1" smtClean="0"/>
              <a:t>sampel</a:t>
            </a:r>
            <a:r>
              <a:rPr lang="en-US" dirty="0" smtClean="0"/>
              <a:t>, </a:t>
            </a:r>
            <a:r>
              <a:rPr lang="en-US" dirty="0" err="1" smtClean="0"/>
              <a:t>kemudian</a:t>
            </a:r>
            <a:r>
              <a:rPr lang="en-US" dirty="0" smtClean="0"/>
              <a:t> </a:t>
            </a:r>
            <a:r>
              <a:rPr lang="en-US" dirty="0" err="1" smtClean="0"/>
              <a:t>sampel</a:t>
            </a:r>
            <a:r>
              <a:rPr lang="en-US" dirty="0" smtClean="0"/>
              <a:t> </a:t>
            </a:r>
            <a:r>
              <a:rPr lang="en-US" dirty="0" err="1" smtClean="0"/>
              <a:t>pertama</a:t>
            </a:r>
            <a:r>
              <a:rPr lang="en-US" dirty="0" smtClean="0"/>
              <a:t> </a:t>
            </a:r>
            <a:r>
              <a:rPr lang="en-US" dirty="0" err="1" smtClean="0"/>
              <a:t>memberitahu</a:t>
            </a:r>
            <a:r>
              <a:rPr lang="en-US" dirty="0" smtClean="0"/>
              <a:t> orang lain yang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dijadikan</a:t>
            </a:r>
            <a:r>
              <a:rPr lang="en-US" dirty="0" smtClean="0"/>
              <a:t> </a:t>
            </a:r>
            <a:r>
              <a:rPr lang="en-US" dirty="0" err="1" smtClean="0"/>
              <a:t>sampel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Hal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juga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pencandu</a:t>
            </a:r>
            <a:r>
              <a:rPr lang="en-US" dirty="0" smtClean="0"/>
              <a:t> </a:t>
            </a:r>
            <a:r>
              <a:rPr lang="en-US" dirty="0" err="1" smtClean="0"/>
              <a:t>narkotik</a:t>
            </a:r>
            <a:r>
              <a:rPr lang="en-US" dirty="0" smtClean="0"/>
              <a:t>, para gay/</a:t>
            </a:r>
            <a:r>
              <a:rPr lang="en-US" dirty="0" err="1" smtClean="0"/>
              <a:t>lesbi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kelompok-kelompok</a:t>
            </a:r>
            <a:r>
              <a:rPr lang="en-US" dirty="0" smtClean="0"/>
              <a:t> </a:t>
            </a:r>
            <a:r>
              <a:rPr lang="en-US" dirty="0" err="1" smtClean="0"/>
              <a:t>sosial</a:t>
            </a:r>
            <a:r>
              <a:rPr lang="en-US" dirty="0" smtClean="0"/>
              <a:t> lain yang </a:t>
            </a:r>
            <a:r>
              <a:rPr lang="en-US" dirty="0" err="1" smtClean="0"/>
              <a:t>eksklusif</a:t>
            </a:r>
            <a:r>
              <a:rPr lang="en-US" dirty="0" smtClean="0"/>
              <a:t> (</a:t>
            </a:r>
            <a:r>
              <a:rPr lang="en-US" dirty="0" err="1" smtClean="0"/>
              <a:t>tertutup</a:t>
            </a:r>
            <a:r>
              <a:rPr lang="en-US" smtClean="0"/>
              <a:t>)</a:t>
            </a:r>
            <a:endParaRPr lang="id-ID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9712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383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873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(9 + 1 + 1</a:t>
            </a:r>
            <a:r>
              <a:rPr lang="en-US" baseline="0" dirty="0" smtClean="0"/>
              <a:t> + 9)/4 = 5</a:t>
            </a:r>
          </a:p>
          <a:p>
            <a:r>
              <a:rPr lang="en-US" baseline="0" dirty="0" err="1" smtClean="0"/>
              <a:t>Akar</a:t>
            </a:r>
            <a:r>
              <a:rPr lang="en-US" baseline="0" dirty="0" smtClean="0"/>
              <a:t> 5 =2.236</a:t>
            </a:r>
          </a:p>
          <a:p>
            <a:r>
              <a:rPr lang="en-US" baseline="0" dirty="0" err="1" smtClean="0"/>
              <a:t>Peluang</a:t>
            </a:r>
            <a:r>
              <a:rPr lang="en-US" baseline="0" dirty="0" smtClean="0"/>
              <a:t> X = 0.25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78847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 smtClean="0">
                <a:latin typeface="Arial" charset="0"/>
              </a:rPr>
              <a:t>Salah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satu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cara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m</a:t>
            </a:r>
            <a:r>
              <a:rPr lang="en-US" dirty="0" err="1" smtClean="0">
                <a:latin typeface="Arial" charset="0"/>
              </a:rPr>
              <a:t>engurangi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standart</a:t>
            </a:r>
            <a:r>
              <a:rPr lang="en-US" dirty="0" smtClean="0">
                <a:latin typeface="Arial" charset="0"/>
              </a:rPr>
              <a:t> error </a:t>
            </a:r>
            <a:r>
              <a:rPr lang="en-US" dirty="0" err="1" smtClean="0">
                <a:latin typeface="Arial" charset="0"/>
              </a:rPr>
              <a:t>adalah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dengan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menambah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jumlah</a:t>
            </a:r>
            <a:r>
              <a:rPr lang="en-US" dirty="0" smtClean="0">
                <a:latin typeface="Arial" charset="0"/>
              </a:rPr>
              <a:t> sample</a:t>
            </a:r>
            <a:endParaRPr lang="en-US" dirty="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82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996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63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u="sng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737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u="sng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94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Z = (X – rata2)/</a:t>
            </a:r>
            <a:r>
              <a:rPr lang="en-US" dirty="0" err="1" smtClean="0"/>
              <a:t>std</a:t>
            </a:r>
            <a:r>
              <a:rPr lang="en-US" dirty="0" smtClean="0"/>
              <a:t> dev </a:t>
            </a:r>
          </a:p>
          <a:p>
            <a:r>
              <a:rPr lang="en-US" dirty="0" smtClean="0"/>
              <a:t>P(-0.2/0.5</a:t>
            </a:r>
            <a:r>
              <a:rPr lang="en-US" baseline="0" dirty="0" smtClean="0"/>
              <a:t> &lt; Z &lt; 0.2/0.5)</a:t>
            </a:r>
          </a:p>
          <a:p>
            <a:r>
              <a:rPr lang="en-US" baseline="0" dirty="0" smtClean="0"/>
              <a:t>P (Z &lt; 0.4) – P (Z &lt;= -0.4)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28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5778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</a:t>
            </a:r>
            <a:r>
              <a:rPr lang="en-US" baseline="0" dirty="0" smtClean="0"/>
              <a:t> = 7.5;   </a:t>
            </a:r>
            <a:r>
              <a:rPr lang="en-US" baseline="0" dirty="0" err="1" smtClean="0"/>
              <a:t>Stdev</a:t>
            </a:r>
            <a:r>
              <a:rPr lang="en-US" baseline="0" dirty="0" smtClean="0"/>
              <a:t> = 0.5;   n = 9</a:t>
            </a:r>
          </a:p>
          <a:p>
            <a:r>
              <a:rPr lang="en-US" baseline="0" dirty="0" smtClean="0"/>
              <a:t>P(7.23 &lt; X &lt; 7.8)  </a:t>
            </a:r>
            <a:r>
              <a:rPr lang="en-US" baseline="0" dirty="0" smtClean="0">
                <a:sym typeface="Wingdings" panose="05000000000000000000" pitchFamily="2" charset="2"/>
              </a:rPr>
              <a:t>  P ((7.23 – 7.5)/(0.5/</a:t>
            </a:r>
            <a:r>
              <a:rPr lang="en-US" baseline="0" dirty="0" err="1" smtClean="0">
                <a:sym typeface="Wingdings" panose="05000000000000000000" pitchFamily="2" charset="2"/>
              </a:rPr>
              <a:t>akar</a:t>
            </a:r>
            <a:r>
              <a:rPr lang="en-US" baseline="0" dirty="0" smtClean="0">
                <a:sym typeface="Wingdings" panose="05000000000000000000" pitchFamily="2" charset="2"/>
              </a:rPr>
              <a:t> 9) &lt; Z &lt; (7.8 – 7.5)/(0.5/</a:t>
            </a:r>
            <a:r>
              <a:rPr lang="en-US" baseline="0" dirty="0" err="1" smtClean="0">
                <a:sym typeface="Wingdings" panose="05000000000000000000" pitchFamily="2" charset="2"/>
              </a:rPr>
              <a:t>akar</a:t>
            </a:r>
            <a:r>
              <a:rPr lang="en-US" baseline="0" dirty="0" smtClean="0">
                <a:sym typeface="Wingdings" panose="05000000000000000000" pitchFamily="2" charset="2"/>
              </a:rPr>
              <a:t> 9))</a:t>
            </a:r>
          </a:p>
          <a:p>
            <a:r>
              <a:rPr lang="en-US" baseline="0" dirty="0" smtClean="0">
                <a:sym typeface="Wingdings" panose="05000000000000000000" pitchFamily="2" charset="2"/>
              </a:rPr>
              <a:t>P (-0.27/0.17) &lt; Z &lt; (0.3/0.17)</a:t>
            </a:r>
          </a:p>
          <a:p>
            <a:r>
              <a:rPr lang="en-US" baseline="0" dirty="0" smtClean="0">
                <a:sym typeface="Wingdings" panose="05000000000000000000" pitchFamily="2" charset="2"/>
              </a:rPr>
              <a:t>P (-1.59 &lt; Z &lt; 1.76); P (Z &lt; 1.76) – P(Z &lt;= -1.59)</a:t>
            </a:r>
          </a:p>
          <a:p>
            <a:r>
              <a:rPr lang="en-US" baseline="0" dirty="0" smtClean="0">
                <a:sym typeface="Wingdings" panose="05000000000000000000" pitchFamily="2" charset="2"/>
              </a:rPr>
              <a:t>0.9608 – 0.0559 = 0.9049</a:t>
            </a:r>
          </a:p>
          <a:p>
            <a:r>
              <a:rPr lang="en-US" dirty="0" err="1" smtClean="0"/>
              <a:t>Peluang</a:t>
            </a:r>
            <a:r>
              <a:rPr lang="en-US" dirty="0" smtClean="0"/>
              <a:t> rata-rata</a:t>
            </a:r>
            <a:r>
              <a:rPr lang="en-US" baseline="0" dirty="0" smtClean="0"/>
              <a:t> lama </a:t>
            </a:r>
            <a:r>
              <a:rPr lang="en-US" baseline="0" dirty="0" err="1" smtClean="0"/>
              <a:t>waktu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melaut</a:t>
            </a:r>
            <a:r>
              <a:rPr lang="en-US" baseline="0" dirty="0" smtClean="0"/>
              <a:t> 9 </a:t>
            </a:r>
            <a:r>
              <a:rPr lang="en-US" baseline="0" dirty="0" err="1" smtClean="0"/>
              <a:t>nelayan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antara</a:t>
            </a:r>
            <a:r>
              <a:rPr lang="en-US" baseline="0" dirty="0" smtClean="0"/>
              <a:t> 7.23 – 7.8 jam </a:t>
            </a:r>
            <a:r>
              <a:rPr lang="en-US" baseline="0" dirty="0" err="1" smtClean="0"/>
              <a:t>adalah</a:t>
            </a:r>
            <a:r>
              <a:rPr lang="en-US" baseline="0" dirty="0" smtClean="0"/>
              <a:t> 90%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31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39124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6563" y="609600"/>
            <a:ext cx="3444875" cy="2584450"/>
          </a:xfrm>
          <a:ln/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81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Phi</a:t>
            </a:r>
            <a:r>
              <a:rPr lang="en-US" baseline="0" dirty="0" smtClean="0"/>
              <a:t> = 0.5; n = 100</a:t>
            </a:r>
          </a:p>
          <a:p>
            <a:r>
              <a:rPr lang="en-US" baseline="0" dirty="0" smtClean="0"/>
              <a:t>a. P (X &gt; 0.5)</a:t>
            </a:r>
          </a:p>
          <a:p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std</a:t>
            </a:r>
            <a:r>
              <a:rPr lang="en-US" dirty="0" smtClean="0"/>
              <a:t> dev =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akar</a:t>
            </a:r>
            <a:r>
              <a:rPr lang="en-US" baseline="0" dirty="0" smtClean="0"/>
              <a:t> (0.5)(1-0.5)/100 = 0.05</a:t>
            </a:r>
          </a:p>
          <a:p>
            <a:r>
              <a:rPr lang="en-US" baseline="0" dirty="0" err="1" smtClean="0"/>
              <a:t>Konversi</a:t>
            </a:r>
            <a:r>
              <a:rPr lang="en-US" baseline="0" dirty="0" smtClean="0"/>
              <a:t> N </a:t>
            </a:r>
            <a:r>
              <a:rPr lang="en-US" baseline="0" dirty="0" err="1" smtClean="0"/>
              <a:t>ke</a:t>
            </a:r>
            <a:r>
              <a:rPr lang="en-US" baseline="0" dirty="0" smtClean="0"/>
              <a:t> Z </a:t>
            </a:r>
            <a:r>
              <a:rPr lang="en-US" baseline="0" dirty="0" smtClean="0">
                <a:sym typeface="Wingdings" panose="05000000000000000000" pitchFamily="2" charset="2"/>
              </a:rPr>
              <a:t> Z = (0.5 – 0.5)/0.05 = 0.5</a:t>
            </a:r>
          </a:p>
          <a:p>
            <a:r>
              <a:rPr lang="en-US" baseline="0" dirty="0" smtClean="0">
                <a:sym typeface="Wingdings" panose="05000000000000000000" pitchFamily="2" charset="2"/>
              </a:rPr>
              <a:t>1 – P (Z &lt;= 0) = 0.5; 1 – 0.5 = 0.5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38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3629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314EB-69DA-4118-8E22-73632E2D0326}" type="slidenum">
              <a:rPr lang="id-ID" smtClean="0"/>
              <a:pPr/>
              <a:t>43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1361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0" name="Rectangle 2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899E3513-BECA-4E24-8822-DFFD2DAEE0D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49184" name="Picture 3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90800"/>
            <a:ext cx="8686800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0" name="Rectangle 2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899E3513-BECA-4E24-8822-DFFD2DAEE0D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49184" name="Picture 3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90800"/>
            <a:ext cx="8686800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4CB9D1E0-150C-4A44-B590-C9F2BF2476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65E1AAA5-F493-49E3-A297-833A438D11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68488"/>
            <a:ext cx="3962400" cy="4532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868488"/>
            <a:ext cx="3962400" cy="4532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ABACB24E-C9DD-47EE-AC5F-F140E51EED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710D9775-8EE9-4D22-8787-5582AB700D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BEE82FA8-8A43-4228-95D2-65BA4BA357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7E1C78F9-8AB3-4D6F-AE6E-00AAB41871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11519E5B-3907-4CF5-87FA-8233913A21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0047E53B-726E-4C0F-895A-5CEBB02798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3385EB60-6807-475B-8B7C-4C44B1890D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228600"/>
            <a:ext cx="20193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8600"/>
            <a:ext cx="59055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233DCDF9-FAA0-4B41-B4AF-61176F10BF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Education, Inc. publishing as Prentice Hall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Chap 6-</a:t>
            </a:r>
            <a:fld id="{543E1AD6-A6B1-42EE-A520-FD91E515DE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Education, Inc. publishing as Prentice Hall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Chap 6-</a:t>
            </a:r>
            <a:fld id="{68195E8D-E238-470F-B108-B9A4ADCC2C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D4077-1C08-4E6D-86D5-41011C1B7181}" type="datetimeFigureOut">
              <a:rPr lang="id-ID" smtClean="0"/>
              <a:pPr/>
              <a:t>12/10/2016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228600"/>
            <a:ext cx="779303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81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68488"/>
            <a:ext cx="8077200" cy="453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8152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534150"/>
            <a:ext cx="46482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defTabSz="852488">
              <a:defRPr sz="1000" b="0"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48153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 defTabSz="852488">
              <a:defRPr sz="1000" b="0"/>
            </a:lvl1pPr>
          </a:lstStyle>
          <a:p>
            <a:r>
              <a:rPr lang="en-US"/>
              <a:t>Chap 3-</a:t>
            </a:r>
            <a:fld id="{F0D80EE3-0E34-4EFE-984F-183791D5182C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48154" name="Picture 26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533400"/>
            <a:ext cx="8686800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2pPr>
      <a:lvl3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3pPr>
      <a:lvl4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4pPr>
      <a:lvl5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5pPr>
      <a:lvl6pPr marL="4572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320675" indent="-320675" algn="l" defTabSz="852488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fontAlgn="base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fontAlgn="base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19192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7.w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3.e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1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0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1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6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16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0" y="3657600"/>
            <a:ext cx="88392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id-ID" sz="3600" dirty="0" smtClean="0"/>
              <a:t>Pertemuan 5: Distribusi Sampling</a:t>
            </a:r>
            <a:endParaRPr lang="en-US" sz="3600" dirty="0"/>
          </a:p>
          <a:p>
            <a:pPr algn="ctr"/>
            <a:endParaRPr lang="en-US" sz="3600" b="0" dirty="0"/>
          </a:p>
          <a:p>
            <a:pPr algn="ctr"/>
            <a:r>
              <a:rPr lang="en-US" sz="3600" b="0" dirty="0" smtClean="0"/>
              <a:t>Tim </a:t>
            </a:r>
            <a:r>
              <a:rPr lang="id-ID" sz="3600" b="0" dirty="0" smtClean="0"/>
              <a:t>Dosen</a:t>
            </a:r>
            <a:r>
              <a:rPr lang="en-US" sz="3600" b="0" dirty="0" smtClean="0"/>
              <a:t> </a:t>
            </a:r>
            <a:r>
              <a:rPr lang="en-US" sz="3600" b="0" dirty="0" err="1" smtClean="0"/>
              <a:t>Statistika</a:t>
            </a:r>
            <a:endParaRPr lang="id-ID" sz="3600" b="0" dirty="0" smtClean="0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8382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5342" tIns="42672" rIns="85342" bIns="42672" anchor="b"/>
          <a:lstStyle/>
          <a:p>
            <a:pPr algn="ctr" defTabSz="852488"/>
            <a:r>
              <a:rPr lang="id-ID" sz="4000" b="0" dirty="0" smtClean="0">
                <a:solidFill>
                  <a:schemeClr val="folHlink"/>
                </a:solidFill>
              </a:rPr>
              <a:t>STATISTIKA </a:t>
            </a:r>
            <a:endParaRPr lang="en-US" sz="2800" b="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Materi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Metode sampling</a:t>
            </a:r>
          </a:p>
          <a:p>
            <a:r>
              <a:rPr lang="id-ID" dirty="0" smtClean="0"/>
              <a:t>Distribusi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3600" dirty="0" smtClean="0"/>
              <a:t>Metode Sampling</a:t>
            </a:r>
            <a:endParaRPr lang="id-ID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409825" y="3878263"/>
            <a:ext cx="0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6767513" y="3538538"/>
            <a:ext cx="0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5337175" y="3946525"/>
            <a:ext cx="0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304925" y="1905000"/>
            <a:ext cx="6843713" cy="5730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905250" y="1905000"/>
            <a:ext cx="1366838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 dirty="0" smtClean="0">
                <a:latin typeface="Times New Roman" pitchFamily="18" charset="0"/>
              </a:rPr>
              <a:t>Sampling</a:t>
            </a: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4556125" y="2312988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2409825" y="2789238"/>
            <a:ext cx="4357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2409825" y="2789238"/>
            <a:ext cx="0" cy="544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044575" y="3265488"/>
            <a:ext cx="2667000" cy="582211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id-ID" sz="2000" b="1" dirty="0" smtClean="0">
                <a:latin typeface="Times New Roman" pitchFamily="18" charset="0"/>
              </a:rPr>
              <a:t>Non-probability</a:t>
            </a:r>
            <a:r>
              <a:rPr lang="en-US" sz="2000" b="1" dirty="0" smtClean="0">
                <a:latin typeface="Times New Roman" pitchFamily="18" charset="0"/>
              </a:rPr>
              <a:t> (non-random)</a:t>
            </a: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914400" y="4625975"/>
            <a:ext cx="1560513" cy="406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Judgment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6767513" y="2789238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5402263" y="3265488"/>
            <a:ext cx="2665412" cy="406400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sz="2000" b="1" dirty="0" smtClean="0">
                <a:latin typeface="Times New Roman" pitchFamily="18" charset="0"/>
              </a:rPr>
              <a:t>Probability</a:t>
            </a:r>
            <a:r>
              <a:rPr lang="en-US" sz="2000" b="1" dirty="0" smtClean="0">
                <a:latin typeface="Times New Roman" pitchFamily="18" charset="0"/>
              </a:rPr>
              <a:t> (random)</a:t>
            </a: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4751388" y="4354513"/>
            <a:ext cx="1235075" cy="65087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Simple 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Random</a:t>
            </a: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6181725" y="3946525"/>
            <a:ext cx="0" cy="1292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5337175" y="5238750"/>
            <a:ext cx="1560513" cy="406400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Systematic</a:t>
            </a:r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6442075" y="4354513"/>
            <a:ext cx="1365250" cy="406400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Stratified</a:t>
            </a:r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7288213" y="5170488"/>
            <a:ext cx="1169987" cy="406400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Cluster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>
            <a:off x="8002588" y="3946525"/>
            <a:ext cx="0" cy="1223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1565275" y="4286250"/>
            <a:ext cx="0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2819400" y="4648200"/>
            <a:ext cx="1690688" cy="4079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sz="2000" b="1">
                <a:latin typeface="Times New Roman" pitchFamily="18" charset="0"/>
              </a:rPr>
              <a:t>Convenience</a:t>
            </a:r>
          </a:p>
        </p:txBody>
      </p:sp>
      <p:sp>
        <p:nvSpPr>
          <p:cNvPr id="24" name="Line 27"/>
          <p:cNvSpPr>
            <a:spLocks noChangeShapeType="1"/>
          </p:cNvSpPr>
          <p:nvPr/>
        </p:nvSpPr>
        <p:spPr bwMode="auto">
          <a:xfrm>
            <a:off x="1565275" y="4286250"/>
            <a:ext cx="23399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 flipH="1">
            <a:off x="3886200" y="4286250"/>
            <a:ext cx="1905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5337175" y="3946525"/>
            <a:ext cx="26654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>
            <a:off x="7158038" y="3946525"/>
            <a:ext cx="0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Probability sampling</a:t>
            </a:r>
          </a:p>
          <a:p>
            <a:pPr marL="350838" indent="0">
              <a:buNone/>
            </a:pPr>
            <a:r>
              <a:rPr lang="en-GB" dirty="0" err="1" smtClean="0"/>
              <a:t>teknik</a:t>
            </a:r>
            <a:r>
              <a:rPr lang="en-GB" dirty="0" smtClean="0"/>
              <a:t> </a:t>
            </a:r>
            <a:r>
              <a:rPr lang="en-GB" dirty="0" err="1"/>
              <a:t>pengambilan</a:t>
            </a:r>
            <a:r>
              <a:rPr lang="en-GB" dirty="0"/>
              <a:t> </a:t>
            </a:r>
            <a:r>
              <a:rPr lang="en-GB" dirty="0" err="1"/>
              <a:t>sampel</a:t>
            </a:r>
            <a:r>
              <a:rPr lang="en-GB" dirty="0"/>
              <a:t>, </a:t>
            </a:r>
            <a:r>
              <a:rPr lang="en-GB" dirty="0" err="1"/>
              <a:t>dimana</a:t>
            </a:r>
            <a:r>
              <a:rPr lang="en-GB" dirty="0"/>
              <a:t> </a:t>
            </a:r>
            <a:r>
              <a:rPr lang="en-GB" dirty="0" err="1"/>
              <a:t>setiap</a:t>
            </a:r>
            <a:r>
              <a:rPr lang="en-GB" dirty="0"/>
              <a:t> </a:t>
            </a:r>
            <a:r>
              <a:rPr lang="en-GB" dirty="0" err="1"/>
              <a:t>anggota</a:t>
            </a:r>
            <a:r>
              <a:rPr lang="en-GB" dirty="0"/>
              <a:t> </a:t>
            </a:r>
            <a:r>
              <a:rPr lang="en-GB" dirty="0" err="1"/>
              <a:t>populasi</a:t>
            </a:r>
            <a:r>
              <a:rPr lang="en-GB" dirty="0"/>
              <a:t>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peluang</a:t>
            </a:r>
            <a:r>
              <a:rPr lang="en-GB" dirty="0"/>
              <a:t> yang </a:t>
            </a:r>
            <a:r>
              <a:rPr lang="en-GB" dirty="0" err="1"/>
              <a:t>sama</a:t>
            </a:r>
            <a:r>
              <a:rPr lang="en-GB" dirty="0"/>
              <a:t> </a:t>
            </a: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dirty="0" err="1"/>
              <a:t>dijadikan</a:t>
            </a:r>
            <a:r>
              <a:rPr lang="en-GB" dirty="0"/>
              <a:t> </a:t>
            </a:r>
            <a:r>
              <a:rPr lang="en-GB" dirty="0" err="1" smtClean="0"/>
              <a:t>sampel</a:t>
            </a:r>
            <a:r>
              <a:rPr lang="en-GB" dirty="0" smtClean="0"/>
              <a:t>.</a:t>
            </a:r>
          </a:p>
          <a:p>
            <a:r>
              <a:rPr lang="en-GB" dirty="0" smtClean="0"/>
              <a:t>Non-probability sampling</a:t>
            </a:r>
          </a:p>
          <a:p>
            <a:pPr marL="350838" indent="0">
              <a:buNone/>
            </a:pPr>
            <a:r>
              <a:rPr lang="en-GB" dirty="0" err="1" smtClean="0"/>
              <a:t>teknik</a:t>
            </a:r>
            <a:r>
              <a:rPr lang="en-GB" dirty="0" smtClean="0"/>
              <a:t> </a:t>
            </a:r>
            <a:r>
              <a:rPr lang="en-GB" dirty="0" err="1"/>
              <a:t>pengambilan</a:t>
            </a:r>
            <a:r>
              <a:rPr lang="en-GB" dirty="0"/>
              <a:t> </a:t>
            </a:r>
            <a:r>
              <a:rPr lang="en-GB" dirty="0" err="1"/>
              <a:t>sampel</a:t>
            </a:r>
            <a:r>
              <a:rPr lang="en-GB" dirty="0"/>
              <a:t>, </a:t>
            </a:r>
            <a:r>
              <a:rPr lang="en-GB" dirty="0" err="1"/>
              <a:t>dimana</a:t>
            </a:r>
            <a:r>
              <a:rPr lang="en-GB" dirty="0"/>
              <a:t> </a:t>
            </a:r>
            <a:r>
              <a:rPr lang="en-GB" dirty="0" err="1"/>
              <a:t>anggota</a:t>
            </a:r>
            <a:r>
              <a:rPr lang="en-GB" dirty="0"/>
              <a:t> </a:t>
            </a:r>
            <a:r>
              <a:rPr lang="en-GB" dirty="0" err="1"/>
              <a:t>populasi</a:t>
            </a:r>
            <a:r>
              <a:rPr lang="en-GB" dirty="0"/>
              <a:t> </a:t>
            </a:r>
            <a:r>
              <a:rPr lang="en-GB" dirty="0" err="1"/>
              <a:t>tidak</a:t>
            </a:r>
            <a:r>
              <a:rPr lang="en-GB" dirty="0"/>
              <a:t> </a:t>
            </a:r>
            <a:r>
              <a:rPr lang="en-GB" dirty="0" err="1"/>
              <a:t>semuanya</a:t>
            </a:r>
            <a:r>
              <a:rPr lang="en-GB" dirty="0"/>
              <a:t>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peluang</a:t>
            </a:r>
            <a:r>
              <a:rPr lang="en-GB" dirty="0"/>
              <a:t> </a:t>
            </a: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dirty="0" err="1"/>
              <a:t>dijadikan</a:t>
            </a:r>
            <a:r>
              <a:rPr lang="en-GB" dirty="0"/>
              <a:t> </a:t>
            </a:r>
            <a:r>
              <a:rPr lang="en-GB" dirty="0" err="1"/>
              <a:t>sampel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2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7-</a:t>
            </a:r>
            <a:fld id="{6DF0F134-7C13-43FD-9688-0A6BEBE17D89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600" dirty="0" smtClean="0"/>
              <a:t>Probability Sampling</a:t>
            </a:r>
            <a:endParaRPr lang="en-US" sz="3600" dirty="0" smtClean="0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1846263" y="4427538"/>
            <a:ext cx="0" cy="620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7907338" y="4427538"/>
            <a:ext cx="0" cy="757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4772025" y="3683000"/>
            <a:ext cx="0" cy="744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1846263" y="4427538"/>
            <a:ext cx="6061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3170238" y="3276600"/>
            <a:ext cx="3065462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Probability </a:t>
            </a:r>
            <a:r>
              <a:rPr lang="en-US" sz="2000" b="1" dirty="0" smtClean="0">
                <a:latin typeface="Times New Roman" pitchFamily="18" charset="0"/>
              </a:rPr>
              <a:t>Sampling</a:t>
            </a: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1219200" y="5037138"/>
            <a:ext cx="1531938" cy="6508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Simple 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Random</a:t>
            </a: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6165850" y="4427538"/>
            <a:ext cx="0" cy="746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3170238" y="5172075"/>
            <a:ext cx="1741487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Systematic</a:t>
            </a:r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4075113" y="4427538"/>
            <a:ext cx="0" cy="746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5329238" y="5172075"/>
            <a:ext cx="1603375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Stratified</a:t>
            </a:r>
          </a:p>
        </p:txBody>
      </p:sp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7280275" y="5172075"/>
            <a:ext cx="1254125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Cluster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7-</a:t>
            </a:r>
            <a:fld id="{E6A63913-F931-4FF8-AD1D-F7F1A384F96C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600" dirty="0" smtClean="0"/>
              <a:t>Simple Random Sampling</a:t>
            </a:r>
            <a:endParaRPr lang="en-US" sz="3600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9248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d-ID" dirty="0" smtClean="0"/>
              <a:t>Setiap individu dalam populasi memiliki kesempatan yg sama untuk terpilih sbg sampel</a:t>
            </a:r>
            <a:endParaRPr lang="en-US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id-ID" dirty="0" smtClean="0"/>
              <a:t>Sampel diperoleh secara acak/random dengan bantuan tabel bilangan acak atau </a:t>
            </a:r>
            <a:r>
              <a:rPr lang="en-US" dirty="0" err="1" smtClean="0"/>
              <a:t>undian</a:t>
            </a:r>
            <a:endParaRPr lang="en-US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sz="2600" dirty="0" err="1" smtClean="0"/>
              <a:t>Macam</a:t>
            </a:r>
            <a:r>
              <a:rPr lang="en-US" sz="2600" dirty="0" smtClean="0"/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 err="1" smtClean="0"/>
              <a:t>Pemulihan</a:t>
            </a:r>
            <a:r>
              <a:rPr lang="en-US" sz="2600" dirty="0" smtClean="0"/>
              <a:t>: Sample yang </a:t>
            </a:r>
            <a:r>
              <a:rPr lang="en-US" sz="2600" dirty="0" err="1" smtClean="0"/>
              <a:t>sudah</a:t>
            </a:r>
            <a:r>
              <a:rPr lang="en-US" sz="2600" dirty="0" smtClean="0"/>
              <a:t> </a:t>
            </a:r>
            <a:r>
              <a:rPr lang="en-US" sz="2600" dirty="0" err="1" smtClean="0"/>
              <a:t>dipilih</a:t>
            </a:r>
            <a:r>
              <a:rPr lang="en-US" sz="2600" dirty="0" smtClean="0"/>
              <a:t> </a:t>
            </a:r>
            <a:r>
              <a:rPr lang="en-US" sz="2600" dirty="0" err="1" smtClean="0"/>
              <a:t>mempunyai</a:t>
            </a:r>
            <a:r>
              <a:rPr lang="en-US" sz="2600" dirty="0" smtClean="0"/>
              <a:t> </a:t>
            </a:r>
            <a:r>
              <a:rPr lang="en-US" sz="2600" dirty="0" err="1" smtClean="0"/>
              <a:t>kesempatan</a:t>
            </a:r>
            <a:r>
              <a:rPr lang="en-US" sz="2600" dirty="0" smtClean="0"/>
              <a:t> </a:t>
            </a:r>
            <a:r>
              <a:rPr lang="en-US" sz="2600" dirty="0" err="1" smtClean="0"/>
              <a:t>untuk</a:t>
            </a:r>
            <a:r>
              <a:rPr lang="en-US" sz="2600" dirty="0" smtClean="0"/>
              <a:t> </a:t>
            </a:r>
            <a:r>
              <a:rPr lang="en-US" sz="2600" dirty="0" err="1" smtClean="0"/>
              <a:t>dipilih</a:t>
            </a:r>
            <a:r>
              <a:rPr lang="en-US" sz="2600" dirty="0" smtClean="0"/>
              <a:t> </a:t>
            </a:r>
            <a:r>
              <a:rPr lang="en-US" sz="2600" dirty="0" err="1" smtClean="0"/>
              <a:t>kembali</a:t>
            </a:r>
            <a:r>
              <a:rPr lang="en-US" sz="2600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 err="1" smtClean="0"/>
              <a:t>Tanpa</a:t>
            </a:r>
            <a:r>
              <a:rPr lang="en-US" sz="2600" dirty="0" smtClean="0"/>
              <a:t> </a:t>
            </a:r>
            <a:r>
              <a:rPr lang="en-US" sz="2600" dirty="0" err="1" smtClean="0"/>
              <a:t>pemulihan</a:t>
            </a:r>
            <a:r>
              <a:rPr lang="en-US" sz="2600" dirty="0" smtClean="0"/>
              <a:t>: Sample yang </a:t>
            </a:r>
            <a:r>
              <a:rPr lang="en-US" sz="2600" dirty="0" err="1" smtClean="0"/>
              <a:t>sudah</a:t>
            </a:r>
            <a:r>
              <a:rPr lang="en-US" sz="2600" dirty="0" smtClean="0"/>
              <a:t> </a:t>
            </a:r>
            <a:r>
              <a:rPr lang="en-US" sz="2600" dirty="0" err="1" smtClean="0"/>
              <a:t>dipilih</a:t>
            </a:r>
            <a:r>
              <a:rPr lang="en-US" sz="2600" dirty="0" smtClean="0"/>
              <a:t> </a:t>
            </a:r>
            <a:r>
              <a:rPr lang="en-US" sz="2600" dirty="0" err="1" smtClean="0"/>
              <a:t>tidak</a:t>
            </a:r>
            <a:r>
              <a:rPr lang="en-US" sz="2600" dirty="0" smtClean="0"/>
              <a:t> </a:t>
            </a:r>
            <a:r>
              <a:rPr lang="en-US" sz="2600" dirty="0" err="1" smtClean="0"/>
              <a:t>mempunyai</a:t>
            </a:r>
            <a:r>
              <a:rPr lang="en-US" sz="2600" dirty="0" smtClean="0"/>
              <a:t> </a:t>
            </a:r>
            <a:r>
              <a:rPr lang="en-US" sz="2600" dirty="0" err="1" smtClean="0"/>
              <a:t>kesempatan</a:t>
            </a:r>
            <a:r>
              <a:rPr lang="en-US" sz="2600" dirty="0" smtClean="0"/>
              <a:t> </a:t>
            </a:r>
            <a:r>
              <a:rPr lang="en-US" sz="2600" dirty="0" err="1" smtClean="0"/>
              <a:t>untuk</a:t>
            </a:r>
            <a:r>
              <a:rPr lang="en-US" sz="2600" dirty="0" smtClean="0"/>
              <a:t> </a:t>
            </a:r>
            <a:r>
              <a:rPr lang="en-US" sz="2600" dirty="0" err="1" smtClean="0"/>
              <a:t>dipilih</a:t>
            </a:r>
            <a:r>
              <a:rPr lang="en-US" sz="2600" dirty="0" smtClean="0"/>
              <a:t> </a:t>
            </a:r>
            <a:r>
              <a:rPr lang="en-US" sz="2600" dirty="0" err="1" smtClean="0"/>
              <a:t>kembali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7-</a:t>
            </a:r>
            <a:fld id="{FE652B00-1881-4587-AAA1-040FE12C3D20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4532313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	</a:t>
            </a:r>
            <a:r>
              <a:rPr lang="en-GB" dirty="0" err="1" smtClean="0"/>
              <a:t>dilakukan</a:t>
            </a:r>
            <a:r>
              <a:rPr lang="en-GB" dirty="0" smtClean="0"/>
              <a:t> </a:t>
            </a:r>
            <a:r>
              <a:rPr lang="en-GB" dirty="0" err="1"/>
              <a:t>apabila</a:t>
            </a:r>
            <a:r>
              <a:rPr lang="en-GB" dirty="0"/>
              <a:t> </a:t>
            </a:r>
            <a:r>
              <a:rPr lang="en-GB" dirty="0" err="1"/>
              <a:t>ukuran</a:t>
            </a:r>
            <a:r>
              <a:rPr lang="en-GB" dirty="0"/>
              <a:t> </a:t>
            </a:r>
            <a:r>
              <a:rPr lang="en-GB" dirty="0" err="1"/>
              <a:t>populasi</a:t>
            </a:r>
            <a:r>
              <a:rPr lang="en-GB" dirty="0"/>
              <a:t> </a:t>
            </a:r>
            <a:r>
              <a:rPr lang="en-GB" dirty="0" err="1"/>
              <a:t>banyak</a:t>
            </a:r>
            <a:r>
              <a:rPr lang="en-GB" dirty="0"/>
              <a:t> </a:t>
            </a:r>
            <a:r>
              <a:rPr lang="en-GB" dirty="0" err="1"/>
              <a:t>dan</a:t>
            </a:r>
            <a:r>
              <a:rPr lang="en-GB" dirty="0"/>
              <a:t> </a:t>
            </a:r>
            <a:r>
              <a:rPr lang="en-GB" dirty="0" err="1"/>
              <a:t>peneliti</a:t>
            </a:r>
            <a:r>
              <a:rPr lang="en-GB" dirty="0"/>
              <a:t> </a:t>
            </a:r>
            <a:r>
              <a:rPr lang="en-GB" dirty="0" err="1"/>
              <a:t>tidak</a:t>
            </a:r>
            <a:r>
              <a:rPr lang="en-GB" dirty="0"/>
              <a:t>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alat</a:t>
            </a:r>
            <a:r>
              <a:rPr lang="en-GB" dirty="0"/>
              <a:t> </a:t>
            </a:r>
            <a:r>
              <a:rPr lang="en-GB" dirty="0" err="1"/>
              <a:t>pengambil</a:t>
            </a:r>
            <a:r>
              <a:rPr lang="en-GB" dirty="0"/>
              <a:t> data </a:t>
            </a:r>
            <a:r>
              <a:rPr lang="en-GB" dirty="0" err="1"/>
              <a:t>secara</a:t>
            </a:r>
            <a:r>
              <a:rPr lang="en-GB" dirty="0"/>
              <a:t> random</a:t>
            </a:r>
          </a:p>
          <a:p>
            <a:r>
              <a:rPr lang="en-GB" dirty="0" err="1"/>
              <a:t>Misal</a:t>
            </a:r>
            <a:r>
              <a:rPr lang="en-GB" dirty="0"/>
              <a:t> :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Terdapat</a:t>
            </a:r>
            <a:r>
              <a:rPr lang="en-GB" dirty="0"/>
              <a:t> 5000 </a:t>
            </a:r>
            <a:r>
              <a:rPr lang="en-GB" dirty="0" err="1"/>
              <a:t>kapal</a:t>
            </a:r>
            <a:r>
              <a:rPr lang="en-GB" dirty="0"/>
              <a:t> di </a:t>
            </a:r>
            <a:r>
              <a:rPr lang="en-GB" dirty="0" err="1"/>
              <a:t>pelabuhan</a:t>
            </a:r>
            <a:r>
              <a:rPr lang="en-GB" dirty="0"/>
              <a:t>, </a:t>
            </a:r>
            <a:r>
              <a:rPr lang="en-GB" dirty="0" err="1"/>
              <a:t>kita</a:t>
            </a:r>
            <a:r>
              <a:rPr lang="en-GB" dirty="0"/>
              <a:t> </a:t>
            </a:r>
            <a:r>
              <a:rPr lang="en-GB" dirty="0" err="1"/>
              <a:t>ingin</a:t>
            </a:r>
            <a:r>
              <a:rPr lang="en-GB" dirty="0"/>
              <a:t> </a:t>
            </a:r>
            <a:r>
              <a:rPr lang="en-GB" dirty="0" err="1"/>
              <a:t>mengambil</a:t>
            </a:r>
            <a:r>
              <a:rPr lang="en-GB" dirty="0"/>
              <a:t> </a:t>
            </a:r>
            <a:r>
              <a:rPr lang="en-GB" dirty="0" err="1"/>
              <a:t>sampel</a:t>
            </a:r>
            <a:r>
              <a:rPr lang="en-GB" dirty="0"/>
              <a:t> </a:t>
            </a:r>
            <a:r>
              <a:rPr lang="en-GB" dirty="0" err="1"/>
              <a:t>sebanyak</a:t>
            </a:r>
            <a:r>
              <a:rPr lang="en-GB" dirty="0"/>
              <a:t> 250 </a:t>
            </a:r>
            <a:r>
              <a:rPr lang="en-GB" dirty="0" err="1"/>
              <a:t>kapal</a:t>
            </a:r>
            <a:endParaRPr lang="en-GB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Systematic </a:t>
            </a:r>
            <a:r>
              <a:rPr lang="en-US" sz="3600" dirty="0" err="1" smtClean="0"/>
              <a:t>Sampl</a:t>
            </a:r>
            <a:r>
              <a:rPr lang="id-ID" sz="3600" dirty="0" smtClean="0"/>
              <a:t>ing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7-</a:t>
            </a:r>
            <a:fld id="{FE652B00-1881-4587-AAA1-040FE12C3D20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4532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id-ID" dirty="0" smtClean="0"/>
              <a:t>Tentukan ukuran sampel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hlink"/>
                </a:solidFill>
              </a:rPr>
              <a:t>n </a:t>
            </a:r>
            <a:r>
              <a:rPr lang="en-US" dirty="0" smtClean="0"/>
              <a:t>(250)</a:t>
            </a:r>
          </a:p>
          <a:p>
            <a:pPr eaLnBrk="1" hangingPunct="1">
              <a:lnSpc>
                <a:spcPct val="110000"/>
              </a:lnSpc>
            </a:pPr>
            <a:r>
              <a:rPr lang="id-ID" dirty="0" smtClean="0"/>
              <a:t>Bagi kerangka sampel yg terdiri atas </a:t>
            </a:r>
            <a:r>
              <a:rPr lang="en-US" dirty="0" smtClean="0">
                <a:solidFill>
                  <a:schemeClr val="folHlink"/>
                </a:solidFill>
              </a:rPr>
              <a:t>N</a:t>
            </a:r>
            <a:r>
              <a:rPr lang="en-US" dirty="0" smtClean="0"/>
              <a:t> </a:t>
            </a:r>
            <a:r>
              <a:rPr lang="en-US" dirty="0" err="1" smtClean="0"/>
              <a:t>individu</a:t>
            </a:r>
            <a:r>
              <a:rPr lang="id-ID" dirty="0" smtClean="0"/>
              <a:t> menjadi</a:t>
            </a:r>
            <a:r>
              <a:rPr lang="en-US" dirty="0" smtClean="0"/>
              <a:t> </a:t>
            </a:r>
            <a:r>
              <a:rPr lang="id-ID" dirty="0" smtClean="0">
                <a:solidFill>
                  <a:srgbClr val="FF0000"/>
                </a:solidFill>
              </a:rPr>
              <a:t>n</a:t>
            </a:r>
            <a:r>
              <a:rPr lang="id-ID" dirty="0" smtClean="0">
                <a:solidFill>
                  <a:srgbClr val="DCB200"/>
                </a:solidFill>
              </a:rPr>
              <a:t> </a:t>
            </a:r>
            <a:r>
              <a:rPr lang="id-ID" dirty="0" smtClean="0"/>
              <a:t>grup dengan </a:t>
            </a:r>
            <a:r>
              <a:rPr lang="id-ID" dirty="0" smtClean="0">
                <a:solidFill>
                  <a:srgbClr val="FF0000"/>
                </a:solidFill>
              </a:rPr>
              <a:t>k</a:t>
            </a:r>
            <a:r>
              <a:rPr lang="id-ID" dirty="0" smtClean="0"/>
              <a:t> anggota</a:t>
            </a:r>
            <a:r>
              <a:rPr lang="en-US" dirty="0" smtClean="0"/>
              <a:t>:  </a:t>
            </a:r>
            <a:r>
              <a:rPr lang="en-US" dirty="0" smtClean="0">
                <a:solidFill>
                  <a:srgbClr val="FF0000"/>
                </a:solidFill>
              </a:rPr>
              <a:t>k</a:t>
            </a:r>
            <a:r>
              <a:rPr lang="en-US" dirty="0" smtClean="0"/>
              <a:t>=</a:t>
            </a:r>
            <a:r>
              <a:rPr lang="en-US" dirty="0" smtClean="0">
                <a:solidFill>
                  <a:schemeClr val="folHlink"/>
                </a:solidFill>
              </a:rPr>
              <a:t>N</a:t>
            </a:r>
            <a:r>
              <a:rPr lang="en-US" dirty="0" smtClean="0"/>
              <a:t>/</a:t>
            </a:r>
            <a:r>
              <a:rPr lang="en-US" dirty="0" smtClean="0">
                <a:solidFill>
                  <a:schemeClr val="hlink"/>
                </a:solidFill>
              </a:rPr>
              <a:t>n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dirty="0">
                <a:solidFill>
                  <a:schemeClr val="hlink"/>
                </a:solidFill>
              </a:rPr>
              <a:t>	</a:t>
            </a:r>
            <a:r>
              <a:rPr lang="en-US" dirty="0" smtClean="0"/>
              <a:t>k = 5000/250   = 20</a:t>
            </a:r>
          </a:p>
          <a:p>
            <a:pPr eaLnBrk="1" hangingPunct="1">
              <a:lnSpc>
                <a:spcPct val="110000"/>
              </a:lnSpc>
            </a:pPr>
            <a:r>
              <a:rPr lang="id-ID" dirty="0" smtClean="0"/>
              <a:t>Pilih satu individu secara acak dari grup 1</a:t>
            </a:r>
            <a:r>
              <a:rPr lang="en-US" dirty="0" smtClean="0"/>
              <a:t>, </a:t>
            </a:r>
            <a:r>
              <a:rPr lang="en-US" dirty="0" err="1" smtClean="0"/>
              <a:t>misal</a:t>
            </a:r>
            <a:r>
              <a:rPr lang="en-US" dirty="0" smtClean="0"/>
              <a:t> </a:t>
            </a:r>
            <a:r>
              <a:rPr lang="en-US" dirty="0" err="1" smtClean="0"/>
              <a:t>kapal</a:t>
            </a:r>
            <a:r>
              <a:rPr lang="en-US" dirty="0" smtClean="0"/>
              <a:t> </a:t>
            </a:r>
            <a:r>
              <a:rPr lang="en-US" dirty="0" err="1" smtClean="0"/>
              <a:t>nomor</a:t>
            </a:r>
            <a:r>
              <a:rPr lang="en-US" dirty="0" smtClean="0"/>
              <a:t> 7.</a:t>
            </a:r>
            <a:endParaRPr lang="en-GB" dirty="0" smtClean="0"/>
          </a:p>
          <a:p>
            <a:pPr eaLnBrk="1" hangingPunct="1">
              <a:lnSpc>
                <a:spcPct val="110000"/>
              </a:lnSpc>
            </a:pPr>
            <a:r>
              <a:rPr lang="en-GB" dirty="0" err="1" smtClean="0"/>
              <a:t>Berarti</a:t>
            </a:r>
            <a:r>
              <a:rPr lang="en-GB" dirty="0" smtClean="0"/>
              <a:t> </a:t>
            </a:r>
            <a:r>
              <a:rPr lang="en-GB" dirty="0"/>
              <a:t>7 </a:t>
            </a:r>
            <a:r>
              <a:rPr lang="en-GB" dirty="0" err="1"/>
              <a:t>merupakan</a:t>
            </a:r>
            <a:r>
              <a:rPr lang="en-GB" dirty="0"/>
              <a:t> </a:t>
            </a:r>
            <a:r>
              <a:rPr lang="en-GB" dirty="0" err="1"/>
              <a:t>anggota</a:t>
            </a:r>
            <a:r>
              <a:rPr lang="en-GB" dirty="0"/>
              <a:t> ke-1 </a:t>
            </a:r>
            <a:r>
              <a:rPr lang="en-GB" dirty="0" err="1"/>
              <a:t>dalam</a:t>
            </a:r>
            <a:r>
              <a:rPr lang="en-GB" dirty="0"/>
              <a:t> </a:t>
            </a:r>
            <a:r>
              <a:rPr lang="en-GB" dirty="0" err="1"/>
              <a:t>sampel</a:t>
            </a:r>
            <a:endParaRPr lang="en-GB" dirty="0"/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kemudian</a:t>
            </a:r>
            <a:r>
              <a:rPr lang="en-GB" dirty="0"/>
              <a:t> 27 </a:t>
            </a:r>
            <a:r>
              <a:rPr lang="en-GB" dirty="0" err="1"/>
              <a:t>merupakan</a:t>
            </a:r>
            <a:r>
              <a:rPr lang="en-GB" dirty="0"/>
              <a:t> </a:t>
            </a:r>
            <a:r>
              <a:rPr lang="en-GB" dirty="0" err="1"/>
              <a:t>anggota</a:t>
            </a:r>
            <a:r>
              <a:rPr lang="en-GB" dirty="0"/>
              <a:t> ke-2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kemudian</a:t>
            </a:r>
            <a:r>
              <a:rPr lang="en-GB" dirty="0"/>
              <a:t> 47 </a:t>
            </a:r>
            <a:r>
              <a:rPr lang="en-GB" dirty="0" err="1"/>
              <a:t>merupakan</a:t>
            </a:r>
            <a:r>
              <a:rPr lang="en-GB" dirty="0"/>
              <a:t> </a:t>
            </a:r>
            <a:r>
              <a:rPr lang="en-GB" dirty="0" err="1"/>
              <a:t>anggota</a:t>
            </a:r>
            <a:r>
              <a:rPr lang="en-GB" dirty="0"/>
              <a:t> ke-3 </a:t>
            </a:r>
            <a:r>
              <a:rPr lang="en-GB" dirty="0" err="1"/>
              <a:t>dst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Systematic </a:t>
            </a:r>
            <a:r>
              <a:rPr lang="en-US" sz="3600" dirty="0" err="1" smtClean="0"/>
              <a:t>Sampl</a:t>
            </a:r>
            <a:r>
              <a:rPr lang="id-ID" sz="3600" dirty="0" smtClean="0"/>
              <a:t>ing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75852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7-</a:t>
            </a:r>
            <a:fld id="{635305A0-5DF5-4C92-9BFC-CA3E54D72655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Stratified </a:t>
            </a:r>
            <a:r>
              <a:rPr lang="en-US" sz="3600" dirty="0" err="1" smtClean="0"/>
              <a:t>Sampl</a:t>
            </a:r>
            <a:r>
              <a:rPr lang="id-ID" sz="3600" dirty="0" smtClean="0"/>
              <a:t>ing</a:t>
            </a:r>
            <a:endParaRPr lang="en-US" sz="3600" dirty="0" smtClean="0"/>
          </a:p>
        </p:txBody>
      </p:sp>
      <p:sp>
        <p:nvSpPr>
          <p:cNvPr id="2867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82000" cy="2971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id-ID" sz="2000" dirty="0" smtClean="0"/>
              <a:t>Bagi populasi menjadi dua atau lebih subgrup (disebut strata) dengan karaketristik tertentu</a:t>
            </a: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r>
              <a:rPr lang="id-ID" sz="2000" dirty="0" smtClean="0"/>
              <a:t>Lakukan simple random sampling untuk setiap strata secara proporsional</a:t>
            </a:r>
            <a:r>
              <a:rPr lang="en-US" sz="2000" dirty="0" smtClean="0"/>
              <a:t>/non </a:t>
            </a:r>
            <a:r>
              <a:rPr lang="en-US" sz="2000" dirty="0" err="1" smtClean="0"/>
              <a:t>proporsional</a:t>
            </a:r>
            <a:endParaRPr lang="id-ID" sz="2000" dirty="0" smtClean="0"/>
          </a:p>
          <a:p>
            <a:pPr eaLnBrk="1" hangingPunct="1">
              <a:lnSpc>
                <a:spcPct val="130000"/>
              </a:lnSpc>
            </a:pPr>
            <a:r>
              <a:rPr lang="id-ID" sz="2000" dirty="0" smtClean="0"/>
              <a:t>Kombinasikan sampel yg diperoleh dari setiap strata</a:t>
            </a: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r>
              <a:rPr lang="en-US" sz="2000" dirty="0" err="1" smtClean="0"/>
              <a:t>Proporsional</a:t>
            </a:r>
            <a:r>
              <a:rPr lang="en-US" sz="2000" dirty="0" smtClean="0"/>
              <a:t>: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, </a:t>
            </a:r>
            <a:r>
              <a:rPr lang="en-US" sz="2000" dirty="0" err="1"/>
              <a:t>kecil</a:t>
            </a:r>
            <a:r>
              <a:rPr lang="en-US" sz="2000" dirty="0"/>
              <a:t>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dirty="0" err="1" smtClean="0"/>
              <a:t>kecil</a:t>
            </a: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r>
              <a:rPr lang="en-US" sz="2000" dirty="0" smtClean="0"/>
              <a:t>Non-</a:t>
            </a:r>
            <a:r>
              <a:rPr lang="en-US" sz="2000" dirty="0" err="1" smtClean="0"/>
              <a:t>proporsional</a:t>
            </a:r>
            <a:r>
              <a:rPr lang="en-US" sz="2000" dirty="0" smtClean="0"/>
              <a:t>: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belum</a:t>
            </a:r>
            <a:r>
              <a:rPr lang="en-US" sz="2000" dirty="0"/>
              <a:t> </a:t>
            </a:r>
            <a:r>
              <a:rPr lang="en-US" sz="2000" dirty="0" err="1"/>
              <a:t>tentu</a:t>
            </a:r>
            <a:r>
              <a:rPr lang="en-US" sz="2000" dirty="0"/>
              <a:t>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, </a:t>
            </a:r>
            <a:r>
              <a:rPr lang="en-US" sz="2000" dirty="0" err="1"/>
              <a:t>kecil</a:t>
            </a:r>
            <a:r>
              <a:rPr lang="en-US" sz="2000" dirty="0"/>
              <a:t> </a:t>
            </a:r>
            <a:r>
              <a:rPr lang="en-US" sz="2000" dirty="0" err="1"/>
              <a:t>belum</a:t>
            </a:r>
            <a:r>
              <a:rPr lang="en-US" sz="2000" dirty="0"/>
              <a:t> </a:t>
            </a:r>
            <a:r>
              <a:rPr lang="en-US" sz="2000" dirty="0" err="1"/>
              <a:t>tentu</a:t>
            </a:r>
            <a:r>
              <a:rPr lang="en-US" sz="2000" dirty="0"/>
              <a:t>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dirty="0" err="1"/>
              <a:t>kecil</a:t>
            </a: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</p:spPr>
        <p:txBody>
          <a:bodyPr/>
          <a:lstStyle/>
          <a:p>
            <a:fld id="{1324E738-6014-4286-B1DC-77A9EF1F27AE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2528888" y="2114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2947" name="Rectangle 131"/>
          <p:cNvSpPr>
            <a:spLocks noChangeArrowheads="1"/>
          </p:cNvSpPr>
          <p:nvPr/>
        </p:nvSpPr>
        <p:spPr bwMode="auto">
          <a:xfrm>
            <a:off x="914400" y="1447800"/>
            <a:ext cx="3633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8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PROSES STRATIFIKASI</a:t>
            </a:r>
            <a:endParaRPr lang="en-US" altLang="en-US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2950" name="Rectangle 134"/>
          <p:cNvSpPr>
            <a:spLocks noChangeArrowheads="1"/>
          </p:cNvSpPr>
          <p:nvPr/>
        </p:nvSpPr>
        <p:spPr bwMode="auto">
          <a:xfrm>
            <a:off x="1219200" y="2057400"/>
            <a:ext cx="3352800" cy="3352800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prstShdw prst="shdw18" dist="17961" dir="13500000">
              <a:srgbClr val="66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51" name="AutoShape 135"/>
          <p:cNvSpPr>
            <a:spLocks noChangeArrowheads="1"/>
          </p:cNvSpPr>
          <p:nvPr/>
        </p:nvSpPr>
        <p:spPr bwMode="auto">
          <a:xfrm>
            <a:off x="2209800" y="2438400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63" name="AutoShape 147"/>
          <p:cNvSpPr>
            <a:spLocks noChangeArrowheads="1"/>
          </p:cNvSpPr>
          <p:nvPr/>
        </p:nvSpPr>
        <p:spPr bwMode="auto">
          <a:xfrm>
            <a:off x="4152900" y="4981575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66" name="AutoShape 150"/>
          <p:cNvSpPr>
            <a:spLocks noChangeArrowheads="1"/>
          </p:cNvSpPr>
          <p:nvPr/>
        </p:nvSpPr>
        <p:spPr bwMode="auto">
          <a:xfrm>
            <a:off x="3619500" y="3800475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68" name="AutoShape 152"/>
          <p:cNvSpPr>
            <a:spLocks noChangeArrowheads="1"/>
          </p:cNvSpPr>
          <p:nvPr/>
        </p:nvSpPr>
        <p:spPr bwMode="auto">
          <a:xfrm>
            <a:off x="3810000" y="2895600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69" name="AutoShape 153"/>
          <p:cNvSpPr>
            <a:spLocks noChangeArrowheads="1"/>
          </p:cNvSpPr>
          <p:nvPr/>
        </p:nvSpPr>
        <p:spPr bwMode="auto">
          <a:xfrm>
            <a:off x="1590675" y="2419350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75" name="AutoShape 159"/>
          <p:cNvSpPr>
            <a:spLocks noChangeArrowheads="1"/>
          </p:cNvSpPr>
          <p:nvPr/>
        </p:nvSpPr>
        <p:spPr bwMode="auto">
          <a:xfrm>
            <a:off x="4724400" y="2819400"/>
            <a:ext cx="1143000" cy="19050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66FFFF"/>
              </a:gs>
              <a:gs pos="100000">
                <a:srgbClr val="66FFFF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>
            <a:prstShdw prst="shdw18" dist="17961" dir="13500000">
              <a:srgbClr val="66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76" name="Rectangle 160"/>
          <p:cNvSpPr>
            <a:spLocks noChangeArrowheads="1"/>
          </p:cNvSpPr>
          <p:nvPr/>
        </p:nvSpPr>
        <p:spPr bwMode="auto">
          <a:xfrm>
            <a:off x="6019800" y="2057400"/>
            <a:ext cx="2590800" cy="990600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prstShdw prst="shdw18" dist="17961" dir="13500000">
              <a:srgbClr val="66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77" name="Rectangle 161"/>
          <p:cNvSpPr>
            <a:spLocks noChangeArrowheads="1"/>
          </p:cNvSpPr>
          <p:nvPr/>
        </p:nvSpPr>
        <p:spPr bwMode="auto">
          <a:xfrm>
            <a:off x="6010275" y="3238500"/>
            <a:ext cx="2600325" cy="990600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prstShdw prst="shdw18" dist="17961" dir="13500000">
              <a:srgbClr val="66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78" name="Rectangle 162"/>
          <p:cNvSpPr>
            <a:spLocks noChangeArrowheads="1"/>
          </p:cNvSpPr>
          <p:nvPr/>
        </p:nvSpPr>
        <p:spPr bwMode="auto">
          <a:xfrm>
            <a:off x="6019800" y="4419600"/>
            <a:ext cx="2590800" cy="990600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prstShdw prst="shdw18" dist="17961" dir="13500000">
              <a:srgbClr val="66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79" name="AutoShape 163"/>
          <p:cNvSpPr>
            <a:spLocks noChangeArrowheads="1"/>
          </p:cNvSpPr>
          <p:nvPr/>
        </p:nvSpPr>
        <p:spPr bwMode="auto">
          <a:xfrm>
            <a:off x="6638925" y="2514600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80" name="AutoShape 164"/>
          <p:cNvSpPr>
            <a:spLocks noChangeArrowheads="1"/>
          </p:cNvSpPr>
          <p:nvPr/>
        </p:nvSpPr>
        <p:spPr bwMode="auto">
          <a:xfrm>
            <a:off x="6210300" y="2200275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81" name="AutoShape 165"/>
          <p:cNvSpPr>
            <a:spLocks noChangeArrowheads="1"/>
          </p:cNvSpPr>
          <p:nvPr/>
        </p:nvSpPr>
        <p:spPr bwMode="auto">
          <a:xfrm>
            <a:off x="7038975" y="2266950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82" name="AutoShape 166"/>
          <p:cNvSpPr>
            <a:spLocks noChangeArrowheads="1"/>
          </p:cNvSpPr>
          <p:nvPr/>
        </p:nvSpPr>
        <p:spPr bwMode="auto">
          <a:xfrm>
            <a:off x="7439025" y="2590800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2983" name="AutoShape 167"/>
          <p:cNvSpPr>
            <a:spLocks noChangeArrowheads="1"/>
          </p:cNvSpPr>
          <p:nvPr/>
        </p:nvSpPr>
        <p:spPr bwMode="auto">
          <a:xfrm>
            <a:off x="7943850" y="2295525"/>
            <a:ext cx="228600" cy="304800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03" name="Text Box 187"/>
          <p:cNvSpPr txBox="1">
            <a:spLocks noChangeArrowheads="1"/>
          </p:cNvSpPr>
          <p:nvPr/>
        </p:nvSpPr>
        <p:spPr bwMode="auto">
          <a:xfrm>
            <a:off x="1231900" y="5570538"/>
            <a:ext cx="3038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Times New Roman" panose="02020603050405020304" pitchFamily="18" charset="0"/>
              </a:rPr>
              <a:t>Populasi tidak berstrata</a:t>
            </a:r>
          </a:p>
        </p:txBody>
      </p:sp>
      <p:sp>
        <p:nvSpPr>
          <p:cNvPr id="163004" name="Text Box 188"/>
          <p:cNvSpPr txBox="1">
            <a:spLocks noChangeArrowheads="1"/>
          </p:cNvSpPr>
          <p:nvPr/>
        </p:nvSpPr>
        <p:spPr bwMode="auto">
          <a:xfrm>
            <a:off x="6008688" y="5541963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Times New Roman" panose="02020603050405020304" pitchFamily="18" charset="0"/>
              </a:rPr>
              <a:t>Populasi terstrata</a:t>
            </a:r>
          </a:p>
        </p:txBody>
      </p:sp>
      <p:sp>
        <p:nvSpPr>
          <p:cNvPr id="163010" name="Rectangle 194"/>
          <p:cNvSpPr>
            <a:spLocks noChangeArrowheads="1"/>
          </p:cNvSpPr>
          <p:nvPr/>
        </p:nvSpPr>
        <p:spPr bwMode="auto">
          <a:xfrm>
            <a:off x="1371600" y="38862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1" name="AutoShape 195"/>
          <p:cNvSpPr>
            <a:spLocks noChangeArrowheads="1"/>
          </p:cNvSpPr>
          <p:nvPr/>
        </p:nvSpPr>
        <p:spPr bwMode="auto">
          <a:xfrm>
            <a:off x="2971800" y="3581400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2" name="Rectangle 196"/>
          <p:cNvSpPr>
            <a:spLocks noChangeArrowheads="1"/>
          </p:cNvSpPr>
          <p:nvPr/>
        </p:nvSpPr>
        <p:spPr bwMode="auto">
          <a:xfrm>
            <a:off x="1724025" y="424815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3" name="Rectangle 197"/>
          <p:cNvSpPr>
            <a:spLocks noChangeArrowheads="1"/>
          </p:cNvSpPr>
          <p:nvPr/>
        </p:nvSpPr>
        <p:spPr bwMode="auto">
          <a:xfrm>
            <a:off x="2143125" y="4638675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4" name="Rectangle 198"/>
          <p:cNvSpPr>
            <a:spLocks noChangeArrowheads="1"/>
          </p:cNvSpPr>
          <p:nvPr/>
        </p:nvSpPr>
        <p:spPr bwMode="auto">
          <a:xfrm>
            <a:off x="25908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5" name="AutoShape 199"/>
          <p:cNvSpPr>
            <a:spLocks noChangeArrowheads="1"/>
          </p:cNvSpPr>
          <p:nvPr/>
        </p:nvSpPr>
        <p:spPr bwMode="auto">
          <a:xfrm>
            <a:off x="1447800" y="3276600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6" name="AutoShape 200"/>
          <p:cNvSpPr>
            <a:spLocks noChangeArrowheads="1"/>
          </p:cNvSpPr>
          <p:nvPr/>
        </p:nvSpPr>
        <p:spPr bwMode="auto">
          <a:xfrm>
            <a:off x="1905000" y="3581400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7" name="AutoShape 201"/>
          <p:cNvSpPr>
            <a:spLocks noChangeArrowheads="1"/>
          </p:cNvSpPr>
          <p:nvPr/>
        </p:nvSpPr>
        <p:spPr bwMode="auto">
          <a:xfrm>
            <a:off x="2590800" y="4295775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8" name="AutoShape 202"/>
          <p:cNvSpPr>
            <a:spLocks noChangeArrowheads="1"/>
          </p:cNvSpPr>
          <p:nvPr/>
        </p:nvSpPr>
        <p:spPr bwMode="auto">
          <a:xfrm>
            <a:off x="3048000" y="4572000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19" name="AutoShape 203"/>
          <p:cNvSpPr>
            <a:spLocks noChangeArrowheads="1"/>
          </p:cNvSpPr>
          <p:nvPr/>
        </p:nvSpPr>
        <p:spPr bwMode="auto">
          <a:xfrm>
            <a:off x="2286000" y="3962400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0" name="AutoShape 204"/>
          <p:cNvSpPr>
            <a:spLocks noChangeArrowheads="1"/>
          </p:cNvSpPr>
          <p:nvPr/>
        </p:nvSpPr>
        <p:spPr bwMode="auto">
          <a:xfrm>
            <a:off x="3505200" y="4953000"/>
            <a:ext cx="381000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1" name="Rectangle 205"/>
          <p:cNvSpPr>
            <a:spLocks noChangeArrowheads="1"/>
          </p:cNvSpPr>
          <p:nvPr/>
        </p:nvSpPr>
        <p:spPr bwMode="auto">
          <a:xfrm>
            <a:off x="2590800" y="24384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2" name="Rectangle 206"/>
          <p:cNvSpPr>
            <a:spLocks noChangeArrowheads="1"/>
          </p:cNvSpPr>
          <p:nvPr/>
        </p:nvSpPr>
        <p:spPr bwMode="auto">
          <a:xfrm>
            <a:off x="3124200" y="24384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3" name="Rectangle 207"/>
          <p:cNvSpPr>
            <a:spLocks noChangeArrowheads="1"/>
          </p:cNvSpPr>
          <p:nvPr/>
        </p:nvSpPr>
        <p:spPr bwMode="auto">
          <a:xfrm>
            <a:off x="3581400" y="24384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4" name="Rectangle 208"/>
          <p:cNvSpPr>
            <a:spLocks noChangeArrowheads="1"/>
          </p:cNvSpPr>
          <p:nvPr/>
        </p:nvSpPr>
        <p:spPr bwMode="auto">
          <a:xfrm>
            <a:off x="4038600" y="24384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5" name="Rectangle 209"/>
          <p:cNvSpPr>
            <a:spLocks noChangeArrowheads="1"/>
          </p:cNvSpPr>
          <p:nvPr/>
        </p:nvSpPr>
        <p:spPr bwMode="auto">
          <a:xfrm>
            <a:off x="2286000" y="28956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6" name="Rectangle 210"/>
          <p:cNvSpPr>
            <a:spLocks noChangeArrowheads="1"/>
          </p:cNvSpPr>
          <p:nvPr/>
        </p:nvSpPr>
        <p:spPr bwMode="auto">
          <a:xfrm>
            <a:off x="2438400" y="34290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7" name="Rectangle 211"/>
          <p:cNvSpPr>
            <a:spLocks noChangeArrowheads="1"/>
          </p:cNvSpPr>
          <p:nvPr/>
        </p:nvSpPr>
        <p:spPr bwMode="auto">
          <a:xfrm>
            <a:off x="4191000" y="3352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8" name="Rectangle 212"/>
          <p:cNvSpPr>
            <a:spLocks noChangeArrowheads="1"/>
          </p:cNvSpPr>
          <p:nvPr/>
        </p:nvSpPr>
        <p:spPr bwMode="auto">
          <a:xfrm>
            <a:off x="4152900" y="3895725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29" name="AutoShape 213"/>
          <p:cNvSpPr>
            <a:spLocks noChangeArrowheads="1"/>
          </p:cNvSpPr>
          <p:nvPr/>
        </p:nvSpPr>
        <p:spPr bwMode="auto">
          <a:xfrm>
            <a:off x="60960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34" name="AutoShape 218"/>
          <p:cNvSpPr>
            <a:spLocks noChangeArrowheads="1"/>
          </p:cNvSpPr>
          <p:nvPr/>
        </p:nvSpPr>
        <p:spPr bwMode="auto">
          <a:xfrm>
            <a:off x="64770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35" name="AutoShape 219"/>
          <p:cNvSpPr>
            <a:spLocks noChangeArrowheads="1"/>
          </p:cNvSpPr>
          <p:nvPr/>
        </p:nvSpPr>
        <p:spPr bwMode="auto">
          <a:xfrm>
            <a:off x="68580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36" name="AutoShape 220"/>
          <p:cNvSpPr>
            <a:spLocks noChangeArrowheads="1"/>
          </p:cNvSpPr>
          <p:nvPr/>
        </p:nvSpPr>
        <p:spPr bwMode="auto">
          <a:xfrm>
            <a:off x="71628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37" name="AutoShape 221"/>
          <p:cNvSpPr>
            <a:spLocks noChangeArrowheads="1"/>
          </p:cNvSpPr>
          <p:nvPr/>
        </p:nvSpPr>
        <p:spPr bwMode="auto">
          <a:xfrm>
            <a:off x="74676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38" name="AutoShape 222"/>
          <p:cNvSpPr>
            <a:spLocks noChangeArrowheads="1"/>
          </p:cNvSpPr>
          <p:nvPr/>
        </p:nvSpPr>
        <p:spPr bwMode="auto">
          <a:xfrm>
            <a:off x="77724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39" name="AutoShape 223"/>
          <p:cNvSpPr>
            <a:spLocks noChangeArrowheads="1"/>
          </p:cNvSpPr>
          <p:nvPr/>
        </p:nvSpPr>
        <p:spPr bwMode="auto">
          <a:xfrm>
            <a:off x="8077200" y="3489325"/>
            <a:ext cx="304800" cy="244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0" name="Rectangle 224"/>
          <p:cNvSpPr>
            <a:spLocks noChangeArrowheads="1"/>
          </p:cNvSpPr>
          <p:nvPr/>
        </p:nvSpPr>
        <p:spPr bwMode="auto">
          <a:xfrm>
            <a:off x="6096000" y="4495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1" name="Rectangle 225"/>
          <p:cNvSpPr>
            <a:spLocks noChangeArrowheads="1"/>
          </p:cNvSpPr>
          <p:nvPr/>
        </p:nvSpPr>
        <p:spPr bwMode="auto">
          <a:xfrm>
            <a:off x="60960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2" name="Rectangle 226"/>
          <p:cNvSpPr>
            <a:spLocks noChangeArrowheads="1"/>
          </p:cNvSpPr>
          <p:nvPr/>
        </p:nvSpPr>
        <p:spPr bwMode="auto">
          <a:xfrm>
            <a:off x="6553200" y="4495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3" name="Rectangle 227"/>
          <p:cNvSpPr>
            <a:spLocks noChangeArrowheads="1"/>
          </p:cNvSpPr>
          <p:nvPr/>
        </p:nvSpPr>
        <p:spPr bwMode="auto">
          <a:xfrm>
            <a:off x="65532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4" name="Rectangle 228"/>
          <p:cNvSpPr>
            <a:spLocks noChangeArrowheads="1"/>
          </p:cNvSpPr>
          <p:nvPr/>
        </p:nvSpPr>
        <p:spPr bwMode="auto">
          <a:xfrm>
            <a:off x="7010400" y="4495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5" name="Rectangle 229"/>
          <p:cNvSpPr>
            <a:spLocks noChangeArrowheads="1"/>
          </p:cNvSpPr>
          <p:nvPr/>
        </p:nvSpPr>
        <p:spPr bwMode="auto">
          <a:xfrm>
            <a:off x="70104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6" name="Rectangle 230"/>
          <p:cNvSpPr>
            <a:spLocks noChangeArrowheads="1"/>
          </p:cNvSpPr>
          <p:nvPr/>
        </p:nvSpPr>
        <p:spPr bwMode="auto">
          <a:xfrm>
            <a:off x="7467600" y="4495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7" name="Rectangle 231"/>
          <p:cNvSpPr>
            <a:spLocks noChangeArrowheads="1"/>
          </p:cNvSpPr>
          <p:nvPr/>
        </p:nvSpPr>
        <p:spPr bwMode="auto">
          <a:xfrm>
            <a:off x="74676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8" name="Rectangle 232"/>
          <p:cNvSpPr>
            <a:spLocks noChangeArrowheads="1"/>
          </p:cNvSpPr>
          <p:nvPr/>
        </p:nvSpPr>
        <p:spPr bwMode="auto">
          <a:xfrm>
            <a:off x="7848600" y="4495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49" name="Rectangle 233"/>
          <p:cNvSpPr>
            <a:spLocks noChangeArrowheads="1"/>
          </p:cNvSpPr>
          <p:nvPr/>
        </p:nvSpPr>
        <p:spPr bwMode="auto">
          <a:xfrm>
            <a:off x="78486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50" name="Rectangle 234"/>
          <p:cNvSpPr>
            <a:spLocks noChangeArrowheads="1"/>
          </p:cNvSpPr>
          <p:nvPr/>
        </p:nvSpPr>
        <p:spPr bwMode="auto">
          <a:xfrm>
            <a:off x="8229600" y="4495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63051" name="Rectangle 235"/>
          <p:cNvSpPr>
            <a:spLocks noChangeArrowheads="1"/>
          </p:cNvSpPr>
          <p:nvPr/>
        </p:nvSpPr>
        <p:spPr bwMode="auto">
          <a:xfrm>
            <a:off x="8229600" y="4876800"/>
            <a:ext cx="304800" cy="304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5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7-</a:t>
            </a:r>
            <a:fld id="{776EDC04-4AE9-4661-9E11-852B8920C47A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Cluster </a:t>
            </a:r>
            <a:r>
              <a:rPr lang="en-US" sz="3600" dirty="0" err="1" smtClean="0"/>
              <a:t>Sampl</a:t>
            </a:r>
            <a:r>
              <a:rPr lang="id-ID" sz="3600" dirty="0" smtClean="0"/>
              <a:t>ing</a:t>
            </a:r>
            <a:endParaRPr lang="en-US" sz="3600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3048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id-ID" sz="2000" dirty="0" smtClean="0"/>
              <a:t>Populasi dibagi menjadi beberapa cluster yg merepresentasikan populasi</a:t>
            </a:r>
            <a:endParaRPr lang="en-US" sz="2000" dirty="0" smtClean="0"/>
          </a:p>
          <a:p>
            <a:pPr eaLnBrk="1" hangingPunct="1">
              <a:lnSpc>
                <a:spcPct val="110000"/>
              </a:lnSpc>
            </a:pPr>
            <a:r>
              <a:rPr lang="id-ID" sz="2000" dirty="0" smtClean="0"/>
              <a:t>Lakukan simple random sampling untuk cluster yang </a:t>
            </a:r>
            <a:r>
              <a:rPr lang="id-ID" sz="2000" dirty="0" smtClean="0"/>
              <a:t>terbentuk</a:t>
            </a:r>
            <a:endParaRPr lang="en-US" sz="2000" dirty="0" smtClean="0"/>
          </a:p>
          <a:p>
            <a:pPr eaLnBrk="1" hangingPunct="1">
              <a:lnSpc>
                <a:spcPct val="110000"/>
              </a:lnSpc>
            </a:pP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mengambil</a:t>
            </a:r>
            <a:r>
              <a:rPr lang="en-US" sz="2000" dirty="0" smtClean="0"/>
              <a:t> sample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kelompok</a:t>
            </a:r>
            <a:r>
              <a:rPr lang="en-US" sz="2000" dirty="0" smtClean="0"/>
              <a:t>, </a:t>
            </a:r>
            <a:r>
              <a:rPr lang="en-US" sz="2000" dirty="0" err="1" smtClean="0"/>
              <a:t>bukan</a:t>
            </a:r>
            <a:r>
              <a:rPr lang="en-US" sz="2000" dirty="0" smtClean="0"/>
              <a:t> </a:t>
            </a:r>
            <a:r>
              <a:rPr lang="en-US" sz="2000" dirty="0" err="1" smtClean="0"/>
              <a:t>individu</a:t>
            </a:r>
            <a:endParaRPr lang="en-US" sz="2000" dirty="0" smtClean="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228600" y="4953000"/>
            <a:ext cx="1981200" cy="92076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 err="1" smtClean="0"/>
              <a:t>Popula</a:t>
            </a:r>
            <a:r>
              <a:rPr lang="id-ID" b="1" dirty="0" smtClean="0"/>
              <a:t>si dibagi manjedi16 cluster</a:t>
            </a:r>
            <a:endParaRPr lang="en-US" b="1" dirty="0"/>
          </a:p>
        </p:txBody>
      </p:sp>
      <p:sp>
        <p:nvSpPr>
          <p:cNvPr id="29701" name="Line 6"/>
          <p:cNvSpPr>
            <a:spLocks noChangeShapeType="1"/>
          </p:cNvSpPr>
          <p:nvPr/>
        </p:nvSpPr>
        <p:spPr bwMode="auto">
          <a:xfrm flipH="1" flipV="1">
            <a:off x="4191000" y="5410200"/>
            <a:ext cx="304800" cy="3048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Line 7"/>
          <p:cNvSpPr>
            <a:spLocks noChangeShapeType="1"/>
          </p:cNvSpPr>
          <p:nvPr/>
        </p:nvSpPr>
        <p:spPr bwMode="auto">
          <a:xfrm flipH="1" flipV="1">
            <a:off x="4876800" y="5334000"/>
            <a:ext cx="0" cy="381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Line 8"/>
          <p:cNvSpPr>
            <a:spLocks noChangeShapeType="1"/>
          </p:cNvSpPr>
          <p:nvPr/>
        </p:nvSpPr>
        <p:spPr bwMode="auto">
          <a:xfrm>
            <a:off x="2209800" y="5105400"/>
            <a:ext cx="5334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Line 9"/>
          <p:cNvSpPr>
            <a:spLocks noChangeShapeType="1"/>
          </p:cNvSpPr>
          <p:nvPr/>
        </p:nvSpPr>
        <p:spPr bwMode="auto">
          <a:xfrm flipV="1">
            <a:off x="6248400" y="5410200"/>
            <a:ext cx="457200" cy="2286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4074" name="Group 10"/>
          <p:cNvGraphicFramePr>
            <a:graphicFrameLocks noGrp="1"/>
          </p:cNvGraphicFramePr>
          <p:nvPr/>
        </p:nvGraphicFramePr>
        <p:xfrm>
          <a:off x="2743200" y="4876800"/>
          <a:ext cx="6096000" cy="451104"/>
        </p:xfrm>
        <a:graphic>
          <a:graphicData uri="http://schemas.openxmlformats.org/drawingml/2006/table">
            <a:tbl>
              <a:tblPr/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85342" marR="85342" marT="42672" marB="42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41" name="Rectangle 46"/>
          <p:cNvSpPr>
            <a:spLocks noChangeArrowheads="1"/>
          </p:cNvSpPr>
          <p:nvPr/>
        </p:nvSpPr>
        <p:spPr bwMode="auto">
          <a:xfrm>
            <a:off x="4267200" y="5638800"/>
            <a:ext cx="2590800" cy="705321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b="1" dirty="0" smtClean="0"/>
              <a:t>Sampel diplih secara random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Non-probability </a:t>
            </a:r>
            <a:r>
              <a:rPr lang="en-US" sz="3600" dirty="0" err="1" smtClean="0"/>
              <a:t>Sampl</a:t>
            </a:r>
            <a:r>
              <a:rPr lang="id-ID" sz="3600" dirty="0" smtClean="0"/>
              <a:t>ing</a:t>
            </a:r>
            <a:endParaRPr lang="en-US" sz="3600" dirty="0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197350"/>
          </a:xfrm>
        </p:spPr>
        <p:txBody>
          <a:bodyPr/>
          <a:lstStyle/>
          <a:p>
            <a:pPr lvl="1" eaLnBrk="1" hangingPunct="1"/>
            <a:r>
              <a:rPr lang="id-ID" sz="2300" dirty="0" smtClean="0"/>
              <a:t>Convenience sampling </a:t>
            </a:r>
            <a:r>
              <a:rPr lang="id-ID" sz="2300" dirty="0" smtClean="0">
                <a:sym typeface="Wingdings" pitchFamily="2" charset="2"/>
              </a:rPr>
              <a:t> objek dipilih karena alasan kemudahan seperti hemat biaya dan mudah diperoleh</a:t>
            </a:r>
            <a:r>
              <a:rPr lang="en-US" sz="2300" dirty="0" smtClean="0">
                <a:sym typeface="Wingdings" pitchFamily="2" charset="2"/>
              </a:rPr>
              <a:t>.</a:t>
            </a:r>
          </a:p>
          <a:p>
            <a:pPr marL="425450" lvl="1" indent="0" eaLnBrk="1" hangingPunct="1">
              <a:buNone/>
            </a:pPr>
            <a:r>
              <a:rPr lang="en-US" sz="2300" dirty="0" err="1" smtClean="0">
                <a:sym typeface="Wingdings" pitchFamily="2" charset="2"/>
              </a:rPr>
              <a:t>Pengambilan</a:t>
            </a:r>
            <a:r>
              <a:rPr lang="en-US" sz="2300" dirty="0" smtClean="0">
                <a:sym typeface="Wingdings" pitchFamily="2" charset="2"/>
              </a:rPr>
              <a:t> sample </a:t>
            </a:r>
            <a:r>
              <a:rPr lang="en-US" sz="2300" dirty="0" err="1" smtClean="0">
                <a:sym typeface="Wingdings" pitchFamily="2" charset="2"/>
              </a:rPr>
              <a:t>dengan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metode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ini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biasanya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dilakukan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saat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penelitian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penjajagan</a:t>
            </a:r>
            <a:r>
              <a:rPr lang="en-US" sz="2300" dirty="0" smtClean="0">
                <a:sym typeface="Wingdings" pitchFamily="2" charset="2"/>
              </a:rPr>
              <a:t>/</a:t>
            </a:r>
            <a:r>
              <a:rPr lang="en-US" sz="2300" dirty="0" err="1" smtClean="0">
                <a:sym typeface="Wingdings" pitchFamily="2" charset="2"/>
              </a:rPr>
              <a:t>penelitian</a:t>
            </a:r>
            <a:r>
              <a:rPr lang="en-US" sz="2300" dirty="0" smtClean="0">
                <a:sym typeface="Wingdings" pitchFamily="2" charset="2"/>
              </a:rPr>
              <a:t> </a:t>
            </a:r>
            <a:r>
              <a:rPr lang="en-US" sz="2300" dirty="0" err="1" smtClean="0">
                <a:sym typeface="Wingdings" pitchFamily="2" charset="2"/>
              </a:rPr>
              <a:t>pendahuluan</a:t>
            </a:r>
            <a:endParaRPr lang="en-US" sz="2300" dirty="0" smtClean="0">
              <a:sym typeface="Wingdings" pitchFamily="2" charset="2"/>
            </a:endParaRPr>
          </a:p>
          <a:p>
            <a:pPr marL="425450" lvl="1" indent="0" eaLnBrk="1" hangingPunct="1">
              <a:buNone/>
            </a:pPr>
            <a:endParaRPr lang="id-ID" sz="2300" dirty="0" smtClean="0">
              <a:sym typeface="Wingdings" pitchFamily="2" charset="2"/>
            </a:endParaRPr>
          </a:p>
          <a:p>
            <a:pPr lvl="1" eaLnBrk="1" hangingPunct="1"/>
            <a:r>
              <a:rPr lang="id-ID" sz="2300" dirty="0" smtClean="0">
                <a:sym typeface="Wingdings" pitchFamily="2" charset="2"/>
              </a:rPr>
              <a:t>Judgment sampling objek dipilih berdasarkan opini para ahli/expert</a:t>
            </a:r>
          </a:p>
          <a:p>
            <a:pPr lvl="1" eaLnBrk="1" hangingPunct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Distribusi Sampling</a:t>
            </a:r>
            <a:endParaRPr lang="en-US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924800" cy="4151313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id-ID" sz="2300" dirty="0" smtClean="0"/>
              <a:t>Distribusi sampling adalah distribusi dari semua kemungkinan </a:t>
            </a:r>
            <a:r>
              <a:rPr lang="id-ID" sz="2300" b="1" dirty="0" smtClean="0"/>
              <a:t>hasil statistik </a:t>
            </a:r>
            <a:r>
              <a:rPr lang="id-ID" sz="2300" dirty="0" smtClean="0"/>
              <a:t>suatu sampel yang dipilih dari populasi asal</a:t>
            </a:r>
            <a:endParaRPr lang="en-US" sz="2300" dirty="0" smtClean="0"/>
          </a:p>
          <a:p>
            <a:pPr eaLnBrk="1" hangingPunct="1">
              <a:lnSpc>
                <a:spcPct val="115000"/>
              </a:lnSpc>
            </a:pPr>
            <a:r>
              <a:rPr lang="id-ID" sz="2300" dirty="0" smtClean="0"/>
              <a:t>Sebagai contoh, misalkan dipilih sampel 50 ikan, lalu panjang ikan tersebut diukur. Jika </a:t>
            </a:r>
            <a:r>
              <a:rPr lang="id-ID" sz="2300" dirty="0" smtClean="0"/>
              <a:t>dilakukan</a:t>
            </a:r>
            <a:r>
              <a:rPr lang="en-US" sz="2300" dirty="0" smtClean="0"/>
              <a:t> </a:t>
            </a:r>
            <a:r>
              <a:rPr lang="en-US" sz="2300" dirty="0" err="1" smtClean="0"/>
              <a:t>pemilihan</a:t>
            </a:r>
            <a:r>
              <a:rPr lang="id-ID" sz="2300" dirty="0" smtClean="0"/>
              <a:t> </a:t>
            </a:r>
            <a:r>
              <a:rPr lang="id-ID" sz="2300" dirty="0" smtClean="0"/>
              <a:t>sampel secara brulang-ulang, maka akan diperoleh sampel dengan rata-rata panjang ikan yang berbeda pula. Yang menjadi pusat perhatian adalah </a:t>
            </a:r>
            <a:r>
              <a:rPr lang="id-ID" sz="2300" b="1" dirty="0" smtClean="0"/>
              <a:t>distribusi rata-rata panjang ikan dari semua kemungkinan sampel yang ada</a:t>
            </a:r>
            <a:r>
              <a:rPr lang="id-ID" sz="2300" dirty="0" smtClean="0"/>
              <a:t>.</a:t>
            </a:r>
            <a:endParaRPr lang="en-US" sz="23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7-</a:t>
            </a:r>
            <a:fld id="{68B8C2B1-3771-40D5-B22B-A4CD6FFDFC0F}" type="slidenum">
              <a:rPr lang="en-US" sz="1000"/>
              <a:pPr algn="r" defTabSz="852488"/>
              <a:t>14</a:t>
            </a:fld>
            <a:endParaRPr lang="en-US" sz="1000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6934200" cy="106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Membangun Distribusi Sampling</a:t>
            </a:r>
            <a:endParaRPr lang="en-US" dirty="0" smtClean="0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77200" cy="45323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id-ID" sz="2000" b="1" dirty="0" smtClean="0"/>
              <a:t>Diasumsikan terdapat populasi</a:t>
            </a:r>
            <a:r>
              <a:rPr lang="en-US" sz="2000" b="1" dirty="0" smtClean="0"/>
              <a:t>…</a:t>
            </a:r>
          </a:p>
          <a:p>
            <a:pPr eaLnBrk="1" hangingPunct="1">
              <a:lnSpc>
                <a:spcPct val="120000"/>
              </a:lnSpc>
            </a:pPr>
            <a:r>
              <a:rPr lang="id-ID" sz="2000" dirty="0" smtClean="0"/>
              <a:t>Ukuran populasi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folHlink"/>
                </a:solidFill>
              </a:rPr>
              <a:t>N=4</a:t>
            </a:r>
          </a:p>
          <a:p>
            <a:pPr eaLnBrk="1" hangingPunct="1">
              <a:lnSpc>
                <a:spcPct val="120000"/>
              </a:lnSpc>
            </a:pPr>
            <a:r>
              <a:rPr lang="id-ID" sz="2000" dirty="0" smtClean="0"/>
              <a:t>Variabel random</a:t>
            </a:r>
            <a:r>
              <a:rPr lang="en-US" sz="2000" dirty="0" smtClean="0"/>
              <a:t>, X</a:t>
            </a:r>
            <a:r>
              <a:rPr lang="id-ID" sz="2000" dirty="0" smtClean="0"/>
              <a:t>=panjang ikan kakap</a:t>
            </a:r>
            <a:endParaRPr lang="en-US" sz="2000" dirty="0" smtClean="0"/>
          </a:p>
          <a:p>
            <a:pPr eaLnBrk="1" hangingPunct="1">
              <a:lnSpc>
                <a:spcPct val="120000"/>
              </a:lnSpc>
            </a:pPr>
            <a:r>
              <a:rPr lang="id-ID" sz="2000" dirty="0" smtClean="0"/>
              <a:t>Nilai dari </a:t>
            </a:r>
            <a:r>
              <a:rPr lang="en-US" sz="2000" dirty="0" smtClean="0"/>
              <a:t>X: </a:t>
            </a:r>
            <a:r>
              <a:rPr lang="en-US" sz="2000" dirty="0" smtClean="0">
                <a:solidFill>
                  <a:schemeClr val="folHlink"/>
                </a:solidFill>
              </a:rPr>
              <a:t>18, </a:t>
            </a:r>
            <a:r>
              <a:rPr lang="en-US" sz="2000" dirty="0" smtClean="0">
                <a:solidFill>
                  <a:schemeClr val="folHlink"/>
                </a:solidFill>
              </a:rPr>
              <a:t>20, 22</a:t>
            </a:r>
            <a:r>
              <a:rPr lang="en-US" sz="2000" dirty="0" smtClean="0">
                <a:solidFill>
                  <a:schemeClr val="folHlink"/>
                </a:solidFill>
              </a:rPr>
              <a:t>, 24</a:t>
            </a:r>
            <a:r>
              <a:rPr lang="en-US" sz="2000" dirty="0" smtClean="0"/>
              <a:t> (</a:t>
            </a:r>
            <a:r>
              <a:rPr lang="id-ID" sz="2000" dirty="0" smtClean="0"/>
              <a:t>cm</a:t>
            </a:r>
            <a:r>
              <a:rPr lang="en-US" sz="20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ChangeArrowheads="1"/>
          </p:cNvSpPr>
          <p:nvPr/>
        </p:nvSpPr>
        <p:spPr bwMode="auto">
          <a:xfrm>
            <a:off x="4953000" y="2667000"/>
            <a:ext cx="3733800" cy="21336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2054" name="Line 3"/>
          <p:cNvSpPr>
            <a:spLocks noChangeShapeType="1"/>
          </p:cNvSpPr>
          <p:nvPr/>
        </p:nvSpPr>
        <p:spPr bwMode="auto">
          <a:xfrm>
            <a:off x="4964113" y="3733800"/>
            <a:ext cx="1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Line 4"/>
          <p:cNvSpPr>
            <a:spLocks noChangeShapeType="1"/>
          </p:cNvSpPr>
          <p:nvPr/>
        </p:nvSpPr>
        <p:spPr bwMode="auto">
          <a:xfrm>
            <a:off x="4964113" y="4267200"/>
            <a:ext cx="1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6" name="Line 5"/>
          <p:cNvSpPr>
            <a:spLocks noChangeShapeType="1"/>
          </p:cNvSpPr>
          <p:nvPr/>
        </p:nvSpPr>
        <p:spPr bwMode="auto">
          <a:xfrm>
            <a:off x="4964113" y="3200400"/>
            <a:ext cx="1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Rectangle 6"/>
          <p:cNvSpPr>
            <a:spLocks noChangeArrowheads="1"/>
          </p:cNvSpPr>
          <p:nvPr/>
        </p:nvSpPr>
        <p:spPr bwMode="auto">
          <a:xfrm>
            <a:off x="5334000" y="3505200"/>
            <a:ext cx="457200" cy="1295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2058" name="Rectangle 7"/>
          <p:cNvSpPr>
            <a:spLocks noChangeArrowheads="1"/>
          </p:cNvSpPr>
          <p:nvPr/>
        </p:nvSpPr>
        <p:spPr bwMode="auto">
          <a:xfrm>
            <a:off x="6172200" y="3505200"/>
            <a:ext cx="457200" cy="1295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2059" name="Rectangle 8"/>
          <p:cNvSpPr>
            <a:spLocks noChangeArrowheads="1"/>
          </p:cNvSpPr>
          <p:nvPr/>
        </p:nvSpPr>
        <p:spPr bwMode="auto">
          <a:xfrm>
            <a:off x="7010400" y="3505200"/>
            <a:ext cx="457200" cy="1295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2060" name="Rectangle 9"/>
          <p:cNvSpPr>
            <a:spLocks noChangeArrowheads="1"/>
          </p:cNvSpPr>
          <p:nvPr/>
        </p:nvSpPr>
        <p:spPr bwMode="auto">
          <a:xfrm>
            <a:off x="7848600" y="3505200"/>
            <a:ext cx="457200" cy="1295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2061" name="Rectangle 10"/>
          <p:cNvSpPr>
            <a:spLocks noChangeArrowheads="1"/>
          </p:cNvSpPr>
          <p:nvPr/>
        </p:nvSpPr>
        <p:spPr bwMode="auto">
          <a:xfrm>
            <a:off x="4343400" y="3048000"/>
            <a:ext cx="4921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.3</a:t>
            </a:r>
          </a:p>
        </p:txBody>
      </p:sp>
      <p:sp>
        <p:nvSpPr>
          <p:cNvPr id="2062" name="Rectangle 11"/>
          <p:cNvSpPr>
            <a:spLocks noChangeArrowheads="1"/>
          </p:cNvSpPr>
          <p:nvPr/>
        </p:nvSpPr>
        <p:spPr bwMode="auto">
          <a:xfrm>
            <a:off x="4343400" y="3581400"/>
            <a:ext cx="4921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.2</a:t>
            </a:r>
          </a:p>
        </p:txBody>
      </p:sp>
      <p:sp>
        <p:nvSpPr>
          <p:cNvPr id="2063" name="Rectangle 12"/>
          <p:cNvSpPr>
            <a:spLocks noChangeArrowheads="1"/>
          </p:cNvSpPr>
          <p:nvPr/>
        </p:nvSpPr>
        <p:spPr bwMode="auto">
          <a:xfrm>
            <a:off x="4325938" y="4021138"/>
            <a:ext cx="4921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.1</a:t>
            </a:r>
          </a:p>
        </p:txBody>
      </p:sp>
      <p:sp>
        <p:nvSpPr>
          <p:cNvPr id="2064" name="Rectangle 13"/>
          <p:cNvSpPr>
            <a:spLocks noChangeArrowheads="1"/>
          </p:cNvSpPr>
          <p:nvPr/>
        </p:nvSpPr>
        <p:spPr bwMode="auto">
          <a:xfrm>
            <a:off x="4325938" y="4554538"/>
            <a:ext cx="4921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0</a:t>
            </a:r>
          </a:p>
        </p:txBody>
      </p:sp>
      <p:sp>
        <p:nvSpPr>
          <p:cNvPr id="2065" name="Rectangle 14"/>
          <p:cNvSpPr>
            <a:spLocks noChangeArrowheads="1"/>
          </p:cNvSpPr>
          <p:nvPr/>
        </p:nvSpPr>
        <p:spPr bwMode="auto">
          <a:xfrm>
            <a:off x="5164138" y="4783138"/>
            <a:ext cx="3387725" cy="782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</a:t>
            </a:r>
            <a:r>
              <a:rPr lang="en-US" sz="1800" b="1"/>
              <a:t>  18         20          22         24</a:t>
            </a:r>
          </a:p>
          <a:p>
            <a:pPr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sz="1800" b="1"/>
              <a:t>   </a:t>
            </a:r>
            <a:r>
              <a:rPr lang="en-US" b="1"/>
              <a:t>A        B        C       D</a:t>
            </a:r>
          </a:p>
        </p:txBody>
      </p:sp>
      <p:sp>
        <p:nvSpPr>
          <p:cNvPr id="2066" name="Rectangle 15"/>
          <p:cNvSpPr>
            <a:spLocks noChangeArrowheads="1"/>
          </p:cNvSpPr>
          <p:nvPr/>
        </p:nvSpPr>
        <p:spPr bwMode="auto">
          <a:xfrm>
            <a:off x="5181600" y="5638800"/>
            <a:ext cx="3352800" cy="366767"/>
          </a:xfrm>
          <a:prstGeom prst="rect">
            <a:avLst/>
          </a:prstGeom>
          <a:solidFill>
            <a:srgbClr val="C7DA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dirty="0" smtClean="0">
                <a:solidFill>
                  <a:srgbClr val="000000"/>
                </a:solidFill>
              </a:rPr>
              <a:t>Distribusi Uniform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67" name="Rectangle 16"/>
          <p:cNvSpPr>
            <a:spLocks noChangeArrowheads="1"/>
          </p:cNvSpPr>
          <p:nvPr/>
        </p:nvSpPr>
        <p:spPr bwMode="auto">
          <a:xfrm>
            <a:off x="4108450" y="2432050"/>
            <a:ext cx="9493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P(x)</a:t>
            </a:r>
          </a:p>
        </p:txBody>
      </p:sp>
      <p:sp>
        <p:nvSpPr>
          <p:cNvPr id="2068" name="Rectangle 17"/>
          <p:cNvSpPr>
            <a:spLocks noChangeArrowheads="1"/>
          </p:cNvSpPr>
          <p:nvPr/>
        </p:nvSpPr>
        <p:spPr bwMode="auto">
          <a:xfrm>
            <a:off x="8534400" y="4724400"/>
            <a:ext cx="457200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x</a:t>
            </a:r>
          </a:p>
        </p:txBody>
      </p:sp>
      <p:sp>
        <p:nvSpPr>
          <p:cNvPr id="2071" name="Rectangle 20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793038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Membangun Distribusi Sampling</a:t>
            </a:r>
            <a:endParaRPr lang="en-US" dirty="0" smtClean="0"/>
          </a:p>
        </p:txBody>
      </p:sp>
      <p:sp>
        <p:nvSpPr>
          <p:cNvPr id="2072" name="Line 21"/>
          <p:cNvSpPr>
            <a:spLocks noChangeShapeType="1"/>
          </p:cNvSpPr>
          <p:nvPr/>
        </p:nvSpPr>
        <p:spPr bwMode="auto">
          <a:xfrm>
            <a:off x="4953000" y="4267200"/>
            <a:ext cx="3733800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73" name="Line 22"/>
          <p:cNvSpPr>
            <a:spLocks noChangeShapeType="1"/>
          </p:cNvSpPr>
          <p:nvPr/>
        </p:nvSpPr>
        <p:spPr bwMode="auto">
          <a:xfrm>
            <a:off x="4953000" y="3810000"/>
            <a:ext cx="3733800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74" name="Line 23"/>
          <p:cNvSpPr>
            <a:spLocks noChangeShapeType="1"/>
          </p:cNvSpPr>
          <p:nvPr/>
        </p:nvSpPr>
        <p:spPr bwMode="auto">
          <a:xfrm>
            <a:off x="4953000" y="3276600"/>
            <a:ext cx="3733800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2050" name="Object 24"/>
          <p:cNvGraphicFramePr>
            <a:graphicFrameLocks noChangeAspect="1"/>
          </p:cNvGraphicFramePr>
          <p:nvPr/>
        </p:nvGraphicFramePr>
        <p:xfrm>
          <a:off x="300038" y="2411413"/>
          <a:ext cx="3662362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4" imgW="1726920" imgH="914400" progId="Equation.3">
                  <p:embed/>
                </p:oleObj>
              </mc:Choice>
              <mc:Fallback>
                <p:oleObj name="Equation" r:id="rId4" imgW="1726920" imgH="914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8" y="2411413"/>
                        <a:ext cx="3662362" cy="1938337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25"/>
          <p:cNvGraphicFramePr>
            <a:graphicFrameLocks noChangeAspect="1"/>
          </p:cNvGraphicFramePr>
          <p:nvPr/>
        </p:nvGraphicFramePr>
        <p:xfrm>
          <a:off x="368300" y="4648200"/>
          <a:ext cx="3608388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6" imgW="1701720" imgH="482400" progId="Equation.3">
                  <p:embed/>
                </p:oleObj>
              </mc:Choice>
              <mc:Fallback>
                <p:oleObj name="Equation" r:id="rId6" imgW="1701720" imgH="4824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4648200"/>
                        <a:ext cx="3608388" cy="1023938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381000" y="1905000"/>
            <a:ext cx="3352800" cy="36676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dirty="0" smtClean="0">
                <a:solidFill>
                  <a:srgbClr val="000000"/>
                </a:solidFill>
              </a:rPr>
              <a:t>Ringkasan parameter populasi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7-</a:t>
            </a:r>
            <a:fld id="{8D856C36-51EA-49DB-B930-0102D0AEB1BD}" type="slidenum">
              <a:rPr lang="en-US" sz="1000"/>
              <a:pPr algn="r" defTabSz="852488"/>
              <a:t>16</a:t>
            </a:fld>
            <a:endParaRPr lang="en-US" sz="1000"/>
          </a:p>
        </p:txBody>
      </p:sp>
      <p:sp>
        <p:nvSpPr>
          <p:cNvPr id="3079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" y="1295400"/>
            <a:ext cx="6629400" cy="121920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id-ID" sz="2000" dirty="0" smtClean="0">
                <a:solidFill>
                  <a:schemeClr val="folHlink"/>
                </a:solidFill>
              </a:rPr>
              <a:t>Misalkan diambil sampel berukuran 2 atau </a:t>
            </a:r>
            <a:r>
              <a:rPr lang="en-US" sz="2000" dirty="0" smtClean="0">
                <a:solidFill>
                  <a:schemeClr val="folHlink"/>
                </a:solidFill>
              </a:rPr>
              <a:t>n=2</a:t>
            </a:r>
            <a:r>
              <a:rPr lang="id-ID" sz="2000" dirty="0" smtClean="0">
                <a:solidFill>
                  <a:schemeClr val="folHlink"/>
                </a:solidFill>
              </a:rPr>
              <a:t>, sehingga kemungkinan kombinasi sampel yang mungkin yaitu</a:t>
            </a:r>
            <a:endParaRPr lang="en-US" sz="2000" dirty="0" smtClean="0">
              <a:solidFill>
                <a:schemeClr val="folHlink"/>
              </a:solidFill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990600" y="304800"/>
            <a:ext cx="779303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>
              <a:lnSpc>
                <a:spcPct val="80000"/>
              </a:lnSpc>
            </a:pPr>
            <a:r>
              <a:rPr lang="id-ID" sz="4000" dirty="0" smtClean="0">
                <a:solidFill>
                  <a:schemeClr val="tx2"/>
                </a:solidFill>
              </a:rPr>
              <a:t>Membangun Distribusi Sampling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1838325" y="2514600"/>
          <a:ext cx="4178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3" imgW="2298600" imgH="419040" progId="Equation.DSMT4">
                  <p:embed/>
                </p:oleObj>
              </mc:Choice>
              <mc:Fallback>
                <p:oleObj name="Equation" r:id="rId3" imgW="2298600" imgH="419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2514600"/>
                        <a:ext cx="41783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143000" y="33528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19200"/>
                <a:gridCol w="18288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Sampel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Data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Rata2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p</a:t>
                      </a:r>
                      <a:endParaRPr lang="id-ID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18, 20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(18+20)/2=19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1/6</a:t>
                      </a:r>
                      <a:endParaRPr lang="id-ID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18, 22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1/6</a:t>
                      </a:r>
                      <a:endParaRPr lang="id-ID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3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18, 24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21</a:t>
                      </a:r>
                      <a:endParaRPr lang="id-ID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id-ID" dirty="0" smtClean="0"/>
                        <a:t>2/6</a:t>
                      </a:r>
                      <a:endParaRPr lang="id-ID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4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20, 22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21</a:t>
                      </a:r>
                      <a:endParaRPr lang="id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5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20, 24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1/6</a:t>
                      </a:r>
                      <a:endParaRPr lang="id-ID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6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22, 24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23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1/6</a:t>
                      </a:r>
                      <a:endParaRPr lang="id-ID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1524000"/>
            <a:ext cx="7086600" cy="533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id-ID" sz="2400" dirty="0" smtClean="0">
                <a:solidFill>
                  <a:schemeClr val="folHlink"/>
                </a:solidFill>
              </a:rPr>
              <a:t>Distribusi sampling dari semua rata-rata sampel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  <p:sp>
        <p:nvSpPr>
          <p:cNvPr id="4125" name="Rectangle 28"/>
          <p:cNvSpPr>
            <a:spLocks noChangeArrowheads="1"/>
          </p:cNvSpPr>
          <p:nvPr/>
        </p:nvSpPr>
        <p:spPr bwMode="auto">
          <a:xfrm>
            <a:off x="1143000" y="152400"/>
            <a:ext cx="77930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/>
            <a:r>
              <a:rPr lang="id-ID" sz="4100" dirty="0" smtClean="0">
                <a:solidFill>
                  <a:schemeClr val="tx2"/>
                </a:solidFill>
              </a:rPr>
              <a:t>Membangun Distribusi Sampling</a:t>
            </a:r>
            <a:endParaRPr lang="en-US" sz="4100" dirty="0">
              <a:solidFill>
                <a:schemeClr val="tx2"/>
              </a:solidFill>
            </a:endParaRPr>
          </a:p>
        </p:txBody>
      </p:sp>
      <p:graphicFrame>
        <p:nvGraphicFramePr>
          <p:cNvPr id="32" name="Chart 31"/>
          <p:cNvGraphicFramePr/>
          <p:nvPr/>
        </p:nvGraphicFramePr>
        <p:xfrm>
          <a:off x="1676400" y="2362200"/>
          <a:ext cx="55626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7-</a:t>
            </a:r>
            <a:fld id="{A1EABFFD-15BD-42A9-8FFB-998B013C8C47}" type="slidenum">
              <a:rPr lang="en-US" sz="1000"/>
              <a:pPr algn="r" defTabSz="852488"/>
              <a:t>18</a:t>
            </a:fld>
            <a:endParaRPr lang="en-US" sz="10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95400"/>
            <a:ext cx="6819900" cy="60960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id-ID" sz="2300" dirty="0" smtClean="0">
                <a:solidFill>
                  <a:schemeClr val="tx1"/>
                </a:solidFill>
              </a:rPr>
              <a:t>Ringkasan statistik distribusi sampling:</a:t>
            </a:r>
            <a:endParaRPr lang="en-US" sz="2300" dirty="0" smtClean="0">
              <a:solidFill>
                <a:schemeClr val="tx1"/>
              </a:solidFill>
            </a:endParaRPr>
          </a:p>
        </p:txBody>
      </p:sp>
      <p:sp>
        <p:nvSpPr>
          <p:cNvPr id="5126" name="Rectangle 3"/>
          <p:cNvSpPr>
            <a:spLocks noChangeArrowheads="1"/>
          </p:cNvSpPr>
          <p:nvPr/>
        </p:nvSpPr>
        <p:spPr bwMode="auto">
          <a:xfrm>
            <a:off x="1143000" y="152400"/>
            <a:ext cx="77930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>
              <a:lnSpc>
                <a:spcPct val="80000"/>
              </a:lnSpc>
            </a:pPr>
            <a:r>
              <a:rPr lang="id-ID" sz="4100" dirty="0" smtClean="0">
                <a:solidFill>
                  <a:schemeClr val="tx2"/>
                </a:solidFill>
              </a:rPr>
              <a:t>Membangun Distribusi Sampling</a:t>
            </a:r>
            <a:endParaRPr lang="en-US" sz="4100" dirty="0">
              <a:solidFill>
                <a:schemeClr val="tx2"/>
              </a:solidFill>
            </a:endParaRP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0" y="1981200"/>
          <a:ext cx="8178800" cy="81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4" name="Equation" r:id="rId3" imgW="3949560" imgH="393480" progId="Equation.DSMT4">
                  <p:embed/>
                </p:oleObj>
              </mc:Choice>
              <mc:Fallback>
                <p:oleObj name="Equation" r:id="rId3" imgW="394956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1200"/>
                        <a:ext cx="8178800" cy="815683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304800" y="2970213"/>
          <a:ext cx="5738813" cy="258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5" imgW="4000320" imgH="1803240" progId="Equation.DSMT4">
                  <p:embed/>
                </p:oleObj>
              </mc:Choice>
              <mc:Fallback>
                <p:oleObj name="Equation" r:id="rId5" imgW="4000320" imgH="1803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970213"/>
                        <a:ext cx="5738813" cy="2589212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324600" y="3657600"/>
          <a:ext cx="11252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7" imgW="469800" imgH="241200" progId="Equation.DSMT4">
                  <p:embed/>
                </p:oleObj>
              </mc:Choice>
              <mc:Fallback>
                <p:oleObj name="Equation" r:id="rId7" imgW="4698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657600"/>
                        <a:ext cx="1125287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524000" y="5638800"/>
          <a:ext cx="7162800" cy="94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Equation" r:id="rId9" imgW="3466800" imgH="457200" progId="Equation.DSMT4">
                  <p:embed/>
                </p:oleObj>
              </mc:Choice>
              <mc:Fallback>
                <p:oleObj name="Equation" r:id="rId9" imgW="3466800" imgH="457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638800"/>
                        <a:ext cx="7162800" cy="944816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9436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ATAU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7-</a:t>
            </a:r>
            <a:fld id="{C11E820D-0850-4902-8E4A-B1217DEE6632}" type="slidenum">
              <a:rPr lang="en-US" sz="1000"/>
              <a:pPr algn="r" defTabSz="852488"/>
              <a:t>19</a:t>
            </a:fld>
            <a:endParaRPr lang="en-US" sz="10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sz="3200" dirty="0" smtClean="0"/>
              <a:t>Distribusi Populasi vs Distribusi Sampling</a:t>
            </a:r>
            <a:endParaRPr lang="en-US" sz="3200" dirty="0" smtClean="0"/>
          </a:p>
        </p:txBody>
      </p:sp>
      <p:sp>
        <p:nvSpPr>
          <p:cNvPr id="6171" name="Rectangle 24"/>
          <p:cNvSpPr>
            <a:spLocks noChangeArrowheads="1"/>
          </p:cNvSpPr>
          <p:nvPr/>
        </p:nvSpPr>
        <p:spPr bwMode="auto">
          <a:xfrm>
            <a:off x="954088" y="5694363"/>
            <a:ext cx="3387725" cy="6160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 </a:t>
            </a:r>
            <a:r>
              <a:rPr lang="en-US" sz="1800" b="1" dirty="0">
                <a:solidFill>
                  <a:schemeClr val="tx2"/>
                </a:solidFill>
              </a:rPr>
              <a:t>  18</a:t>
            </a:r>
            <a:r>
              <a:rPr lang="en-US" sz="1800" b="1" dirty="0">
                <a:solidFill>
                  <a:srgbClr val="993300"/>
                </a:solidFill>
              </a:rPr>
              <a:t>         </a:t>
            </a:r>
            <a:r>
              <a:rPr lang="en-US" sz="1800" b="1" dirty="0">
                <a:solidFill>
                  <a:srgbClr val="FF6699"/>
                </a:solidFill>
              </a:rPr>
              <a:t>20</a:t>
            </a:r>
            <a:r>
              <a:rPr lang="en-US" sz="1800" b="1" dirty="0">
                <a:solidFill>
                  <a:srgbClr val="993300"/>
                </a:solidFill>
              </a:rPr>
              <a:t>        </a:t>
            </a:r>
            <a:r>
              <a:rPr lang="en-US" sz="1800" b="1" dirty="0">
                <a:solidFill>
                  <a:schemeClr val="accent2"/>
                </a:solidFill>
              </a:rPr>
              <a:t> 22</a:t>
            </a:r>
            <a:r>
              <a:rPr lang="en-US" sz="1800" b="1" dirty="0">
                <a:solidFill>
                  <a:srgbClr val="993300"/>
                </a:solidFill>
              </a:rPr>
              <a:t>         </a:t>
            </a:r>
            <a:r>
              <a:rPr lang="en-US" sz="1800" b="1" dirty="0">
                <a:solidFill>
                  <a:schemeClr val="hlink"/>
                </a:solidFill>
              </a:rPr>
              <a:t> 24</a:t>
            </a:r>
            <a:endParaRPr lang="en-US" b="1" dirty="0">
              <a:solidFill>
                <a:srgbClr val="993300"/>
              </a:solidFill>
            </a:endParaRPr>
          </a:p>
          <a:p>
            <a:pPr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id-ID" b="1" dirty="0" smtClean="0">
                <a:solidFill>
                  <a:schemeClr val="tx2"/>
                </a:solidFill>
              </a:rPr>
              <a:t>  </a:t>
            </a:r>
            <a:r>
              <a:rPr lang="en-US" b="1" dirty="0" smtClean="0">
                <a:solidFill>
                  <a:schemeClr val="tx2"/>
                </a:solidFill>
              </a:rPr>
              <a:t>A     </a:t>
            </a:r>
            <a:r>
              <a:rPr lang="id-ID" b="1" dirty="0" smtClean="0">
                <a:solidFill>
                  <a:schemeClr val="tx2"/>
                </a:solidFill>
              </a:rPr>
              <a:t>  </a:t>
            </a:r>
            <a:r>
              <a:rPr lang="en-US" b="1" dirty="0" smtClean="0">
                <a:solidFill>
                  <a:schemeClr val="tx2"/>
                </a:solidFill>
              </a:rPr>
              <a:t>  </a:t>
            </a:r>
            <a:r>
              <a:rPr lang="en-US" b="1" dirty="0">
                <a:solidFill>
                  <a:srgbClr val="FF6699"/>
                </a:solidFill>
              </a:rPr>
              <a:t>B </a:t>
            </a:r>
            <a:r>
              <a:rPr lang="en-US" b="1" dirty="0"/>
              <a:t>     </a:t>
            </a:r>
            <a:r>
              <a:rPr lang="id-ID" b="1" dirty="0" smtClean="0"/>
              <a:t>     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C</a:t>
            </a:r>
            <a:r>
              <a:rPr lang="id-ID" b="1" dirty="0" smtClean="0">
                <a:solidFill>
                  <a:schemeClr val="accent2"/>
                </a:solidFill>
              </a:rPr>
              <a:t>  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/>
              <a:t>       </a:t>
            </a:r>
            <a:r>
              <a:rPr lang="en-US" b="1" dirty="0">
                <a:solidFill>
                  <a:schemeClr val="hlink"/>
                </a:solidFill>
              </a:rPr>
              <a:t>D</a:t>
            </a:r>
            <a:endParaRPr lang="en-US" b="1" dirty="0">
              <a:solidFill>
                <a:srgbClr val="993300"/>
              </a:solidFill>
            </a:endParaRPr>
          </a:p>
        </p:txBody>
      </p:sp>
      <p:sp>
        <p:nvSpPr>
          <p:cNvPr id="6172" name="Line 25"/>
          <p:cNvSpPr>
            <a:spLocks noChangeShapeType="1"/>
          </p:cNvSpPr>
          <p:nvPr/>
        </p:nvSpPr>
        <p:spPr bwMode="auto">
          <a:xfrm>
            <a:off x="974725" y="5103813"/>
            <a:ext cx="3319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Line 26"/>
          <p:cNvSpPr>
            <a:spLocks noChangeShapeType="1"/>
          </p:cNvSpPr>
          <p:nvPr/>
        </p:nvSpPr>
        <p:spPr bwMode="auto">
          <a:xfrm>
            <a:off x="974725" y="4494213"/>
            <a:ext cx="3319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Rectangle 27"/>
          <p:cNvSpPr>
            <a:spLocks noChangeArrowheads="1"/>
          </p:cNvSpPr>
          <p:nvPr/>
        </p:nvSpPr>
        <p:spPr bwMode="auto">
          <a:xfrm>
            <a:off x="1201738" y="4189413"/>
            <a:ext cx="381000" cy="1524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6175" name="Rectangle 28"/>
          <p:cNvSpPr>
            <a:spLocks noChangeArrowheads="1"/>
          </p:cNvSpPr>
          <p:nvPr/>
        </p:nvSpPr>
        <p:spPr bwMode="auto">
          <a:xfrm>
            <a:off x="2039938" y="4189413"/>
            <a:ext cx="381000" cy="1524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6176" name="Rectangle 29"/>
          <p:cNvSpPr>
            <a:spLocks noChangeArrowheads="1"/>
          </p:cNvSpPr>
          <p:nvPr/>
        </p:nvSpPr>
        <p:spPr bwMode="auto">
          <a:xfrm>
            <a:off x="2878138" y="4189413"/>
            <a:ext cx="381000" cy="1524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6177" name="Rectangle 30"/>
          <p:cNvSpPr>
            <a:spLocks noChangeArrowheads="1"/>
          </p:cNvSpPr>
          <p:nvPr/>
        </p:nvSpPr>
        <p:spPr bwMode="auto">
          <a:xfrm>
            <a:off x="3716338" y="4189413"/>
            <a:ext cx="381000" cy="1524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6178" name="Line 31"/>
          <p:cNvSpPr>
            <a:spLocks noChangeShapeType="1"/>
          </p:cNvSpPr>
          <p:nvPr/>
        </p:nvSpPr>
        <p:spPr bwMode="auto">
          <a:xfrm>
            <a:off x="974725" y="3960813"/>
            <a:ext cx="3319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9" name="Line 32"/>
          <p:cNvSpPr>
            <a:spLocks noChangeShapeType="1"/>
          </p:cNvSpPr>
          <p:nvPr/>
        </p:nvSpPr>
        <p:spPr bwMode="auto">
          <a:xfrm>
            <a:off x="762000" y="3884613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0" name="Line 33"/>
          <p:cNvSpPr>
            <a:spLocks noChangeShapeType="1"/>
          </p:cNvSpPr>
          <p:nvPr/>
        </p:nvSpPr>
        <p:spPr bwMode="auto">
          <a:xfrm>
            <a:off x="762000" y="5713413"/>
            <a:ext cx="3608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1" name="Rectangle 34"/>
          <p:cNvSpPr>
            <a:spLocks noChangeArrowheads="1"/>
          </p:cNvSpPr>
          <p:nvPr/>
        </p:nvSpPr>
        <p:spPr bwMode="auto">
          <a:xfrm>
            <a:off x="346075" y="5467350"/>
            <a:ext cx="4159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0 </a:t>
            </a:r>
          </a:p>
        </p:txBody>
      </p:sp>
      <p:sp>
        <p:nvSpPr>
          <p:cNvPr id="6182" name="Rectangle 35"/>
          <p:cNvSpPr>
            <a:spLocks noChangeArrowheads="1"/>
          </p:cNvSpPr>
          <p:nvPr/>
        </p:nvSpPr>
        <p:spPr bwMode="auto">
          <a:xfrm>
            <a:off x="269875" y="4857750"/>
            <a:ext cx="5683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.1 </a:t>
            </a:r>
          </a:p>
        </p:txBody>
      </p:sp>
      <p:sp>
        <p:nvSpPr>
          <p:cNvPr id="6183" name="Rectangle 36"/>
          <p:cNvSpPr>
            <a:spLocks noChangeArrowheads="1"/>
          </p:cNvSpPr>
          <p:nvPr/>
        </p:nvSpPr>
        <p:spPr bwMode="auto">
          <a:xfrm>
            <a:off x="269875" y="4248150"/>
            <a:ext cx="5683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.2 </a:t>
            </a:r>
          </a:p>
        </p:txBody>
      </p:sp>
      <p:sp>
        <p:nvSpPr>
          <p:cNvPr id="6184" name="Rectangle 37"/>
          <p:cNvSpPr>
            <a:spLocks noChangeArrowheads="1"/>
          </p:cNvSpPr>
          <p:nvPr/>
        </p:nvSpPr>
        <p:spPr bwMode="auto">
          <a:xfrm>
            <a:off x="269875" y="3714750"/>
            <a:ext cx="5683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.3 </a:t>
            </a:r>
          </a:p>
        </p:txBody>
      </p:sp>
      <p:sp>
        <p:nvSpPr>
          <p:cNvPr id="6185" name="Rectangle 38"/>
          <p:cNvSpPr>
            <a:spLocks noChangeArrowheads="1"/>
          </p:cNvSpPr>
          <p:nvPr/>
        </p:nvSpPr>
        <p:spPr bwMode="auto">
          <a:xfrm>
            <a:off x="668338" y="1905000"/>
            <a:ext cx="3448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6186" name="Rectangle 39"/>
          <p:cNvSpPr>
            <a:spLocks noChangeArrowheads="1"/>
          </p:cNvSpPr>
          <p:nvPr/>
        </p:nvSpPr>
        <p:spPr bwMode="auto">
          <a:xfrm>
            <a:off x="1031875" y="1658938"/>
            <a:ext cx="2320925" cy="908454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dirty="0" err="1" smtClean="0"/>
              <a:t>Popula</a:t>
            </a:r>
            <a:r>
              <a:rPr lang="id-ID" sz="2800" dirty="0" smtClean="0"/>
              <a:t>si</a:t>
            </a:r>
            <a:endParaRPr lang="en-US" sz="2800" dirty="0"/>
          </a:p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sz="2800" dirty="0"/>
              <a:t>N = 4</a:t>
            </a:r>
          </a:p>
        </p:txBody>
      </p:sp>
      <p:sp>
        <p:nvSpPr>
          <p:cNvPr id="6187" name="Rectangle 40"/>
          <p:cNvSpPr>
            <a:spLocks noChangeArrowheads="1"/>
          </p:cNvSpPr>
          <p:nvPr/>
        </p:nvSpPr>
        <p:spPr bwMode="auto">
          <a:xfrm>
            <a:off x="357188" y="3344863"/>
            <a:ext cx="10795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P(X) </a:t>
            </a:r>
          </a:p>
        </p:txBody>
      </p:sp>
      <p:sp>
        <p:nvSpPr>
          <p:cNvPr id="6188" name="Rectangle 41"/>
          <p:cNvSpPr>
            <a:spLocks noChangeArrowheads="1"/>
          </p:cNvSpPr>
          <p:nvPr/>
        </p:nvSpPr>
        <p:spPr bwMode="auto">
          <a:xfrm>
            <a:off x="4232275" y="5619750"/>
            <a:ext cx="4921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X</a:t>
            </a:r>
          </a:p>
        </p:txBody>
      </p:sp>
      <p:graphicFrame>
        <p:nvGraphicFramePr>
          <p:cNvPr id="6146" name="Object 43"/>
          <p:cNvGraphicFramePr>
            <a:graphicFrameLocks noChangeAspect="1"/>
          </p:cNvGraphicFramePr>
          <p:nvPr/>
        </p:nvGraphicFramePr>
        <p:xfrm>
          <a:off x="4987925" y="2438400"/>
          <a:ext cx="34925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3" imgW="1295280" imgH="241200" progId="Equation.DSMT4">
                  <p:embed/>
                </p:oleObj>
              </mc:Choice>
              <mc:Fallback>
                <p:oleObj name="Equation" r:id="rId3" imgW="1295280" imgH="2412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2438400"/>
                        <a:ext cx="3492500" cy="649288"/>
                      </a:xfrm>
                      <a:prstGeom prst="rect">
                        <a:avLst/>
                      </a:prstGeom>
                      <a:solidFill>
                        <a:srgbClr val="C7DAF7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4"/>
          <p:cNvGraphicFramePr>
            <a:graphicFrameLocks noChangeAspect="1"/>
          </p:cNvGraphicFramePr>
          <p:nvPr/>
        </p:nvGraphicFramePr>
        <p:xfrm>
          <a:off x="449263" y="2514600"/>
          <a:ext cx="34242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5" imgW="1269720" imgH="203040" progId="Equation.3">
                  <p:embed/>
                </p:oleObj>
              </mc:Choice>
              <mc:Fallback>
                <p:oleObj name="Equation" r:id="rId5" imgW="1269720" imgH="20304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2514600"/>
                        <a:ext cx="3424237" cy="54610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0" name="Rectangle 45"/>
          <p:cNvSpPr>
            <a:spLocks noChangeArrowheads="1"/>
          </p:cNvSpPr>
          <p:nvPr/>
        </p:nvSpPr>
        <p:spPr bwMode="auto">
          <a:xfrm>
            <a:off x="4343400" y="1658938"/>
            <a:ext cx="4530725" cy="865365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sz="2800" dirty="0" smtClean="0"/>
              <a:t>Distribusi rata2 sampel</a:t>
            </a:r>
            <a:endParaRPr lang="en-US" sz="2800" dirty="0"/>
          </a:p>
          <a:p>
            <a:pPr algn="ctr"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sz="2800" dirty="0"/>
              <a:t>n = 2</a:t>
            </a:r>
          </a:p>
        </p:txBody>
      </p:sp>
      <p:graphicFrame>
        <p:nvGraphicFramePr>
          <p:cNvPr id="48" name="Chart 47"/>
          <p:cNvGraphicFramePr/>
          <p:nvPr/>
        </p:nvGraphicFramePr>
        <p:xfrm>
          <a:off x="4572000" y="3352800"/>
          <a:ext cx="42672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200" dirty="0" smtClean="0"/>
              <a:t>Distribusi Sampling Rata-rata</a:t>
            </a:r>
            <a:r>
              <a:rPr lang="en-US" sz="3200" dirty="0" smtClean="0"/>
              <a:t>:</a:t>
            </a:r>
            <a:br>
              <a:rPr lang="en-US" sz="3200" dirty="0" smtClean="0"/>
            </a:br>
            <a:r>
              <a:rPr lang="en-US" sz="3200" dirty="0" err="1" smtClean="0"/>
              <a:t>Standar</a:t>
            </a:r>
            <a:r>
              <a:rPr lang="en-US" sz="3200" dirty="0" smtClean="0"/>
              <a:t> Error </a:t>
            </a:r>
            <a:r>
              <a:rPr lang="id-ID" sz="3200" dirty="0" smtClean="0"/>
              <a:t>Rata-rata</a:t>
            </a:r>
            <a:endParaRPr lang="en-US" sz="3200" dirty="0" smtClean="0"/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8002588" cy="4648200"/>
          </a:xfrm>
        </p:spPr>
        <p:txBody>
          <a:bodyPr/>
          <a:lstStyle/>
          <a:p>
            <a:pPr marL="342900" indent="-342900" defTabSz="914400" eaLnBrk="1" hangingPunct="1">
              <a:lnSpc>
                <a:spcPct val="110000"/>
              </a:lnSpc>
              <a:spcBef>
                <a:spcPct val="30000"/>
              </a:spcBef>
            </a:pPr>
            <a:r>
              <a:rPr lang="id-ID" sz="2400" dirty="0" smtClean="0"/>
              <a:t>Sampel yang berbeda dengan ukuran yg sama akan menghasilkan rata-rata sampel yg berbeda</a:t>
            </a:r>
            <a:endParaRPr lang="en-US" sz="2400" dirty="0" smtClean="0"/>
          </a:p>
          <a:p>
            <a:pPr marL="342900" indent="-342900" defTabSz="914400" eaLnBrk="1" hangingPunct="1">
              <a:lnSpc>
                <a:spcPct val="110000"/>
              </a:lnSpc>
              <a:spcBef>
                <a:spcPct val="30000"/>
              </a:spcBef>
            </a:pPr>
            <a:r>
              <a:rPr lang="id-ID" sz="2400" dirty="0" smtClean="0"/>
              <a:t>Ukuran keragaman/variabilitas rata2 sampel yang ada disebut </a:t>
            </a:r>
            <a:r>
              <a:rPr lang="en-US" sz="2400" dirty="0" smtClean="0">
                <a:solidFill>
                  <a:schemeClr val="folHlink"/>
                </a:solidFill>
              </a:rPr>
              <a:t>Standard Error </a:t>
            </a:r>
            <a:r>
              <a:rPr lang="id-ID" sz="2400" dirty="0" smtClean="0">
                <a:solidFill>
                  <a:schemeClr val="folHlink"/>
                </a:solidFill>
              </a:rPr>
              <a:t>Rata-rata</a:t>
            </a:r>
            <a:r>
              <a:rPr lang="en-US" sz="2400" dirty="0" smtClean="0">
                <a:solidFill>
                  <a:schemeClr val="folHlink"/>
                </a:solidFill>
              </a:rPr>
              <a:t>:</a:t>
            </a:r>
          </a:p>
          <a:p>
            <a:pPr marL="342900" indent="-342900" defTabSz="914400" eaLnBrk="1" hangingPunct="1">
              <a:lnSpc>
                <a:spcPct val="7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sz="2400" dirty="0" smtClean="0"/>
              <a:t>		</a:t>
            </a:r>
            <a:endParaRPr lang="id-ID" sz="2000" dirty="0" smtClean="0"/>
          </a:p>
          <a:p>
            <a:pPr marL="342900" indent="-342900" defTabSz="914400" eaLnBrk="1" hangingPunct="1">
              <a:lnSpc>
                <a:spcPct val="70000"/>
              </a:lnSpc>
              <a:spcBef>
                <a:spcPct val="30000"/>
              </a:spcBef>
              <a:buFont typeface="Wingdings" pitchFamily="2" charset="2"/>
              <a:buNone/>
            </a:pPr>
            <a:endParaRPr lang="en-US" sz="2400" dirty="0" smtClean="0"/>
          </a:p>
          <a:p>
            <a:pPr marL="342900" indent="-342900" defTabSz="914400" eaLnBrk="1" hangingPunct="1">
              <a:lnSpc>
                <a:spcPct val="110000"/>
              </a:lnSpc>
              <a:spcBef>
                <a:spcPct val="30000"/>
              </a:spcBef>
            </a:pPr>
            <a:endParaRPr lang="en-US" sz="2400" dirty="0" smtClean="0"/>
          </a:p>
          <a:p>
            <a:pPr marL="342900" indent="-342900" defTabSz="914400" eaLnBrk="1" hangingPunct="1">
              <a:lnSpc>
                <a:spcPct val="110000"/>
              </a:lnSpc>
              <a:spcBef>
                <a:spcPct val="30000"/>
              </a:spcBef>
              <a:buNone/>
            </a:pPr>
            <a:endParaRPr lang="en-US" sz="2400" dirty="0" smtClean="0"/>
          </a:p>
          <a:p>
            <a:pPr marL="342900" indent="-342900" defTabSz="914400" eaLnBrk="1" hangingPunct="1">
              <a:lnSpc>
                <a:spcPct val="110000"/>
              </a:lnSpc>
              <a:spcBef>
                <a:spcPct val="30000"/>
              </a:spcBef>
            </a:pPr>
            <a:r>
              <a:rPr lang="en-US" sz="2400" dirty="0" smtClean="0"/>
              <a:t>Note</a:t>
            </a:r>
            <a:r>
              <a:rPr lang="id-ID" sz="2400" dirty="0" smtClean="0"/>
              <a:t>: standar error rata-rata akan semakin kecil seiring pertambahan ukuran sampel</a:t>
            </a:r>
            <a:endParaRPr lang="en-US" sz="2400" dirty="0" smtClean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3276600" y="3200400"/>
          <a:ext cx="2024063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4" imgW="609480" imgH="419040" progId="Equation.3">
                  <p:embed/>
                </p:oleObj>
              </mc:Choice>
              <mc:Fallback>
                <p:oleObj name="Equation" r:id="rId4" imgW="60948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200400"/>
                        <a:ext cx="2024063" cy="139065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200" dirty="0" smtClean="0"/>
              <a:t>Distribusi Sampling Rata-rata</a:t>
            </a:r>
            <a:r>
              <a:rPr lang="en-US" sz="3200" dirty="0" smtClean="0"/>
              <a:t>:</a:t>
            </a:r>
            <a:br>
              <a:rPr lang="en-US" sz="3200" dirty="0" smtClean="0"/>
            </a:br>
            <a:r>
              <a:rPr lang="id-ID" sz="3200" dirty="0" smtClean="0"/>
              <a:t>Jika Populasi Normal</a:t>
            </a:r>
            <a:endParaRPr lang="en-US" sz="3200" dirty="0" smtClean="0"/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78800" cy="4648200"/>
          </a:xfrm>
        </p:spPr>
        <p:txBody>
          <a:bodyPr/>
          <a:lstStyle/>
          <a:p>
            <a:pPr marL="342900" indent="-342900" defTabSz="914400" eaLnBrk="1" hangingPunct="1">
              <a:lnSpc>
                <a:spcPct val="120000"/>
              </a:lnSpc>
            </a:pPr>
            <a:r>
              <a:rPr lang="id-ID" dirty="0" smtClean="0">
                <a:solidFill>
                  <a:srgbClr val="000000"/>
                </a:solidFill>
              </a:rPr>
              <a:t>Jika populasi asal berdistribusi </a:t>
            </a:r>
            <a:r>
              <a:rPr lang="en-US" dirty="0" smtClean="0">
                <a:solidFill>
                  <a:schemeClr val="folHlink"/>
                </a:solidFill>
              </a:rPr>
              <a:t>normal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id-ID" dirty="0" smtClean="0">
                <a:solidFill>
                  <a:srgbClr val="000000"/>
                </a:solidFill>
              </a:rPr>
              <a:t>dengan </a:t>
            </a:r>
            <a:r>
              <a:rPr lang="en-US" dirty="0" smtClean="0">
                <a:solidFill>
                  <a:srgbClr val="000000"/>
                </a:solidFill>
              </a:rPr>
              <a:t> mean </a:t>
            </a:r>
            <a:r>
              <a:rPr lang="el-GR" dirty="0" smtClean="0">
                <a:solidFill>
                  <a:srgbClr val="000000"/>
                </a:solidFill>
                <a:cs typeface="Arial" charset="0"/>
                <a:sym typeface="Symbol" pitchFamily="18" charset="2"/>
              </a:rPr>
              <a:t>μ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 and </a:t>
            </a:r>
            <a:r>
              <a:rPr lang="en-US" dirty="0" err="1" smtClean="0">
                <a:solidFill>
                  <a:srgbClr val="000000"/>
                </a:solidFill>
                <a:sym typeface="Symbol" pitchFamily="18" charset="2"/>
              </a:rPr>
              <a:t>standar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sym typeface="Symbol" pitchFamily="18" charset="2"/>
              </a:rPr>
              <a:t>devia</a:t>
            </a:r>
            <a:r>
              <a:rPr lang="id-ID" dirty="0" smtClean="0">
                <a:solidFill>
                  <a:srgbClr val="000000"/>
                </a:solidFill>
                <a:sym typeface="Symbol" pitchFamily="18" charset="2"/>
              </a:rPr>
              <a:t>si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l-GR" dirty="0" smtClean="0">
                <a:solidFill>
                  <a:srgbClr val="000000"/>
                </a:solidFill>
                <a:cs typeface="Arial" charset="0"/>
                <a:sym typeface="Symbol" pitchFamily="18" charset="2"/>
              </a:rPr>
              <a:t>σ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id-ID" dirty="0" smtClean="0">
                <a:solidFill>
                  <a:srgbClr val="000000"/>
                </a:solidFill>
                <a:sym typeface="Symbol" pitchFamily="18" charset="2"/>
              </a:rPr>
              <a:t>maka distribusi 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 sampling </a:t>
            </a:r>
            <a:r>
              <a:rPr lang="id-ID" dirty="0" smtClean="0">
                <a:solidFill>
                  <a:srgbClr val="000000"/>
                </a:solidFill>
                <a:sym typeface="Symbol" pitchFamily="18" charset="2"/>
              </a:rPr>
              <a:t>rata-rata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id-ID" dirty="0" smtClean="0">
                <a:solidFill>
                  <a:srgbClr val="000000"/>
                </a:solidFill>
                <a:sym typeface="Symbol" pitchFamily="18" charset="2"/>
              </a:rPr>
              <a:t>      juga berdistribusi </a:t>
            </a:r>
            <a:r>
              <a:rPr lang="en-US" dirty="0" smtClean="0">
                <a:solidFill>
                  <a:schemeClr val="folHlink"/>
                </a:solidFill>
                <a:sym typeface="Symbol" pitchFamily="18" charset="2"/>
              </a:rPr>
              <a:t>normal</a:t>
            </a:r>
            <a:r>
              <a:rPr lang="id-ID" dirty="0" smtClean="0">
                <a:solidFill>
                  <a:schemeClr val="folHlink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id-ID" dirty="0" smtClean="0">
                <a:solidFill>
                  <a:srgbClr val="000000"/>
                </a:solidFill>
                <a:sym typeface="Symbol" pitchFamily="18" charset="2"/>
              </a:rPr>
              <a:t>dengan</a:t>
            </a:r>
            <a:endParaRPr lang="en-US" dirty="0" smtClean="0">
              <a:solidFill>
                <a:srgbClr val="000000"/>
              </a:solidFill>
              <a:sym typeface="Symbol" pitchFamily="18" charset="2"/>
            </a:endParaRPr>
          </a:p>
          <a:p>
            <a:pPr marL="342900" indent="-342900" defTabSz="914400" eaLnBrk="1" hangingPunct="1">
              <a:lnSpc>
                <a:spcPct val="165000"/>
              </a:lnSpc>
            </a:pPr>
            <a:endParaRPr lang="en-US" sz="1400" dirty="0" smtClean="0">
              <a:solidFill>
                <a:srgbClr val="000000"/>
              </a:solidFill>
              <a:sym typeface="Symbol" pitchFamily="18" charset="2"/>
            </a:endParaRPr>
          </a:p>
          <a:p>
            <a:pPr marL="342900" indent="-342900" defTabSz="914400" eaLnBrk="1" hangingPunct="1">
              <a:lnSpc>
                <a:spcPct val="165000"/>
              </a:lnSpc>
            </a:pPr>
            <a:endParaRPr lang="en-US" sz="1400" dirty="0" smtClean="0">
              <a:solidFill>
                <a:srgbClr val="000000"/>
              </a:solidFill>
              <a:sym typeface="Symbol" pitchFamily="18" charset="2"/>
            </a:endParaRPr>
          </a:p>
          <a:p>
            <a:pPr marL="342900" indent="-342900" defTabSz="914400" eaLnBrk="1" hangingPunct="1">
              <a:lnSpc>
                <a:spcPct val="165000"/>
              </a:lnSpc>
              <a:buFont typeface="Wingdings" pitchFamily="2" charset="2"/>
              <a:buNone/>
            </a:pPr>
            <a:r>
              <a:rPr lang="en-US" sz="1900" dirty="0" smtClean="0"/>
              <a:t>				  </a:t>
            </a:r>
            <a:endParaRPr lang="id-ID" sz="1900" dirty="0" smtClean="0"/>
          </a:p>
          <a:p>
            <a:pPr marL="342900" indent="-342900" defTabSz="914400" eaLnBrk="1" hangingPunct="1">
              <a:lnSpc>
                <a:spcPct val="165000"/>
              </a:lnSpc>
              <a:buFont typeface="Wingdings" pitchFamily="2" charset="2"/>
              <a:buNone/>
            </a:pPr>
            <a:r>
              <a:rPr lang="id-ID" sz="1900" dirty="0" smtClean="0"/>
              <a:t>					</a:t>
            </a:r>
            <a:r>
              <a:rPr lang="en-US" sz="1900" dirty="0" smtClean="0"/>
              <a:t>  d</a:t>
            </a:r>
            <a:r>
              <a:rPr lang="id-ID" sz="1900" dirty="0" smtClean="0"/>
              <a:t>an</a:t>
            </a:r>
            <a:endParaRPr lang="en-US" sz="1900" dirty="0" smtClean="0"/>
          </a:p>
          <a:p>
            <a:pPr marL="342900" indent="-342900" defTabSz="914400" eaLnBrk="1" hangingPunct="1">
              <a:lnSpc>
                <a:spcPct val="165000"/>
              </a:lnSpc>
              <a:buFont typeface="Wingdings" pitchFamily="2" charset="2"/>
              <a:buNone/>
            </a:pPr>
            <a:endParaRPr lang="en-US" sz="1900" dirty="0" smtClean="0"/>
          </a:p>
          <a:p>
            <a:pPr marL="342900" indent="-342900" defTabSz="914400" eaLnBrk="1" hangingPunct="1">
              <a:lnSpc>
                <a:spcPct val="165000"/>
              </a:lnSpc>
              <a:buFont typeface="Wingdings" pitchFamily="2" charset="2"/>
              <a:buNone/>
            </a:pPr>
            <a:endParaRPr lang="en-US" sz="1900" dirty="0" smtClean="0"/>
          </a:p>
          <a:p>
            <a:pPr marL="342900" indent="-342900" defTabSz="914400" eaLnBrk="1" hangingPunct="1">
              <a:lnSpc>
                <a:spcPct val="85000"/>
              </a:lnSpc>
              <a:buFont typeface="Wingdings" pitchFamily="2" charset="2"/>
              <a:buNone/>
            </a:pPr>
            <a:r>
              <a:rPr lang="en-US" sz="1900" dirty="0" smtClean="0"/>
              <a:t>		</a:t>
            </a:r>
            <a:endParaRPr lang="en-US" dirty="0" smtClean="0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3886200" y="2743200"/>
          <a:ext cx="6000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4" imgW="266400" imgH="241200" progId="Equation.DSMT4">
                  <p:embed/>
                </p:oleObj>
              </mc:Choice>
              <mc:Fallback>
                <p:oleObj name="Equation" r:id="rId4" imgW="2664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743200"/>
                        <a:ext cx="6000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EFEB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5"/>
          <p:cNvGraphicFramePr>
            <a:graphicFrameLocks noChangeAspect="1"/>
          </p:cNvGraphicFramePr>
          <p:nvPr/>
        </p:nvGraphicFramePr>
        <p:xfrm>
          <a:off x="1981200" y="5105400"/>
          <a:ext cx="14255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6" imgW="457200" imgH="253800" progId="Equation.3">
                  <p:embed/>
                </p:oleObj>
              </mc:Choice>
              <mc:Fallback>
                <p:oleObj name="Equation" r:id="rId6" imgW="45720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105400"/>
                        <a:ext cx="1425575" cy="792163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6"/>
          <p:cNvGraphicFramePr>
            <a:graphicFrameLocks noChangeAspect="1"/>
          </p:cNvGraphicFramePr>
          <p:nvPr/>
        </p:nvGraphicFramePr>
        <p:xfrm>
          <a:off x="5334000" y="4800600"/>
          <a:ext cx="2024062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8" imgW="609480" imgH="419040" progId="Equation.3">
                  <p:embed/>
                </p:oleObj>
              </mc:Choice>
              <mc:Fallback>
                <p:oleObj name="Equation" r:id="rId8" imgW="60948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800600"/>
                        <a:ext cx="2024062" cy="139065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sz="3600" dirty="0" smtClean="0"/>
              <a:t>Nilai Z Distribusi Sampling Rata-rata</a:t>
            </a:r>
            <a:endParaRPr lang="en-US" sz="3600" dirty="0" smtClean="0"/>
          </a:p>
        </p:txBody>
      </p:sp>
      <p:sp>
        <p:nvSpPr>
          <p:cNvPr id="9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4532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id-ID" dirty="0" smtClean="0"/>
              <a:t>Nilai Z dari distribusi sampling</a:t>
            </a:r>
            <a:r>
              <a:rPr lang="en-US" dirty="0" smtClean="0"/>
              <a:t>     :</a:t>
            </a:r>
          </a:p>
        </p:txBody>
      </p:sp>
      <p:sp>
        <p:nvSpPr>
          <p:cNvPr id="9227" name="Rectangle 4"/>
          <p:cNvSpPr>
            <a:spLocks noChangeArrowheads="1"/>
          </p:cNvSpPr>
          <p:nvPr/>
        </p:nvSpPr>
        <p:spPr bwMode="auto">
          <a:xfrm>
            <a:off x="1295400" y="4495800"/>
            <a:ext cx="7239000" cy="1676400"/>
          </a:xfrm>
          <a:prstGeom prst="rect">
            <a:avLst/>
          </a:prstGeom>
          <a:solidFill>
            <a:srgbClr val="FFFFFF"/>
          </a:solidFill>
          <a:ln w="2857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id-ID" sz="2100" dirty="0" smtClean="0"/>
              <a:t>Di mana</a:t>
            </a:r>
            <a:r>
              <a:rPr lang="en-US" sz="2100" dirty="0" smtClean="0"/>
              <a:t>:</a:t>
            </a:r>
            <a:r>
              <a:rPr lang="en-US" sz="2100" dirty="0"/>
              <a:t>	</a:t>
            </a:r>
            <a:r>
              <a:rPr lang="en-US" sz="2100" dirty="0" smtClean="0"/>
              <a:t>= </a:t>
            </a:r>
            <a:r>
              <a:rPr lang="id-ID" sz="2100" dirty="0" smtClean="0"/>
              <a:t>rata-rata sampel</a:t>
            </a:r>
            <a:endParaRPr lang="en-US" sz="2100" dirty="0"/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100" dirty="0"/>
              <a:t>		= </a:t>
            </a:r>
            <a:r>
              <a:rPr lang="id-ID" sz="2100" dirty="0" smtClean="0"/>
              <a:t>rata-rata populasi</a:t>
            </a:r>
            <a:endParaRPr lang="en-US" sz="2100" dirty="0"/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100" dirty="0"/>
              <a:t>		= </a:t>
            </a:r>
            <a:r>
              <a:rPr lang="id-ID" sz="2100" dirty="0" smtClean="0"/>
              <a:t>standar deviasi populasi</a:t>
            </a:r>
            <a:r>
              <a:rPr lang="en-US" sz="2100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100" dirty="0">
                <a:solidFill>
                  <a:srgbClr val="000000"/>
                </a:solidFill>
              </a:rPr>
              <a:t>	         n = </a:t>
            </a:r>
            <a:r>
              <a:rPr lang="id-ID" sz="2100" dirty="0" smtClean="0">
                <a:solidFill>
                  <a:srgbClr val="000000"/>
                </a:solidFill>
              </a:rPr>
              <a:t>ukuran sampel</a:t>
            </a:r>
            <a:endParaRPr lang="en-US" sz="2100" dirty="0">
              <a:solidFill>
                <a:srgbClr val="000000"/>
              </a:solidFill>
            </a:endParaRPr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2867025" y="4452938"/>
          <a:ext cx="3222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6" name="Equation" r:id="rId3" imgW="152280" imgH="203040" progId="Equation.3">
                  <p:embed/>
                </p:oleObj>
              </mc:Choice>
              <mc:Fallback>
                <p:oleObj name="Equation" r:id="rId3" imgW="1522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4452938"/>
                        <a:ext cx="322263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"/>
          <p:cNvGraphicFramePr>
            <a:graphicFrameLocks noChangeAspect="1"/>
          </p:cNvGraphicFramePr>
          <p:nvPr/>
        </p:nvGraphicFramePr>
        <p:xfrm>
          <a:off x="2897188" y="4930775"/>
          <a:ext cx="2444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7" name="Equation" r:id="rId5" imgW="126720" imgH="177480" progId="Equation.3">
                  <p:embed/>
                </p:oleObj>
              </mc:Choice>
              <mc:Fallback>
                <p:oleObj name="Equation" r:id="rId5" imgW="126720" imgH="177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4930775"/>
                        <a:ext cx="24447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7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8" name="Equation" r:id="rId7" imgW="114120" imgH="215640" progId="Equation.3">
                  <p:embed/>
                </p:oleObj>
              </mc:Choice>
              <mc:Fallback>
                <p:oleObj name="Equation" r:id="rId7" imgW="11412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8"/>
          <p:cNvGraphicFramePr>
            <a:graphicFrameLocks noChangeAspect="1"/>
          </p:cNvGraphicFramePr>
          <p:nvPr/>
        </p:nvGraphicFramePr>
        <p:xfrm>
          <a:off x="2892425" y="5305425"/>
          <a:ext cx="29051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" name="Equation" r:id="rId9" imgW="139680" imgH="152280" progId="Equation.3">
                  <p:embed/>
                </p:oleObj>
              </mc:Choice>
              <mc:Fallback>
                <p:oleObj name="Equation" r:id="rId9" imgW="139680" imgH="152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5305425"/>
                        <a:ext cx="290513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9"/>
          <p:cNvGraphicFramePr>
            <a:graphicFrameLocks noChangeAspect="1"/>
          </p:cNvGraphicFramePr>
          <p:nvPr/>
        </p:nvGraphicFramePr>
        <p:xfrm>
          <a:off x="2355850" y="2497138"/>
          <a:ext cx="4044950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" name="Equation" r:id="rId11" imgW="1447560" imgH="660240" progId="Equation.3">
                  <p:embed/>
                </p:oleObj>
              </mc:Choice>
              <mc:Fallback>
                <p:oleObj name="Equation" r:id="rId11" imgW="1447560" imgH="660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2497138"/>
                        <a:ext cx="4044950" cy="1662112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0"/>
          <p:cNvGraphicFramePr>
            <a:graphicFrameLocks noChangeAspect="1"/>
          </p:cNvGraphicFramePr>
          <p:nvPr/>
        </p:nvGraphicFramePr>
        <p:xfrm>
          <a:off x="6019800" y="1676400"/>
          <a:ext cx="3952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1" name="Equation" r:id="rId13" imgW="152280" imgH="203040" progId="Equation.3">
                  <p:embed/>
                </p:oleObj>
              </mc:Choice>
              <mc:Fallback>
                <p:oleObj name="Equation" r:id="rId13" imgW="15228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76400"/>
                        <a:ext cx="395288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7793038" cy="762000"/>
          </a:xfrm>
        </p:spPr>
        <p:txBody>
          <a:bodyPr/>
          <a:lstStyle/>
          <a:p>
            <a:pPr eaLnBrk="1" hangingPunct="1"/>
            <a:r>
              <a:rPr lang="id-ID" sz="3600" dirty="0" smtClean="0"/>
              <a:t>Distribusi Sampling Rata-rata</a:t>
            </a:r>
            <a:r>
              <a:rPr lang="en-US" sz="3600" dirty="0" smtClean="0"/>
              <a:t>:</a:t>
            </a:r>
            <a:br>
              <a:rPr lang="en-US" sz="3600" dirty="0" smtClean="0"/>
            </a:br>
            <a:r>
              <a:rPr lang="id-ID" sz="3600" dirty="0" smtClean="0"/>
              <a:t>Jika populasi </a:t>
            </a:r>
            <a:r>
              <a:rPr lang="id-ID" sz="3600" b="1" dirty="0" smtClean="0"/>
              <a:t>tidak</a:t>
            </a:r>
            <a:r>
              <a:rPr lang="id-ID" sz="3600" dirty="0" smtClean="0"/>
              <a:t> normal</a:t>
            </a:r>
            <a:endParaRPr lang="en-US" sz="3600" dirty="0" smtClean="0"/>
          </a:p>
        </p:txBody>
      </p:sp>
      <p:sp>
        <p:nvSpPr>
          <p:cNvPr id="133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45323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d-ID" dirty="0" smtClean="0"/>
              <a:t>Terapkan</a:t>
            </a:r>
            <a:r>
              <a:rPr lang="en-US" dirty="0" smtClean="0"/>
              <a:t> </a:t>
            </a:r>
            <a:r>
              <a:rPr lang="id-ID" dirty="0" smtClean="0">
                <a:solidFill>
                  <a:schemeClr val="folHlink"/>
                </a:solidFill>
              </a:rPr>
              <a:t>Teori Limit pusat </a:t>
            </a:r>
            <a:r>
              <a:rPr lang="en-US" dirty="0" smtClean="0"/>
              <a:t>:</a:t>
            </a:r>
          </a:p>
          <a:p>
            <a:pPr lvl="1" eaLnBrk="1" hangingPunct="1">
              <a:lnSpc>
                <a:spcPct val="170000"/>
              </a:lnSpc>
            </a:pPr>
            <a:r>
              <a:rPr lang="id-ID" dirty="0" smtClean="0"/>
              <a:t>Apabila populasi asal tidak normal,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id-ID" dirty="0" smtClean="0"/>
              <a:t>Maka rata-rata sampel akan berdistribusi mendekati (</a:t>
            </a:r>
            <a:r>
              <a:rPr lang="en-US" dirty="0" smtClean="0">
                <a:solidFill>
                  <a:schemeClr val="folHlink"/>
                </a:solidFill>
              </a:rPr>
              <a:t>approximately normal</a:t>
            </a:r>
            <a:r>
              <a:rPr lang="id-ID" dirty="0" smtClean="0">
                <a:solidFill>
                  <a:schemeClr val="folHlink"/>
                </a:solidFill>
              </a:rPr>
              <a:t>)</a:t>
            </a:r>
            <a:r>
              <a:rPr lang="en-US" dirty="0" smtClean="0"/>
              <a:t> </a:t>
            </a:r>
            <a:r>
              <a:rPr lang="id-ID" dirty="0" smtClean="0"/>
              <a:t>selama ukuran sampel cukup besar (</a:t>
            </a:r>
            <a:r>
              <a:rPr lang="en-US" dirty="0" smtClean="0"/>
              <a:t>as long as the sample size is large enough</a:t>
            </a:r>
            <a:r>
              <a:rPr lang="id-ID" dirty="0" smtClean="0"/>
              <a:t>)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                               d</a:t>
            </a:r>
            <a:r>
              <a:rPr lang="id-ID" dirty="0" smtClean="0"/>
              <a:t>an</a:t>
            </a:r>
            <a:endParaRPr lang="en-US" dirty="0" smtClean="0"/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2133600" y="5324475"/>
          <a:ext cx="13462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Equation" r:id="rId6" imgW="431640" imgH="241200" progId="Equation.3">
                  <p:embed/>
                </p:oleObj>
              </mc:Choice>
              <mc:Fallback>
                <p:oleObj name="Equation" r:id="rId6" imgW="43164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324475"/>
                        <a:ext cx="1346200" cy="75247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6"/>
          <p:cNvGraphicFramePr>
            <a:graphicFrameLocks noChangeAspect="1"/>
          </p:cNvGraphicFramePr>
          <p:nvPr/>
        </p:nvGraphicFramePr>
        <p:xfrm>
          <a:off x="5105400" y="5010150"/>
          <a:ext cx="19812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Equation" r:id="rId8" imgW="596880" imgH="419040" progId="Equation.3">
                  <p:embed/>
                </p:oleObj>
              </mc:Choice>
              <mc:Fallback>
                <p:oleObj name="Equation" r:id="rId8" imgW="59688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010150"/>
                        <a:ext cx="1981200" cy="139065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381000" y="4191000"/>
            <a:ext cx="838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Line 2"/>
          <p:cNvSpPr>
            <a:spLocks noChangeShapeType="1"/>
          </p:cNvSpPr>
          <p:nvPr/>
        </p:nvSpPr>
        <p:spPr bwMode="auto">
          <a:xfrm flipV="1">
            <a:off x="6781800" y="47244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370" name="Text Box 3"/>
          <p:cNvSpPr txBox="1">
            <a:spLocks noChangeArrowheads="1"/>
          </p:cNvSpPr>
          <p:nvPr/>
        </p:nvSpPr>
        <p:spPr bwMode="auto">
          <a:xfrm>
            <a:off x="4038600" y="1752600"/>
            <a:ext cx="2743200" cy="39687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 sz="2000" dirty="0" smtClean="0"/>
              <a:t>Distribusi populasi</a:t>
            </a:r>
            <a:endParaRPr lang="en-US" sz="2000" dirty="0"/>
          </a:p>
        </p:txBody>
      </p:sp>
      <p:sp>
        <p:nvSpPr>
          <p:cNvPr id="15371" name="Text Box 4"/>
          <p:cNvSpPr txBox="1">
            <a:spLocks noChangeArrowheads="1"/>
          </p:cNvSpPr>
          <p:nvPr/>
        </p:nvSpPr>
        <p:spPr bwMode="auto">
          <a:xfrm>
            <a:off x="3581400" y="4038600"/>
            <a:ext cx="4953000" cy="677108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d-ID" sz="2000" dirty="0" smtClean="0"/>
              <a:t>Distribusi sampling</a:t>
            </a:r>
            <a:endParaRPr lang="en-US" sz="2000" dirty="0"/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sz="2000" dirty="0" smtClean="0"/>
              <a:t>(</a:t>
            </a:r>
            <a:r>
              <a:rPr lang="id-ID" sz="2000" dirty="0" smtClean="0"/>
              <a:t>menjadi normal seiring pertambahan n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15372" name="Rectangle 5"/>
          <p:cNvSpPr>
            <a:spLocks noChangeArrowheads="1"/>
          </p:cNvSpPr>
          <p:nvPr/>
        </p:nvSpPr>
        <p:spPr bwMode="auto">
          <a:xfrm>
            <a:off x="762000" y="2819400"/>
            <a:ext cx="2514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dirty="0" smtClean="0">
                <a:solidFill>
                  <a:schemeClr val="folHlink"/>
                </a:solidFill>
              </a:rPr>
              <a:t>Ukuran pemusatan</a:t>
            </a:r>
            <a:endParaRPr lang="en-US" sz="2000" dirty="0">
              <a:solidFill>
                <a:schemeClr val="folHlink"/>
              </a:solidFill>
            </a:endParaRPr>
          </a:p>
        </p:txBody>
      </p:sp>
      <p:sp>
        <p:nvSpPr>
          <p:cNvPr id="15373" name="Rectangle 6"/>
          <p:cNvSpPr>
            <a:spLocks noChangeArrowheads="1"/>
          </p:cNvSpPr>
          <p:nvPr/>
        </p:nvSpPr>
        <p:spPr bwMode="auto">
          <a:xfrm>
            <a:off x="838200" y="4114800"/>
            <a:ext cx="12192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dirty="0" smtClean="0">
                <a:solidFill>
                  <a:schemeClr val="folHlink"/>
                </a:solidFill>
              </a:rPr>
              <a:t>Variasi</a:t>
            </a:r>
            <a:endParaRPr lang="en-US" sz="2000" dirty="0">
              <a:solidFill>
                <a:schemeClr val="folHlink"/>
              </a:solidFill>
            </a:endParaRPr>
          </a:p>
        </p:txBody>
      </p:sp>
      <p:sp>
        <p:nvSpPr>
          <p:cNvPr id="15374" name="Line 8"/>
          <p:cNvSpPr>
            <a:spLocks noChangeShapeType="1"/>
          </p:cNvSpPr>
          <p:nvPr/>
        </p:nvSpPr>
        <p:spPr bwMode="auto">
          <a:xfrm flipH="1">
            <a:off x="7010400" y="4943475"/>
            <a:ext cx="381000" cy="152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375" name="Line 9"/>
          <p:cNvSpPr>
            <a:spLocks noChangeShapeType="1"/>
          </p:cNvSpPr>
          <p:nvPr/>
        </p:nvSpPr>
        <p:spPr bwMode="auto">
          <a:xfrm>
            <a:off x="5410200" y="6315075"/>
            <a:ext cx="2895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376" name="Line 10"/>
          <p:cNvSpPr>
            <a:spLocks noChangeShapeType="1"/>
          </p:cNvSpPr>
          <p:nvPr/>
        </p:nvSpPr>
        <p:spPr bwMode="auto">
          <a:xfrm>
            <a:off x="5410200" y="3657600"/>
            <a:ext cx="2895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377" name="Freeform 11"/>
          <p:cNvSpPr>
            <a:spLocks/>
          </p:cNvSpPr>
          <p:nvPr/>
        </p:nvSpPr>
        <p:spPr bwMode="auto">
          <a:xfrm>
            <a:off x="6324600" y="2143125"/>
            <a:ext cx="2057400" cy="1371600"/>
          </a:xfrm>
          <a:custGeom>
            <a:avLst/>
            <a:gdLst>
              <a:gd name="T0" fmla="*/ 2055813 w 1296"/>
              <a:gd name="T1" fmla="*/ 1370013 h 864"/>
              <a:gd name="T2" fmla="*/ 1839913 w 1296"/>
              <a:gd name="T3" fmla="*/ 1355725 h 864"/>
              <a:gd name="T4" fmla="*/ 1730375 w 1296"/>
              <a:gd name="T5" fmla="*/ 1338263 h 864"/>
              <a:gd name="T6" fmla="*/ 1624012 w 1296"/>
              <a:gd name="T7" fmla="*/ 1317625 h 864"/>
              <a:gd name="T8" fmla="*/ 1514475 w 1296"/>
              <a:gd name="T9" fmla="*/ 1285875 h 864"/>
              <a:gd name="T10" fmla="*/ 1404937 w 1296"/>
              <a:gd name="T11" fmla="*/ 1241425 h 864"/>
              <a:gd name="T12" fmla="*/ 1300162 w 1296"/>
              <a:gd name="T13" fmla="*/ 1185863 h 864"/>
              <a:gd name="T14" fmla="*/ 1081087 w 1296"/>
              <a:gd name="T15" fmla="*/ 1028700 h 864"/>
              <a:gd name="T16" fmla="*/ 865188 w 1296"/>
              <a:gd name="T17" fmla="*/ 804862 h 864"/>
              <a:gd name="T18" fmla="*/ 649287 w 1296"/>
              <a:gd name="T19" fmla="*/ 534988 h 864"/>
              <a:gd name="T20" fmla="*/ 539750 w 1296"/>
              <a:gd name="T21" fmla="*/ 396875 h 864"/>
              <a:gd name="T22" fmla="*/ 430213 w 1296"/>
              <a:gd name="T23" fmla="*/ 271463 h 864"/>
              <a:gd name="T24" fmla="*/ 325437 w 1296"/>
              <a:gd name="T25" fmla="*/ 160338 h 864"/>
              <a:gd name="T26" fmla="*/ 215900 w 1296"/>
              <a:gd name="T27" fmla="*/ 73025 h 864"/>
              <a:gd name="T28" fmla="*/ 106363 w 1296"/>
              <a:gd name="T29" fmla="*/ 17463 h 864"/>
              <a:gd name="T30" fmla="*/ 0 w 1296"/>
              <a:gd name="T31" fmla="*/ 0 h 86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296"/>
              <a:gd name="T49" fmla="*/ 0 h 864"/>
              <a:gd name="T50" fmla="*/ 1296 w 1296"/>
              <a:gd name="T51" fmla="*/ 864 h 86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296" h="864">
                <a:moveTo>
                  <a:pt x="1295" y="863"/>
                </a:moveTo>
                <a:lnTo>
                  <a:pt x="1159" y="854"/>
                </a:lnTo>
                <a:lnTo>
                  <a:pt x="1090" y="843"/>
                </a:lnTo>
                <a:lnTo>
                  <a:pt x="1023" y="830"/>
                </a:lnTo>
                <a:lnTo>
                  <a:pt x="954" y="810"/>
                </a:lnTo>
                <a:lnTo>
                  <a:pt x="885" y="782"/>
                </a:lnTo>
                <a:lnTo>
                  <a:pt x="819" y="747"/>
                </a:lnTo>
                <a:lnTo>
                  <a:pt x="681" y="648"/>
                </a:lnTo>
                <a:lnTo>
                  <a:pt x="545" y="507"/>
                </a:lnTo>
                <a:lnTo>
                  <a:pt x="409" y="337"/>
                </a:lnTo>
                <a:lnTo>
                  <a:pt x="340" y="250"/>
                </a:lnTo>
                <a:lnTo>
                  <a:pt x="271" y="171"/>
                </a:lnTo>
                <a:lnTo>
                  <a:pt x="205" y="101"/>
                </a:lnTo>
                <a:lnTo>
                  <a:pt x="136" y="46"/>
                </a:lnTo>
                <a:lnTo>
                  <a:pt x="67" y="11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Freeform 12"/>
          <p:cNvSpPr>
            <a:spLocks/>
          </p:cNvSpPr>
          <p:nvPr/>
        </p:nvSpPr>
        <p:spPr bwMode="auto">
          <a:xfrm>
            <a:off x="5486400" y="2143125"/>
            <a:ext cx="838200" cy="1371600"/>
          </a:xfrm>
          <a:custGeom>
            <a:avLst/>
            <a:gdLst>
              <a:gd name="T0" fmla="*/ 0 w 528"/>
              <a:gd name="T1" fmla="*/ 1370013 h 864"/>
              <a:gd name="T2" fmla="*/ 87312 w 528"/>
              <a:gd name="T3" fmla="*/ 1355725 h 864"/>
              <a:gd name="T4" fmla="*/ 131762 w 528"/>
              <a:gd name="T5" fmla="*/ 1338263 h 864"/>
              <a:gd name="T6" fmla="*/ 177800 w 528"/>
              <a:gd name="T7" fmla="*/ 1317625 h 864"/>
              <a:gd name="T8" fmla="*/ 220662 w 528"/>
              <a:gd name="T9" fmla="*/ 1285875 h 864"/>
              <a:gd name="T10" fmla="*/ 265112 w 528"/>
              <a:gd name="T11" fmla="*/ 1241425 h 864"/>
              <a:gd name="T12" fmla="*/ 309562 w 528"/>
              <a:gd name="T13" fmla="*/ 1185863 h 864"/>
              <a:gd name="T14" fmla="*/ 396875 w 528"/>
              <a:gd name="T15" fmla="*/ 1028700 h 864"/>
              <a:gd name="T16" fmla="*/ 484187 w 528"/>
              <a:gd name="T17" fmla="*/ 804862 h 864"/>
              <a:gd name="T18" fmla="*/ 573087 w 528"/>
              <a:gd name="T19" fmla="*/ 534988 h 864"/>
              <a:gd name="T20" fmla="*/ 615950 w 528"/>
              <a:gd name="T21" fmla="*/ 396875 h 864"/>
              <a:gd name="T22" fmla="*/ 660400 w 528"/>
              <a:gd name="T23" fmla="*/ 271463 h 864"/>
              <a:gd name="T24" fmla="*/ 704850 w 528"/>
              <a:gd name="T25" fmla="*/ 160338 h 864"/>
              <a:gd name="T26" fmla="*/ 747712 w 528"/>
              <a:gd name="T27" fmla="*/ 73025 h 864"/>
              <a:gd name="T28" fmla="*/ 792162 w 528"/>
              <a:gd name="T29" fmla="*/ 17463 h 864"/>
              <a:gd name="T30" fmla="*/ 836613 w 528"/>
              <a:gd name="T31" fmla="*/ 0 h 86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28"/>
              <a:gd name="T49" fmla="*/ 0 h 864"/>
              <a:gd name="T50" fmla="*/ 528 w 528"/>
              <a:gd name="T51" fmla="*/ 864 h 86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28" h="864">
                <a:moveTo>
                  <a:pt x="0" y="863"/>
                </a:moveTo>
                <a:lnTo>
                  <a:pt x="55" y="854"/>
                </a:lnTo>
                <a:lnTo>
                  <a:pt x="83" y="843"/>
                </a:lnTo>
                <a:lnTo>
                  <a:pt x="112" y="830"/>
                </a:lnTo>
                <a:lnTo>
                  <a:pt x="139" y="810"/>
                </a:lnTo>
                <a:lnTo>
                  <a:pt x="167" y="782"/>
                </a:lnTo>
                <a:lnTo>
                  <a:pt x="195" y="747"/>
                </a:lnTo>
                <a:lnTo>
                  <a:pt x="250" y="648"/>
                </a:lnTo>
                <a:lnTo>
                  <a:pt x="305" y="507"/>
                </a:lnTo>
                <a:lnTo>
                  <a:pt x="361" y="337"/>
                </a:lnTo>
                <a:lnTo>
                  <a:pt x="388" y="250"/>
                </a:lnTo>
                <a:lnTo>
                  <a:pt x="416" y="171"/>
                </a:lnTo>
                <a:lnTo>
                  <a:pt x="444" y="101"/>
                </a:lnTo>
                <a:lnTo>
                  <a:pt x="471" y="46"/>
                </a:lnTo>
                <a:lnTo>
                  <a:pt x="499" y="11"/>
                </a:lnTo>
                <a:lnTo>
                  <a:pt x="527" y="0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9" name="Freeform 13"/>
          <p:cNvSpPr>
            <a:spLocks/>
          </p:cNvSpPr>
          <p:nvPr/>
        </p:nvSpPr>
        <p:spPr bwMode="auto">
          <a:xfrm>
            <a:off x="5486400" y="5105400"/>
            <a:ext cx="990600" cy="1143000"/>
          </a:xfrm>
          <a:custGeom>
            <a:avLst/>
            <a:gdLst>
              <a:gd name="T0" fmla="*/ 0 w 624"/>
              <a:gd name="T1" fmla="*/ 1141413 h 720"/>
              <a:gd name="T2" fmla="*/ 103188 w 624"/>
              <a:gd name="T3" fmla="*/ 1130300 h 720"/>
              <a:gd name="T4" fmla="*/ 157162 w 624"/>
              <a:gd name="T5" fmla="*/ 1116013 h 720"/>
              <a:gd name="T6" fmla="*/ 209550 w 624"/>
              <a:gd name="T7" fmla="*/ 1098550 h 720"/>
              <a:gd name="T8" fmla="*/ 260350 w 624"/>
              <a:gd name="T9" fmla="*/ 1071563 h 720"/>
              <a:gd name="T10" fmla="*/ 312737 w 624"/>
              <a:gd name="T11" fmla="*/ 1035050 h 720"/>
              <a:gd name="T12" fmla="*/ 365125 w 624"/>
              <a:gd name="T13" fmla="*/ 989013 h 720"/>
              <a:gd name="T14" fmla="*/ 468313 w 624"/>
              <a:gd name="T15" fmla="*/ 857250 h 720"/>
              <a:gd name="T16" fmla="*/ 571500 w 624"/>
              <a:gd name="T17" fmla="*/ 669925 h 720"/>
              <a:gd name="T18" fmla="*/ 677862 w 624"/>
              <a:gd name="T19" fmla="*/ 444500 h 720"/>
              <a:gd name="T20" fmla="*/ 728662 w 624"/>
              <a:gd name="T21" fmla="*/ 331787 h 720"/>
              <a:gd name="T22" fmla="*/ 781050 w 624"/>
              <a:gd name="T23" fmla="*/ 225425 h 720"/>
              <a:gd name="T24" fmla="*/ 833438 w 624"/>
              <a:gd name="T25" fmla="*/ 133350 h 720"/>
              <a:gd name="T26" fmla="*/ 884238 w 624"/>
              <a:gd name="T27" fmla="*/ 61913 h 720"/>
              <a:gd name="T28" fmla="*/ 936625 w 624"/>
              <a:gd name="T29" fmla="*/ 14288 h 720"/>
              <a:gd name="T30" fmla="*/ 989013 w 624"/>
              <a:gd name="T31" fmla="*/ 0 h 72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624"/>
              <a:gd name="T49" fmla="*/ 0 h 720"/>
              <a:gd name="T50" fmla="*/ 624 w 624"/>
              <a:gd name="T51" fmla="*/ 720 h 72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624" h="720">
                <a:moveTo>
                  <a:pt x="0" y="719"/>
                </a:moveTo>
                <a:lnTo>
                  <a:pt x="65" y="712"/>
                </a:lnTo>
                <a:lnTo>
                  <a:pt x="99" y="703"/>
                </a:lnTo>
                <a:lnTo>
                  <a:pt x="132" y="692"/>
                </a:lnTo>
                <a:lnTo>
                  <a:pt x="164" y="675"/>
                </a:lnTo>
                <a:lnTo>
                  <a:pt x="197" y="652"/>
                </a:lnTo>
                <a:lnTo>
                  <a:pt x="230" y="623"/>
                </a:lnTo>
                <a:lnTo>
                  <a:pt x="295" y="540"/>
                </a:lnTo>
                <a:lnTo>
                  <a:pt x="360" y="422"/>
                </a:lnTo>
                <a:lnTo>
                  <a:pt x="427" y="280"/>
                </a:lnTo>
                <a:lnTo>
                  <a:pt x="459" y="209"/>
                </a:lnTo>
                <a:lnTo>
                  <a:pt x="492" y="142"/>
                </a:lnTo>
                <a:lnTo>
                  <a:pt x="525" y="84"/>
                </a:lnTo>
                <a:lnTo>
                  <a:pt x="557" y="39"/>
                </a:lnTo>
                <a:lnTo>
                  <a:pt x="590" y="9"/>
                </a:lnTo>
                <a:lnTo>
                  <a:pt x="623" y="0"/>
                </a:lnTo>
              </a:path>
            </a:pathLst>
          </a:custGeom>
          <a:noFill/>
          <a:ln w="508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0" name="Freeform 14"/>
          <p:cNvSpPr>
            <a:spLocks/>
          </p:cNvSpPr>
          <p:nvPr/>
        </p:nvSpPr>
        <p:spPr bwMode="auto">
          <a:xfrm>
            <a:off x="6477000" y="5105400"/>
            <a:ext cx="1981200" cy="1143000"/>
          </a:xfrm>
          <a:custGeom>
            <a:avLst/>
            <a:gdLst>
              <a:gd name="T0" fmla="*/ 1979613 w 1248"/>
              <a:gd name="T1" fmla="*/ 1141413 h 720"/>
              <a:gd name="T2" fmla="*/ 1771650 w 1248"/>
              <a:gd name="T3" fmla="*/ 1130300 h 720"/>
              <a:gd name="T4" fmla="*/ 1665288 w 1248"/>
              <a:gd name="T5" fmla="*/ 1116013 h 720"/>
              <a:gd name="T6" fmla="*/ 1563687 w 1248"/>
              <a:gd name="T7" fmla="*/ 1098550 h 720"/>
              <a:gd name="T8" fmla="*/ 1457325 w 1248"/>
              <a:gd name="T9" fmla="*/ 1071563 h 720"/>
              <a:gd name="T10" fmla="*/ 1352550 w 1248"/>
              <a:gd name="T11" fmla="*/ 1035050 h 720"/>
              <a:gd name="T12" fmla="*/ 1252537 w 1248"/>
              <a:gd name="T13" fmla="*/ 989013 h 720"/>
              <a:gd name="T14" fmla="*/ 1041400 w 1248"/>
              <a:gd name="T15" fmla="*/ 857250 h 720"/>
              <a:gd name="T16" fmla="*/ 833438 w 1248"/>
              <a:gd name="T17" fmla="*/ 669925 h 720"/>
              <a:gd name="T18" fmla="*/ 625475 w 1248"/>
              <a:gd name="T19" fmla="*/ 444500 h 720"/>
              <a:gd name="T20" fmla="*/ 519112 w 1248"/>
              <a:gd name="T21" fmla="*/ 331787 h 720"/>
              <a:gd name="T22" fmla="*/ 414338 w 1248"/>
              <a:gd name="T23" fmla="*/ 225425 h 720"/>
              <a:gd name="T24" fmla="*/ 312737 w 1248"/>
              <a:gd name="T25" fmla="*/ 133350 h 720"/>
              <a:gd name="T26" fmla="*/ 207963 w 1248"/>
              <a:gd name="T27" fmla="*/ 61913 h 720"/>
              <a:gd name="T28" fmla="*/ 101600 w 1248"/>
              <a:gd name="T29" fmla="*/ 14288 h 720"/>
              <a:gd name="T30" fmla="*/ 0 w 1248"/>
              <a:gd name="T31" fmla="*/ 0 h 72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248"/>
              <a:gd name="T49" fmla="*/ 0 h 720"/>
              <a:gd name="T50" fmla="*/ 1248 w 1248"/>
              <a:gd name="T51" fmla="*/ 720 h 72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248" h="720">
                <a:moveTo>
                  <a:pt x="1247" y="719"/>
                </a:moveTo>
                <a:lnTo>
                  <a:pt x="1116" y="712"/>
                </a:lnTo>
                <a:lnTo>
                  <a:pt x="1049" y="703"/>
                </a:lnTo>
                <a:lnTo>
                  <a:pt x="985" y="692"/>
                </a:lnTo>
                <a:lnTo>
                  <a:pt x="918" y="675"/>
                </a:lnTo>
                <a:lnTo>
                  <a:pt x="852" y="652"/>
                </a:lnTo>
                <a:lnTo>
                  <a:pt x="789" y="623"/>
                </a:lnTo>
                <a:lnTo>
                  <a:pt x="656" y="540"/>
                </a:lnTo>
                <a:lnTo>
                  <a:pt x="525" y="422"/>
                </a:lnTo>
                <a:lnTo>
                  <a:pt x="394" y="280"/>
                </a:lnTo>
                <a:lnTo>
                  <a:pt x="327" y="209"/>
                </a:lnTo>
                <a:lnTo>
                  <a:pt x="261" y="142"/>
                </a:lnTo>
                <a:lnTo>
                  <a:pt x="197" y="84"/>
                </a:lnTo>
                <a:lnTo>
                  <a:pt x="131" y="39"/>
                </a:lnTo>
                <a:lnTo>
                  <a:pt x="64" y="9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1" name="Freeform 15"/>
          <p:cNvSpPr>
            <a:spLocks/>
          </p:cNvSpPr>
          <p:nvPr/>
        </p:nvSpPr>
        <p:spPr bwMode="auto">
          <a:xfrm>
            <a:off x="5943600" y="4724400"/>
            <a:ext cx="838200" cy="1524000"/>
          </a:xfrm>
          <a:custGeom>
            <a:avLst/>
            <a:gdLst>
              <a:gd name="T0" fmla="*/ 0 w 528"/>
              <a:gd name="T1" fmla="*/ 1522413 h 960"/>
              <a:gd name="T2" fmla="*/ 87312 w 528"/>
              <a:gd name="T3" fmla="*/ 1506538 h 960"/>
              <a:gd name="T4" fmla="*/ 131762 w 528"/>
              <a:gd name="T5" fmla="*/ 1487488 h 960"/>
              <a:gd name="T6" fmla="*/ 177800 w 528"/>
              <a:gd name="T7" fmla="*/ 1463675 h 960"/>
              <a:gd name="T8" fmla="*/ 220662 w 528"/>
              <a:gd name="T9" fmla="*/ 1428750 h 960"/>
              <a:gd name="T10" fmla="*/ 265112 w 528"/>
              <a:gd name="T11" fmla="*/ 1379538 h 960"/>
              <a:gd name="T12" fmla="*/ 309562 w 528"/>
              <a:gd name="T13" fmla="*/ 1317625 h 960"/>
              <a:gd name="T14" fmla="*/ 396875 w 528"/>
              <a:gd name="T15" fmla="*/ 1143000 h 960"/>
              <a:gd name="T16" fmla="*/ 484187 w 528"/>
              <a:gd name="T17" fmla="*/ 893763 h 960"/>
              <a:gd name="T18" fmla="*/ 573087 w 528"/>
              <a:gd name="T19" fmla="*/ 593725 h 960"/>
              <a:gd name="T20" fmla="*/ 615950 w 528"/>
              <a:gd name="T21" fmla="*/ 441325 h 960"/>
              <a:gd name="T22" fmla="*/ 660400 w 528"/>
              <a:gd name="T23" fmla="*/ 301625 h 960"/>
              <a:gd name="T24" fmla="*/ 704850 w 528"/>
              <a:gd name="T25" fmla="*/ 177800 h 960"/>
              <a:gd name="T26" fmla="*/ 747712 w 528"/>
              <a:gd name="T27" fmla="*/ 80963 h 960"/>
              <a:gd name="T28" fmla="*/ 792162 w 528"/>
              <a:gd name="T29" fmla="*/ 20638 h 960"/>
              <a:gd name="T30" fmla="*/ 836613 w 528"/>
              <a:gd name="T31" fmla="*/ 0 h 96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28"/>
              <a:gd name="T49" fmla="*/ 0 h 960"/>
              <a:gd name="T50" fmla="*/ 528 w 528"/>
              <a:gd name="T51" fmla="*/ 960 h 96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28" h="960">
                <a:moveTo>
                  <a:pt x="0" y="959"/>
                </a:moveTo>
                <a:lnTo>
                  <a:pt x="55" y="949"/>
                </a:lnTo>
                <a:lnTo>
                  <a:pt x="83" y="937"/>
                </a:lnTo>
                <a:lnTo>
                  <a:pt x="112" y="922"/>
                </a:lnTo>
                <a:lnTo>
                  <a:pt x="139" y="900"/>
                </a:lnTo>
                <a:lnTo>
                  <a:pt x="167" y="869"/>
                </a:lnTo>
                <a:lnTo>
                  <a:pt x="195" y="830"/>
                </a:lnTo>
                <a:lnTo>
                  <a:pt x="250" y="720"/>
                </a:lnTo>
                <a:lnTo>
                  <a:pt x="305" y="563"/>
                </a:lnTo>
                <a:lnTo>
                  <a:pt x="361" y="374"/>
                </a:lnTo>
                <a:lnTo>
                  <a:pt x="388" y="278"/>
                </a:lnTo>
                <a:lnTo>
                  <a:pt x="416" y="190"/>
                </a:lnTo>
                <a:lnTo>
                  <a:pt x="444" y="112"/>
                </a:lnTo>
                <a:lnTo>
                  <a:pt x="471" y="51"/>
                </a:lnTo>
                <a:lnTo>
                  <a:pt x="499" y="13"/>
                </a:lnTo>
                <a:lnTo>
                  <a:pt x="527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2" name="Freeform 16"/>
          <p:cNvSpPr>
            <a:spLocks/>
          </p:cNvSpPr>
          <p:nvPr/>
        </p:nvSpPr>
        <p:spPr bwMode="auto">
          <a:xfrm>
            <a:off x="6781800" y="4724400"/>
            <a:ext cx="990600" cy="1524000"/>
          </a:xfrm>
          <a:custGeom>
            <a:avLst/>
            <a:gdLst>
              <a:gd name="T0" fmla="*/ 989013 w 624"/>
              <a:gd name="T1" fmla="*/ 1522413 h 960"/>
              <a:gd name="T2" fmla="*/ 885825 w 624"/>
              <a:gd name="T3" fmla="*/ 1506538 h 960"/>
              <a:gd name="T4" fmla="*/ 833438 w 624"/>
              <a:gd name="T5" fmla="*/ 1487488 h 960"/>
              <a:gd name="T6" fmla="*/ 782637 w 624"/>
              <a:gd name="T7" fmla="*/ 1463675 h 960"/>
              <a:gd name="T8" fmla="*/ 728662 w 624"/>
              <a:gd name="T9" fmla="*/ 1428750 h 960"/>
              <a:gd name="T10" fmla="*/ 676275 w 624"/>
              <a:gd name="T11" fmla="*/ 1379538 h 960"/>
              <a:gd name="T12" fmla="*/ 625475 w 624"/>
              <a:gd name="T13" fmla="*/ 1317625 h 960"/>
              <a:gd name="T14" fmla="*/ 520700 w 624"/>
              <a:gd name="T15" fmla="*/ 1143000 h 960"/>
              <a:gd name="T16" fmla="*/ 415925 w 624"/>
              <a:gd name="T17" fmla="*/ 893763 h 960"/>
              <a:gd name="T18" fmla="*/ 312737 w 624"/>
              <a:gd name="T19" fmla="*/ 593725 h 960"/>
              <a:gd name="T20" fmla="*/ 260350 w 624"/>
              <a:gd name="T21" fmla="*/ 441325 h 960"/>
              <a:gd name="T22" fmla="*/ 206375 w 624"/>
              <a:gd name="T23" fmla="*/ 301625 h 960"/>
              <a:gd name="T24" fmla="*/ 157162 w 624"/>
              <a:gd name="T25" fmla="*/ 177800 h 960"/>
              <a:gd name="T26" fmla="*/ 103188 w 624"/>
              <a:gd name="T27" fmla="*/ 80963 h 960"/>
              <a:gd name="T28" fmla="*/ 50800 w 624"/>
              <a:gd name="T29" fmla="*/ 20638 h 960"/>
              <a:gd name="T30" fmla="*/ 0 w 624"/>
              <a:gd name="T31" fmla="*/ 0 h 96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624"/>
              <a:gd name="T49" fmla="*/ 0 h 960"/>
              <a:gd name="T50" fmla="*/ 624 w 624"/>
              <a:gd name="T51" fmla="*/ 960 h 96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624" h="960">
                <a:moveTo>
                  <a:pt x="623" y="959"/>
                </a:moveTo>
                <a:lnTo>
                  <a:pt x="558" y="949"/>
                </a:lnTo>
                <a:lnTo>
                  <a:pt x="525" y="937"/>
                </a:lnTo>
                <a:lnTo>
                  <a:pt x="493" y="922"/>
                </a:lnTo>
                <a:lnTo>
                  <a:pt x="459" y="900"/>
                </a:lnTo>
                <a:lnTo>
                  <a:pt x="426" y="869"/>
                </a:lnTo>
                <a:lnTo>
                  <a:pt x="394" y="830"/>
                </a:lnTo>
                <a:lnTo>
                  <a:pt x="328" y="720"/>
                </a:lnTo>
                <a:lnTo>
                  <a:pt x="262" y="563"/>
                </a:lnTo>
                <a:lnTo>
                  <a:pt x="197" y="374"/>
                </a:lnTo>
                <a:lnTo>
                  <a:pt x="164" y="278"/>
                </a:lnTo>
                <a:lnTo>
                  <a:pt x="130" y="190"/>
                </a:lnTo>
                <a:lnTo>
                  <a:pt x="99" y="112"/>
                </a:lnTo>
                <a:lnTo>
                  <a:pt x="65" y="51"/>
                </a:lnTo>
                <a:lnTo>
                  <a:pt x="32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3" name="Line 17"/>
          <p:cNvSpPr>
            <a:spLocks noChangeShapeType="1"/>
          </p:cNvSpPr>
          <p:nvPr/>
        </p:nvSpPr>
        <p:spPr bwMode="auto">
          <a:xfrm flipV="1">
            <a:off x="6781800" y="2447925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384" name="Line 18"/>
          <p:cNvSpPr>
            <a:spLocks noChangeShapeType="1"/>
          </p:cNvSpPr>
          <p:nvPr/>
        </p:nvSpPr>
        <p:spPr bwMode="auto">
          <a:xfrm>
            <a:off x="5562600" y="5410200"/>
            <a:ext cx="533400" cy="228600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5362" name="Object 19"/>
          <p:cNvGraphicFramePr>
            <a:graphicFrameLocks noChangeAspect="1"/>
          </p:cNvGraphicFramePr>
          <p:nvPr/>
        </p:nvGraphicFramePr>
        <p:xfrm>
          <a:off x="8382000" y="3657600"/>
          <a:ext cx="33496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" name="Equation" r:id="rId3" imgW="126720" imgH="139680" progId="Equation.3">
                  <p:embed/>
                </p:oleObj>
              </mc:Choice>
              <mc:Fallback>
                <p:oleObj name="Equation" r:id="rId3" imgW="126720" imgH="139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3657600"/>
                        <a:ext cx="334963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20"/>
          <p:cNvGraphicFramePr>
            <a:graphicFrameLocks noChangeAspect="1"/>
          </p:cNvGraphicFramePr>
          <p:nvPr/>
        </p:nvGraphicFramePr>
        <p:xfrm>
          <a:off x="8458200" y="6096000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" name="Equation" r:id="rId5" imgW="126720" imgH="164880" progId="Equation.3">
                  <p:embed/>
                </p:oleObj>
              </mc:Choice>
              <mc:Fallback>
                <p:oleObj name="Equation" r:id="rId5" imgW="126720" imgH="164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6096000"/>
                        <a:ext cx="355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Rectangle 21"/>
          <p:cNvSpPr>
            <a:spLocks noChangeArrowheads="1"/>
          </p:cNvSpPr>
          <p:nvPr/>
        </p:nvSpPr>
        <p:spPr bwMode="auto">
          <a:xfrm>
            <a:off x="7391400" y="4648200"/>
            <a:ext cx="1143000" cy="1003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chemeClr val="hlink"/>
                </a:solidFill>
              </a:rPr>
              <a:t>Larger sample size</a:t>
            </a:r>
          </a:p>
        </p:txBody>
      </p:sp>
      <p:sp>
        <p:nvSpPr>
          <p:cNvPr id="15386" name="Rectangle 22"/>
          <p:cNvSpPr>
            <a:spLocks noChangeArrowheads="1"/>
          </p:cNvSpPr>
          <p:nvPr/>
        </p:nvSpPr>
        <p:spPr bwMode="auto">
          <a:xfrm>
            <a:off x="3810000" y="4876800"/>
            <a:ext cx="2003425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Smaller sample size</a:t>
            </a:r>
          </a:p>
        </p:txBody>
      </p:sp>
      <p:sp>
        <p:nvSpPr>
          <p:cNvPr id="15387" name="Rectangle 23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764462" cy="990600"/>
          </a:xfrm>
        </p:spPr>
        <p:txBody>
          <a:bodyPr/>
          <a:lstStyle/>
          <a:p>
            <a:pPr defTabSz="914400" eaLnBrk="1" hangingPunct="1"/>
            <a:r>
              <a:rPr lang="id-ID" sz="3600" dirty="0" smtClean="0"/>
              <a:t>Distribusi Sampling Rata-rata</a:t>
            </a:r>
            <a:r>
              <a:rPr lang="en-US" sz="3600" dirty="0" smtClean="0"/>
              <a:t>:</a:t>
            </a:r>
            <a:br>
              <a:rPr lang="en-US" sz="3600" dirty="0" smtClean="0"/>
            </a:br>
            <a:r>
              <a:rPr lang="id-ID" sz="3600" dirty="0" smtClean="0"/>
              <a:t>Jika populasi </a:t>
            </a:r>
            <a:r>
              <a:rPr lang="id-ID" sz="3600" b="1" dirty="0" smtClean="0"/>
              <a:t>tidak</a:t>
            </a:r>
            <a:r>
              <a:rPr lang="id-ID" sz="3600" dirty="0" smtClean="0"/>
              <a:t> normal</a:t>
            </a:r>
            <a:endParaRPr lang="en-US" sz="3600" dirty="0" smtClean="0"/>
          </a:p>
        </p:txBody>
      </p:sp>
      <p:sp>
        <p:nvSpPr>
          <p:cNvPr id="15389" name="Rectangle 25"/>
          <p:cNvSpPr>
            <a:spLocks noChangeArrowheads="1"/>
          </p:cNvSpPr>
          <p:nvPr/>
        </p:nvSpPr>
        <p:spPr bwMode="auto">
          <a:xfrm>
            <a:off x="457200" y="1981200"/>
            <a:ext cx="322262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dirty="0" smtClean="0"/>
              <a:t>Karakteristik distribusi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5390" name="Rectangle 26"/>
          <p:cNvSpPr>
            <a:spLocks noChangeArrowheads="1"/>
          </p:cNvSpPr>
          <p:nvPr/>
        </p:nvSpPr>
        <p:spPr bwMode="auto">
          <a:xfrm>
            <a:off x="762000" y="2819400"/>
            <a:ext cx="2590800" cy="11430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5391" name="Rectangle 27"/>
          <p:cNvSpPr>
            <a:spLocks noChangeArrowheads="1"/>
          </p:cNvSpPr>
          <p:nvPr/>
        </p:nvSpPr>
        <p:spPr bwMode="auto">
          <a:xfrm>
            <a:off x="762000" y="4114800"/>
            <a:ext cx="2590800" cy="13716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5392" name="Line 28"/>
          <p:cNvSpPr>
            <a:spLocks noChangeShapeType="1"/>
          </p:cNvSpPr>
          <p:nvPr/>
        </p:nvSpPr>
        <p:spPr bwMode="auto">
          <a:xfrm>
            <a:off x="4800600" y="21336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4" name="Object 29"/>
          <p:cNvGraphicFramePr>
            <a:graphicFrameLocks noChangeAspect="1"/>
          </p:cNvGraphicFramePr>
          <p:nvPr/>
        </p:nvGraphicFramePr>
        <p:xfrm>
          <a:off x="1600200" y="3200400"/>
          <a:ext cx="11906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Equation" r:id="rId7" imgW="431640" imgH="241200" progId="Equation.3">
                  <p:embed/>
                </p:oleObj>
              </mc:Choice>
              <mc:Fallback>
                <p:oleObj name="Equation" r:id="rId7" imgW="431640" imgH="24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00400"/>
                        <a:ext cx="11906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EFEB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30"/>
          <p:cNvGraphicFramePr>
            <a:graphicFrameLocks noChangeAspect="1"/>
          </p:cNvGraphicFramePr>
          <p:nvPr/>
        </p:nvGraphicFramePr>
        <p:xfrm>
          <a:off x="1447800" y="4191000"/>
          <a:ext cx="17526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Equation" r:id="rId9" imgW="596880" imgH="419040" progId="Equation.3">
                  <p:embed/>
                </p:oleObj>
              </mc:Choice>
              <mc:Fallback>
                <p:oleObj name="Equation" r:id="rId9" imgW="596880" imgH="4190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191000"/>
                        <a:ext cx="17526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EFEB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31"/>
          <p:cNvGraphicFramePr>
            <a:graphicFrameLocks noChangeAspect="1"/>
          </p:cNvGraphicFramePr>
          <p:nvPr/>
        </p:nvGraphicFramePr>
        <p:xfrm>
          <a:off x="6629400" y="6248400"/>
          <a:ext cx="377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Equation" r:id="rId11" imgW="177480" imgH="215640" progId="Equation.3">
                  <p:embed/>
                </p:oleObj>
              </mc:Choice>
              <mc:Fallback>
                <p:oleObj name="Equation" r:id="rId11" imgW="177480" imgH="2156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6248400"/>
                        <a:ext cx="3778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32"/>
          <p:cNvGraphicFramePr>
            <a:graphicFrameLocks noChangeAspect="1"/>
          </p:cNvGraphicFramePr>
          <p:nvPr/>
        </p:nvGraphicFramePr>
        <p:xfrm>
          <a:off x="6662738" y="3657600"/>
          <a:ext cx="2714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Equation" r:id="rId13" imgW="126720" imgH="177480" progId="Equation.3">
                  <p:embed/>
                </p:oleObj>
              </mc:Choice>
              <mc:Fallback>
                <p:oleObj name="Equation" r:id="rId13" imgW="126720" imgH="1774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3657600"/>
                        <a:ext cx="2714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id-ID" sz="3600" dirty="0" smtClean="0"/>
              <a:t>Berapa nilai ukuran sampel dikatakan besar/cukup besar?</a:t>
            </a:r>
            <a:endParaRPr lang="en-US" sz="3600" dirty="0" smtClean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41513"/>
            <a:ext cx="7772400" cy="4114800"/>
          </a:xfrm>
        </p:spPr>
        <p:txBody>
          <a:bodyPr/>
          <a:lstStyle/>
          <a:p>
            <a:pPr eaLnBrk="1" hangingPunct="1">
              <a:spcBef>
                <a:spcPct val="65000"/>
              </a:spcBef>
            </a:pPr>
            <a:r>
              <a:rPr lang="id-ID" dirty="0" smtClean="0"/>
              <a:t>Berdasarkan teori limit pusat, suatu sampel dikatakan cukup besar apabila ukuran sampel tersebut lebih dari 30 atau </a:t>
            </a:r>
            <a:r>
              <a:rPr lang="en-US" dirty="0" smtClean="0">
                <a:solidFill>
                  <a:schemeClr val="folHlink"/>
                </a:solidFill>
              </a:rPr>
              <a:t>n ≥ 30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Contoh</a:t>
            </a:r>
            <a:endParaRPr lang="en-US" dirty="0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8077200" cy="4114800"/>
          </a:xfrm>
        </p:spPr>
        <p:txBody>
          <a:bodyPr/>
          <a:lstStyle/>
          <a:p>
            <a:pPr eaLnBrk="1" hangingPunct="1"/>
            <a:r>
              <a:rPr lang="id-ID" dirty="0" smtClean="0"/>
              <a:t>Misalkan suatu populasi memiliki</a:t>
            </a:r>
            <a:r>
              <a:rPr lang="en-US" dirty="0" smtClean="0"/>
              <a:t> mean </a:t>
            </a:r>
            <a:r>
              <a:rPr lang="el-GR" dirty="0" smtClean="0">
                <a:solidFill>
                  <a:schemeClr val="folHlink"/>
                </a:solidFill>
                <a:cs typeface="Arial" charset="0"/>
                <a:sym typeface="Symbol" pitchFamily="18" charset="2"/>
              </a:rPr>
              <a:t>μ</a:t>
            </a:r>
            <a:r>
              <a:rPr lang="en-US" dirty="0" smtClean="0">
                <a:solidFill>
                  <a:schemeClr val="folHlink"/>
                </a:solidFill>
                <a:sym typeface="Symbol" pitchFamily="18" charset="2"/>
              </a:rPr>
              <a:t> = 8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id-ID" dirty="0" smtClean="0">
                <a:sym typeface="Symbol" pitchFamily="18" charset="2"/>
              </a:rPr>
              <a:t>dan standar deviasi </a:t>
            </a:r>
            <a:r>
              <a:rPr lang="el-GR" dirty="0" smtClean="0">
                <a:solidFill>
                  <a:schemeClr val="folHlink"/>
                </a:solidFill>
                <a:cs typeface="Arial" charset="0"/>
                <a:sym typeface="Symbol" pitchFamily="18" charset="2"/>
              </a:rPr>
              <a:t>σ</a:t>
            </a:r>
            <a:r>
              <a:rPr lang="en-US" dirty="0" smtClean="0">
                <a:solidFill>
                  <a:schemeClr val="folHlink"/>
                </a:solidFill>
                <a:sym typeface="Symbol" pitchFamily="18" charset="2"/>
              </a:rPr>
              <a:t> = 3</a:t>
            </a:r>
            <a:r>
              <a:rPr lang="en-US" dirty="0" smtClean="0">
                <a:sym typeface="Symbol" pitchFamily="18" charset="2"/>
              </a:rPr>
              <a:t>.  </a:t>
            </a:r>
            <a:r>
              <a:rPr lang="id-ID" dirty="0" smtClean="0">
                <a:sym typeface="Symbol" pitchFamily="18" charset="2"/>
              </a:rPr>
              <a:t>Dari populasi tsb diambil sampel secara acak berukuran </a:t>
            </a:r>
            <a:r>
              <a:rPr lang="en-US" dirty="0" smtClean="0">
                <a:solidFill>
                  <a:schemeClr val="folHlink"/>
                </a:solidFill>
                <a:sym typeface="Symbol" pitchFamily="18" charset="2"/>
              </a:rPr>
              <a:t>n = 36</a:t>
            </a:r>
            <a:endParaRPr lang="en-US" dirty="0" smtClean="0">
              <a:sym typeface="Symbol" pitchFamily="18" charset="2"/>
            </a:endParaRPr>
          </a:p>
          <a:p>
            <a:pPr eaLnBrk="1" hangingPunct="1"/>
            <a:r>
              <a:rPr lang="id-ID" dirty="0" smtClean="0">
                <a:sym typeface="Symbol" pitchFamily="18" charset="2"/>
              </a:rPr>
              <a:t>Berapa probabilitas </a:t>
            </a:r>
            <a:r>
              <a:rPr lang="id-ID" dirty="0" smtClean="0">
                <a:solidFill>
                  <a:srgbClr val="0070C0"/>
                </a:solidFill>
                <a:sym typeface="Symbol" pitchFamily="18" charset="2"/>
              </a:rPr>
              <a:t>rata-rata sampel </a:t>
            </a:r>
            <a:r>
              <a:rPr lang="id-ID" dirty="0" smtClean="0">
                <a:sym typeface="Symbol" pitchFamily="18" charset="2"/>
              </a:rPr>
              <a:t>yang terpilih terletak diantara </a:t>
            </a:r>
            <a:r>
              <a:rPr lang="en-US" dirty="0" smtClean="0">
                <a:sym typeface="Symbol" pitchFamily="18" charset="2"/>
              </a:rPr>
              <a:t>7.8 </a:t>
            </a:r>
            <a:r>
              <a:rPr lang="id-ID" dirty="0" smtClean="0">
                <a:sym typeface="Symbol" pitchFamily="18" charset="2"/>
              </a:rPr>
              <a:t>dan</a:t>
            </a:r>
            <a:r>
              <a:rPr lang="en-US" dirty="0" smtClean="0">
                <a:sym typeface="Symbol" pitchFamily="18" charset="2"/>
              </a:rPr>
              <a:t> 8.2?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200" dirty="0" smtClean="0"/>
              <a:t>Contoh: Distribusi Sampling Rata-rata</a:t>
            </a:r>
            <a:endParaRPr lang="en-US" sz="3200" dirty="0" smtClean="0"/>
          </a:p>
        </p:txBody>
      </p:sp>
      <p:sp>
        <p:nvSpPr>
          <p:cNvPr id="163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077200" cy="44196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dirty="0" err="1" smtClean="0">
                <a:solidFill>
                  <a:schemeClr val="folHlink"/>
                </a:solidFill>
              </a:rPr>
              <a:t>Solu</a:t>
            </a:r>
            <a:r>
              <a:rPr lang="id-ID" dirty="0" smtClean="0">
                <a:solidFill>
                  <a:schemeClr val="folHlink"/>
                </a:solidFill>
              </a:rPr>
              <a:t>si</a:t>
            </a:r>
            <a:r>
              <a:rPr lang="en-US" dirty="0" smtClean="0">
                <a:solidFill>
                  <a:schemeClr val="folHlink"/>
                </a:solidFill>
              </a:rPr>
              <a:t>:</a:t>
            </a:r>
          </a:p>
          <a:p>
            <a:pPr eaLnBrk="1" hangingPunct="1">
              <a:spcBef>
                <a:spcPct val="60000"/>
              </a:spcBef>
            </a:pPr>
            <a:r>
              <a:rPr lang="id-ID" dirty="0" smtClean="0"/>
              <a:t>Bahkan jika populasi tidak berdistribusi normal, teorema limit pusat dapa</a:t>
            </a:r>
            <a:r>
              <a:rPr lang="en-US" dirty="0" smtClean="0"/>
              <a:t>t</a:t>
            </a:r>
            <a:r>
              <a:rPr lang="id-ID" dirty="0" smtClean="0"/>
              <a:t> digunakan </a:t>
            </a:r>
            <a:r>
              <a:rPr lang="en-US" dirty="0" smtClean="0"/>
              <a:t>(n ≥ 30)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 smtClean="0"/>
              <a:t>… </a:t>
            </a:r>
            <a:r>
              <a:rPr lang="id-ID" dirty="0" smtClean="0"/>
              <a:t>sehingga distribusi sampling rata-rata mendekati normal</a:t>
            </a:r>
            <a:endParaRPr lang="en-US" dirty="0" smtClean="0"/>
          </a:p>
          <a:p>
            <a:pPr eaLnBrk="1" hangingPunct="1">
              <a:spcBef>
                <a:spcPct val="60000"/>
              </a:spcBef>
            </a:pPr>
            <a:r>
              <a:rPr lang="en-US" dirty="0" smtClean="0"/>
              <a:t>… </a:t>
            </a:r>
            <a:r>
              <a:rPr lang="id-ID" dirty="0" smtClean="0"/>
              <a:t>dengan rata-rata      </a:t>
            </a:r>
            <a:r>
              <a:rPr lang="en-US" dirty="0" smtClean="0">
                <a:sym typeface="Symbol" pitchFamily="18" charset="2"/>
              </a:rPr>
              <a:t>=  8 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 smtClean="0">
                <a:sym typeface="Symbol" pitchFamily="18" charset="2"/>
              </a:rPr>
              <a:t>…</a:t>
            </a:r>
            <a:r>
              <a:rPr lang="id-ID" dirty="0" smtClean="0">
                <a:sym typeface="Symbol" pitchFamily="18" charset="2"/>
              </a:rPr>
              <a:t>dan standar deviasi</a:t>
            </a:r>
            <a:endParaRPr lang="en-US" sz="2400" dirty="0" smtClean="0">
              <a:sym typeface="Symbol" pitchFamily="18" charset="2"/>
            </a:endParaRPr>
          </a:p>
          <a:p>
            <a:pPr eaLnBrk="1" hangingPunct="1">
              <a:spcBef>
                <a:spcPct val="60000"/>
              </a:spcBef>
            </a:pPr>
            <a:endParaRPr lang="en-US" sz="2400" dirty="0" smtClean="0">
              <a:sym typeface="Symbol" pitchFamily="18" charset="2"/>
            </a:endParaRPr>
          </a:p>
        </p:txBody>
      </p:sp>
      <p:graphicFrame>
        <p:nvGraphicFramePr>
          <p:cNvPr id="16387" name="Object 6"/>
          <p:cNvGraphicFramePr>
            <a:graphicFrameLocks noChangeAspect="1"/>
          </p:cNvGraphicFramePr>
          <p:nvPr/>
        </p:nvGraphicFramePr>
        <p:xfrm>
          <a:off x="4343400" y="4648200"/>
          <a:ext cx="403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648200"/>
                        <a:ext cx="403225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7"/>
          <p:cNvGraphicFramePr>
            <a:graphicFrameLocks noChangeAspect="1"/>
          </p:cNvGraphicFramePr>
          <p:nvPr/>
        </p:nvGraphicFramePr>
        <p:xfrm>
          <a:off x="5378450" y="5486400"/>
          <a:ext cx="29273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Equation" r:id="rId6" imgW="1434960" imgH="419040" progId="Equation.3">
                  <p:embed/>
                </p:oleObj>
              </mc:Choice>
              <mc:Fallback>
                <p:oleObj name="Equation" r:id="rId6" imgW="143496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5486400"/>
                        <a:ext cx="2927350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2"/>
          <p:cNvSpPr>
            <a:spLocks noChangeArrowheads="1"/>
          </p:cNvSpPr>
          <p:nvPr/>
        </p:nvSpPr>
        <p:spPr bwMode="auto">
          <a:xfrm>
            <a:off x="6629400" y="3613150"/>
            <a:ext cx="1143000" cy="4572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7417" name="Freeform 3"/>
          <p:cNvSpPr>
            <a:spLocks/>
          </p:cNvSpPr>
          <p:nvPr/>
        </p:nvSpPr>
        <p:spPr bwMode="auto">
          <a:xfrm>
            <a:off x="6927850" y="4648200"/>
            <a:ext cx="549275" cy="1295400"/>
          </a:xfrm>
          <a:custGeom>
            <a:avLst/>
            <a:gdLst>
              <a:gd name="T0" fmla="*/ 549275 w 346"/>
              <a:gd name="T1" fmla="*/ 0 h 816"/>
              <a:gd name="T2" fmla="*/ 414338 w 346"/>
              <a:gd name="T3" fmla="*/ 68263 h 816"/>
              <a:gd name="T4" fmla="*/ 314325 w 346"/>
              <a:gd name="T5" fmla="*/ 198437 h 816"/>
              <a:gd name="T6" fmla="*/ 246063 w 346"/>
              <a:gd name="T7" fmla="*/ 293688 h 816"/>
              <a:gd name="T8" fmla="*/ 144462 w 346"/>
              <a:gd name="T9" fmla="*/ 458788 h 816"/>
              <a:gd name="T10" fmla="*/ 77787 w 346"/>
              <a:gd name="T11" fmla="*/ 587375 h 816"/>
              <a:gd name="T12" fmla="*/ 9525 w 346"/>
              <a:gd name="T13" fmla="*/ 717550 h 816"/>
              <a:gd name="T14" fmla="*/ 0 w 346"/>
              <a:gd name="T15" fmla="*/ 1295400 h 816"/>
              <a:gd name="T16" fmla="*/ 539750 w 346"/>
              <a:gd name="T17" fmla="*/ 1295400 h 816"/>
              <a:gd name="T18" fmla="*/ 549275 w 346"/>
              <a:gd name="T19" fmla="*/ 0 h 8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6"/>
              <a:gd name="T31" fmla="*/ 0 h 816"/>
              <a:gd name="T32" fmla="*/ 346 w 346"/>
              <a:gd name="T33" fmla="*/ 816 h 8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6" h="816">
                <a:moveTo>
                  <a:pt x="346" y="0"/>
                </a:moveTo>
                <a:lnTo>
                  <a:pt x="261" y="43"/>
                </a:lnTo>
                <a:lnTo>
                  <a:pt x="198" y="125"/>
                </a:lnTo>
                <a:lnTo>
                  <a:pt x="155" y="185"/>
                </a:lnTo>
                <a:lnTo>
                  <a:pt x="91" y="289"/>
                </a:lnTo>
                <a:lnTo>
                  <a:pt x="49" y="370"/>
                </a:lnTo>
                <a:lnTo>
                  <a:pt x="6" y="452"/>
                </a:lnTo>
                <a:lnTo>
                  <a:pt x="0" y="816"/>
                </a:lnTo>
                <a:lnTo>
                  <a:pt x="340" y="816"/>
                </a:lnTo>
                <a:lnTo>
                  <a:pt x="346" y="0"/>
                </a:lnTo>
              </a:path>
            </a:pathLst>
          </a:custGeom>
          <a:solidFill>
            <a:srgbClr val="FFCCFF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8" name="Freeform 4"/>
          <p:cNvSpPr>
            <a:spLocks/>
          </p:cNvSpPr>
          <p:nvPr/>
        </p:nvSpPr>
        <p:spPr bwMode="auto">
          <a:xfrm>
            <a:off x="7467600" y="4648200"/>
            <a:ext cx="541338" cy="1295400"/>
          </a:xfrm>
          <a:custGeom>
            <a:avLst/>
            <a:gdLst>
              <a:gd name="T0" fmla="*/ 0 w 409"/>
              <a:gd name="T1" fmla="*/ 0 h 1008"/>
              <a:gd name="T2" fmla="*/ 135004 w 409"/>
              <a:gd name="T3" fmla="*/ 70682 h 1008"/>
              <a:gd name="T4" fmla="*/ 234271 w 409"/>
              <a:gd name="T5" fmla="*/ 206904 h 1008"/>
              <a:gd name="T6" fmla="*/ 303096 w 409"/>
              <a:gd name="T7" fmla="*/ 307143 h 1008"/>
              <a:gd name="T8" fmla="*/ 405011 w 409"/>
              <a:gd name="T9" fmla="*/ 479349 h 1008"/>
              <a:gd name="T10" fmla="*/ 471189 w 409"/>
              <a:gd name="T11" fmla="*/ 613002 h 1008"/>
              <a:gd name="T12" fmla="*/ 540014 w 409"/>
              <a:gd name="T13" fmla="*/ 749225 h 1008"/>
              <a:gd name="T14" fmla="*/ 540014 w 409"/>
              <a:gd name="T15" fmla="*/ 1294115 h 1008"/>
              <a:gd name="T16" fmla="*/ 0 w 409"/>
              <a:gd name="T17" fmla="*/ 1294115 h 1008"/>
              <a:gd name="T18" fmla="*/ 0 w 409"/>
              <a:gd name="T19" fmla="*/ 0 h 100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09"/>
              <a:gd name="T31" fmla="*/ 0 h 1008"/>
              <a:gd name="T32" fmla="*/ 409 w 409"/>
              <a:gd name="T33" fmla="*/ 1008 h 100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09" h="1008">
                <a:moveTo>
                  <a:pt x="0" y="0"/>
                </a:moveTo>
                <a:lnTo>
                  <a:pt x="102" y="55"/>
                </a:lnTo>
                <a:lnTo>
                  <a:pt x="177" y="161"/>
                </a:lnTo>
                <a:lnTo>
                  <a:pt x="229" y="239"/>
                </a:lnTo>
                <a:lnTo>
                  <a:pt x="306" y="373"/>
                </a:lnTo>
                <a:lnTo>
                  <a:pt x="356" y="477"/>
                </a:lnTo>
                <a:lnTo>
                  <a:pt x="408" y="583"/>
                </a:lnTo>
                <a:lnTo>
                  <a:pt x="408" y="1007"/>
                </a:lnTo>
                <a:lnTo>
                  <a:pt x="0" y="1007"/>
                </a:lnTo>
                <a:lnTo>
                  <a:pt x="0" y="0"/>
                </a:lnTo>
              </a:path>
            </a:pathLst>
          </a:custGeom>
          <a:solidFill>
            <a:srgbClr val="FFCCFF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Line 5"/>
          <p:cNvSpPr>
            <a:spLocks noChangeShapeType="1"/>
          </p:cNvSpPr>
          <p:nvPr/>
        </p:nvSpPr>
        <p:spPr bwMode="auto">
          <a:xfrm>
            <a:off x="7467600" y="4648200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20" name="Freeform 6"/>
          <p:cNvSpPr>
            <a:spLocks/>
          </p:cNvSpPr>
          <p:nvPr/>
        </p:nvSpPr>
        <p:spPr bwMode="auto">
          <a:xfrm>
            <a:off x="4035425" y="4724400"/>
            <a:ext cx="546100" cy="1301750"/>
          </a:xfrm>
          <a:custGeom>
            <a:avLst/>
            <a:gdLst>
              <a:gd name="T0" fmla="*/ 546100 w 344"/>
              <a:gd name="T1" fmla="*/ 0 h 820"/>
              <a:gd name="T2" fmla="*/ 411163 w 344"/>
              <a:gd name="T3" fmla="*/ 68263 h 820"/>
              <a:gd name="T4" fmla="*/ 311150 w 344"/>
              <a:gd name="T5" fmla="*/ 198437 h 820"/>
              <a:gd name="T6" fmla="*/ 242888 w 344"/>
              <a:gd name="T7" fmla="*/ 293688 h 820"/>
              <a:gd name="T8" fmla="*/ 141287 w 344"/>
              <a:gd name="T9" fmla="*/ 458788 h 820"/>
              <a:gd name="T10" fmla="*/ 74612 w 344"/>
              <a:gd name="T11" fmla="*/ 587375 h 820"/>
              <a:gd name="T12" fmla="*/ 6350 w 344"/>
              <a:gd name="T13" fmla="*/ 717550 h 820"/>
              <a:gd name="T14" fmla="*/ 0 w 344"/>
              <a:gd name="T15" fmla="*/ 1301750 h 820"/>
              <a:gd name="T16" fmla="*/ 546100 w 344"/>
              <a:gd name="T17" fmla="*/ 1295400 h 820"/>
              <a:gd name="T18" fmla="*/ 546100 w 344"/>
              <a:gd name="T19" fmla="*/ 0 h 82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4"/>
              <a:gd name="T31" fmla="*/ 0 h 820"/>
              <a:gd name="T32" fmla="*/ 344 w 344"/>
              <a:gd name="T33" fmla="*/ 820 h 82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4" h="820">
                <a:moveTo>
                  <a:pt x="344" y="0"/>
                </a:moveTo>
                <a:lnTo>
                  <a:pt x="259" y="43"/>
                </a:lnTo>
                <a:lnTo>
                  <a:pt x="196" y="125"/>
                </a:lnTo>
                <a:lnTo>
                  <a:pt x="153" y="185"/>
                </a:lnTo>
                <a:lnTo>
                  <a:pt x="89" y="289"/>
                </a:lnTo>
                <a:lnTo>
                  <a:pt x="47" y="370"/>
                </a:lnTo>
                <a:lnTo>
                  <a:pt x="4" y="452"/>
                </a:lnTo>
                <a:lnTo>
                  <a:pt x="0" y="820"/>
                </a:lnTo>
                <a:lnTo>
                  <a:pt x="344" y="816"/>
                </a:lnTo>
                <a:lnTo>
                  <a:pt x="344" y="0"/>
                </a:lnTo>
              </a:path>
            </a:pathLst>
          </a:custGeom>
          <a:solidFill>
            <a:schemeClr val="accent1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1" name="Freeform 7"/>
          <p:cNvSpPr>
            <a:spLocks/>
          </p:cNvSpPr>
          <p:nvPr/>
        </p:nvSpPr>
        <p:spPr bwMode="auto">
          <a:xfrm>
            <a:off x="4572000" y="4724400"/>
            <a:ext cx="533400" cy="1295400"/>
          </a:xfrm>
          <a:custGeom>
            <a:avLst/>
            <a:gdLst>
              <a:gd name="T0" fmla="*/ 0 w 409"/>
              <a:gd name="T1" fmla="*/ 0 h 1008"/>
              <a:gd name="T2" fmla="*/ 133024 w 409"/>
              <a:gd name="T3" fmla="*/ 70682 h 1008"/>
              <a:gd name="T4" fmla="*/ 230836 w 409"/>
              <a:gd name="T5" fmla="*/ 206904 h 1008"/>
              <a:gd name="T6" fmla="*/ 298652 w 409"/>
              <a:gd name="T7" fmla="*/ 307143 h 1008"/>
              <a:gd name="T8" fmla="*/ 399072 w 409"/>
              <a:gd name="T9" fmla="*/ 479349 h 1008"/>
              <a:gd name="T10" fmla="*/ 464280 w 409"/>
              <a:gd name="T11" fmla="*/ 613002 h 1008"/>
              <a:gd name="T12" fmla="*/ 532096 w 409"/>
              <a:gd name="T13" fmla="*/ 749225 h 1008"/>
              <a:gd name="T14" fmla="*/ 532096 w 409"/>
              <a:gd name="T15" fmla="*/ 1294115 h 1008"/>
              <a:gd name="T16" fmla="*/ 0 w 409"/>
              <a:gd name="T17" fmla="*/ 1294115 h 1008"/>
              <a:gd name="T18" fmla="*/ 0 w 409"/>
              <a:gd name="T19" fmla="*/ 0 h 100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09"/>
              <a:gd name="T31" fmla="*/ 0 h 1008"/>
              <a:gd name="T32" fmla="*/ 409 w 409"/>
              <a:gd name="T33" fmla="*/ 1008 h 100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09" h="1008">
                <a:moveTo>
                  <a:pt x="0" y="0"/>
                </a:moveTo>
                <a:lnTo>
                  <a:pt x="102" y="55"/>
                </a:lnTo>
                <a:lnTo>
                  <a:pt x="177" y="161"/>
                </a:lnTo>
                <a:lnTo>
                  <a:pt x="229" y="239"/>
                </a:lnTo>
                <a:lnTo>
                  <a:pt x="306" y="373"/>
                </a:lnTo>
                <a:lnTo>
                  <a:pt x="356" y="477"/>
                </a:lnTo>
                <a:lnTo>
                  <a:pt x="408" y="583"/>
                </a:lnTo>
                <a:lnTo>
                  <a:pt x="408" y="1007"/>
                </a:lnTo>
                <a:lnTo>
                  <a:pt x="0" y="100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2" name="Line 8"/>
          <p:cNvSpPr>
            <a:spLocks noChangeShapeType="1"/>
          </p:cNvSpPr>
          <p:nvPr/>
        </p:nvSpPr>
        <p:spPr bwMode="auto">
          <a:xfrm>
            <a:off x="4572000" y="4724400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7410" name="Object 12"/>
          <p:cNvGraphicFramePr>
            <a:graphicFrameLocks noChangeAspect="1"/>
          </p:cNvGraphicFramePr>
          <p:nvPr/>
        </p:nvGraphicFramePr>
        <p:xfrm>
          <a:off x="1447800" y="2133600"/>
          <a:ext cx="6386513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4" name="Equation" r:id="rId4" imgW="3085920" imgH="927000" progId="Equation.3">
                  <p:embed/>
                </p:oleObj>
              </mc:Choice>
              <mc:Fallback>
                <p:oleObj name="Equation" r:id="rId4" imgW="3085920" imgH="927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33600"/>
                        <a:ext cx="6386513" cy="191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" name="Freeform 13"/>
          <p:cNvSpPr>
            <a:spLocks/>
          </p:cNvSpPr>
          <p:nvPr/>
        </p:nvSpPr>
        <p:spPr bwMode="auto">
          <a:xfrm>
            <a:off x="4572000" y="4724400"/>
            <a:ext cx="1219200" cy="1219200"/>
          </a:xfrm>
          <a:custGeom>
            <a:avLst/>
            <a:gdLst>
              <a:gd name="T0" fmla="*/ 1218016 w 1030"/>
              <a:gd name="T1" fmla="*/ 1217970 h 991"/>
              <a:gd name="T2" fmla="*/ 1090178 w 1030"/>
              <a:gd name="T3" fmla="*/ 1205667 h 991"/>
              <a:gd name="T4" fmla="*/ 1025075 w 1030"/>
              <a:gd name="T5" fmla="*/ 1189673 h 991"/>
              <a:gd name="T6" fmla="*/ 962339 w 1030"/>
              <a:gd name="T7" fmla="*/ 1171219 h 991"/>
              <a:gd name="T8" fmla="*/ 897236 w 1030"/>
              <a:gd name="T9" fmla="*/ 1142923 h 991"/>
              <a:gd name="T10" fmla="*/ 832133 w 1030"/>
              <a:gd name="T11" fmla="*/ 1103554 h 991"/>
              <a:gd name="T12" fmla="*/ 770582 w 1030"/>
              <a:gd name="T13" fmla="*/ 1054344 h 991"/>
              <a:gd name="T14" fmla="*/ 640376 w 1030"/>
              <a:gd name="T15" fmla="*/ 914093 h 991"/>
              <a:gd name="T16" fmla="*/ 512537 w 1030"/>
              <a:gd name="T17" fmla="*/ 714788 h 991"/>
              <a:gd name="T18" fmla="*/ 384699 w 1030"/>
              <a:gd name="T19" fmla="*/ 474885 h 991"/>
              <a:gd name="T20" fmla="*/ 319596 w 1030"/>
              <a:gd name="T21" fmla="*/ 353088 h 991"/>
              <a:gd name="T22" fmla="*/ 254493 w 1030"/>
              <a:gd name="T23" fmla="*/ 241133 h 991"/>
              <a:gd name="T24" fmla="*/ 192941 w 1030"/>
              <a:gd name="T25" fmla="*/ 142712 h 991"/>
              <a:gd name="T26" fmla="*/ 127838 w 1030"/>
              <a:gd name="T27" fmla="*/ 65204 h 991"/>
              <a:gd name="T28" fmla="*/ 62736 w 1030"/>
              <a:gd name="T29" fmla="*/ 15994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7" name="Freeform 14"/>
          <p:cNvSpPr>
            <a:spLocks/>
          </p:cNvSpPr>
          <p:nvPr/>
        </p:nvSpPr>
        <p:spPr bwMode="auto">
          <a:xfrm>
            <a:off x="3352800" y="4724400"/>
            <a:ext cx="1220788" cy="1219200"/>
          </a:xfrm>
          <a:custGeom>
            <a:avLst/>
            <a:gdLst>
              <a:gd name="T0" fmla="*/ 0 w 1032"/>
              <a:gd name="T1" fmla="*/ 1217970 h 991"/>
              <a:gd name="T2" fmla="*/ 127757 w 1032"/>
              <a:gd name="T3" fmla="*/ 1205667 h 991"/>
              <a:gd name="T4" fmla="*/ 192818 w 1032"/>
              <a:gd name="T5" fmla="*/ 1189673 h 991"/>
              <a:gd name="T6" fmla="*/ 257880 w 1032"/>
              <a:gd name="T7" fmla="*/ 1171219 h 991"/>
              <a:gd name="T8" fmla="*/ 320575 w 1032"/>
              <a:gd name="T9" fmla="*/ 1142923 h 991"/>
              <a:gd name="T10" fmla="*/ 385636 w 1032"/>
              <a:gd name="T11" fmla="*/ 1103554 h 991"/>
              <a:gd name="T12" fmla="*/ 450698 w 1032"/>
              <a:gd name="T13" fmla="*/ 1054344 h 991"/>
              <a:gd name="T14" fmla="*/ 577272 w 1032"/>
              <a:gd name="T15" fmla="*/ 914093 h 991"/>
              <a:gd name="T16" fmla="*/ 705029 w 1032"/>
              <a:gd name="T17" fmla="*/ 714788 h 991"/>
              <a:gd name="T18" fmla="*/ 835151 w 1032"/>
              <a:gd name="T19" fmla="*/ 474885 h 991"/>
              <a:gd name="T20" fmla="*/ 897847 w 1032"/>
              <a:gd name="T21" fmla="*/ 353088 h 991"/>
              <a:gd name="T22" fmla="*/ 962908 w 1032"/>
              <a:gd name="T23" fmla="*/ 241133 h 991"/>
              <a:gd name="T24" fmla="*/ 1026787 w 1032"/>
              <a:gd name="T25" fmla="*/ 142712 h 991"/>
              <a:gd name="T26" fmla="*/ 1089482 w 1032"/>
              <a:gd name="T27" fmla="*/ 65204 h 991"/>
              <a:gd name="T28" fmla="*/ 1154543 w 1032"/>
              <a:gd name="T29" fmla="*/ 15994 h 991"/>
              <a:gd name="T30" fmla="*/ 1219605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Freeform 15"/>
          <p:cNvSpPr>
            <a:spLocks/>
          </p:cNvSpPr>
          <p:nvPr/>
        </p:nvSpPr>
        <p:spPr bwMode="auto">
          <a:xfrm>
            <a:off x="7467600" y="4648200"/>
            <a:ext cx="1219200" cy="1219200"/>
          </a:xfrm>
          <a:custGeom>
            <a:avLst/>
            <a:gdLst>
              <a:gd name="T0" fmla="*/ 1218016 w 1030"/>
              <a:gd name="T1" fmla="*/ 1217970 h 991"/>
              <a:gd name="T2" fmla="*/ 1090178 w 1030"/>
              <a:gd name="T3" fmla="*/ 1205667 h 991"/>
              <a:gd name="T4" fmla="*/ 1025075 w 1030"/>
              <a:gd name="T5" fmla="*/ 1189673 h 991"/>
              <a:gd name="T6" fmla="*/ 962339 w 1030"/>
              <a:gd name="T7" fmla="*/ 1171219 h 991"/>
              <a:gd name="T8" fmla="*/ 897236 w 1030"/>
              <a:gd name="T9" fmla="*/ 1142923 h 991"/>
              <a:gd name="T10" fmla="*/ 832133 w 1030"/>
              <a:gd name="T11" fmla="*/ 1103554 h 991"/>
              <a:gd name="T12" fmla="*/ 770582 w 1030"/>
              <a:gd name="T13" fmla="*/ 1054344 h 991"/>
              <a:gd name="T14" fmla="*/ 640376 w 1030"/>
              <a:gd name="T15" fmla="*/ 914093 h 991"/>
              <a:gd name="T16" fmla="*/ 512537 w 1030"/>
              <a:gd name="T17" fmla="*/ 714788 h 991"/>
              <a:gd name="T18" fmla="*/ 384699 w 1030"/>
              <a:gd name="T19" fmla="*/ 474885 h 991"/>
              <a:gd name="T20" fmla="*/ 319596 w 1030"/>
              <a:gd name="T21" fmla="*/ 353088 h 991"/>
              <a:gd name="T22" fmla="*/ 254493 w 1030"/>
              <a:gd name="T23" fmla="*/ 241133 h 991"/>
              <a:gd name="T24" fmla="*/ 192941 w 1030"/>
              <a:gd name="T25" fmla="*/ 142712 h 991"/>
              <a:gd name="T26" fmla="*/ 127838 w 1030"/>
              <a:gd name="T27" fmla="*/ 65204 h 991"/>
              <a:gd name="T28" fmla="*/ 62736 w 1030"/>
              <a:gd name="T29" fmla="*/ 15994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9" name="Freeform 16"/>
          <p:cNvSpPr>
            <a:spLocks/>
          </p:cNvSpPr>
          <p:nvPr/>
        </p:nvSpPr>
        <p:spPr bwMode="auto">
          <a:xfrm>
            <a:off x="6248400" y="4648200"/>
            <a:ext cx="1220788" cy="1219200"/>
          </a:xfrm>
          <a:custGeom>
            <a:avLst/>
            <a:gdLst>
              <a:gd name="T0" fmla="*/ 0 w 1032"/>
              <a:gd name="T1" fmla="*/ 1217970 h 991"/>
              <a:gd name="T2" fmla="*/ 127757 w 1032"/>
              <a:gd name="T3" fmla="*/ 1205667 h 991"/>
              <a:gd name="T4" fmla="*/ 192818 w 1032"/>
              <a:gd name="T5" fmla="*/ 1189673 h 991"/>
              <a:gd name="T6" fmla="*/ 257880 w 1032"/>
              <a:gd name="T7" fmla="*/ 1171219 h 991"/>
              <a:gd name="T8" fmla="*/ 320575 w 1032"/>
              <a:gd name="T9" fmla="*/ 1142923 h 991"/>
              <a:gd name="T10" fmla="*/ 385636 w 1032"/>
              <a:gd name="T11" fmla="*/ 1103554 h 991"/>
              <a:gd name="T12" fmla="*/ 450698 w 1032"/>
              <a:gd name="T13" fmla="*/ 1054344 h 991"/>
              <a:gd name="T14" fmla="*/ 577272 w 1032"/>
              <a:gd name="T15" fmla="*/ 914093 h 991"/>
              <a:gd name="T16" fmla="*/ 705029 w 1032"/>
              <a:gd name="T17" fmla="*/ 714788 h 991"/>
              <a:gd name="T18" fmla="*/ 835151 w 1032"/>
              <a:gd name="T19" fmla="*/ 474885 h 991"/>
              <a:gd name="T20" fmla="*/ 897847 w 1032"/>
              <a:gd name="T21" fmla="*/ 353088 h 991"/>
              <a:gd name="T22" fmla="*/ 962908 w 1032"/>
              <a:gd name="T23" fmla="*/ 241133 h 991"/>
              <a:gd name="T24" fmla="*/ 1026787 w 1032"/>
              <a:gd name="T25" fmla="*/ 142712 h 991"/>
              <a:gd name="T26" fmla="*/ 1089482 w 1032"/>
              <a:gd name="T27" fmla="*/ 65204 h 991"/>
              <a:gd name="T28" fmla="*/ 1154543 w 1032"/>
              <a:gd name="T29" fmla="*/ 15994 h 991"/>
              <a:gd name="T30" fmla="*/ 1219605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0" name="Text Box 17"/>
          <p:cNvSpPr txBox="1">
            <a:spLocks noChangeArrowheads="1"/>
          </p:cNvSpPr>
          <p:nvPr/>
        </p:nvSpPr>
        <p:spPr bwMode="auto">
          <a:xfrm>
            <a:off x="8610600" y="5943600"/>
            <a:ext cx="38100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Z</a:t>
            </a:r>
          </a:p>
        </p:txBody>
      </p:sp>
      <p:sp>
        <p:nvSpPr>
          <p:cNvPr id="17431" name="Text Box 18"/>
          <p:cNvSpPr txBox="1">
            <a:spLocks noChangeArrowheads="1"/>
          </p:cNvSpPr>
          <p:nvPr/>
        </p:nvSpPr>
        <p:spPr bwMode="auto">
          <a:xfrm>
            <a:off x="3810000" y="5943600"/>
            <a:ext cx="16002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7.8             8.2</a:t>
            </a:r>
          </a:p>
        </p:txBody>
      </p:sp>
      <p:sp>
        <p:nvSpPr>
          <p:cNvPr id="17432" name="Line 19"/>
          <p:cNvSpPr>
            <a:spLocks noChangeShapeType="1"/>
          </p:cNvSpPr>
          <p:nvPr/>
        </p:nvSpPr>
        <p:spPr bwMode="auto">
          <a:xfrm>
            <a:off x="3276600" y="6019800"/>
            <a:ext cx="2590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20"/>
          <p:cNvSpPr>
            <a:spLocks noChangeShapeType="1"/>
          </p:cNvSpPr>
          <p:nvPr/>
        </p:nvSpPr>
        <p:spPr bwMode="auto">
          <a:xfrm>
            <a:off x="6248400" y="5943600"/>
            <a:ext cx="2590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4" name="Text Box 21"/>
          <p:cNvSpPr txBox="1">
            <a:spLocks noChangeArrowheads="1"/>
          </p:cNvSpPr>
          <p:nvPr/>
        </p:nvSpPr>
        <p:spPr bwMode="auto">
          <a:xfrm>
            <a:off x="6705600" y="5867400"/>
            <a:ext cx="16002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-0.4            0.4</a:t>
            </a:r>
          </a:p>
        </p:txBody>
      </p:sp>
      <p:sp>
        <p:nvSpPr>
          <p:cNvPr id="17435" name="AutoShape 22"/>
          <p:cNvSpPr>
            <a:spLocks noChangeArrowheads="1"/>
          </p:cNvSpPr>
          <p:nvPr/>
        </p:nvSpPr>
        <p:spPr bwMode="auto">
          <a:xfrm>
            <a:off x="5486400" y="5257800"/>
            <a:ext cx="1066800" cy="228600"/>
          </a:xfrm>
          <a:prstGeom prst="rightArrow">
            <a:avLst>
              <a:gd name="adj1" fmla="val 50000"/>
              <a:gd name="adj2" fmla="val 116667"/>
            </a:avLst>
          </a:prstGeom>
          <a:solidFill>
            <a:schemeClr val="hlink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7436" name="Text Box 23"/>
          <p:cNvSpPr txBox="1">
            <a:spLocks noChangeArrowheads="1"/>
          </p:cNvSpPr>
          <p:nvPr/>
        </p:nvSpPr>
        <p:spPr bwMode="auto">
          <a:xfrm>
            <a:off x="2819400" y="4343400"/>
            <a:ext cx="1676400" cy="64633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sz="1800" dirty="0" smtClean="0"/>
              <a:t>Distribusi Sampling</a:t>
            </a:r>
            <a:endParaRPr lang="en-US" sz="1800" dirty="0"/>
          </a:p>
        </p:txBody>
      </p:sp>
      <p:sp>
        <p:nvSpPr>
          <p:cNvPr id="17437" name="Text Box 24"/>
          <p:cNvSpPr txBox="1">
            <a:spLocks noChangeArrowheads="1"/>
          </p:cNvSpPr>
          <p:nvPr/>
        </p:nvSpPr>
        <p:spPr bwMode="auto">
          <a:xfrm>
            <a:off x="5257800" y="4343400"/>
            <a:ext cx="2362200" cy="64633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sz="1800" dirty="0" smtClean="0"/>
              <a:t>Distribusi Normal Standar</a:t>
            </a:r>
            <a:endParaRPr lang="en-US" sz="1800" dirty="0"/>
          </a:p>
        </p:txBody>
      </p:sp>
      <p:sp>
        <p:nvSpPr>
          <p:cNvPr id="17438" name="Line 28"/>
          <p:cNvSpPr>
            <a:spLocks noChangeShapeType="1"/>
          </p:cNvSpPr>
          <p:nvPr/>
        </p:nvSpPr>
        <p:spPr bwMode="auto">
          <a:xfrm>
            <a:off x="304800" y="4343400"/>
            <a:ext cx="85344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29"/>
          <p:cNvSpPr>
            <a:spLocks noChangeShapeType="1"/>
          </p:cNvSpPr>
          <p:nvPr/>
        </p:nvSpPr>
        <p:spPr bwMode="auto">
          <a:xfrm>
            <a:off x="1524000" y="51816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40" name="Line 30"/>
          <p:cNvSpPr>
            <a:spLocks noChangeShapeType="1"/>
          </p:cNvSpPr>
          <p:nvPr/>
        </p:nvSpPr>
        <p:spPr bwMode="auto">
          <a:xfrm>
            <a:off x="228600" y="6019800"/>
            <a:ext cx="25908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1" name="Text Box 31"/>
          <p:cNvSpPr txBox="1">
            <a:spLocks noChangeArrowheads="1"/>
          </p:cNvSpPr>
          <p:nvPr/>
        </p:nvSpPr>
        <p:spPr bwMode="auto">
          <a:xfrm>
            <a:off x="0" y="4343400"/>
            <a:ext cx="1371600" cy="64633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sz="1800" dirty="0" smtClean="0"/>
              <a:t>Distribusi Populasi</a:t>
            </a:r>
            <a:endParaRPr lang="en-US" sz="1800" dirty="0"/>
          </a:p>
        </p:txBody>
      </p:sp>
      <p:sp>
        <p:nvSpPr>
          <p:cNvPr id="17442" name="Text Box 32"/>
          <p:cNvSpPr txBox="1">
            <a:spLocks noChangeArrowheads="1"/>
          </p:cNvSpPr>
          <p:nvPr/>
        </p:nvSpPr>
        <p:spPr bwMode="auto">
          <a:xfrm>
            <a:off x="1828800" y="51054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3" name="Text Box 33"/>
          <p:cNvSpPr txBox="1">
            <a:spLocks noChangeArrowheads="1"/>
          </p:cNvSpPr>
          <p:nvPr/>
        </p:nvSpPr>
        <p:spPr bwMode="auto">
          <a:xfrm>
            <a:off x="1981200" y="52578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4" name="Text Box 34"/>
          <p:cNvSpPr txBox="1">
            <a:spLocks noChangeArrowheads="1"/>
          </p:cNvSpPr>
          <p:nvPr/>
        </p:nvSpPr>
        <p:spPr bwMode="auto">
          <a:xfrm>
            <a:off x="2133600" y="54102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5" name="Text Box 35"/>
          <p:cNvSpPr txBox="1">
            <a:spLocks noChangeArrowheads="1"/>
          </p:cNvSpPr>
          <p:nvPr/>
        </p:nvSpPr>
        <p:spPr bwMode="auto">
          <a:xfrm>
            <a:off x="2286000" y="55626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6" name="Text Box 36"/>
          <p:cNvSpPr txBox="1">
            <a:spLocks noChangeArrowheads="1"/>
          </p:cNvSpPr>
          <p:nvPr/>
        </p:nvSpPr>
        <p:spPr bwMode="auto">
          <a:xfrm>
            <a:off x="1676400" y="51054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7" name="Text Box 37"/>
          <p:cNvSpPr txBox="1">
            <a:spLocks noChangeArrowheads="1"/>
          </p:cNvSpPr>
          <p:nvPr/>
        </p:nvSpPr>
        <p:spPr bwMode="auto">
          <a:xfrm>
            <a:off x="1447800" y="50292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8" name="Text Box 38"/>
          <p:cNvSpPr txBox="1">
            <a:spLocks noChangeArrowheads="1"/>
          </p:cNvSpPr>
          <p:nvPr/>
        </p:nvSpPr>
        <p:spPr bwMode="auto">
          <a:xfrm>
            <a:off x="1295400" y="49530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49" name="Text Box 39"/>
          <p:cNvSpPr txBox="1">
            <a:spLocks noChangeArrowheads="1"/>
          </p:cNvSpPr>
          <p:nvPr/>
        </p:nvSpPr>
        <p:spPr bwMode="auto">
          <a:xfrm>
            <a:off x="1143000" y="49530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50" name="Text Box 40"/>
          <p:cNvSpPr txBox="1">
            <a:spLocks noChangeArrowheads="1"/>
          </p:cNvSpPr>
          <p:nvPr/>
        </p:nvSpPr>
        <p:spPr bwMode="auto">
          <a:xfrm>
            <a:off x="914400" y="51054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51" name="Text Box 41"/>
          <p:cNvSpPr txBox="1">
            <a:spLocks noChangeArrowheads="1"/>
          </p:cNvSpPr>
          <p:nvPr/>
        </p:nvSpPr>
        <p:spPr bwMode="auto">
          <a:xfrm>
            <a:off x="762000" y="53340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52" name="Text Box 42"/>
          <p:cNvSpPr txBox="1">
            <a:spLocks noChangeArrowheads="1"/>
          </p:cNvSpPr>
          <p:nvPr/>
        </p:nvSpPr>
        <p:spPr bwMode="auto">
          <a:xfrm>
            <a:off x="609600" y="54102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53" name="Text Box 43"/>
          <p:cNvSpPr txBox="1">
            <a:spLocks noChangeArrowheads="1"/>
          </p:cNvSpPr>
          <p:nvPr/>
        </p:nvSpPr>
        <p:spPr bwMode="auto">
          <a:xfrm>
            <a:off x="457200" y="5486400"/>
            <a:ext cx="304800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?</a:t>
            </a:r>
          </a:p>
        </p:txBody>
      </p:sp>
      <p:sp>
        <p:nvSpPr>
          <p:cNvPr id="17454" name="AutoShape 44"/>
          <p:cNvSpPr>
            <a:spLocks noChangeArrowheads="1"/>
          </p:cNvSpPr>
          <p:nvPr/>
        </p:nvSpPr>
        <p:spPr bwMode="auto">
          <a:xfrm>
            <a:off x="2590800" y="5257800"/>
            <a:ext cx="1066800" cy="228600"/>
          </a:xfrm>
          <a:prstGeom prst="rightArrow">
            <a:avLst>
              <a:gd name="adj1" fmla="val 50000"/>
              <a:gd name="adj2" fmla="val 116667"/>
            </a:avLst>
          </a:prstGeom>
          <a:solidFill>
            <a:schemeClr val="hlink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7455" name="Text Box 45"/>
          <p:cNvSpPr txBox="1">
            <a:spLocks noChangeArrowheads="1"/>
          </p:cNvSpPr>
          <p:nvPr/>
        </p:nvSpPr>
        <p:spPr bwMode="auto">
          <a:xfrm>
            <a:off x="2743200" y="5410200"/>
            <a:ext cx="83820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 smtClean="0"/>
              <a:t>Samp</a:t>
            </a:r>
            <a:r>
              <a:rPr lang="id-ID" sz="1400" dirty="0" smtClean="0"/>
              <a:t>el</a:t>
            </a:r>
            <a:endParaRPr lang="en-US" sz="1400" dirty="0"/>
          </a:p>
        </p:txBody>
      </p:sp>
      <p:sp>
        <p:nvSpPr>
          <p:cNvPr id="17456" name="Text Box 46"/>
          <p:cNvSpPr txBox="1">
            <a:spLocks noChangeArrowheads="1"/>
          </p:cNvSpPr>
          <p:nvPr/>
        </p:nvSpPr>
        <p:spPr bwMode="auto">
          <a:xfrm>
            <a:off x="5410200" y="5410200"/>
            <a:ext cx="114300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Standardize</a:t>
            </a:r>
          </a:p>
        </p:txBody>
      </p:sp>
      <p:graphicFrame>
        <p:nvGraphicFramePr>
          <p:cNvPr id="17411" name="Object 47"/>
          <p:cNvGraphicFramePr>
            <a:graphicFrameLocks noChangeAspect="1"/>
          </p:cNvGraphicFramePr>
          <p:nvPr/>
        </p:nvGraphicFramePr>
        <p:xfrm>
          <a:off x="1295400" y="6096000"/>
          <a:ext cx="5651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Equation" r:id="rId6" imgW="368280" imgH="203040" progId="Equation.3">
                  <p:embed/>
                </p:oleObj>
              </mc:Choice>
              <mc:Fallback>
                <p:oleObj name="Equation" r:id="rId6" imgW="368280" imgH="2030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6096000"/>
                        <a:ext cx="5651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8"/>
          <p:cNvGraphicFramePr>
            <a:graphicFrameLocks noChangeAspect="1"/>
          </p:cNvGraphicFramePr>
          <p:nvPr/>
        </p:nvGraphicFramePr>
        <p:xfrm>
          <a:off x="4257675" y="6096000"/>
          <a:ext cx="6810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" name="Equation" r:id="rId8" imgW="444240" imgH="241200" progId="Equation.3">
                  <p:embed/>
                </p:oleObj>
              </mc:Choice>
              <mc:Fallback>
                <p:oleObj name="Equation" r:id="rId8" imgW="444240" imgH="241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6096000"/>
                        <a:ext cx="681038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49"/>
          <p:cNvGraphicFramePr>
            <a:graphicFrameLocks noChangeAspect="1"/>
          </p:cNvGraphicFramePr>
          <p:nvPr/>
        </p:nvGraphicFramePr>
        <p:xfrm>
          <a:off x="7162800" y="6019800"/>
          <a:ext cx="6619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10" imgW="431640" imgH="215640" progId="Equation.3">
                  <p:embed/>
                </p:oleObj>
              </mc:Choice>
              <mc:Fallback>
                <p:oleObj name="Equation" r:id="rId10" imgW="431640" imgH="2156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6019800"/>
                        <a:ext cx="661988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50"/>
          <p:cNvGraphicFramePr>
            <a:graphicFrameLocks noChangeAspect="1"/>
          </p:cNvGraphicFramePr>
          <p:nvPr/>
        </p:nvGraphicFramePr>
        <p:xfrm>
          <a:off x="5680075" y="6019800"/>
          <a:ext cx="2984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" name="Equation" r:id="rId12" imgW="126720" imgH="164880" progId="Equation.3">
                  <p:embed/>
                </p:oleObj>
              </mc:Choice>
              <mc:Fallback>
                <p:oleObj name="Equation" r:id="rId12" imgW="126720" imgH="1648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6019800"/>
                        <a:ext cx="2984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7" name="Text Box 51"/>
          <p:cNvSpPr txBox="1">
            <a:spLocks noChangeArrowheads="1"/>
          </p:cNvSpPr>
          <p:nvPr/>
        </p:nvSpPr>
        <p:spPr bwMode="auto">
          <a:xfrm>
            <a:off x="2514600" y="6019800"/>
            <a:ext cx="45720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X</a:t>
            </a:r>
          </a:p>
        </p:txBody>
      </p:sp>
      <p:sp>
        <p:nvSpPr>
          <p:cNvPr id="54" name="Rectangle 2"/>
          <p:cNvSpPr txBox="1">
            <a:spLocks noChangeArrowheads="1"/>
          </p:cNvSpPr>
          <p:nvPr/>
        </p:nvSpPr>
        <p:spPr bwMode="auto">
          <a:xfrm>
            <a:off x="1219200" y="381000"/>
            <a:ext cx="779303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8524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Contoh: Distribusi Sampling Rata-rata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1040" t="11459" r="34992" b="6248"/>
          <a:stretch/>
        </p:blipFill>
        <p:spPr>
          <a:xfrm>
            <a:off x="0" y="-1"/>
            <a:ext cx="5105400" cy="695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2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1845" t="12500" r="34773" b="7292"/>
          <a:stretch/>
        </p:blipFill>
        <p:spPr>
          <a:xfrm>
            <a:off x="9524" y="-1"/>
            <a:ext cx="5095875" cy="688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dirty="0" smtClean="0"/>
              <a:t>Lama waktu melaut sekelompok nelayan berdistribusi normal dengan rata-rata 7.5 jam dan standar deviasi 0.5 jam. Jika diambil sampel acak sebanyak 9 nelayan, berapa </a:t>
            </a:r>
          </a:p>
          <a:p>
            <a:pPr lvl="1"/>
            <a:r>
              <a:rPr lang="id-ID" dirty="0" smtClean="0"/>
              <a:t>probabilitas rata-rata lama waktu melaut sampel tsb antara 7.23 – 7.8 jam? </a:t>
            </a:r>
          </a:p>
          <a:p>
            <a:pPr lvl="1"/>
            <a:r>
              <a:rPr lang="id-ID" dirty="0" smtClean="0"/>
              <a:t>probabilitas rata-rata lama waktu  sampel tsb lebih dari 7.8 jam? </a:t>
            </a:r>
          </a:p>
          <a:p>
            <a:pPr lvl="1"/>
            <a:endParaRPr lang="id-ID" dirty="0" smtClean="0"/>
          </a:p>
          <a:p>
            <a:pPr lvl="1">
              <a:buNone/>
            </a:pPr>
            <a:endParaRPr lang="id-ID" sz="3200" dirty="0" smtClean="0"/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7-</a:t>
            </a:r>
            <a:fld id="{A202A5EF-E7AC-4F31-8587-9916C843C04D}" type="slidenum">
              <a:rPr lang="en-US" sz="1000"/>
              <a:pPr algn="r" defTabSz="852488"/>
              <a:t>32</a:t>
            </a:fld>
            <a:endParaRPr lang="en-US" sz="10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id-ID" dirty="0" smtClean="0"/>
              <a:t>Distribusi Sampling Proporsi</a:t>
            </a:r>
            <a:endParaRPr lang="en-US" dirty="0" smtClean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01000" cy="48006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/>
              <a:t>  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dirty="0" smtClean="0"/>
              <a:t> =</a:t>
            </a:r>
            <a:r>
              <a:rPr lang="id-ID" dirty="0" smtClean="0"/>
              <a:t>proporsi populasi yang memiliki karakteristik teramati</a:t>
            </a:r>
            <a:endParaRPr lang="en-US" dirty="0" smtClean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id-ID" sz="2400" dirty="0" smtClean="0">
                <a:solidFill>
                  <a:schemeClr val="folHlink"/>
                </a:solidFill>
              </a:rPr>
              <a:t>Proporsi sampel </a:t>
            </a:r>
            <a:r>
              <a:rPr lang="en-US" sz="2400" dirty="0" smtClean="0">
                <a:solidFill>
                  <a:schemeClr val="folHlink"/>
                </a:solidFill>
              </a:rPr>
              <a:t>(p)</a:t>
            </a:r>
            <a:r>
              <a:rPr lang="en-US" sz="2400" dirty="0" smtClean="0"/>
              <a:t>  </a:t>
            </a:r>
            <a:r>
              <a:rPr lang="id-ID" sz="2400" dirty="0" smtClean="0"/>
              <a:t>estimasi dari </a:t>
            </a:r>
            <a:r>
              <a:rPr lang="en-US" sz="2400" dirty="0" smtClean="0"/>
              <a:t>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400" dirty="0" smtClean="0"/>
              <a:t>:</a:t>
            </a:r>
          </a:p>
          <a:p>
            <a:pPr eaLnBrk="1" hangingPunct="1">
              <a:spcBef>
                <a:spcPct val="50000"/>
              </a:spcBef>
            </a:pPr>
            <a:endParaRPr lang="en-US" dirty="0" smtClean="0"/>
          </a:p>
          <a:p>
            <a:pPr eaLnBrk="1" hangingPunct="1">
              <a:spcBef>
                <a:spcPct val="50000"/>
              </a:spcBef>
            </a:pPr>
            <a:endParaRPr lang="en-US" sz="1200" dirty="0" smtClean="0"/>
          </a:p>
          <a:p>
            <a:pPr eaLnBrk="1" hangingPunct="1">
              <a:spcBef>
                <a:spcPct val="50000"/>
              </a:spcBef>
            </a:pPr>
            <a:r>
              <a:rPr lang="en-US" sz="2400" dirty="0" smtClean="0"/>
              <a:t>0 </a:t>
            </a:r>
            <a:r>
              <a:rPr lang="en-US" sz="2400" dirty="0" smtClean="0">
                <a:cs typeface="Arial" charset="0"/>
              </a:rPr>
              <a:t>≤  p ≤ 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dirty="0" smtClean="0"/>
              <a:t>p </a:t>
            </a:r>
            <a:r>
              <a:rPr lang="id-ID" sz="2400" dirty="0" smtClean="0"/>
              <a:t>mendekati distribusi normal jika n besar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2000" dirty="0" smtClean="0"/>
              <a:t>	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1649413" y="3581400"/>
          <a:ext cx="59563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5" name="Equation" r:id="rId4" imgW="3670200" imgH="419040" progId="Equation.DSMT4">
                  <p:embed/>
                </p:oleObj>
              </mc:Choice>
              <mc:Fallback>
                <p:oleObj name="Equation" r:id="rId4" imgW="367020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3581400"/>
                        <a:ext cx="5956300" cy="68262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793038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Distribusi Sampling p</a:t>
            </a:r>
            <a:endParaRPr lang="en-US" dirty="0" smtClean="0"/>
          </a:p>
        </p:txBody>
      </p:sp>
      <p:sp>
        <p:nvSpPr>
          <p:cNvPr id="194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077200" cy="45323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id-ID" dirty="0" smtClean="0"/>
              <a:t>Mendekati distribusi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id-ID" dirty="0" smtClean="0"/>
              <a:t>	normal jika</a:t>
            </a:r>
            <a:r>
              <a:rPr lang="en-US" dirty="0" smtClean="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dirty="0" smtClean="0"/>
              <a:t> </a:t>
            </a:r>
          </a:p>
          <a:p>
            <a:pPr lvl="1" eaLnBrk="1" hangingPunct="1">
              <a:lnSpc>
                <a:spcPct val="120000"/>
              </a:lnSpc>
            </a:pPr>
            <a:endParaRPr lang="en-US" dirty="0" smtClean="0"/>
          </a:p>
          <a:p>
            <a:pPr lvl="1" eaLnBrk="1" hangingPunct="1">
              <a:lnSpc>
                <a:spcPct val="120000"/>
              </a:lnSpc>
            </a:pPr>
            <a:endParaRPr lang="en-US" dirty="0" smtClean="0"/>
          </a:p>
          <a:p>
            <a:pPr lvl="1" eaLnBrk="1" hangingPunct="1">
              <a:lnSpc>
                <a:spcPct val="120000"/>
              </a:lnSpc>
            </a:pPr>
            <a:endParaRPr lang="en-US" dirty="0" smtClean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id-ID" dirty="0" smtClean="0"/>
              <a:t>dimana</a:t>
            </a:r>
            <a:endParaRPr lang="en-US" dirty="0" smtClean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dirty="0" smtClean="0"/>
              <a:t>				       </a:t>
            </a:r>
            <a:r>
              <a:rPr lang="id-ID" sz="1900" dirty="0" smtClean="0"/>
              <a:t>dan</a:t>
            </a:r>
            <a:endParaRPr lang="en-US" sz="1900" dirty="0" smtClean="0"/>
          </a:p>
        </p:txBody>
      </p:sp>
      <p:sp>
        <p:nvSpPr>
          <p:cNvPr id="19464" name="Rectangle 4"/>
          <p:cNvSpPr>
            <a:spLocks noChangeArrowheads="1"/>
          </p:cNvSpPr>
          <p:nvPr/>
        </p:nvSpPr>
        <p:spPr bwMode="auto">
          <a:xfrm>
            <a:off x="2971800" y="6019800"/>
            <a:ext cx="3986213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/>
              <a:t>(</a:t>
            </a:r>
            <a:r>
              <a:rPr lang="id-ID" sz="2000" dirty="0" smtClean="0"/>
              <a:t>dimana</a:t>
            </a:r>
            <a:r>
              <a:rPr lang="en-US" sz="2000" dirty="0" smtClean="0"/>
              <a:t> </a:t>
            </a:r>
            <a:r>
              <a:rPr lang="el-GR" sz="2000" dirty="0">
                <a:cs typeface="Times New Roman" pitchFamily="18" charset="0"/>
              </a:rPr>
              <a:t>π</a:t>
            </a:r>
            <a:r>
              <a:rPr lang="en-US" sz="2000" dirty="0"/>
              <a:t> = </a:t>
            </a:r>
            <a:r>
              <a:rPr lang="en-US" sz="2000" dirty="0" smtClean="0"/>
              <a:t>p</a:t>
            </a:r>
            <a:r>
              <a:rPr lang="id-ID" sz="2000" dirty="0" smtClean="0"/>
              <a:t>roporsi populasi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19465" name="Rectangle 5"/>
          <p:cNvSpPr>
            <a:spLocks noChangeArrowheads="1"/>
          </p:cNvSpPr>
          <p:nvPr/>
        </p:nvSpPr>
        <p:spPr bwMode="auto">
          <a:xfrm>
            <a:off x="5486400" y="2133600"/>
            <a:ext cx="2600325" cy="406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dirty="0" smtClean="0"/>
              <a:t>Distribusi sampling</a:t>
            </a:r>
            <a:endParaRPr lang="en-US" sz="2000" dirty="0"/>
          </a:p>
        </p:txBody>
      </p:sp>
      <p:sp>
        <p:nvSpPr>
          <p:cNvPr id="19466" name="Rectangle 6"/>
          <p:cNvSpPr>
            <a:spLocks noChangeArrowheads="1"/>
          </p:cNvSpPr>
          <p:nvPr/>
        </p:nvSpPr>
        <p:spPr bwMode="auto">
          <a:xfrm>
            <a:off x="5713413" y="3656013"/>
            <a:ext cx="304800" cy="152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67" name="Rectangle 7"/>
          <p:cNvSpPr>
            <a:spLocks noChangeArrowheads="1"/>
          </p:cNvSpPr>
          <p:nvPr/>
        </p:nvSpPr>
        <p:spPr bwMode="auto">
          <a:xfrm>
            <a:off x="5408613" y="3732213"/>
            <a:ext cx="304800" cy="76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68" name="Rectangle 8"/>
          <p:cNvSpPr>
            <a:spLocks noChangeArrowheads="1"/>
          </p:cNvSpPr>
          <p:nvPr/>
        </p:nvSpPr>
        <p:spPr bwMode="auto">
          <a:xfrm>
            <a:off x="6018213" y="3427413"/>
            <a:ext cx="3048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69" name="Rectangle 9"/>
          <p:cNvSpPr>
            <a:spLocks noChangeArrowheads="1"/>
          </p:cNvSpPr>
          <p:nvPr/>
        </p:nvSpPr>
        <p:spPr bwMode="auto">
          <a:xfrm>
            <a:off x="6323013" y="3122613"/>
            <a:ext cx="304800" cy="6858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70" name="Rectangle 10"/>
          <p:cNvSpPr>
            <a:spLocks noChangeArrowheads="1"/>
          </p:cNvSpPr>
          <p:nvPr/>
        </p:nvSpPr>
        <p:spPr bwMode="auto">
          <a:xfrm>
            <a:off x="6932613" y="3122613"/>
            <a:ext cx="304800" cy="6858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71" name="Rectangle 11"/>
          <p:cNvSpPr>
            <a:spLocks noChangeArrowheads="1"/>
          </p:cNvSpPr>
          <p:nvPr/>
        </p:nvSpPr>
        <p:spPr bwMode="auto">
          <a:xfrm>
            <a:off x="6627813" y="2970213"/>
            <a:ext cx="304800" cy="838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72" name="Rectangle 12"/>
          <p:cNvSpPr>
            <a:spLocks noChangeArrowheads="1"/>
          </p:cNvSpPr>
          <p:nvPr/>
        </p:nvSpPr>
        <p:spPr bwMode="auto">
          <a:xfrm>
            <a:off x="7237413" y="3427413"/>
            <a:ext cx="3048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73" name="Rectangle 13"/>
          <p:cNvSpPr>
            <a:spLocks noChangeArrowheads="1"/>
          </p:cNvSpPr>
          <p:nvPr/>
        </p:nvSpPr>
        <p:spPr bwMode="auto">
          <a:xfrm>
            <a:off x="7542213" y="3656013"/>
            <a:ext cx="304800" cy="152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74" name="Rectangle 14"/>
          <p:cNvSpPr>
            <a:spLocks noChangeArrowheads="1"/>
          </p:cNvSpPr>
          <p:nvPr/>
        </p:nvSpPr>
        <p:spPr bwMode="auto">
          <a:xfrm>
            <a:off x="7847013" y="3732213"/>
            <a:ext cx="304800" cy="76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19475" name="Line 15"/>
          <p:cNvSpPr>
            <a:spLocks noChangeShapeType="1"/>
          </p:cNvSpPr>
          <p:nvPr/>
        </p:nvSpPr>
        <p:spPr bwMode="auto">
          <a:xfrm flipH="1">
            <a:off x="5105400" y="27432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Line 16"/>
          <p:cNvSpPr>
            <a:spLocks noChangeShapeType="1"/>
          </p:cNvSpPr>
          <p:nvPr/>
        </p:nvSpPr>
        <p:spPr bwMode="auto">
          <a:xfrm>
            <a:off x="5105400" y="3810000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Line 17"/>
          <p:cNvSpPr>
            <a:spLocks noChangeShapeType="1"/>
          </p:cNvSpPr>
          <p:nvPr/>
        </p:nvSpPr>
        <p:spPr bwMode="auto">
          <a:xfrm>
            <a:off x="5105400" y="3505200"/>
            <a:ext cx="32766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18"/>
          <p:cNvSpPr>
            <a:spLocks noChangeShapeType="1"/>
          </p:cNvSpPr>
          <p:nvPr/>
        </p:nvSpPr>
        <p:spPr bwMode="auto">
          <a:xfrm>
            <a:off x="5105400" y="3200400"/>
            <a:ext cx="32766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Line 19"/>
          <p:cNvSpPr>
            <a:spLocks noChangeShapeType="1"/>
          </p:cNvSpPr>
          <p:nvPr/>
        </p:nvSpPr>
        <p:spPr bwMode="auto">
          <a:xfrm>
            <a:off x="5105400" y="2895600"/>
            <a:ext cx="32766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561013" y="2894013"/>
            <a:ext cx="2439987" cy="825500"/>
            <a:chOff x="3216" y="2304"/>
            <a:chExt cx="1537" cy="520"/>
          </a:xfrm>
        </p:grpSpPr>
        <p:sp>
          <p:nvSpPr>
            <p:cNvPr id="19487" name="Freeform 21"/>
            <p:cNvSpPr>
              <a:spLocks/>
            </p:cNvSpPr>
            <p:nvPr/>
          </p:nvSpPr>
          <p:spPr bwMode="auto">
            <a:xfrm>
              <a:off x="3986" y="2304"/>
              <a:ext cx="767" cy="520"/>
            </a:xfrm>
            <a:custGeom>
              <a:avLst/>
              <a:gdLst>
                <a:gd name="T0" fmla="*/ 766 w 767"/>
                <a:gd name="T1" fmla="*/ 519 h 520"/>
                <a:gd name="T2" fmla="*/ 686 w 767"/>
                <a:gd name="T3" fmla="*/ 513 h 520"/>
                <a:gd name="T4" fmla="*/ 645 w 767"/>
                <a:gd name="T5" fmla="*/ 507 h 520"/>
                <a:gd name="T6" fmla="*/ 605 w 767"/>
                <a:gd name="T7" fmla="*/ 499 h 520"/>
                <a:gd name="T8" fmla="*/ 564 w 767"/>
                <a:gd name="T9" fmla="*/ 487 h 520"/>
                <a:gd name="T10" fmla="*/ 523 w 767"/>
                <a:gd name="T11" fmla="*/ 470 h 520"/>
                <a:gd name="T12" fmla="*/ 485 w 767"/>
                <a:gd name="T13" fmla="*/ 449 h 520"/>
                <a:gd name="T14" fmla="*/ 403 w 767"/>
                <a:gd name="T15" fmla="*/ 389 h 520"/>
                <a:gd name="T16" fmla="*/ 322 w 767"/>
                <a:gd name="T17" fmla="*/ 304 h 520"/>
                <a:gd name="T18" fmla="*/ 242 w 767"/>
                <a:gd name="T19" fmla="*/ 203 h 520"/>
                <a:gd name="T20" fmla="*/ 201 w 767"/>
                <a:gd name="T21" fmla="*/ 151 h 520"/>
                <a:gd name="T22" fmla="*/ 160 w 767"/>
                <a:gd name="T23" fmla="*/ 102 h 520"/>
                <a:gd name="T24" fmla="*/ 121 w 767"/>
                <a:gd name="T25" fmla="*/ 61 h 520"/>
                <a:gd name="T26" fmla="*/ 80 w 767"/>
                <a:gd name="T27" fmla="*/ 28 h 520"/>
                <a:gd name="T28" fmla="*/ 39 w 767"/>
                <a:gd name="T29" fmla="*/ 7 h 520"/>
                <a:gd name="T30" fmla="*/ 0 w 767"/>
                <a:gd name="T31" fmla="*/ 0 h 5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767"/>
                <a:gd name="T49" fmla="*/ 0 h 520"/>
                <a:gd name="T50" fmla="*/ 767 w 767"/>
                <a:gd name="T51" fmla="*/ 520 h 52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767" h="520">
                  <a:moveTo>
                    <a:pt x="766" y="519"/>
                  </a:moveTo>
                  <a:lnTo>
                    <a:pt x="686" y="513"/>
                  </a:lnTo>
                  <a:lnTo>
                    <a:pt x="645" y="507"/>
                  </a:lnTo>
                  <a:lnTo>
                    <a:pt x="605" y="499"/>
                  </a:lnTo>
                  <a:lnTo>
                    <a:pt x="564" y="487"/>
                  </a:lnTo>
                  <a:lnTo>
                    <a:pt x="523" y="470"/>
                  </a:lnTo>
                  <a:lnTo>
                    <a:pt x="485" y="449"/>
                  </a:lnTo>
                  <a:lnTo>
                    <a:pt x="403" y="389"/>
                  </a:lnTo>
                  <a:lnTo>
                    <a:pt x="322" y="304"/>
                  </a:lnTo>
                  <a:lnTo>
                    <a:pt x="242" y="203"/>
                  </a:lnTo>
                  <a:lnTo>
                    <a:pt x="201" y="151"/>
                  </a:lnTo>
                  <a:lnTo>
                    <a:pt x="160" y="102"/>
                  </a:lnTo>
                  <a:lnTo>
                    <a:pt x="121" y="61"/>
                  </a:lnTo>
                  <a:lnTo>
                    <a:pt x="80" y="28"/>
                  </a:lnTo>
                  <a:lnTo>
                    <a:pt x="39" y="7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22"/>
            <p:cNvSpPr>
              <a:spLocks/>
            </p:cNvSpPr>
            <p:nvPr/>
          </p:nvSpPr>
          <p:spPr bwMode="auto">
            <a:xfrm>
              <a:off x="3216" y="2304"/>
              <a:ext cx="771" cy="520"/>
            </a:xfrm>
            <a:custGeom>
              <a:avLst/>
              <a:gdLst>
                <a:gd name="T0" fmla="*/ 0 w 771"/>
                <a:gd name="T1" fmla="*/ 519 h 520"/>
                <a:gd name="T2" fmla="*/ 81 w 771"/>
                <a:gd name="T3" fmla="*/ 513 h 520"/>
                <a:gd name="T4" fmla="*/ 122 w 771"/>
                <a:gd name="T5" fmla="*/ 507 h 520"/>
                <a:gd name="T6" fmla="*/ 163 w 771"/>
                <a:gd name="T7" fmla="*/ 499 h 520"/>
                <a:gd name="T8" fmla="*/ 202 w 771"/>
                <a:gd name="T9" fmla="*/ 487 h 520"/>
                <a:gd name="T10" fmla="*/ 243 w 771"/>
                <a:gd name="T11" fmla="*/ 470 h 520"/>
                <a:gd name="T12" fmla="*/ 285 w 771"/>
                <a:gd name="T13" fmla="*/ 449 h 520"/>
                <a:gd name="T14" fmla="*/ 364 w 771"/>
                <a:gd name="T15" fmla="*/ 389 h 520"/>
                <a:gd name="T16" fmla="*/ 445 w 771"/>
                <a:gd name="T17" fmla="*/ 304 h 520"/>
                <a:gd name="T18" fmla="*/ 527 w 771"/>
                <a:gd name="T19" fmla="*/ 203 h 520"/>
                <a:gd name="T20" fmla="*/ 567 w 771"/>
                <a:gd name="T21" fmla="*/ 151 h 520"/>
                <a:gd name="T22" fmla="*/ 608 w 771"/>
                <a:gd name="T23" fmla="*/ 102 h 520"/>
                <a:gd name="T24" fmla="*/ 648 w 771"/>
                <a:gd name="T25" fmla="*/ 61 h 520"/>
                <a:gd name="T26" fmla="*/ 688 w 771"/>
                <a:gd name="T27" fmla="*/ 28 h 520"/>
                <a:gd name="T28" fmla="*/ 729 w 771"/>
                <a:gd name="T29" fmla="*/ 7 h 520"/>
                <a:gd name="T30" fmla="*/ 770 w 771"/>
                <a:gd name="T31" fmla="*/ 0 h 5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771"/>
                <a:gd name="T49" fmla="*/ 0 h 520"/>
                <a:gd name="T50" fmla="*/ 771 w 771"/>
                <a:gd name="T51" fmla="*/ 520 h 52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771" h="520">
                  <a:moveTo>
                    <a:pt x="0" y="519"/>
                  </a:moveTo>
                  <a:lnTo>
                    <a:pt x="81" y="513"/>
                  </a:lnTo>
                  <a:lnTo>
                    <a:pt x="122" y="507"/>
                  </a:lnTo>
                  <a:lnTo>
                    <a:pt x="163" y="499"/>
                  </a:lnTo>
                  <a:lnTo>
                    <a:pt x="202" y="487"/>
                  </a:lnTo>
                  <a:lnTo>
                    <a:pt x="243" y="470"/>
                  </a:lnTo>
                  <a:lnTo>
                    <a:pt x="285" y="449"/>
                  </a:lnTo>
                  <a:lnTo>
                    <a:pt x="364" y="389"/>
                  </a:lnTo>
                  <a:lnTo>
                    <a:pt x="445" y="304"/>
                  </a:lnTo>
                  <a:lnTo>
                    <a:pt x="527" y="203"/>
                  </a:lnTo>
                  <a:lnTo>
                    <a:pt x="567" y="151"/>
                  </a:lnTo>
                  <a:lnTo>
                    <a:pt x="608" y="102"/>
                  </a:lnTo>
                  <a:lnTo>
                    <a:pt x="648" y="61"/>
                  </a:lnTo>
                  <a:lnTo>
                    <a:pt x="688" y="28"/>
                  </a:lnTo>
                  <a:lnTo>
                    <a:pt x="729" y="7"/>
                  </a:lnTo>
                  <a:lnTo>
                    <a:pt x="770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81" name="Rectangle 23"/>
          <p:cNvSpPr>
            <a:spLocks noChangeArrowheads="1"/>
          </p:cNvSpPr>
          <p:nvPr/>
        </p:nvSpPr>
        <p:spPr bwMode="auto">
          <a:xfrm>
            <a:off x="4648200" y="2286000"/>
            <a:ext cx="12160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P(</a:t>
            </a:r>
            <a:r>
              <a:rPr lang="en-US" sz="800"/>
              <a:t> </a:t>
            </a:r>
            <a:r>
              <a:rPr lang="en-US" sz="2000"/>
              <a:t>p</a:t>
            </a:r>
            <a:r>
              <a:rPr lang="en-US" sz="2000" baseline="-25000"/>
              <a:t>s</a:t>
            </a:r>
            <a:r>
              <a:rPr lang="en-US" sz="2000"/>
              <a:t>)</a:t>
            </a:r>
          </a:p>
        </p:txBody>
      </p:sp>
      <p:sp>
        <p:nvSpPr>
          <p:cNvPr id="19482" name="Rectangle 24"/>
          <p:cNvSpPr>
            <a:spLocks noChangeArrowheads="1"/>
          </p:cNvSpPr>
          <p:nvPr/>
        </p:nvSpPr>
        <p:spPr bwMode="auto">
          <a:xfrm>
            <a:off x="4724400" y="2743200"/>
            <a:ext cx="454025" cy="1163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800" b="1"/>
              <a:t>.3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800" b="1"/>
              <a:t>.2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800" b="1"/>
              <a:t>.1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800" b="1"/>
              <a:t> 0</a:t>
            </a:r>
          </a:p>
        </p:txBody>
      </p:sp>
      <p:sp>
        <p:nvSpPr>
          <p:cNvPr id="19483" name="Rectangle 25"/>
          <p:cNvSpPr>
            <a:spLocks noChangeArrowheads="1"/>
          </p:cNvSpPr>
          <p:nvPr/>
        </p:nvSpPr>
        <p:spPr bwMode="auto">
          <a:xfrm>
            <a:off x="4876800" y="3810000"/>
            <a:ext cx="380682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   0      . 2       .4       .6        8       1</a:t>
            </a:r>
          </a:p>
        </p:txBody>
      </p:sp>
      <p:sp>
        <p:nvSpPr>
          <p:cNvPr id="19484" name="Rectangle 26"/>
          <p:cNvSpPr>
            <a:spLocks noChangeArrowheads="1"/>
          </p:cNvSpPr>
          <p:nvPr/>
        </p:nvSpPr>
        <p:spPr bwMode="auto">
          <a:xfrm>
            <a:off x="8534400" y="3733800"/>
            <a:ext cx="454025" cy="490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lang="en-US"/>
              <a:t>p</a:t>
            </a:r>
            <a:endParaRPr lang="en-US" baseline="-25000"/>
          </a:p>
        </p:txBody>
      </p:sp>
      <p:graphicFrame>
        <p:nvGraphicFramePr>
          <p:cNvPr id="19458" name="Object 27"/>
          <p:cNvGraphicFramePr>
            <a:graphicFrameLocks noChangeAspect="1"/>
          </p:cNvGraphicFramePr>
          <p:nvPr/>
        </p:nvGraphicFramePr>
        <p:xfrm>
          <a:off x="1838325" y="5159375"/>
          <a:ext cx="12001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5" name="Equation" r:id="rId3" imgW="431640" imgH="241200" progId="Equation.3">
                  <p:embed/>
                </p:oleObj>
              </mc:Choice>
              <mc:Fallback>
                <p:oleObj name="Equation" r:id="rId3" imgW="431640" imgH="241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5159375"/>
                        <a:ext cx="1200150" cy="671513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28"/>
          <p:cNvGraphicFramePr>
            <a:graphicFrameLocks noChangeAspect="1"/>
          </p:cNvGraphicFramePr>
          <p:nvPr/>
        </p:nvGraphicFramePr>
        <p:xfrm>
          <a:off x="4894263" y="4837113"/>
          <a:ext cx="2563812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6" name="Equation" r:id="rId5" imgW="965160" imgH="444240" progId="Equation.3">
                  <p:embed/>
                </p:oleObj>
              </mc:Choice>
              <mc:Fallback>
                <p:oleObj name="Equation" r:id="rId5" imgW="965160" imgH="4442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263" y="4837113"/>
                        <a:ext cx="2563812" cy="1182687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29"/>
          <p:cNvGraphicFramePr>
            <a:graphicFrameLocks noChangeAspect="1"/>
          </p:cNvGraphicFramePr>
          <p:nvPr/>
        </p:nvGraphicFramePr>
        <p:xfrm>
          <a:off x="1066800" y="2895600"/>
          <a:ext cx="20574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7" name="Equation" r:id="rId7" imgW="1218960" imgH="1054080" progId="Equation.3">
                  <p:embed/>
                </p:oleObj>
              </mc:Choice>
              <mc:Fallback>
                <p:oleObj name="Equation" r:id="rId7" imgW="1218960" imgH="10540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95600"/>
                        <a:ext cx="2057400" cy="177800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27025"/>
            <a:ext cx="7383462" cy="8921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Nilai Z untuk Proporsi</a:t>
            </a:r>
            <a:endParaRPr lang="en-US" dirty="0" smtClean="0"/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1524000" y="1752600"/>
            <a:ext cx="42672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graphicFrame>
        <p:nvGraphicFramePr>
          <p:cNvPr id="20482" name="Object 7"/>
          <p:cNvGraphicFramePr>
            <a:graphicFrameLocks noChangeAspect="1"/>
          </p:cNvGraphicFramePr>
          <p:nvPr/>
        </p:nvGraphicFramePr>
        <p:xfrm>
          <a:off x="2787650" y="2409825"/>
          <a:ext cx="36449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3" name="Equation" r:id="rId3" imgW="1434960" imgH="622080" progId="Equation.DSMT4">
                  <p:embed/>
                </p:oleObj>
              </mc:Choice>
              <mc:Fallback>
                <p:oleObj name="Equation" r:id="rId3" imgW="1434960" imgH="622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2409825"/>
                        <a:ext cx="3644900" cy="158115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8"/>
          <p:cNvSpPr txBox="1">
            <a:spLocks noChangeArrowheads="1"/>
          </p:cNvSpPr>
          <p:nvPr/>
        </p:nvSpPr>
        <p:spPr bwMode="auto">
          <a:xfrm>
            <a:off x="1143000" y="1600200"/>
            <a:ext cx="7239000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smtClean="0">
                <a:solidFill>
                  <a:schemeClr val="folHlink"/>
                </a:solidFill>
              </a:rPr>
              <a:t>S</a:t>
            </a:r>
            <a:r>
              <a:rPr lang="id-ID" sz="2800" dirty="0" smtClean="0">
                <a:solidFill>
                  <a:schemeClr val="folHlink"/>
                </a:solidFill>
              </a:rPr>
              <a:t>tandarisasi</a:t>
            </a:r>
            <a:r>
              <a:rPr lang="en-US" sz="2800" dirty="0" smtClean="0">
                <a:solidFill>
                  <a:schemeClr val="folHlink"/>
                </a:solidFill>
              </a:rPr>
              <a:t> </a:t>
            </a:r>
            <a:r>
              <a:rPr lang="en-US" sz="2800" dirty="0">
                <a:solidFill>
                  <a:schemeClr val="folHlink"/>
                </a:solidFill>
              </a:rPr>
              <a:t>p </a:t>
            </a:r>
            <a:r>
              <a:rPr lang="id-ID" sz="2800" dirty="0" smtClean="0">
                <a:solidFill>
                  <a:schemeClr val="folHlink"/>
                </a:solidFill>
                <a:sym typeface="Wingdings" pitchFamily="2" charset="2"/>
              </a:rPr>
              <a:t> </a:t>
            </a:r>
            <a:r>
              <a:rPr lang="en-US" sz="2800" dirty="0" smtClean="0">
                <a:solidFill>
                  <a:schemeClr val="folHlink"/>
                </a:solidFill>
              </a:rPr>
              <a:t>Z </a:t>
            </a:r>
            <a:r>
              <a:rPr lang="en-US" sz="2800" dirty="0">
                <a:solidFill>
                  <a:schemeClr val="folHlink"/>
                </a:solidFill>
              </a:rPr>
              <a:t>value </a:t>
            </a:r>
            <a:r>
              <a:rPr lang="id-ID" sz="2800" dirty="0" smtClean="0">
                <a:solidFill>
                  <a:schemeClr val="folHlink"/>
                </a:solidFill>
              </a:rPr>
              <a:t>dengan rumus</a:t>
            </a:r>
            <a:r>
              <a:rPr lang="en-US" sz="2800" dirty="0" smtClean="0">
                <a:solidFill>
                  <a:schemeClr val="folHlink"/>
                </a:solidFill>
              </a:rPr>
              <a:t>:</a:t>
            </a:r>
            <a:endParaRPr lang="en-US" sz="28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1905000" y="5181600"/>
            <a:ext cx="5715000" cy="1295400"/>
          </a:xfrm>
          <a:prstGeom prst="rect">
            <a:avLst/>
          </a:prstGeom>
          <a:solidFill>
            <a:srgbClr val="FDE0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93038" cy="990600"/>
          </a:xfrm>
        </p:spPr>
        <p:txBody>
          <a:bodyPr/>
          <a:lstStyle/>
          <a:p>
            <a:pPr eaLnBrk="1" hangingPunct="1"/>
            <a:r>
              <a:rPr lang="id-ID" dirty="0" smtClean="0"/>
              <a:t>Contoh: Dist. Sampling Proporsi</a:t>
            </a:r>
            <a:endParaRPr lang="en-US" dirty="0" smtClean="0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8077200" cy="2286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id-ID" dirty="0" smtClean="0"/>
              <a:t>Jika proporsi sebenarnya ikan yang memiliki tag adalah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dirty="0" smtClean="0"/>
              <a:t> = 0.4,  </a:t>
            </a:r>
            <a:r>
              <a:rPr lang="id-ID" dirty="0" smtClean="0"/>
              <a:t>berapa peluang bahwa dari sampel berukuran 200 ikan, peluang proporsi sampel ikan memiliki tag antara 0.40 dan 0.45?</a:t>
            </a:r>
            <a:endParaRPr lang="en-US" dirty="0" smtClean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762000" y="5105400"/>
            <a:ext cx="80772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 dirty="0"/>
              <a:t>i.e.:   </a:t>
            </a:r>
            <a:r>
              <a:rPr lang="id-ID" sz="2800" b="1" dirty="0" smtClean="0">
                <a:solidFill>
                  <a:schemeClr val="folHlink"/>
                </a:solidFill>
              </a:rPr>
              <a:t>jika</a:t>
            </a:r>
            <a:r>
              <a:rPr lang="en-US" sz="2800" b="1" dirty="0" smtClean="0">
                <a:solidFill>
                  <a:schemeClr val="folHlink"/>
                </a:solidFill>
              </a:rPr>
              <a:t>  </a:t>
            </a:r>
            <a:r>
              <a:rPr lang="el-GR" sz="2800" b="1" dirty="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800" b="1" dirty="0">
                <a:solidFill>
                  <a:schemeClr val="folHlink"/>
                </a:solidFill>
              </a:rPr>
              <a:t> = 0.4  </a:t>
            </a:r>
            <a:r>
              <a:rPr lang="en-US" sz="2800" b="1" dirty="0" smtClean="0">
                <a:solidFill>
                  <a:schemeClr val="folHlink"/>
                </a:solidFill>
              </a:rPr>
              <a:t>d</a:t>
            </a:r>
            <a:r>
              <a:rPr lang="id-ID" sz="2800" b="1" dirty="0" smtClean="0">
                <a:solidFill>
                  <a:schemeClr val="folHlink"/>
                </a:solidFill>
              </a:rPr>
              <a:t>an</a:t>
            </a:r>
            <a:r>
              <a:rPr lang="en-US" sz="2800" b="1" dirty="0" smtClean="0">
                <a:solidFill>
                  <a:schemeClr val="folHlink"/>
                </a:solidFill>
              </a:rPr>
              <a:t>  </a:t>
            </a:r>
            <a:r>
              <a:rPr lang="en-US" sz="2800" b="1" dirty="0">
                <a:solidFill>
                  <a:schemeClr val="folHlink"/>
                </a:solidFill>
              </a:rPr>
              <a:t>n = 200, </a:t>
            </a:r>
            <a:r>
              <a:rPr lang="id-ID" sz="2800" b="1" dirty="0" smtClean="0">
                <a:solidFill>
                  <a:schemeClr val="folHlink"/>
                </a:solidFill>
              </a:rPr>
              <a:t>berapa</a:t>
            </a:r>
            <a:endParaRPr lang="en-US" sz="2800" b="1" dirty="0">
              <a:solidFill>
                <a:schemeClr val="folHlink"/>
              </a:solidFill>
            </a:endParaRPr>
          </a:p>
          <a:p>
            <a:pPr marL="320675" indent="-320675" defTabSz="852488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1" dirty="0">
                <a:solidFill>
                  <a:schemeClr val="folHlink"/>
                </a:solidFill>
              </a:rPr>
              <a:t>			     P(0.40 ≤ p ≤ 0.45) </a:t>
            </a:r>
            <a:r>
              <a:rPr lang="en-US" sz="2800" b="1" dirty="0" smtClean="0">
                <a:solidFill>
                  <a:schemeClr val="folHlink"/>
                </a:solidFill>
              </a:rPr>
              <a:t>?</a:t>
            </a:r>
            <a:r>
              <a:rPr lang="id-ID" sz="2800" b="1" dirty="0" smtClean="0">
                <a:solidFill>
                  <a:schemeClr val="folHlink"/>
                </a:solidFill>
              </a:rPr>
              <a:t>`</a:t>
            </a:r>
            <a:endParaRPr lang="en-US" sz="28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Contoh</a:t>
            </a:r>
            <a:endParaRPr lang="en-US" dirty="0" smtClean="0"/>
          </a:p>
        </p:txBody>
      </p:sp>
      <p:sp>
        <p:nvSpPr>
          <p:cNvPr id="215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1595438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folHlink"/>
                </a:solidFill>
              </a:rPr>
              <a:t>        </a:t>
            </a:r>
            <a:r>
              <a:rPr lang="id-ID" b="1" dirty="0" smtClean="0">
                <a:solidFill>
                  <a:schemeClr val="folHlink"/>
                </a:solidFill>
              </a:rPr>
              <a:t>jika </a:t>
            </a:r>
            <a:r>
              <a:rPr lang="el-GR" b="1" dirty="0" smtClean="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b="1" dirty="0" smtClean="0">
                <a:solidFill>
                  <a:schemeClr val="folHlink"/>
                </a:solidFill>
              </a:rPr>
              <a:t> = 0.4  d</a:t>
            </a:r>
            <a:r>
              <a:rPr lang="id-ID" b="1" dirty="0" smtClean="0">
                <a:solidFill>
                  <a:schemeClr val="folHlink"/>
                </a:solidFill>
              </a:rPr>
              <a:t>an</a:t>
            </a:r>
            <a:r>
              <a:rPr lang="en-US" b="1" dirty="0" smtClean="0">
                <a:solidFill>
                  <a:schemeClr val="folHlink"/>
                </a:solidFill>
              </a:rPr>
              <a:t>  n = 200, </a:t>
            </a:r>
            <a:r>
              <a:rPr lang="id-ID" b="1" dirty="0" smtClean="0">
                <a:solidFill>
                  <a:schemeClr val="folHlink"/>
                </a:solidFill>
              </a:rPr>
              <a:t>berapa</a:t>
            </a:r>
            <a:endParaRPr lang="en-US" b="1" dirty="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folHlink"/>
                </a:solidFill>
              </a:rPr>
              <a:t>			     P(0.40 ≤ p ≤ 0.45) ?</a:t>
            </a:r>
          </a:p>
        </p:txBody>
      </p:sp>
      <p:graphicFrame>
        <p:nvGraphicFramePr>
          <p:cNvPr id="21506" name="Object 5"/>
          <p:cNvGraphicFramePr>
            <a:graphicFrameLocks noChangeAspect="1"/>
          </p:cNvGraphicFramePr>
          <p:nvPr/>
        </p:nvGraphicFramePr>
        <p:xfrm>
          <a:off x="2133600" y="2971800"/>
          <a:ext cx="50895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3" name="Equation" r:id="rId3" imgW="2438280" imgH="444240" progId="Equation.DSMT4">
                  <p:embed/>
                </p:oleObj>
              </mc:Choice>
              <mc:Fallback>
                <p:oleObj name="Equation" r:id="rId3" imgW="24382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971800"/>
                        <a:ext cx="5089525" cy="93027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6"/>
          <p:cNvGraphicFramePr>
            <a:graphicFrameLocks noChangeAspect="1"/>
          </p:cNvGraphicFramePr>
          <p:nvPr/>
        </p:nvGraphicFramePr>
        <p:xfrm>
          <a:off x="2246313" y="4595813"/>
          <a:ext cx="655637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4" name="Equation" r:id="rId5" imgW="3314520" imgH="660240" progId="Equation.DSMT4">
                  <p:embed/>
                </p:oleObj>
              </mc:Choice>
              <mc:Fallback>
                <p:oleObj name="Equation" r:id="rId5" imgW="3314520" imgH="660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4595813"/>
                        <a:ext cx="6556375" cy="130810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7"/>
          <p:cNvSpPr txBox="1">
            <a:spLocks noChangeArrowheads="1"/>
          </p:cNvSpPr>
          <p:nvPr/>
        </p:nvSpPr>
        <p:spPr bwMode="auto">
          <a:xfrm>
            <a:off x="152400" y="3200400"/>
            <a:ext cx="1905000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 dirty="0" smtClean="0"/>
              <a:t>Tentukan</a:t>
            </a:r>
            <a:r>
              <a:rPr lang="en-US" dirty="0" smtClean="0"/>
              <a:t>       </a:t>
            </a:r>
            <a:r>
              <a:rPr lang="en-US" dirty="0"/>
              <a:t>: </a:t>
            </a:r>
          </a:p>
        </p:txBody>
      </p:sp>
      <p:sp>
        <p:nvSpPr>
          <p:cNvPr id="21514" name="Text Box 8"/>
          <p:cNvSpPr txBox="1">
            <a:spLocks noChangeArrowheads="1"/>
          </p:cNvSpPr>
          <p:nvPr/>
        </p:nvSpPr>
        <p:spPr bwMode="auto">
          <a:xfrm>
            <a:off x="0" y="4572000"/>
            <a:ext cx="2286000" cy="78483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 dirty="0" smtClean="0"/>
              <a:t>Konversi ke </a:t>
            </a:r>
          </a:p>
          <a:p>
            <a:pPr>
              <a:spcBef>
                <a:spcPct val="50000"/>
              </a:spcBef>
            </a:pPr>
            <a:r>
              <a:rPr lang="id-ID" dirty="0" smtClean="0"/>
              <a:t>Normal standar</a:t>
            </a:r>
            <a:endParaRPr lang="en-US" dirty="0"/>
          </a:p>
        </p:txBody>
      </p:sp>
      <p:sp>
        <p:nvSpPr>
          <p:cNvPr id="21515" name="Line 9"/>
          <p:cNvSpPr>
            <a:spLocks noChangeShapeType="1"/>
          </p:cNvSpPr>
          <p:nvPr/>
        </p:nvSpPr>
        <p:spPr bwMode="auto">
          <a:xfrm>
            <a:off x="381000" y="2743200"/>
            <a:ext cx="84582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8" name="Object 10">
            <a:hlinkClick r:id="" action="ppaction://ole?verb=0"/>
          </p:cNvPr>
          <p:cNvGraphicFramePr>
            <a:graphicFrameLocks/>
          </p:cNvGraphicFramePr>
          <p:nvPr/>
        </p:nvGraphicFramePr>
        <p:xfrm>
          <a:off x="1219200" y="3195638"/>
          <a:ext cx="4572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5" name="Equation" r:id="rId7" imgW="203040" imgH="241200" progId="Equation.3">
                  <p:embed/>
                </p:oleObj>
              </mc:Choice>
              <mc:Fallback>
                <p:oleObj name="Equation" r:id="rId7" imgW="203040" imgH="2412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195638"/>
                        <a:ext cx="4572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6629400" y="3200400"/>
            <a:ext cx="1143000" cy="4572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90115" name="Freeform 3"/>
          <p:cNvSpPr>
            <a:spLocks/>
          </p:cNvSpPr>
          <p:nvPr/>
        </p:nvSpPr>
        <p:spPr bwMode="auto">
          <a:xfrm>
            <a:off x="6477000" y="4708525"/>
            <a:ext cx="800100" cy="1295400"/>
          </a:xfrm>
          <a:custGeom>
            <a:avLst/>
            <a:gdLst>
              <a:gd name="T0" fmla="*/ 0 w 504"/>
              <a:gd name="T1" fmla="*/ 0 h 816"/>
              <a:gd name="T2" fmla="*/ 190500 w 504"/>
              <a:gd name="T3" fmla="*/ 142875 h 816"/>
              <a:gd name="T4" fmla="*/ 133350 w 504"/>
              <a:gd name="T5" fmla="*/ 71438 h 816"/>
              <a:gd name="T6" fmla="*/ 292100 w 504"/>
              <a:gd name="T7" fmla="*/ 298450 h 816"/>
              <a:gd name="T8" fmla="*/ 406400 w 504"/>
              <a:gd name="T9" fmla="*/ 508000 h 816"/>
              <a:gd name="T10" fmla="*/ 495300 w 504"/>
              <a:gd name="T11" fmla="*/ 695325 h 816"/>
              <a:gd name="T12" fmla="*/ 695325 w 504"/>
              <a:gd name="T13" fmla="*/ 984250 h 816"/>
              <a:gd name="T14" fmla="*/ 800100 w 504"/>
              <a:gd name="T15" fmla="*/ 1073150 h 816"/>
              <a:gd name="T16" fmla="*/ 800100 w 504"/>
              <a:gd name="T17" fmla="*/ 1295400 h 816"/>
              <a:gd name="T18" fmla="*/ 0 w 504"/>
              <a:gd name="T19" fmla="*/ 1293813 h 816"/>
              <a:gd name="T20" fmla="*/ 0 w 504"/>
              <a:gd name="T21" fmla="*/ 0 h 81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04"/>
              <a:gd name="T34" fmla="*/ 0 h 816"/>
              <a:gd name="T35" fmla="*/ 504 w 504"/>
              <a:gd name="T36" fmla="*/ 816 h 81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04" h="816">
                <a:moveTo>
                  <a:pt x="0" y="0"/>
                </a:moveTo>
                <a:lnTo>
                  <a:pt x="120" y="90"/>
                </a:lnTo>
                <a:lnTo>
                  <a:pt x="84" y="45"/>
                </a:lnTo>
                <a:lnTo>
                  <a:pt x="184" y="188"/>
                </a:lnTo>
                <a:lnTo>
                  <a:pt x="256" y="320"/>
                </a:lnTo>
                <a:lnTo>
                  <a:pt x="312" y="438"/>
                </a:lnTo>
                <a:lnTo>
                  <a:pt x="438" y="620"/>
                </a:lnTo>
                <a:lnTo>
                  <a:pt x="504" y="676"/>
                </a:lnTo>
                <a:lnTo>
                  <a:pt x="504" y="816"/>
                </a:lnTo>
                <a:lnTo>
                  <a:pt x="0" y="815"/>
                </a:lnTo>
                <a:lnTo>
                  <a:pt x="0" y="0"/>
                </a:lnTo>
              </a:path>
            </a:pathLst>
          </a:custGeom>
          <a:solidFill>
            <a:srgbClr val="FCC2E0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Contoh</a:t>
            </a:r>
            <a:endParaRPr lang="en-US" dirty="0" smtClean="0"/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>
            <a:off x="6477000" y="4708525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90118" name="Freeform 6"/>
          <p:cNvSpPr>
            <a:spLocks/>
          </p:cNvSpPr>
          <p:nvPr/>
        </p:nvSpPr>
        <p:spPr bwMode="auto">
          <a:xfrm>
            <a:off x="2743200" y="4708525"/>
            <a:ext cx="800100" cy="1295400"/>
          </a:xfrm>
          <a:custGeom>
            <a:avLst/>
            <a:gdLst>
              <a:gd name="T0" fmla="*/ 0 w 504"/>
              <a:gd name="T1" fmla="*/ 0 h 816"/>
              <a:gd name="T2" fmla="*/ 190500 w 504"/>
              <a:gd name="T3" fmla="*/ 142875 h 816"/>
              <a:gd name="T4" fmla="*/ 133350 w 504"/>
              <a:gd name="T5" fmla="*/ 71438 h 816"/>
              <a:gd name="T6" fmla="*/ 292100 w 504"/>
              <a:gd name="T7" fmla="*/ 298450 h 816"/>
              <a:gd name="T8" fmla="*/ 406400 w 504"/>
              <a:gd name="T9" fmla="*/ 508000 h 816"/>
              <a:gd name="T10" fmla="*/ 495300 w 504"/>
              <a:gd name="T11" fmla="*/ 695325 h 816"/>
              <a:gd name="T12" fmla="*/ 695325 w 504"/>
              <a:gd name="T13" fmla="*/ 984250 h 816"/>
              <a:gd name="T14" fmla="*/ 800100 w 504"/>
              <a:gd name="T15" fmla="*/ 1073150 h 816"/>
              <a:gd name="T16" fmla="*/ 800100 w 504"/>
              <a:gd name="T17" fmla="*/ 1295400 h 816"/>
              <a:gd name="T18" fmla="*/ 0 w 504"/>
              <a:gd name="T19" fmla="*/ 1293813 h 816"/>
              <a:gd name="T20" fmla="*/ 0 w 504"/>
              <a:gd name="T21" fmla="*/ 0 h 81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04"/>
              <a:gd name="T34" fmla="*/ 0 h 816"/>
              <a:gd name="T35" fmla="*/ 504 w 504"/>
              <a:gd name="T36" fmla="*/ 816 h 81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04" h="816">
                <a:moveTo>
                  <a:pt x="0" y="0"/>
                </a:moveTo>
                <a:lnTo>
                  <a:pt x="120" y="90"/>
                </a:lnTo>
                <a:lnTo>
                  <a:pt x="84" y="45"/>
                </a:lnTo>
                <a:lnTo>
                  <a:pt x="184" y="188"/>
                </a:lnTo>
                <a:lnTo>
                  <a:pt x="256" y="320"/>
                </a:lnTo>
                <a:lnTo>
                  <a:pt x="312" y="438"/>
                </a:lnTo>
                <a:lnTo>
                  <a:pt x="438" y="620"/>
                </a:lnTo>
                <a:lnTo>
                  <a:pt x="504" y="676"/>
                </a:lnTo>
                <a:lnTo>
                  <a:pt x="504" y="816"/>
                </a:lnTo>
                <a:lnTo>
                  <a:pt x="0" y="815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2743200" y="4708525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90120" name="Freeform 8"/>
          <p:cNvSpPr>
            <a:spLocks/>
          </p:cNvSpPr>
          <p:nvPr/>
        </p:nvSpPr>
        <p:spPr bwMode="auto">
          <a:xfrm>
            <a:off x="2743200" y="4708525"/>
            <a:ext cx="1219200" cy="1219200"/>
          </a:xfrm>
          <a:custGeom>
            <a:avLst/>
            <a:gdLst>
              <a:gd name="T0" fmla="*/ 1218016 w 1030"/>
              <a:gd name="T1" fmla="*/ 1217970 h 991"/>
              <a:gd name="T2" fmla="*/ 1090178 w 1030"/>
              <a:gd name="T3" fmla="*/ 1205667 h 991"/>
              <a:gd name="T4" fmla="*/ 1025075 w 1030"/>
              <a:gd name="T5" fmla="*/ 1189673 h 991"/>
              <a:gd name="T6" fmla="*/ 962339 w 1030"/>
              <a:gd name="T7" fmla="*/ 1171219 h 991"/>
              <a:gd name="T8" fmla="*/ 897236 w 1030"/>
              <a:gd name="T9" fmla="*/ 1142923 h 991"/>
              <a:gd name="T10" fmla="*/ 832133 w 1030"/>
              <a:gd name="T11" fmla="*/ 1103554 h 991"/>
              <a:gd name="T12" fmla="*/ 770582 w 1030"/>
              <a:gd name="T13" fmla="*/ 1054344 h 991"/>
              <a:gd name="T14" fmla="*/ 640376 w 1030"/>
              <a:gd name="T15" fmla="*/ 914093 h 991"/>
              <a:gd name="T16" fmla="*/ 512537 w 1030"/>
              <a:gd name="T17" fmla="*/ 714788 h 991"/>
              <a:gd name="T18" fmla="*/ 384699 w 1030"/>
              <a:gd name="T19" fmla="*/ 474885 h 991"/>
              <a:gd name="T20" fmla="*/ 319596 w 1030"/>
              <a:gd name="T21" fmla="*/ 353088 h 991"/>
              <a:gd name="T22" fmla="*/ 254493 w 1030"/>
              <a:gd name="T23" fmla="*/ 241133 h 991"/>
              <a:gd name="T24" fmla="*/ 192941 w 1030"/>
              <a:gd name="T25" fmla="*/ 142712 h 991"/>
              <a:gd name="T26" fmla="*/ 127838 w 1030"/>
              <a:gd name="T27" fmla="*/ 65204 h 991"/>
              <a:gd name="T28" fmla="*/ 62736 w 1030"/>
              <a:gd name="T29" fmla="*/ 15994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21" name="Freeform 9"/>
          <p:cNvSpPr>
            <a:spLocks/>
          </p:cNvSpPr>
          <p:nvPr/>
        </p:nvSpPr>
        <p:spPr bwMode="auto">
          <a:xfrm>
            <a:off x="1524000" y="4708525"/>
            <a:ext cx="1220788" cy="1219200"/>
          </a:xfrm>
          <a:custGeom>
            <a:avLst/>
            <a:gdLst>
              <a:gd name="T0" fmla="*/ 0 w 1032"/>
              <a:gd name="T1" fmla="*/ 1217970 h 991"/>
              <a:gd name="T2" fmla="*/ 127757 w 1032"/>
              <a:gd name="T3" fmla="*/ 1205667 h 991"/>
              <a:gd name="T4" fmla="*/ 192818 w 1032"/>
              <a:gd name="T5" fmla="*/ 1189673 h 991"/>
              <a:gd name="T6" fmla="*/ 257880 w 1032"/>
              <a:gd name="T7" fmla="*/ 1171219 h 991"/>
              <a:gd name="T8" fmla="*/ 320575 w 1032"/>
              <a:gd name="T9" fmla="*/ 1142923 h 991"/>
              <a:gd name="T10" fmla="*/ 385636 w 1032"/>
              <a:gd name="T11" fmla="*/ 1103554 h 991"/>
              <a:gd name="T12" fmla="*/ 450698 w 1032"/>
              <a:gd name="T13" fmla="*/ 1054344 h 991"/>
              <a:gd name="T14" fmla="*/ 577272 w 1032"/>
              <a:gd name="T15" fmla="*/ 914093 h 991"/>
              <a:gd name="T16" fmla="*/ 705029 w 1032"/>
              <a:gd name="T17" fmla="*/ 714788 h 991"/>
              <a:gd name="T18" fmla="*/ 835151 w 1032"/>
              <a:gd name="T19" fmla="*/ 474885 h 991"/>
              <a:gd name="T20" fmla="*/ 897847 w 1032"/>
              <a:gd name="T21" fmla="*/ 353088 h 991"/>
              <a:gd name="T22" fmla="*/ 962908 w 1032"/>
              <a:gd name="T23" fmla="*/ 241133 h 991"/>
              <a:gd name="T24" fmla="*/ 1026787 w 1032"/>
              <a:gd name="T25" fmla="*/ 142712 h 991"/>
              <a:gd name="T26" fmla="*/ 1089482 w 1032"/>
              <a:gd name="T27" fmla="*/ 65204 h 991"/>
              <a:gd name="T28" fmla="*/ 1154543 w 1032"/>
              <a:gd name="T29" fmla="*/ 15994 h 991"/>
              <a:gd name="T30" fmla="*/ 1219605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22" name="Freeform 10"/>
          <p:cNvSpPr>
            <a:spLocks/>
          </p:cNvSpPr>
          <p:nvPr/>
        </p:nvSpPr>
        <p:spPr bwMode="auto">
          <a:xfrm>
            <a:off x="6477000" y="4708525"/>
            <a:ext cx="1219200" cy="1219200"/>
          </a:xfrm>
          <a:custGeom>
            <a:avLst/>
            <a:gdLst>
              <a:gd name="T0" fmla="*/ 1218016 w 1030"/>
              <a:gd name="T1" fmla="*/ 1217970 h 991"/>
              <a:gd name="T2" fmla="*/ 1090178 w 1030"/>
              <a:gd name="T3" fmla="*/ 1205667 h 991"/>
              <a:gd name="T4" fmla="*/ 1025075 w 1030"/>
              <a:gd name="T5" fmla="*/ 1189673 h 991"/>
              <a:gd name="T6" fmla="*/ 962339 w 1030"/>
              <a:gd name="T7" fmla="*/ 1171219 h 991"/>
              <a:gd name="T8" fmla="*/ 897236 w 1030"/>
              <a:gd name="T9" fmla="*/ 1142923 h 991"/>
              <a:gd name="T10" fmla="*/ 832133 w 1030"/>
              <a:gd name="T11" fmla="*/ 1103554 h 991"/>
              <a:gd name="T12" fmla="*/ 770582 w 1030"/>
              <a:gd name="T13" fmla="*/ 1054344 h 991"/>
              <a:gd name="T14" fmla="*/ 640376 w 1030"/>
              <a:gd name="T15" fmla="*/ 914093 h 991"/>
              <a:gd name="T16" fmla="*/ 512537 w 1030"/>
              <a:gd name="T17" fmla="*/ 714788 h 991"/>
              <a:gd name="T18" fmla="*/ 384699 w 1030"/>
              <a:gd name="T19" fmla="*/ 474885 h 991"/>
              <a:gd name="T20" fmla="*/ 319596 w 1030"/>
              <a:gd name="T21" fmla="*/ 353088 h 991"/>
              <a:gd name="T22" fmla="*/ 254493 w 1030"/>
              <a:gd name="T23" fmla="*/ 241133 h 991"/>
              <a:gd name="T24" fmla="*/ 192941 w 1030"/>
              <a:gd name="T25" fmla="*/ 142712 h 991"/>
              <a:gd name="T26" fmla="*/ 127838 w 1030"/>
              <a:gd name="T27" fmla="*/ 65204 h 991"/>
              <a:gd name="T28" fmla="*/ 62736 w 1030"/>
              <a:gd name="T29" fmla="*/ 15994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23" name="Freeform 11"/>
          <p:cNvSpPr>
            <a:spLocks/>
          </p:cNvSpPr>
          <p:nvPr/>
        </p:nvSpPr>
        <p:spPr bwMode="auto">
          <a:xfrm>
            <a:off x="5257800" y="4708525"/>
            <a:ext cx="1220788" cy="1219200"/>
          </a:xfrm>
          <a:custGeom>
            <a:avLst/>
            <a:gdLst>
              <a:gd name="T0" fmla="*/ 0 w 1032"/>
              <a:gd name="T1" fmla="*/ 1217970 h 991"/>
              <a:gd name="T2" fmla="*/ 127757 w 1032"/>
              <a:gd name="T3" fmla="*/ 1205667 h 991"/>
              <a:gd name="T4" fmla="*/ 192818 w 1032"/>
              <a:gd name="T5" fmla="*/ 1189673 h 991"/>
              <a:gd name="T6" fmla="*/ 257880 w 1032"/>
              <a:gd name="T7" fmla="*/ 1171219 h 991"/>
              <a:gd name="T8" fmla="*/ 320575 w 1032"/>
              <a:gd name="T9" fmla="*/ 1142923 h 991"/>
              <a:gd name="T10" fmla="*/ 385636 w 1032"/>
              <a:gd name="T11" fmla="*/ 1103554 h 991"/>
              <a:gd name="T12" fmla="*/ 450698 w 1032"/>
              <a:gd name="T13" fmla="*/ 1054344 h 991"/>
              <a:gd name="T14" fmla="*/ 577272 w 1032"/>
              <a:gd name="T15" fmla="*/ 914093 h 991"/>
              <a:gd name="T16" fmla="*/ 705029 w 1032"/>
              <a:gd name="T17" fmla="*/ 714788 h 991"/>
              <a:gd name="T18" fmla="*/ 835151 w 1032"/>
              <a:gd name="T19" fmla="*/ 474885 h 991"/>
              <a:gd name="T20" fmla="*/ 897847 w 1032"/>
              <a:gd name="T21" fmla="*/ 353088 h 991"/>
              <a:gd name="T22" fmla="*/ 962908 w 1032"/>
              <a:gd name="T23" fmla="*/ 241133 h 991"/>
              <a:gd name="T24" fmla="*/ 1026787 w 1032"/>
              <a:gd name="T25" fmla="*/ 142712 h 991"/>
              <a:gd name="T26" fmla="*/ 1089482 w 1032"/>
              <a:gd name="T27" fmla="*/ 65204 h 991"/>
              <a:gd name="T28" fmla="*/ 1154543 w 1032"/>
              <a:gd name="T29" fmla="*/ 15994 h 991"/>
              <a:gd name="T30" fmla="*/ 1219605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24" name="Text Box 12"/>
          <p:cNvSpPr txBox="1">
            <a:spLocks noChangeArrowheads="1"/>
          </p:cNvSpPr>
          <p:nvPr/>
        </p:nvSpPr>
        <p:spPr bwMode="auto">
          <a:xfrm>
            <a:off x="7620000" y="6003925"/>
            <a:ext cx="38100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Z</a:t>
            </a:r>
          </a:p>
        </p:txBody>
      </p:sp>
      <p:sp>
        <p:nvSpPr>
          <p:cNvPr id="90125" name="Text Box 13"/>
          <p:cNvSpPr txBox="1">
            <a:spLocks noChangeArrowheads="1"/>
          </p:cNvSpPr>
          <p:nvPr/>
        </p:nvSpPr>
        <p:spPr bwMode="auto">
          <a:xfrm>
            <a:off x="3276600" y="5927725"/>
            <a:ext cx="6858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0.45</a:t>
            </a:r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>
            <a:off x="1447800" y="6003925"/>
            <a:ext cx="2590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>
            <a:off x="5257800" y="6003925"/>
            <a:ext cx="2590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6934200" y="5927725"/>
            <a:ext cx="6096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 smtClean="0"/>
              <a:t>1.4</a:t>
            </a:r>
            <a:r>
              <a:rPr lang="id-ID" sz="1600" dirty="0" smtClean="0"/>
              <a:t>3</a:t>
            </a:r>
            <a:endParaRPr lang="en-US" sz="1600" dirty="0"/>
          </a:p>
        </p:txBody>
      </p:sp>
      <p:sp>
        <p:nvSpPr>
          <p:cNvPr id="90129" name="AutoShape 17"/>
          <p:cNvSpPr>
            <a:spLocks noChangeArrowheads="1"/>
          </p:cNvSpPr>
          <p:nvPr/>
        </p:nvSpPr>
        <p:spPr bwMode="auto">
          <a:xfrm>
            <a:off x="4038600" y="5318125"/>
            <a:ext cx="1295400" cy="228600"/>
          </a:xfrm>
          <a:prstGeom prst="rightArrow">
            <a:avLst>
              <a:gd name="adj1" fmla="val 50000"/>
              <a:gd name="adj2" fmla="val 141667"/>
            </a:avLst>
          </a:prstGeom>
          <a:solidFill>
            <a:schemeClr val="hlink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/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7086600" y="4860925"/>
            <a:ext cx="914400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smtClean="0"/>
              <a:t>0.42</a:t>
            </a:r>
            <a:r>
              <a:rPr lang="id-ID" sz="1800" dirty="0" smtClean="0"/>
              <a:t>36</a:t>
            </a:r>
            <a:endParaRPr lang="en-US" sz="1800" dirty="0"/>
          </a:p>
        </p:txBody>
      </p:sp>
      <p:sp>
        <p:nvSpPr>
          <p:cNvPr id="90131" name="Line 19"/>
          <p:cNvSpPr>
            <a:spLocks noChangeShapeType="1"/>
          </p:cNvSpPr>
          <p:nvPr/>
        </p:nvSpPr>
        <p:spPr bwMode="auto">
          <a:xfrm flipH="1">
            <a:off x="6705600" y="5165725"/>
            <a:ext cx="3810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132" name="Text Box 20"/>
          <p:cNvSpPr txBox="1">
            <a:spLocks noChangeArrowheads="1"/>
          </p:cNvSpPr>
          <p:nvPr/>
        </p:nvSpPr>
        <p:spPr bwMode="auto">
          <a:xfrm>
            <a:off x="4038600" y="5470525"/>
            <a:ext cx="1295400" cy="30777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 smtClean="0"/>
              <a:t>Standar</a:t>
            </a:r>
            <a:r>
              <a:rPr lang="id-ID" sz="1400" dirty="0" smtClean="0"/>
              <a:t>isasi</a:t>
            </a:r>
            <a:endParaRPr lang="en-US" sz="1400" dirty="0"/>
          </a:p>
        </p:txBody>
      </p:sp>
      <p:sp>
        <p:nvSpPr>
          <p:cNvPr id="90133" name="Rectangle 21"/>
          <p:cNvSpPr>
            <a:spLocks noChangeArrowheads="1"/>
          </p:cNvSpPr>
          <p:nvPr/>
        </p:nvSpPr>
        <p:spPr bwMode="auto">
          <a:xfrm>
            <a:off x="1447800" y="4251325"/>
            <a:ext cx="27432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dirty="0" smtClean="0"/>
              <a:t>Distribusi sampling</a:t>
            </a:r>
            <a:endParaRPr lang="en-US" sz="2000" dirty="0"/>
          </a:p>
        </p:txBody>
      </p:sp>
      <p:sp>
        <p:nvSpPr>
          <p:cNvPr id="90134" name="Rectangle 22"/>
          <p:cNvSpPr>
            <a:spLocks noChangeArrowheads="1"/>
          </p:cNvSpPr>
          <p:nvPr/>
        </p:nvSpPr>
        <p:spPr bwMode="auto">
          <a:xfrm>
            <a:off x="4953000" y="4022725"/>
            <a:ext cx="2971800" cy="7053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sz="2000" dirty="0" smtClean="0"/>
              <a:t>Distribusi normal standar</a:t>
            </a:r>
            <a:endParaRPr lang="en-US" sz="2000" dirty="0"/>
          </a:p>
        </p:txBody>
      </p:sp>
      <p:sp>
        <p:nvSpPr>
          <p:cNvPr id="90137" name="Line 25"/>
          <p:cNvSpPr>
            <a:spLocks noChangeShapeType="1"/>
          </p:cNvSpPr>
          <p:nvPr/>
        </p:nvSpPr>
        <p:spPr bwMode="auto">
          <a:xfrm>
            <a:off x="381000" y="2743200"/>
            <a:ext cx="84582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138" name="Text Box 26"/>
          <p:cNvSpPr txBox="1">
            <a:spLocks noChangeArrowheads="1"/>
          </p:cNvSpPr>
          <p:nvPr/>
        </p:nvSpPr>
        <p:spPr bwMode="auto">
          <a:xfrm>
            <a:off x="381000" y="2819400"/>
            <a:ext cx="8305800" cy="78483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 dirty="0" smtClean="0"/>
              <a:t>Dari tabel normal</a:t>
            </a:r>
            <a:r>
              <a:rPr lang="en-US" dirty="0" smtClean="0"/>
              <a:t>:</a:t>
            </a:r>
            <a:endParaRPr lang="en-US" dirty="0"/>
          </a:p>
          <a:p>
            <a:pPr>
              <a:spcBef>
                <a:spcPct val="50000"/>
              </a:spcBef>
            </a:pPr>
            <a:r>
              <a:rPr lang="en-US" dirty="0"/>
              <a:t>P(0 </a:t>
            </a:r>
            <a:r>
              <a:rPr lang="en-US" dirty="0">
                <a:cs typeface="Arial" charset="0"/>
              </a:rPr>
              <a:t>≤ Z ≤ </a:t>
            </a:r>
            <a:r>
              <a:rPr lang="en-US" dirty="0" smtClean="0">
                <a:cs typeface="Arial" charset="0"/>
              </a:rPr>
              <a:t>1.4</a:t>
            </a:r>
            <a:r>
              <a:rPr lang="id-ID" dirty="0" smtClean="0">
                <a:cs typeface="Arial" charset="0"/>
              </a:rPr>
              <a:t>3</a:t>
            </a:r>
            <a:r>
              <a:rPr lang="en-US" dirty="0" smtClean="0">
                <a:cs typeface="Arial" charset="0"/>
              </a:rPr>
              <a:t>) </a:t>
            </a:r>
            <a:r>
              <a:rPr lang="en-US" dirty="0">
                <a:cs typeface="Arial" charset="0"/>
              </a:rPr>
              <a:t>= </a:t>
            </a:r>
            <a:r>
              <a:rPr lang="en-US" dirty="0">
                <a:cs typeface="Arial" charset="0"/>
              </a:rPr>
              <a:t>P(Z </a:t>
            </a:r>
            <a:r>
              <a:rPr lang="en-US" dirty="0" smtClean="0">
                <a:cs typeface="Arial" charset="0"/>
              </a:rPr>
              <a:t>≤ 1.43) – P(</a:t>
            </a:r>
            <a:r>
              <a:rPr lang="en-US" dirty="0">
                <a:cs typeface="Arial" charset="0"/>
              </a:rPr>
              <a:t>Z ≤ </a:t>
            </a:r>
            <a:r>
              <a:rPr lang="en-US" dirty="0" smtClean="0">
                <a:cs typeface="Arial" charset="0"/>
              </a:rPr>
              <a:t>0) = </a:t>
            </a:r>
            <a:r>
              <a:rPr lang="en-US" dirty="0" smtClean="0">
                <a:cs typeface="Arial" charset="0"/>
              </a:rPr>
              <a:t>0.92</a:t>
            </a:r>
            <a:r>
              <a:rPr lang="id-ID" dirty="0" smtClean="0">
                <a:cs typeface="Arial" charset="0"/>
              </a:rPr>
              <a:t>36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– 0.5000 = </a:t>
            </a:r>
            <a:r>
              <a:rPr lang="en-US" dirty="0" smtClean="0">
                <a:cs typeface="Arial" charset="0"/>
              </a:rPr>
              <a:t>0.42</a:t>
            </a:r>
            <a:r>
              <a:rPr lang="id-ID" dirty="0" smtClean="0">
                <a:cs typeface="Arial" charset="0"/>
              </a:rPr>
              <a:t>36</a:t>
            </a:r>
            <a:endParaRPr lang="en-US" dirty="0">
              <a:cs typeface="Arial" charset="0"/>
            </a:endParaRPr>
          </a:p>
        </p:txBody>
      </p:sp>
      <p:sp>
        <p:nvSpPr>
          <p:cNvPr id="90139" name="Text Box 27"/>
          <p:cNvSpPr txBox="1">
            <a:spLocks noChangeArrowheads="1"/>
          </p:cNvSpPr>
          <p:nvPr/>
        </p:nvSpPr>
        <p:spPr bwMode="auto">
          <a:xfrm>
            <a:off x="2514600" y="5927725"/>
            <a:ext cx="6096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0.40</a:t>
            </a:r>
          </a:p>
        </p:txBody>
      </p:sp>
      <p:sp>
        <p:nvSpPr>
          <p:cNvPr id="90140" name="Text Box 28"/>
          <p:cNvSpPr txBox="1">
            <a:spLocks noChangeArrowheads="1"/>
          </p:cNvSpPr>
          <p:nvPr/>
        </p:nvSpPr>
        <p:spPr bwMode="auto">
          <a:xfrm>
            <a:off x="6324600" y="5927725"/>
            <a:ext cx="3810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</a:p>
        </p:txBody>
      </p:sp>
      <p:sp>
        <p:nvSpPr>
          <p:cNvPr id="90141" name="Text Box 29"/>
          <p:cNvSpPr txBox="1">
            <a:spLocks noChangeArrowheads="1"/>
          </p:cNvSpPr>
          <p:nvPr/>
        </p:nvSpPr>
        <p:spPr bwMode="auto">
          <a:xfrm>
            <a:off x="3962400" y="6003925"/>
            <a:ext cx="60960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838200" y="1676400"/>
            <a:ext cx="8077200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marL="320675" marR="0" lvl="0" indent="-320675" algn="l" defTabSz="852488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id-ID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jika </a:t>
            </a:r>
            <a:r>
              <a:rPr kumimoji="0" lang="el-GR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0.4  d</a:t>
            </a:r>
            <a:r>
              <a:rPr kumimoji="0" lang="id-ID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</a:t>
            </a: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n = 200, </a:t>
            </a:r>
            <a:r>
              <a:rPr kumimoji="0" lang="id-ID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berapa</a:t>
            </a:r>
            <a:endParaRPr kumimoji="0" lang="en-US" sz="2800" b="1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20675" marR="0" lvl="0" indent="-320675" algn="l" defTabSz="852488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     P(0.40 ≤ p ≤ 0.45) ?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077200" cy="4532312"/>
          </a:xfrm>
        </p:spPr>
        <p:txBody>
          <a:bodyPr/>
          <a:lstStyle/>
          <a:p>
            <a:pPr>
              <a:buNone/>
            </a:pPr>
            <a:r>
              <a:rPr lang="id-ID" sz="2400" dirty="0" smtClean="0"/>
              <a:t>   Misalkan diketahui persentase ikan kuniran berjenis kelamin betina adalah 50%. Jika diambil sampel sebanyak 100 ekor ikan kuniran dari suatu spot penangkapan, hitung</a:t>
            </a:r>
          </a:p>
          <a:p>
            <a:pPr marL="514350" indent="-514350">
              <a:buAutoNum type="alphaLcPeriod"/>
            </a:pPr>
            <a:r>
              <a:rPr lang="id-ID" sz="2400" dirty="0" smtClean="0"/>
              <a:t>peluang bahwa persentase ikan betina di spot tsb lebih dari 50%?</a:t>
            </a:r>
          </a:p>
          <a:p>
            <a:pPr marL="514350" indent="-514350">
              <a:buFont typeface="Wingdings" pitchFamily="2" charset="2"/>
              <a:buAutoNum type="alphaLcPeriod"/>
            </a:pPr>
            <a:r>
              <a:rPr lang="id-ID" sz="2400" dirty="0" smtClean="0"/>
              <a:t>peluang bahwa persentase ikan betina di spot tsb antara 35-40%?</a:t>
            </a:r>
          </a:p>
          <a:p>
            <a:pPr marL="514350" indent="-514350">
              <a:buAutoNum type="alphaLcPeriod"/>
            </a:pPr>
            <a:endParaRPr lang="id-ID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Faktor Koreksi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467600" cy="4532312"/>
          </a:xfrm>
        </p:spPr>
        <p:txBody>
          <a:bodyPr/>
          <a:lstStyle/>
          <a:p>
            <a:r>
              <a:rPr lang="id-ID" dirty="0" smtClean="0"/>
              <a:t>Faktor koreksi adalah usaha untuk memperbaiki hasil estimasi parameter jika diketahui ukuran populasi (N).</a:t>
            </a:r>
          </a:p>
          <a:p>
            <a:r>
              <a:rPr lang="id-ID" dirty="0" smtClean="0"/>
              <a:t>Faktor koreksi diterapkan jika rasio </a:t>
            </a:r>
            <a:r>
              <a:rPr lang="id-ID" b="1" dirty="0" smtClean="0"/>
              <a:t>n/N &gt; 0.05</a:t>
            </a:r>
            <a:endParaRPr lang="id-ID" b="1" dirty="0"/>
          </a:p>
        </p:txBody>
      </p:sp>
      <p:graphicFrame>
        <p:nvGraphicFramePr>
          <p:cNvPr id="75778" name="Object 2"/>
          <p:cNvGraphicFramePr>
            <a:graphicFrameLocks noChangeAspect="1"/>
          </p:cNvGraphicFramePr>
          <p:nvPr/>
        </p:nvGraphicFramePr>
        <p:xfrm>
          <a:off x="4785360" y="4343400"/>
          <a:ext cx="336804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5" name="Equation" r:id="rId3" imgW="1511280" imgH="444240" progId="Equation.DSMT4">
                  <p:embed/>
                </p:oleObj>
              </mc:Choice>
              <mc:Fallback>
                <p:oleObj name="Equation" r:id="rId3" imgW="151128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360" y="4343400"/>
                        <a:ext cx="336804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975360" y="4267200"/>
          <a:ext cx="246221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6" name="Equation" r:id="rId5" imgW="1104840" imgH="457200" progId="Equation.DSMT4">
                  <p:embed/>
                </p:oleObj>
              </mc:Choice>
              <mc:Fallback>
                <p:oleObj name="Equation" r:id="rId5" imgW="1104840" imgH="457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60" y="4267200"/>
                        <a:ext cx="246221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9160" y="3810000"/>
            <a:ext cx="271099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id-ID" dirty="0" smtClean="0"/>
              <a:t>Standar deviasi rata-rata</a:t>
            </a:r>
            <a:endParaRPr lang="id-ID" dirty="0"/>
          </a:p>
        </p:txBody>
      </p:sp>
      <p:sp>
        <p:nvSpPr>
          <p:cNvPr id="8" name="TextBox 7"/>
          <p:cNvSpPr txBox="1"/>
          <p:nvPr/>
        </p:nvSpPr>
        <p:spPr>
          <a:xfrm>
            <a:off x="4785360" y="3886200"/>
            <a:ext cx="267252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id-ID" dirty="0" smtClean="0"/>
              <a:t>Standar deviasi proporsi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[1]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6934200" cy="4532312"/>
          </a:xfrm>
        </p:spPr>
        <p:txBody>
          <a:bodyPr/>
          <a:lstStyle/>
          <a:p>
            <a:pPr lvl="0"/>
            <a:r>
              <a:rPr lang="id-ID" dirty="0" smtClean="0"/>
              <a:t>Hasil tangkapan sekali melaut dari total 50 kapal kecil berdistribusi normal dengan rata-rata 15  kg dan standar deviasi 5 kg. Jika diambil sampel acak sebanyak 9 kapal kecil, berapa </a:t>
            </a:r>
          </a:p>
          <a:p>
            <a:pPr lvl="1"/>
            <a:r>
              <a:rPr lang="id-ID" dirty="0" smtClean="0"/>
              <a:t>probabilitas rata-rata hasil tangkapan sampel tsb antara 12 –16  kg? </a:t>
            </a:r>
          </a:p>
          <a:p>
            <a:pPr lvl="1"/>
            <a:r>
              <a:rPr lang="id-ID" dirty="0" smtClean="0"/>
              <a:t>peluang rata-rata hasil tangkapan sampel tsb lebih dari 23 kg?</a:t>
            </a:r>
          </a:p>
          <a:p>
            <a:pPr lvl="1">
              <a:buNone/>
            </a:pPr>
            <a:endParaRPr lang="id-ID" sz="3200" dirty="0" smtClean="0"/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23913" y="304800"/>
          <a:ext cx="6469062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5" name="Equation" r:id="rId3" imgW="3314520" imgH="3124080" progId="Equation.DSMT4">
                  <p:embed/>
                </p:oleObj>
              </mc:Choice>
              <mc:Fallback>
                <p:oleObj name="Equation" r:id="rId3" imgW="3314520" imgH="31240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304800"/>
                        <a:ext cx="6469062" cy="6096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sz="3600" dirty="0" smtClean="0"/>
              <a:t>Distribusi Sampling Selisih Rata-rata</a:t>
            </a:r>
            <a:endParaRPr lang="en-US" sz="3600" dirty="0" smtClean="0"/>
          </a:p>
        </p:txBody>
      </p:sp>
      <p:sp>
        <p:nvSpPr>
          <p:cNvPr id="9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4532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id-ID" dirty="0" smtClean="0"/>
              <a:t>Nilai Z dari distribusi sampling</a:t>
            </a:r>
            <a:r>
              <a:rPr lang="en-US" dirty="0" smtClean="0"/>
              <a:t>     :</a:t>
            </a:r>
          </a:p>
        </p:txBody>
      </p:sp>
      <p:graphicFrame>
        <p:nvGraphicFramePr>
          <p:cNvPr id="9220" name="Object 7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2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9"/>
          <p:cNvGraphicFramePr>
            <a:graphicFrameLocks noChangeAspect="1"/>
          </p:cNvGraphicFramePr>
          <p:nvPr/>
        </p:nvGraphicFramePr>
        <p:xfrm>
          <a:off x="533400" y="2743200"/>
          <a:ext cx="7877175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3" name="Equation" r:id="rId5" imgW="2819160" imgH="723600" progId="Equation.DSMT4">
                  <p:embed/>
                </p:oleObj>
              </mc:Choice>
              <mc:Fallback>
                <p:oleObj name="Equation" r:id="rId5" imgW="2819160" imgH="723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743200"/>
                        <a:ext cx="7877175" cy="1822450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0"/>
          <p:cNvGraphicFramePr>
            <a:graphicFrameLocks noChangeAspect="1"/>
          </p:cNvGraphicFramePr>
          <p:nvPr/>
        </p:nvGraphicFramePr>
        <p:xfrm>
          <a:off x="6248400" y="1676400"/>
          <a:ext cx="135096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4" name="Equation" r:id="rId7" imgW="520560" imgH="241200" progId="Equation.DSMT4">
                  <p:embed/>
                </p:oleObj>
              </mc:Choice>
              <mc:Fallback>
                <p:oleObj name="Equation" r:id="rId7" imgW="52056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676400"/>
                        <a:ext cx="1350962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8488"/>
            <a:ext cx="7010400" cy="4532312"/>
          </a:xfrm>
        </p:spPr>
        <p:txBody>
          <a:bodyPr/>
          <a:lstStyle/>
          <a:p>
            <a:r>
              <a:rPr lang="id-ID" dirty="0" smtClean="0"/>
              <a:t>Rata-rata berat ikan kakap di site Brondong adalah 3.2 kg dengan standar deviasi 1.50 kg, sedangkan di site Mayangan adalah 3 kg dengan standar deviasi 0.50 kg. Jika diambil sampel sebanyak 25 ekor ikan masing-masing dari  site Brondong dan Mayangan, berapa probabilitas berat ikan kakap di Brondong  0.30 kg lebih besar daripada Mayangan? 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nHall3">
  <a:themeElements>
    <a:clrScheme name="PrenHall3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renHall3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3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3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1630</Words>
  <Application>Microsoft Office PowerPoint</Application>
  <PresentationFormat>On-screen Show (4:3)</PresentationFormat>
  <Paragraphs>328</Paragraphs>
  <Slides>43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Symbol</vt:lpstr>
      <vt:lpstr>Times New Roman</vt:lpstr>
      <vt:lpstr>Wingdings</vt:lpstr>
      <vt:lpstr>Office Theme</vt:lpstr>
      <vt:lpstr>PrenHall3</vt:lpstr>
      <vt:lpstr>Equation</vt:lpstr>
      <vt:lpstr>PowerPoint Presentation</vt:lpstr>
      <vt:lpstr>Materi</vt:lpstr>
      <vt:lpstr>Metode Sampling</vt:lpstr>
      <vt:lpstr>Probability sampling</vt:lpstr>
      <vt:lpstr>Probability Sampling</vt:lpstr>
      <vt:lpstr>Simple Random Sampling</vt:lpstr>
      <vt:lpstr>Systematic Sampling</vt:lpstr>
      <vt:lpstr>Systematic Sampling</vt:lpstr>
      <vt:lpstr>Stratified Sampling</vt:lpstr>
      <vt:lpstr>PowerPoint Presentation</vt:lpstr>
      <vt:lpstr>Cluster Sampling</vt:lpstr>
      <vt:lpstr> Non-probability Sampling</vt:lpstr>
      <vt:lpstr>Distribusi Sampling</vt:lpstr>
      <vt:lpstr>Membangun Distribusi Sampling</vt:lpstr>
      <vt:lpstr>Membangun Distribusi Sampling</vt:lpstr>
      <vt:lpstr>Misalkan diambil sampel berukuran 2 atau n=2, sehingga kemungkinan kombinasi sampel yang mungkin yaitu</vt:lpstr>
      <vt:lpstr>Distribusi sampling dari semua rata-rata sampel</vt:lpstr>
      <vt:lpstr>Ringkasan statistik distribusi sampling:</vt:lpstr>
      <vt:lpstr>Distribusi Populasi vs Distribusi Sampling</vt:lpstr>
      <vt:lpstr>Distribusi Sampling Rata-rata: Standar Error Rata-rata</vt:lpstr>
      <vt:lpstr>Distribusi Sampling Rata-rata: Jika Populasi Normal</vt:lpstr>
      <vt:lpstr>Nilai Z Distribusi Sampling Rata-rata</vt:lpstr>
      <vt:lpstr>Distribusi Sampling Rata-rata: Jika populasi tidak normal</vt:lpstr>
      <vt:lpstr>Distribusi Sampling Rata-rata: Jika populasi tidak normal</vt:lpstr>
      <vt:lpstr>Berapa nilai ukuran sampel dikatakan besar/cukup besar?</vt:lpstr>
      <vt:lpstr>Contoh</vt:lpstr>
      <vt:lpstr>Contoh: Distribusi Sampling Rata-rata</vt:lpstr>
      <vt:lpstr>PowerPoint Presentation</vt:lpstr>
      <vt:lpstr>PowerPoint Presentation</vt:lpstr>
      <vt:lpstr>PowerPoint Presentation</vt:lpstr>
      <vt:lpstr>Latihan</vt:lpstr>
      <vt:lpstr>Distribusi Sampling Proporsi</vt:lpstr>
      <vt:lpstr>Distribusi Sampling p</vt:lpstr>
      <vt:lpstr>Nilai Z untuk Proporsi</vt:lpstr>
      <vt:lpstr>Contoh: Dist. Sampling Proporsi</vt:lpstr>
      <vt:lpstr>Contoh</vt:lpstr>
      <vt:lpstr>Contoh</vt:lpstr>
      <vt:lpstr>Latihan</vt:lpstr>
      <vt:lpstr>Faktor Koreksi</vt:lpstr>
      <vt:lpstr>Contoh [1]</vt:lpstr>
      <vt:lpstr>PowerPoint Presentation</vt:lpstr>
      <vt:lpstr>Distribusi Sampling Selisih Rata-rata</vt:lpstr>
      <vt:lpstr>Latihan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Muhammad Arif Rahman</cp:lastModifiedBy>
  <cp:revision>57</cp:revision>
  <dcterms:created xsi:type="dcterms:W3CDTF">2016-02-28T10:00:07Z</dcterms:created>
  <dcterms:modified xsi:type="dcterms:W3CDTF">2016-10-12T02:22:20Z</dcterms:modified>
</cp:coreProperties>
</file>