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notesMasterIdLst>
    <p:notesMasterId r:id="rId35"/>
  </p:notesMasterIdLst>
  <p:sldIdLst>
    <p:sldId id="257" r:id="rId3"/>
    <p:sldId id="328" r:id="rId4"/>
    <p:sldId id="451" r:id="rId5"/>
    <p:sldId id="452" r:id="rId6"/>
    <p:sldId id="453" r:id="rId7"/>
    <p:sldId id="454" r:id="rId8"/>
    <p:sldId id="465" r:id="rId9"/>
    <p:sldId id="466" r:id="rId10"/>
    <p:sldId id="467" r:id="rId11"/>
    <p:sldId id="470" r:id="rId12"/>
    <p:sldId id="471" r:id="rId13"/>
    <p:sldId id="472" r:id="rId14"/>
    <p:sldId id="473" r:id="rId15"/>
    <p:sldId id="474" r:id="rId16"/>
    <p:sldId id="475" r:id="rId17"/>
    <p:sldId id="485" r:id="rId18"/>
    <p:sldId id="486" r:id="rId19"/>
    <p:sldId id="487" r:id="rId20"/>
    <p:sldId id="488" r:id="rId21"/>
    <p:sldId id="492" r:id="rId22"/>
    <p:sldId id="493" r:id="rId23"/>
    <p:sldId id="494" r:id="rId24"/>
    <p:sldId id="495" r:id="rId25"/>
    <p:sldId id="496" r:id="rId26"/>
    <p:sldId id="512" r:id="rId27"/>
    <p:sldId id="513" r:id="rId28"/>
    <p:sldId id="506" r:id="rId29"/>
    <p:sldId id="507" r:id="rId30"/>
    <p:sldId id="514" r:id="rId31"/>
    <p:sldId id="515" r:id="rId32"/>
    <p:sldId id="511" r:id="rId33"/>
    <p:sldId id="499" r:id="rId34"/>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3" d="100"/>
          <a:sy n="63" d="100"/>
        </p:scale>
        <p:origin x="1512"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07CD250-E0E1-4F2A-A9EA-B289CE8C6481}" type="datetimeFigureOut">
              <a:rPr lang="id-ID" smtClean="0"/>
              <a:pPr/>
              <a:t>06/11/2016</a:t>
            </a:fld>
            <a:endParaRPr lang="id-ID"/>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FACD849-E870-4411-AF7A-9A38955FBE3C}" type="slidenum">
              <a:rPr lang="id-ID" smtClean="0"/>
              <a:pPr/>
              <a:t>‹#›</a:t>
            </a:fld>
            <a:endParaRPr lang="id-ID"/>
          </a:p>
        </p:txBody>
      </p:sp>
    </p:spTree>
    <p:extLst>
      <p:ext uri="{BB962C8B-B14F-4D97-AF65-F5344CB8AC3E}">
        <p14:creationId xmlns:p14="http://schemas.microsoft.com/office/powerpoint/2010/main" val="6568851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id-ID" dirty="0"/>
          </a:p>
        </p:txBody>
      </p:sp>
      <p:sp>
        <p:nvSpPr>
          <p:cNvPr id="4" name="Slide Number Placeholder 3"/>
          <p:cNvSpPr>
            <a:spLocks noGrp="1"/>
          </p:cNvSpPr>
          <p:nvPr>
            <p:ph type="sldNum" sz="quarter" idx="10"/>
          </p:nvPr>
        </p:nvSpPr>
        <p:spPr/>
        <p:txBody>
          <a:bodyPr/>
          <a:lstStyle/>
          <a:p>
            <a:fld id="{6FACD849-E870-4411-AF7A-9A38955FBE3C}" type="slidenum">
              <a:rPr lang="id-ID" smtClean="0"/>
              <a:pPr/>
              <a:t>2</a:t>
            </a:fld>
            <a:endParaRPr lang="id-ID"/>
          </a:p>
        </p:txBody>
      </p:sp>
    </p:spTree>
    <p:extLst>
      <p:ext uri="{BB962C8B-B14F-4D97-AF65-F5344CB8AC3E}">
        <p14:creationId xmlns:p14="http://schemas.microsoft.com/office/powerpoint/2010/main" val="3949607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p:cNvSpPr>
          <p:nvPr>
            <p:ph type="sldImg"/>
          </p:nvPr>
        </p:nvSpPr>
        <p:spPr>
          <a:xfrm>
            <a:off x="1782763" y="609600"/>
            <a:ext cx="3444875" cy="2584450"/>
          </a:xfrm>
          <a:ln/>
        </p:spPr>
      </p:sp>
      <p:sp>
        <p:nvSpPr>
          <p:cNvPr id="22530" name="Notes Placeholder 2"/>
          <p:cNvSpPr>
            <a:spLocks noGrp="1"/>
          </p:cNvSpPr>
          <p:nvPr>
            <p:ph type="body" idx="1"/>
          </p:nvPr>
        </p:nvSpPr>
        <p:spPr>
          <a:noFill/>
          <a:ln w="9525"/>
        </p:spPr>
        <p:txBody>
          <a:bodyPr/>
          <a:lstStyle/>
          <a:p>
            <a:endParaRPr lang="en-US" smtClean="0"/>
          </a:p>
        </p:txBody>
      </p:sp>
    </p:spTree>
    <p:extLst>
      <p:ext uri="{BB962C8B-B14F-4D97-AF65-F5344CB8AC3E}">
        <p14:creationId xmlns:p14="http://schemas.microsoft.com/office/powerpoint/2010/main" val="4224272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p:cNvSpPr>
          <p:nvPr>
            <p:ph type="sldImg"/>
          </p:nvPr>
        </p:nvSpPr>
        <p:spPr>
          <a:xfrm>
            <a:off x="1782763" y="609600"/>
            <a:ext cx="3444875" cy="2584450"/>
          </a:xfrm>
          <a:ln/>
        </p:spPr>
      </p:sp>
      <p:sp>
        <p:nvSpPr>
          <p:cNvPr id="24578" name="Notes Placeholder 2"/>
          <p:cNvSpPr>
            <a:spLocks noGrp="1"/>
          </p:cNvSpPr>
          <p:nvPr>
            <p:ph type="body" idx="1"/>
          </p:nvPr>
        </p:nvSpPr>
        <p:spPr>
          <a:noFill/>
          <a:ln w="9525"/>
        </p:spPr>
        <p:txBody>
          <a:bodyPr/>
          <a:lstStyle/>
          <a:p>
            <a:endParaRPr lang="en-US" smtClean="0"/>
          </a:p>
        </p:txBody>
      </p:sp>
    </p:spTree>
    <p:extLst>
      <p:ext uri="{BB962C8B-B14F-4D97-AF65-F5344CB8AC3E}">
        <p14:creationId xmlns:p14="http://schemas.microsoft.com/office/powerpoint/2010/main" val="798006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p:cNvSpPr>
          <p:nvPr>
            <p:ph type="sldImg"/>
          </p:nvPr>
        </p:nvSpPr>
        <p:spPr>
          <a:xfrm>
            <a:off x="1782763" y="609600"/>
            <a:ext cx="3444875" cy="2584450"/>
          </a:xfrm>
          <a:ln/>
        </p:spPr>
      </p:sp>
      <p:sp>
        <p:nvSpPr>
          <p:cNvPr id="53250" name="Notes Placeholder 2"/>
          <p:cNvSpPr>
            <a:spLocks noGrp="1"/>
          </p:cNvSpPr>
          <p:nvPr>
            <p:ph type="body" idx="1"/>
          </p:nvPr>
        </p:nvSpPr>
        <p:spPr>
          <a:noFill/>
          <a:ln w="9525"/>
        </p:spPr>
        <p:txBody>
          <a:bodyPr/>
          <a:lstStyle/>
          <a:p>
            <a:endParaRPr lang="en-US" smtClean="0"/>
          </a:p>
        </p:txBody>
      </p:sp>
    </p:spTree>
    <p:extLst>
      <p:ext uri="{BB962C8B-B14F-4D97-AF65-F5344CB8AC3E}">
        <p14:creationId xmlns:p14="http://schemas.microsoft.com/office/powerpoint/2010/main" val="2649008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p:cNvSpPr>
            <a:spLocks noGrp="1" noRot="1" noChangeAspect="1"/>
          </p:cNvSpPr>
          <p:nvPr>
            <p:ph type="sldImg"/>
          </p:nvPr>
        </p:nvSpPr>
        <p:spPr>
          <a:xfrm>
            <a:off x="1782763" y="609600"/>
            <a:ext cx="3444875" cy="2584450"/>
          </a:xfrm>
          <a:ln/>
        </p:spPr>
      </p:sp>
      <p:sp>
        <p:nvSpPr>
          <p:cNvPr id="55298" name="Notes Placeholder 2"/>
          <p:cNvSpPr>
            <a:spLocks noGrp="1"/>
          </p:cNvSpPr>
          <p:nvPr>
            <p:ph type="body" idx="1"/>
          </p:nvPr>
        </p:nvSpPr>
        <p:spPr>
          <a:noFill/>
          <a:ln w="9525"/>
        </p:spPr>
        <p:txBody>
          <a:bodyPr/>
          <a:lstStyle/>
          <a:p>
            <a:endParaRPr lang="en-US" smtClean="0"/>
          </a:p>
        </p:txBody>
      </p:sp>
    </p:spTree>
    <p:extLst>
      <p:ext uri="{BB962C8B-B14F-4D97-AF65-F5344CB8AC3E}">
        <p14:creationId xmlns:p14="http://schemas.microsoft.com/office/powerpoint/2010/main" val="9350222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p:cNvSpPr>
          <p:nvPr>
            <p:ph type="sldImg"/>
          </p:nvPr>
        </p:nvSpPr>
        <p:spPr>
          <a:xfrm>
            <a:off x="1782763" y="609600"/>
            <a:ext cx="3444875" cy="2584450"/>
          </a:xfrm>
          <a:ln/>
        </p:spPr>
      </p:sp>
      <p:sp>
        <p:nvSpPr>
          <p:cNvPr id="57346" name="Notes Placeholder 2"/>
          <p:cNvSpPr>
            <a:spLocks noGrp="1"/>
          </p:cNvSpPr>
          <p:nvPr>
            <p:ph type="body" idx="1"/>
          </p:nvPr>
        </p:nvSpPr>
        <p:spPr>
          <a:noFill/>
          <a:ln w="9525"/>
        </p:spPr>
        <p:txBody>
          <a:bodyPr/>
          <a:lstStyle/>
          <a:p>
            <a:endParaRPr lang="en-US" smtClean="0"/>
          </a:p>
        </p:txBody>
      </p:sp>
    </p:spTree>
    <p:extLst>
      <p:ext uri="{BB962C8B-B14F-4D97-AF65-F5344CB8AC3E}">
        <p14:creationId xmlns:p14="http://schemas.microsoft.com/office/powerpoint/2010/main" val="25958874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Image Placeholder 1"/>
          <p:cNvSpPr>
            <a:spLocks noGrp="1" noRot="1" noChangeAspect="1"/>
          </p:cNvSpPr>
          <p:nvPr>
            <p:ph type="sldImg"/>
          </p:nvPr>
        </p:nvSpPr>
        <p:spPr>
          <a:xfrm>
            <a:off x="1782763" y="609600"/>
            <a:ext cx="3444875" cy="2584450"/>
          </a:xfrm>
          <a:ln/>
        </p:spPr>
      </p:sp>
      <p:sp>
        <p:nvSpPr>
          <p:cNvPr id="72706" name="Notes Placeholder 2"/>
          <p:cNvSpPr>
            <a:spLocks noGrp="1"/>
          </p:cNvSpPr>
          <p:nvPr>
            <p:ph type="body" idx="1"/>
          </p:nvPr>
        </p:nvSpPr>
        <p:spPr>
          <a:noFill/>
          <a:ln w="9525"/>
        </p:spPr>
        <p:txBody>
          <a:bodyPr/>
          <a:lstStyle/>
          <a:p>
            <a:endParaRPr lang="en-US" smtClean="0"/>
          </a:p>
        </p:txBody>
      </p:sp>
    </p:spTree>
    <p:extLst>
      <p:ext uri="{BB962C8B-B14F-4D97-AF65-F5344CB8AC3E}">
        <p14:creationId xmlns:p14="http://schemas.microsoft.com/office/powerpoint/2010/main" val="3403487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p:cNvSpPr>
            <a:spLocks noGrp="1" noRot="1" noChangeAspect="1"/>
          </p:cNvSpPr>
          <p:nvPr>
            <p:ph type="sldImg"/>
          </p:nvPr>
        </p:nvSpPr>
        <p:spPr>
          <a:xfrm>
            <a:off x="1782763" y="609600"/>
            <a:ext cx="3444875" cy="2584450"/>
          </a:xfrm>
          <a:ln/>
        </p:spPr>
      </p:sp>
      <p:sp>
        <p:nvSpPr>
          <p:cNvPr id="75778" name="Notes Placeholder 2"/>
          <p:cNvSpPr>
            <a:spLocks noGrp="1"/>
          </p:cNvSpPr>
          <p:nvPr>
            <p:ph type="body" idx="1"/>
          </p:nvPr>
        </p:nvSpPr>
        <p:spPr>
          <a:noFill/>
          <a:ln w="9525"/>
        </p:spPr>
        <p:txBody>
          <a:bodyPr/>
          <a:lstStyle/>
          <a:p>
            <a:endParaRPr lang="en-US" smtClean="0"/>
          </a:p>
        </p:txBody>
      </p:sp>
    </p:spTree>
    <p:extLst>
      <p:ext uri="{BB962C8B-B14F-4D97-AF65-F5344CB8AC3E}">
        <p14:creationId xmlns:p14="http://schemas.microsoft.com/office/powerpoint/2010/main" val="5458372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p:cNvSpPr>
            <a:spLocks noGrp="1" noRot="1" noChangeAspect="1"/>
          </p:cNvSpPr>
          <p:nvPr>
            <p:ph type="sldImg"/>
          </p:nvPr>
        </p:nvSpPr>
        <p:spPr>
          <a:xfrm>
            <a:off x="1782763" y="609600"/>
            <a:ext cx="3444875" cy="2584450"/>
          </a:xfrm>
          <a:ln/>
        </p:spPr>
      </p:sp>
      <p:sp>
        <p:nvSpPr>
          <p:cNvPr id="77826" name="Notes Placeholder 2"/>
          <p:cNvSpPr>
            <a:spLocks noGrp="1"/>
          </p:cNvSpPr>
          <p:nvPr>
            <p:ph type="body" idx="1"/>
          </p:nvPr>
        </p:nvSpPr>
        <p:spPr>
          <a:noFill/>
          <a:ln w="9525"/>
        </p:spPr>
        <p:txBody>
          <a:bodyPr/>
          <a:lstStyle/>
          <a:p>
            <a:endParaRPr lang="en-US" smtClean="0"/>
          </a:p>
        </p:txBody>
      </p:sp>
    </p:spTree>
    <p:extLst>
      <p:ext uri="{BB962C8B-B14F-4D97-AF65-F5344CB8AC3E}">
        <p14:creationId xmlns:p14="http://schemas.microsoft.com/office/powerpoint/2010/main" val="37888402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Slide Image Placeholder 1"/>
          <p:cNvSpPr>
            <a:spLocks noGrp="1" noRot="1" noChangeAspect="1"/>
          </p:cNvSpPr>
          <p:nvPr>
            <p:ph type="sldImg"/>
          </p:nvPr>
        </p:nvSpPr>
        <p:spPr>
          <a:xfrm>
            <a:off x="1782763" y="609600"/>
            <a:ext cx="3444875" cy="2584450"/>
          </a:xfrm>
          <a:ln/>
        </p:spPr>
      </p:sp>
      <p:sp>
        <p:nvSpPr>
          <p:cNvPr id="95234" name="Notes Placeholder 2"/>
          <p:cNvSpPr>
            <a:spLocks noGrp="1"/>
          </p:cNvSpPr>
          <p:nvPr>
            <p:ph type="body" idx="1"/>
          </p:nvPr>
        </p:nvSpPr>
        <p:spPr>
          <a:noFill/>
          <a:ln w="9525"/>
        </p:spPr>
        <p:txBody>
          <a:bodyPr/>
          <a:lstStyle/>
          <a:p>
            <a:endParaRPr lang="en-US" smtClean="0"/>
          </a:p>
        </p:txBody>
      </p:sp>
    </p:spTree>
    <p:extLst>
      <p:ext uri="{BB962C8B-B14F-4D97-AF65-F5344CB8AC3E}">
        <p14:creationId xmlns:p14="http://schemas.microsoft.com/office/powerpoint/2010/main" val="21987963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Slide Image Placeholder 1"/>
          <p:cNvSpPr>
            <a:spLocks noGrp="1" noRot="1" noChangeAspect="1"/>
          </p:cNvSpPr>
          <p:nvPr>
            <p:ph type="sldImg"/>
          </p:nvPr>
        </p:nvSpPr>
        <p:spPr>
          <a:xfrm>
            <a:off x="1782763" y="609600"/>
            <a:ext cx="3444875" cy="2584450"/>
          </a:xfrm>
          <a:ln/>
        </p:spPr>
      </p:sp>
      <p:sp>
        <p:nvSpPr>
          <p:cNvPr id="97282" name="Notes Placeholder 2"/>
          <p:cNvSpPr>
            <a:spLocks noGrp="1"/>
          </p:cNvSpPr>
          <p:nvPr>
            <p:ph type="body" idx="1"/>
          </p:nvPr>
        </p:nvSpPr>
        <p:spPr>
          <a:noFill/>
          <a:ln w="9525"/>
        </p:spPr>
        <p:txBody>
          <a:bodyPr/>
          <a:lstStyle/>
          <a:p>
            <a:endParaRPr lang="en-US" smtClean="0"/>
          </a:p>
        </p:txBody>
      </p:sp>
    </p:spTree>
    <p:extLst>
      <p:ext uri="{BB962C8B-B14F-4D97-AF65-F5344CB8AC3E}">
        <p14:creationId xmlns:p14="http://schemas.microsoft.com/office/powerpoint/2010/main" val="238057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id-ID"/>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p>
            <a:endParaRPr lang="id-ID"/>
          </a:p>
        </p:txBody>
      </p:sp>
      <p:sp>
        <p:nvSpPr>
          <p:cNvPr id="5" name="Footer Placeholder 4"/>
          <p:cNvSpPr>
            <a:spLocks noGrp="1"/>
          </p:cNvSpPr>
          <p:nvPr>
            <p:ph type="ftr" sz="quarter" idx="11"/>
          </p:nvPr>
        </p:nvSpPr>
        <p:spPr/>
        <p:txBody>
          <a:bodyPr/>
          <a:lstStyle/>
          <a:p>
            <a:r>
              <a:rPr lang="en-US" smtClean="0"/>
              <a:t>Copyright ©2012 Pearson Education, Inc. publishing as Prentice Hall</a:t>
            </a:r>
            <a:endParaRPr lang="id-ID"/>
          </a:p>
        </p:txBody>
      </p:sp>
      <p:sp>
        <p:nvSpPr>
          <p:cNvPr id="6" name="Slide Number Placeholder 5"/>
          <p:cNvSpPr>
            <a:spLocks noGrp="1"/>
          </p:cNvSpPr>
          <p:nvPr>
            <p:ph type="sldNum" sz="quarter" idx="12"/>
          </p:nvPr>
        </p:nvSpPr>
        <p:spPr/>
        <p:txBody>
          <a:bodyPr/>
          <a:lstStyle/>
          <a:p>
            <a:fld id="{4F5B2B6E-A535-4583-B8BD-EE01F207550E}" type="slidenum">
              <a:rPr lang="id-ID" smtClean="0"/>
              <a:pPr/>
              <a:t>‹#›</a:t>
            </a:fld>
            <a:endParaRPr lang="id-I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p>
            <a:endParaRPr lang="id-ID"/>
          </a:p>
        </p:txBody>
      </p:sp>
      <p:sp>
        <p:nvSpPr>
          <p:cNvPr id="5" name="Footer Placeholder 4"/>
          <p:cNvSpPr>
            <a:spLocks noGrp="1"/>
          </p:cNvSpPr>
          <p:nvPr>
            <p:ph type="ftr" sz="quarter" idx="11"/>
          </p:nvPr>
        </p:nvSpPr>
        <p:spPr/>
        <p:txBody>
          <a:bodyPr/>
          <a:lstStyle/>
          <a:p>
            <a:r>
              <a:rPr lang="en-US" smtClean="0"/>
              <a:t>Copyright ©2012 Pearson Education, Inc. publishing as Prentice Hall</a:t>
            </a:r>
            <a:endParaRPr lang="id-ID"/>
          </a:p>
        </p:txBody>
      </p:sp>
      <p:sp>
        <p:nvSpPr>
          <p:cNvPr id="6" name="Slide Number Placeholder 5"/>
          <p:cNvSpPr>
            <a:spLocks noGrp="1"/>
          </p:cNvSpPr>
          <p:nvPr>
            <p:ph type="sldNum" sz="quarter" idx="12"/>
          </p:nvPr>
        </p:nvSpPr>
        <p:spPr/>
        <p:txBody>
          <a:bodyPr/>
          <a:lstStyle/>
          <a:p>
            <a:fld id="{4F5B2B6E-A535-4583-B8BD-EE01F207550E}" type="slidenum">
              <a:rPr lang="id-ID" smtClean="0"/>
              <a:pPr/>
              <a:t>‹#›</a:t>
            </a:fld>
            <a:endParaRPr lang="id-I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id-ID"/>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id-ID"/>
          </a:p>
        </p:txBody>
      </p:sp>
      <p:sp>
        <p:nvSpPr>
          <p:cNvPr id="5" name="Footer Placeholder 4"/>
          <p:cNvSpPr>
            <a:spLocks noGrp="1"/>
          </p:cNvSpPr>
          <p:nvPr>
            <p:ph type="ftr" sz="quarter" idx="11"/>
          </p:nvPr>
        </p:nvSpPr>
        <p:spPr/>
        <p:txBody>
          <a:bodyPr/>
          <a:lstStyle/>
          <a:p>
            <a:r>
              <a:rPr lang="en-US" smtClean="0"/>
              <a:t>Copyright ©2012 Pearson Education, Inc. publishing as Prentice Hall</a:t>
            </a:r>
            <a:endParaRPr lang="id-ID"/>
          </a:p>
        </p:txBody>
      </p:sp>
      <p:sp>
        <p:nvSpPr>
          <p:cNvPr id="6" name="Slide Number Placeholder 5"/>
          <p:cNvSpPr>
            <a:spLocks noGrp="1"/>
          </p:cNvSpPr>
          <p:nvPr>
            <p:ph type="sldNum" sz="quarter" idx="12"/>
          </p:nvPr>
        </p:nvSpPr>
        <p:spPr/>
        <p:txBody>
          <a:bodyPr/>
          <a:lstStyle/>
          <a:p>
            <a:fld id="{4F5B2B6E-A535-4583-B8BD-EE01F207550E}" type="slidenum">
              <a:rPr lang="id-ID" smtClean="0"/>
              <a:pPr/>
              <a:t>‹#›</a:t>
            </a:fld>
            <a:endParaRPr lang="id-I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Date Placeholder 4"/>
          <p:cNvSpPr>
            <a:spLocks noGrp="1"/>
          </p:cNvSpPr>
          <p:nvPr>
            <p:ph type="dt" sz="half" idx="10"/>
          </p:nvPr>
        </p:nvSpPr>
        <p:spPr/>
        <p:txBody>
          <a:bodyPr/>
          <a:lstStyle/>
          <a:p>
            <a:endParaRPr lang="id-ID"/>
          </a:p>
        </p:txBody>
      </p:sp>
      <p:sp>
        <p:nvSpPr>
          <p:cNvPr id="6" name="Footer Placeholder 5"/>
          <p:cNvSpPr>
            <a:spLocks noGrp="1"/>
          </p:cNvSpPr>
          <p:nvPr>
            <p:ph type="ftr" sz="quarter" idx="11"/>
          </p:nvPr>
        </p:nvSpPr>
        <p:spPr/>
        <p:txBody>
          <a:bodyPr/>
          <a:lstStyle/>
          <a:p>
            <a:r>
              <a:rPr lang="en-US" smtClean="0"/>
              <a:t>Copyright ©2012 Pearson Education, Inc. publishing as Prentice Hall</a:t>
            </a:r>
            <a:endParaRPr lang="id-ID"/>
          </a:p>
        </p:txBody>
      </p:sp>
      <p:sp>
        <p:nvSpPr>
          <p:cNvPr id="7" name="Slide Number Placeholder 6"/>
          <p:cNvSpPr>
            <a:spLocks noGrp="1"/>
          </p:cNvSpPr>
          <p:nvPr>
            <p:ph type="sldNum" sz="quarter" idx="12"/>
          </p:nvPr>
        </p:nvSpPr>
        <p:spPr/>
        <p:txBody>
          <a:bodyPr/>
          <a:lstStyle/>
          <a:p>
            <a:fld id="{4F5B2B6E-A535-4583-B8BD-EE01F207550E}" type="slidenum">
              <a:rPr lang="id-ID" smtClean="0"/>
              <a:pPr/>
              <a:t>‹#›</a:t>
            </a:fld>
            <a:endParaRPr lang="id-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6"/>
          <p:cNvSpPr>
            <a:spLocks noGrp="1"/>
          </p:cNvSpPr>
          <p:nvPr>
            <p:ph type="dt" sz="half" idx="10"/>
          </p:nvPr>
        </p:nvSpPr>
        <p:spPr/>
        <p:txBody>
          <a:bodyPr/>
          <a:lstStyle/>
          <a:p>
            <a:endParaRPr lang="id-ID"/>
          </a:p>
        </p:txBody>
      </p:sp>
      <p:sp>
        <p:nvSpPr>
          <p:cNvPr id="8" name="Footer Placeholder 7"/>
          <p:cNvSpPr>
            <a:spLocks noGrp="1"/>
          </p:cNvSpPr>
          <p:nvPr>
            <p:ph type="ftr" sz="quarter" idx="11"/>
          </p:nvPr>
        </p:nvSpPr>
        <p:spPr/>
        <p:txBody>
          <a:bodyPr/>
          <a:lstStyle/>
          <a:p>
            <a:r>
              <a:rPr lang="en-US" smtClean="0"/>
              <a:t>Copyright ©2012 Pearson Education, Inc. publishing as Prentice Hall</a:t>
            </a:r>
            <a:endParaRPr lang="id-ID"/>
          </a:p>
        </p:txBody>
      </p:sp>
      <p:sp>
        <p:nvSpPr>
          <p:cNvPr id="9" name="Slide Number Placeholder 8"/>
          <p:cNvSpPr>
            <a:spLocks noGrp="1"/>
          </p:cNvSpPr>
          <p:nvPr>
            <p:ph type="sldNum" sz="quarter" idx="12"/>
          </p:nvPr>
        </p:nvSpPr>
        <p:spPr/>
        <p:txBody>
          <a:bodyPr/>
          <a:lstStyle/>
          <a:p>
            <a:fld id="{4F5B2B6E-A535-4583-B8BD-EE01F207550E}" type="slidenum">
              <a:rPr lang="id-ID" smtClean="0"/>
              <a:pPr/>
              <a:t>‹#›</a:t>
            </a:fld>
            <a:endParaRPr lang="id-I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Date Placeholder 2"/>
          <p:cNvSpPr>
            <a:spLocks noGrp="1"/>
          </p:cNvSpPr>
          <p:nvPr>
            <p:ph type="dt" sz="half" idx="10"/>
          </p:nvPr>
        </p:nvSpPr>
        <p:spPr/>
        <p:txBody>
          <a:bodyPr/>
          <a:lstStyle/>
          <a:p>
            <a:endParaRPr lang="id-ID"/>
          </a:p>
        </p:txBody>
      </p:sp>
      <p:sp>
        <p:nvSpPr>
          <p:cNvPr id="4" name="Footer Placeholder 3"/>
          <p:cNvSpPr>
            <a:spLocks noGrp="1"/>
          </p:cNvSpPr>
          <p:nvPr>
            <p:ph type="ftr" sz="quarter" idx="11"/>
          </p:nvPr>
        </p:nvSpPr>
        <p:spPr/>
        <p:txBody>
          <a:bodyPr/>
          <a:lstStyle/>
          <a:p>
            <a:r>
              <a:rPr lang="en-US" smtClean="0"/>
              <a:t>Copyright ©2012 Pearson Education, Inc. publishing as Prentice Hall</a:t>
            </a:r>
            <a:endParaRPr lang="id-ID"/>
          </a:p>
        </p:txBody>
      </p:sp>
      <p:sp>
        <p:nvSpPr>
          <p:cNvPr id="5" name="Slide Number Placeholder 4"/>
          <p:cNvSpPr>
            <a:spLocks noGrp="1"/>
          </p:cNvSpPr>
          <p:nvPr>
            <p:ph type="sldNum" sz="quarter" idx="12"/>
          </p:nvPr>
        </p:nvSpPr>
        <p:spPr/>
        <p:txBody>
          <a:bodyPr/>
          <a:lstStyle/>
          <a:p>
            <a:fld id="{4F5B2B6E-A535-4583-B8BD-EE01F207550E}" type="slidenum">
              <a:rPr lang="id-ID" smtClean="0"/>
              <a:pPr/>
              <a:t>‹#›</a:t>
            </a:fld>
            <a:endParaRPr lang="id-I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id-ID"/>
          </a:p>
        </p:txBody>
      </p:sp>
      <p:sp>
        <p:nvSpPr>
          <p:cNvPr id="3" name="Footer Placeholder 2"/>
          <p:cNvSpPr>
            <a:spLocks noGrp="1"/>
          </p:cNvSpPr>
          <p:nvPr>
            <p:ph type="ftr" sz="quarter" idx="11"/>
          </p:nvPr>
        </p:nvSpPr>
        <p:spPr/>
        <p:txBody>
          <a:bodyPr/>
          <a:lstStyle/>
          <a:p>
            <a:r>
              <a:rPr lang="en-US" smtClean="0"/>
              <a:t>Copyright ©2012 Pearson Education, Inc. publishing as Prentice Hall</a:t>
            </a:r>
            <a:endParaRPr lang="id-ID"/>
          </a:p>
        </p:txBody>
      </p:sp>
      <p:sp>
        <p:nvSpPr>
          <p:cNvPr id="4" name="Slide Number Placeholder 3"/>
          <p:cNvSpPr>
            <a:spLocks noGrp="1"/>
          </p:cNvSpPr>
          <p:nvPr>
            <p:ph type="sldNum" sz="quarter" idx="12"/>
          </p:nvPr>
        </p:nvSpPr>
        <p:spPr/>
        <p:txBody>
          <a:bodyPr/>
          <a:lstStyle/>
          <a:p>
            <a:fld id="{4F5B2B6E-A535-4583-B8BD-EE01F207550E}" type="slidenum">
              <a:rPr lang="id-ID" smtClean="0"/>
              <a:pPr/>
              <a:t>‹#›</a:t>
            </a:fld>
            <a:endParaRPr lang="id-I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id-ID"/>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id-ID"/>
          </a:p>
        </p:txBody>
      </p:sp>
      <p:sp>
        <p:nvSpPr>
          <p:cNvPr id="6" name="Footer Placeholder 5"/>
          <p:cNvSpPr>
            <a:spLocks noGrp="1"/>
          </p:cNvSpPr>
          <p:nvPr>
            <p:ph type="ftr" sz="quarter" idx="11"/>
          </p:nvPr>
        </p:nvSpPr>
        <p:spPr/>
        <p:txBody>
          <a:bodyPr/>
          <a:lstStyle/>
          <a:p>
            <a:r>
              <a:rPr lang="en-US" smtClean="0"/>
              <a:t>Copyright ©2012 Pearson Education, Inc. publishing as Prentice Hall</a:t>
            </a:r>
            <a:endParaRPr lang="id-ID"/>
          </a:p>
        </p:txBody>
      </p:sp>
      <p:sp>
        <p:nvSpPr>
          <p:cNvPr id="7" name="Slide Number Placeholder 6"/>
          <p:cNvSpPr>
            <a:spLocks noGrp="1"/>
          </p:cNvSpPr>
          <p:nvPr>
            <p:ph type="sldNum" sz="quarter" idx="12"/>
          </p:nvPr>
        </p:nvSpPr>
        <p:spPr/>
        <p:txBody>
          <a:bodyPr/>
          <a:lstStyle/>
          <a:p>
            <a:fld id="{4F5B2B6E-A535-4583-B8BD-EE01F207550E}" type="slidenum">
              <a:rPr lang="id-ID" smtClean="0"/>
              <a:pPr/>
              <a:t>‹#›</a:t>
            </a:fld>
            <a:endParaRPr lang="id-I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id-ID"/>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id-ID"/>
          </a:p>
        </p:txBody>
      </p:sp>
      <p:sp>
        <p:nvSpPr>
          <p:cNvPr id="6" name="Footer Placeholder 5"/>
          <p:cNvSpPr>
            <a:spLocks noGrp="1"/>
          </p:cNvSpPr>
          <p:nvPr>
            <p:ph type="ftr" sz="quarter" idx="11"/>
          </p:nvPr>
        </p:nvSpPr>
        <p:spPr/>
        <p:txBody>
          <a:bodyPr/>
          <a:lstStyle/>
          <a:p>
            <a:r>
              <a:rPr lang="en-US" smtClean="0"/>
              <a:t>Copyright ©2012 Pearson Education, Inc. publishing as Prentice Hall</a:t>
            </a:r>
            <a:endParaRPr lang="id-ID"/>
          </a:p>
        </p:txBody>
      </p:sp>
      <p:sp>
        <p:nvSpPr>
          <p:cNvPr id="7" name="Slide Number Placeholder 6"/>
          <p:cNvSpPr>
            <a:spLocks noGrp="1"/>
          </p:cNvSpPr>
          <p:nvPr>
            <p:ph type="sldNum" sz="quarter" idx="12"/>
          </p:nvPr>
        </p:nvSpPr>
        <p:spPr/>
        <p:txBody>
          <a:bodyPr/>
          <a:lstStyle/>
          <a:p>
            <a:fld id="{4F5B2B6E-A535-4583-B8BD-EE01F207550E}" type="slidenum">
              <a:rPr lang="id-ID" smtClean="0"/>
              <a:pPr/>
              <a:t>‹#›</a:t>
            </a:fld>
            <a:endParaRPr lang="id-I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p>
            <a:endParaRPr lang="id-ID"/>
          </a:p>
        </p:txBody>
      </p:sp>
      <p:sp>
        <p:nvSpPr>
          <p:cNvPr id="5" name="Footer Placeholder 4"/>
          <p:cNvSpPr>
            <a:spLocks noGrp="1"/>
          </p:cNvSpPr>
          <p:nvPr>
            <p:ph type="ftr" sz="quarter" idx="11"/>
          </p:nvPr>
        </p:nvSpPr>
        <p:spPr/>
        <p:txBody>
          <a:bodyPr/>
          <a:lstStyle/>
          <a:p>
            <a:r>
              <a:rPr lang="en-US" smtClean="0"/>
              <a:t>Copyright ©2012 Pearson Education, Inc. publishing as Prentice Hall</a:t>
            </a:r>
            <a:endParaRPr lang="id-ID"/>
          </a:p>
        </p:txBody>
      </p:sp>
      <p:sp>
        <p:nvSpPr>
          <p:cNvPr id="6" name="Slide Number Placeholder 5"/>
          <p:cNvSpPr>
            <a:spLocks noGrp="1"/>
          </p:cNvSpPr>
          <p:nvPr>
            <p:ph type="sldNum" sz="quarter" idx="12"/>
          </p:nvPr>
        </p:nvSpPr>
        <p:spPr/>
        <p:txBody>
          <a:bodyPr/>
          <a:lstStyle/>
          <a:p>
            <a:fld id="{4F5B2B6E-A535-4583-B8BD-EE01F207550E}" type="slidenum">
              <a:rPr lang="id-ID" smtClean="0"/>
              <a:pPr/>
              <a:t>‹#›</a:t>
            </a:fld>
            <a:endParaRPr lang="id-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p>
            <a:endParaRPr lang="id-ID"/>
          </a:p>
        </p:txBody>
      </p:sp>
      <p:sp>
        <p:nvSpPr>
          <p:cNvPr id="5" name="Footer Placeholder 4"/>
          <p:cNvSpPr>
            <a:spLocks noGrp="1"/>
          </p:cNvSpPr>
          <p:nvPr>
            <p:ph type="ftr" sz="quarter" idx="11"/>
          </p:nvPr>
        </p:nvSpPr>
        <p:spPr/>
        <p:txBody>
          <a:bodyPr/>
          <a:lstStyle/>
          <a:p>
            <a:r>
              <a:rPr lang="en-US" smtClean="0"/>
              <a:t>Copyright ©2012 Pearson Education, Inc. publishing as Prentice Hall</a:t>
            </a:r>
            <a:endParaRPr lang="id-ID"/>
          </a:p>
        </p:txBody>
      </p:sp>
      <p:sp>
        <p:nvSpPr>
          <p:cNvPr id="6" name="Slide Number Placeholder 5"/>
          <p:cNvSpPr>
            <a:spLocks noGrp="1"/>
          </p:cNvSpPr>
          <p:nvPr>
            <p:ph type="sldNum" sz="quarter" idx="12"/>
          </p:nvPr>
        </p:nvSpPr>
        <p:spPr/>
        <p:txBody>
          <a:bodyPr/>
          <a:lstStyle/>
          <a:p>
            <a:fld id="{4F5B2B6E-A535-4583-B8BD-EE01F207550E}" type="slidenum">
              <a:rPr lang="id-ID" smtClean="0"/>
              <a:pPr/>
              <a:t>‹#›</a:t>
            </a:fld>
            <a:endParaRPr lang="id-I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49180" name="Rectangle 28"/>
          <p:cNvSpPr>
            <a:spLocks noGrp="1" noChangeArrowheads="1"/>
          </p:cNvSpPr>
          <p:nvPr>
            <p:ph type="sldNum" sz="quarter" idx="4"/>
          </p:nvPr>
        </p:nvSpPr>
        <p:spPr>
          <a:xfrm>
            <a:off x="6858000" y="6537325"/>
            <a:ext cx="2133600" cy="320675"/>
          </a:xfrm>
        </p:spPr>
        <p:txBody>
          <a:bodyPr/>
          <a:lstStyle>
            <a:lvl1pPr>
              <a:defRPr/>
            </a:lvl1pPr>
          </a:lstStyle>
          <a:p>
            <a:r>
              <a:rPr lang="en-US"/>
              <a:t>Chap 3-</a:t>
            </a:r>
            <a:fld id="{899E3513-BECA-4E24-8822-DFFD2DAEE0D3}" type="slidenum">
              <a:rPr lang="en-US"/>
              <a:pPr/>
              <a:t>‹#›</a:t>
            </a:fld>
            <a:endParaRPr lang="en-US"/>
          </a:p>
        </p:txBody>
      </p:sp>
      <p:pic>
        <p:nvPicPr>
          <p:cNvPr id="49184" name="Picture 32"/>
          <p:cNvPicPr>
            <a:picLocks noChangeAspect="1" noChangeArrowheads="1"/>
          </p:cNvPicPr>
          <p:nvPr userDrawn="1"/>
        </p:nvPicPr>
        <p:blipFill>
          <a:blip r:embed="rId2" cstate="print"/>
          <a:srcRect/>
          <a:stretch>
            <a:fillRect/>
          </a:stretch>
        </p:blipFill>
        <p:spPr bwMode="auto">
          <a:xfrm>
            <a:off x="228600" y="2590800"/>
            <a:ext cx="8686800" cy="1177925"/>
          </a:xfrm>
          <a:prstGeom prst="rect">
            <a:avLst/>
          </a:prstGeom>
          <a:noFill/>
          <a:ln w="9525">
            <a:noFill/>
            <a:miter lim="800000"/>
            <a:headEnd/>
            <a:tailEnd/>
          </a:ln>
          <a:effectLst/>
        </p:spPr>
      </p:pic>
      <p:sp>
        <p:nvSpPr>
          <p:cNvPr id="49185" name="Rectangle 33"/>
          <p:cNvSpPr>
            <a:spLocks noGrp="1" noChangeArrowheads="1"/>
          </p:cNvSpPr>
          <p:nvPr>
            <p:ph type="ftr" sz="quarter" idx="3"/>
          </p:nvPr>
        </p:nvSpPr>
        <p:spPr/>
        <p:txBody>
          <a:bodyPr/>
          <a:lstStyle>
            <a:lvl1pPr>
              <a:defRPr/>
            </a:lvl1pPr>
          </a:lstStyle>
          <a:p>
            <a:r>
              <a:rPr lang="en-US" smtClean="0"/>
              <a:t>Copyright ©2012 Pearson Education, Inc. publishing as Prentice Hall</a:t>
            </a:r>
            <a:endParaRPr lang="en-US"/>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9180" name="Rectangle 28"/>
          <p:cNvSpPr>
            <a:spLocks noGrp="1" noChangeArrowheads="1"/>
          </p:cNvSpPr>
          <p:nvPr>
            <p:ph type="sldNum" sz="quarter" idx="4"/>
          </p:nvPr>
        </p:nvSpPr>
        <p:spPr>
          <a:xfrm>
            <a:off x="6858000" y="6537325"/>
            <a:ext cx="2133600" cy="320675"/>
          </a:xfrm>
        </p:spPr>
        <p:txBody>
          <a:bodyPr/>
          <a:lstStyle>
            <a:lvl1pPr>
              <a:defRPr/>
            </a:lvl1pPr>
          </a:lstStyle>
          <a:p>
            <a:r>
              <a:rPr lang="en-US"/>
              <a:t>Chap 3-</a:t>
            </a:r>
            <a:fld id="{899E3513-BECA-4E24-8822-DFFD2DAEE0D3}" type="slidenum">
              <a:rPr lang="en-US"/>
              <a:pPr/>
              <a:t>‹#›</a:t>
            </a:fld>
            <a:endParaRPr lang="en-US"/>
          </a:p>
        </p:txBody>
      </p:sp>
      <p:pic>
        <p:nvPicPr>
          <p:cNvPr id="49184" name="Picture 32"/>
          <p:cNvPicPr>
            <a:picLocks noChangeAspect="1" noChangeArrowheads="1"/>
          </p:cNvPicPr>
          <p:nvPr userDrawn="1"/>
        </p:nvPicPr>
        <p:blipFill>
          <a:blip r:embed="rId2" cstate="print"/>
          <a:srcRect/>
          <a:stretch>
            <a:fillRect/>
          </a:stretch>
        </p:blipFill>
        <p:spPr bwMode="auto">
          <a:xfrm>
            <a:off x="228600" y="2590800"/>
            <a:ext cx="8686800" cy="1177925"/>
          </a:xfrm>
          <a:prstGeom prst="rect">
            <a:avLst/>
          </a:prstGeom>
          <a:noFill/>
          <a:ln w="9525">
            <a:noFill/>
            <a:miter lim="800000"/>
            <a:headEnd/>
            <a:tailEnd/>
          </a:ln>
          <a:effectLst/>
        </p:spPr>
      </p:pic>
      <p:sp>
        <p:nvSpPr>
          <p:cNvPr id="49185" name="Rectangle 33"/>
          <p:cNvSpPr>
            <a:spLocks noGrp="1" noChangeArrowheads="1"/>
          </p:cNvSpPr>
          <p:nvPr>
            <p:ph type="ftr" sz="quarter" idx="3"/>
          </p:nvPr>
        </p:nvSpPr>
        <p:spPr/>
        <p:txBody>
          <a:bodyPr/>
          <a:lstStyle>
            <a:lvl1pPr>
              <a:defRPr/>
            </a:lvl1pPr>
          </a:lstStyle>
          <a:p>
            <a:r>
              <a:rPr lang="en-US" smtClean="0"/>
              <a:t>Copyright ©2012 Pearson Education, Inc. publishing as Prentice Hall</a:t>
            </a:r>
            <a:endParaRPr lang="en-US"/>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Footer Placeholder 3"/>
          <p:cNvSpPr>
            <a:spLocks noGrp="1"/>
          </p:cNvSpPr>
          <p:nvPr>
            <p:ph type="ftr" sz="quarter" idx="10"/>
          </p:nvPr>
        </p:nvSpPr>
        <p:spPr/>
        <p:txBody>
          <a:bodyPr/>
          <a:lstStyle>
            <a:lvl1pPr>
              <a:defRPr/>
            </a:lvl1pPr>
          </a:lstStyle>
          <a:p>
            <a:r>
              <a:rPr lang="en-US" smtClean="0"/>
              <a:t>Copyright ©2012 Pearson Education, Inc. publishing as Prentice Hall</a:t>
            </a:r>
            <a:endParaRPr lang="en-US"/>
          </a:p>
        </p:txBody>
      </p:sp>
      <p:sp>
        <p:nvSpPr>
          <p:cNvPr id="5" name="Slide Number Placeholder 4"/>
          <p:cNvSpPr>
            <a:spLocks noGrp="1"/>
          </p:cNvSpPr>
          <p:nvPr>
            <p:ph type="sldNum" sz="quarter" idx="11"/>
          </p:nvPr>
        </p:nvSpPr>
        <p:spPr/>
        <p:txBody>
          <a:bodyPr/>
          <a:lstStyle>
            <a:lvl1pPr>
              <a:defRPr/>
            </a:lvl1pPr>
          </a:lstStyle>
          <a:p>
            <a:r>
              <a:rPr lang="en-US"/>
              <a:t>Chap 3-</a:t>
            </a:r>
            <a:fld id="{4CB9D1E0-150C-4A44-B590-C9F2BF2476A9}" type="slidenum">
              <a:rPr lang="en-US"/>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id-ID"/>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Footer Placeholder 3"/>
          <p:cNvSpPr>
            <a:spLocks noGrp="1"/>
          </p:cNvSpPr>
          <p:nvPr>
            <p:ph type="ftr" sz="quarter" idx="10"/>
          </p:nvPr>
        </p:nvSpPr>
        <p:spPr/>
        <p:txBody>
          <a:bodyPr/>
          <a:lstStyle>
            <a:lvl1pPr>
              <a:defRPr/>
            </a:lvl1pPr>
          </a:lstStyle>
          <a:p>
            <a:r>
              <a:rPr lang="en-US" smtClean="0"/>
              <a:t>Copyright ©2012 Pearson Education, Inc. publishing as Prentice Hall</a:t>
            </a:r>
            <a:endParaRPr lang="en-US"/>
          </a:p>
        </p:txBody>
      </p:sp>
      <p:sp>
        <p:nvSpPr>
          <p:cNvPr id="5" name="Slide Number Placeholder 4"/>
          <p:cNvSpPr>
            <a:spLocks noGrp="1"/>
          </p:cNvSpPr>
          <p:nvPr>
            <p:ph type="sldNum" sz="quarter" idx="11"/>
          </p:nvPr>
        </p:nvSpPr>
        <p:spPr/>
        <p:txBody>
          <a:bodyPr/>
          <a:lstStyle>
            <a:lvl1pPr>
              <a:defRPr/>
            </a:lvl1pPr>
          </a:lstStyle>
          <a:p>
            <a:r>
              <a:rPr lang="en-US"/>
              <a:t>Chap 3-</a:t>
            </a:r>
            <a:fld id="{65E1AAA5-F493-49E3-A297-833A438D110E}" type="slidenum">
              <a:rPr lang="en-US"/>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sz="half" idx="1"/>
          </p:nvPr>
        </p:nvSpPr>
        <p:spPr>
          <a:xfrm>
            <a:off x="838200" y="1868488"/>
            <a:ext cx="3962400" cy="4532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Content Placeholder 3"/>
          <p:cNvSpPr>
            <a:spLocks noGrp="1"/>
          </p:cNvSpPr>
          <p:nvPr>
            <p:ph sz="half" idx="2"/>
          </p:nvPr>
        </p:nvSpPr>
        <p:spPr>
          <a:xfrm>
            <a:off x="4953000" y="1868488"/>
            <a:ext cx="3962400" cy="4532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Footer Placeholder 4"/>
          <p:cNvSpPr>
            <a:spLocks noGrp="1"/>
          </p:cNvSpPr>
          <p:nvPr>
            <p:ph type="ftr" sz="quarter" idx="10"/>
          </p:nvPr>
        </p:nvSpPr>
        <p:spPr/>
        <p:txBody>
          <a:bodyPr/>
          <a:lstStyle>
            <a:lvl1pPr>
              <a:defRPr/>
            </a:lvl1pPr>
          </a:lstStyle>
          <a:p>
            <a:r>
              <a:rPr lang="en-US" smtClean="0"/>
              <a:t>Copyright ©2012 Pearson Education, Inc. publishing as Prentice Hall</a:t>
            </a:r>
            <a:endParaRPr lang="en-US"/>
          </a:p>
        </p:txBody>
      </p:sp>
      <p:sp>
        <p:nvSpPr>
          <p:cNvPr id="6" name="Slide Number Placeholder 5"/>
          <p:cNvSpPr>
            <a:spLocks noGrp="1"/>
          </p:cNvSpPr>
          <p:nvPr>
            <p:ph type="sldNum" sz="quarter" idx="11"/>
          </p:nvPr>
        </p:nvSpPr>
        <p:spPr/>
        <p:txBody>
          <a:bodyPr/>
          <a:lstStyle>
            <a:lvl1pPr>
              <a:defRPr/>
            </a:lvl1pPr>
          </a:lstStyle>
          <a:p>
            <a:r>
              <a:rPr lang="en-US"/>
              <a:t>Chap 3-</a:t>
            </a:r>
            <a:fld id="{ABACB24E-C9DD-47EE-AC5F-F140E51EEDAB}" type="slidenum">
              <a:rPr lang="en-US"/>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Footer Placeholder 6"/>
          <p:cNvSpPr>
            <a:spLocks noGrp="1"/>
          </p:cNvSpPr>
          <p:nvPr>
            <p:ph type="ftr" sz="quarter" idx="10"/>
          </p:nvPr>
        </p:nvSpPr>
        <p:spPr/>
        <p:txBody>
          <a:bodyPr/>
          <a:lstStyle>
            <a:lvl1pPr>
              <a:defRPr/>
            </a:lvl1pPr>
          </a:lstStyle>
          <a:p>
            <a:r>
              <a:rPr lang="en-US" smtClean="0"/>
              <a:t>Copyright ©2012 Pearson Education, Inc. publishing as Prentice Hall</a:t>
            </a:r>
            <a:endParaRPr lang="en-US"/>
          </a:p>
        </p:txBody>
      </p:sp>
      <p:sp>
        <p:nvSpPr>
          <p:cNvPr id="8" name="Slide Number Placeholder 7"/>
          <p:cNvSpPr>
            <a:spLocks noGrp="1"/>
          </p:cNvSpPr>
          <p:nvPr>
            <p:ph type="sldNum" sz="quarter" idx="11"/>
          </p:nvPr>
        </p:nvSpPr>
        <p:spPr/>
        <p:txBody>
          <a:bodyPr/>
          <a:lstStyle>
            <a:lvl1pPr>
              <a:defRPr/>
            </a:lvl1pPr>
          </a:lstStyle>
          <a:p>
            <a:r>
              <a:rPr lang="en-US"/>
              <a:t>Chap 3-</a:t>
            </a:r>
            <a:fld id="{710D9775-8EE9-4D22-8787-5582AB700D9F}" type="slidenum">
              <a:rPr lang="en-US"/>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Footer Placeholder 2"/>
          <p:cNvSpPr>
            <a:spLocks noGrp="1"/>
          </p:cNvSpPr>
          <p:nvPr>
            <p:ph type="ftr" sz="quarter" idx="10"/>
          </p:nvPr>
        </p:nvSpPr>
        <p:spPr/>
        <p:txBody>
          <a:bodyPr/>
          <a:lstStyle>
            <a:lvl1pPr>
              <a:defRPr/>
            </a:lvl1pPr>
          </a:lstStyle>
          <a:p>
            <a:r>
              <a:rPr lang="en-US" smtClean="0"/>
              <a:t>Copyright ©2012 Pearson Education, Inc. publishing as Prentice Hall</a:t>
            </a:r>
            <a:endParaRPr lang="en-US"/>
          </a:p>
        </p:txBody>
      </p:sp>
      <p:sp>
        <p:nvSpPr>
          <p:cNvPr id="4" name="Slide Number Placeholder 3"/>
          <p:cNvSpPr>
            <a:spLocks noGrp="1"/>
          </p:cNvSpPr>
          <p:nvPr>
            <p:ph type="sldNum" sz="quarter" idx="11"/>
          </p:nvPr>
        </p:nvSpPr>
        <p:spPr/>
        <p:txBody>
          <a:bodyPr/>
          <a:lstStyle>
            <a:lvl1pPr>
              <a:defRPr/>
            </a:lvl1pPr>
          </a:lstStyle>
          <a:p>
            <a:r>
              <a:rPr lang="en-US"/>
              <a:t>Chap 3-</a:t>
            </a:r>
            <a:fld id="{BEE82FA8-8A43-4228-95D2-65BA4BA35737}" type="slidenum">
              <a:rPr lang="en-US"/>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lvl1pPr>
              <a:defRPr/>
            </a:lvl1pPr>
          </a:lstStyle>
          <a:p>
            <a:r>
              <a:rPr lang="en-US" smtClean="0"/>
              <a:t>Copyright ©2012 Pearson Education, Inc. publishing as Prentice Hall</a:t>
            </a:r>
            <a:endParaRPr lang="en-US"/>
          </a:p>
        </p:txBody>
      </p:sp>
      <p:sp>
        <p:nvSpPr>
          <p:cNvPr id="3" name="Slide Number Placeholder 2"/>
          <p:cNvSpPr>
            <a:spLocks noGrp="1"/>
          </p:cNvSpPr>
          <p:nvPr>
            <p:ph type="sldNum" sz="quarter" idx="11"/>
          </p:nvPr>
        </p:nvSpPr>
        <p:spPr/>
        <p:txBody>
          <a:bodyPr/>
          <a:lstStyle>
            <a:lvl1pPr>
              <a:defRPr/>
            </a:lvl1pPr>
          </a:lstStyle>
          <a:p>
            <a:r>
              <a:rPr lang="en-US"/>
              <a:t>Chap 3-</a:t>
            </a:r>
            <a:fld id="{7E1C78F9-8AB3-4D6F-AE6E-00AAB418712D}" type="slidenum">
              <a:rPr lang="en-US"/>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id-ID"/>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US" smtClean="0"/>
              <a:t>Copyright ©2012 Pearson Education, Inc. publishing as Prentice Hall</a:t>
            </a:r>
            <a:endParaRPr lang="en-US"/>
          </a:p>
        </p:txBody>
      </p:sp>
      <p:sp>
        <p:nvSpPr>
          <p:cNvPr id="6" name="Slide Number Placeholder 5"/>
          <p:cNvSpPr>
            <a:spLocks noGrp="1"/>
          </p:cNvSpPr>
          <p:nvPr>
            <p:ph type="sldNum" sz="quarter" idx="11"/>
          </p:nvPr>
        </p:nvSpPr>
        <p:spPr/>
        <p:txBody>
          <a:bodyPr/>
          <a:lstStyle>
            <a:lvl1pPr>
              <a:defRPr/>
            </a:lvl1pPr>
          </a:lstStyle>
          <a:p>
            <a:r>
              <a:rPr lang="en-US"/>
              <a:t>Chap 3-</a:t>
            </a:r>
            <a:fld id="{11519E5B-3907-4CF5-87FA-8233913A21F7}" type="slidenum">
              <a:rPr lang="en-US"/>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id-ID"/>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Footer Placeholder 4"/>
          <p:cNvSpPr>
            <a:spLocks noGrp="1"/>
          </p:cNvSpPr>
          <p:nvPr>
            <p:ph type="ftr" sz="quarter" idx="10"/>
          </p:nvPr>
        </p:nvSpPr>
        <p:spPr/>
        <p:txBody>
          <a:bodyPr/>
          <a:lstStyle>
            <a:lvl1pPr>
              <a:defRPr/>
            </a:lvl1pPr>
          </a:lstStyle>
          <a:p>
            <a:r>
              <a:rPr lang="en-US" smtClean="0"/>
              <a:t>Copyright ©2012 Pearson Education, Inc. publishing as Prentice Hall</a:t>
            </a:r>
            <a:endParaRPr lang="en-US"/>
          </a:p>
        </p:txBody>
      </p:sp>
      <p:sp>
        <p:nvSpPr>
          <p:cNvPr id="6" name="Slide Number Placeholder 5"/>
          <p:cNvSpPr>
            <a:spLocks noGrp="1"/>
          </p:cNvSpPr>
          <p:nvPr>
            <p:ph type="sldNum" sz="quarter" idx="11"/>
          </p:nvPr>
        </p:nvSpPr>
        <p:spPr/>
        <p:txBody>
          <a:bodyPr/>
          <a:lstStyle>
            <a:lvl1pPr>
              <a:defRPr/>
            </a:lvl1pPr>
          </a:lstStyle>
          <a:p>
            <a:r>
              <a:rPr lang="en-US"/>
              <a:t>Chap 3-</a:t>
            </a:r>
            <a:fld id="{0047E53B-726E-4C0F-895A-5CEBB02798A7}" type="slidenum">
              <a:rPr lang="en-US"/>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Footer Placeholder 3"/>
          <p:cNvSpPr>
            <a:spLocks noGrp="1"/>
          </p:cNvSpPr>
          <p:nvPr>
            <p:ph type="ftr" sz="quarter" idx="10"/>
          </p:nvPr>
        </p:nvSpPr>
        <p:spPr/>
        <p:txBody>
          <a:bodyPr/>
          <a:lstStyle>
            <a:lvl1pPr>
              <a:defRPr/>
            </a:lvl1pPr>
          </a:lstStyle>
          <a:p>
            <a:r>
              <a:rPr lang="en-US" smtClean="0"/>
              <a:t>Copyright ©2012 Pearson Education, Inc. publishing as Prentice Hall</a:t>
            </a:r>
            <a:endParaRPr lang="en-US"/>
          </a:p>
        </p:txBody>
      </p:sp>
      <p:sp>
        <p:nvSpPr>
          <p:cNvPr id="5" name="Slide Number Placeholder 4"/>
          <p:cNvSpPr>
            <a:spLocks noGrp="1"/>
          </p:cNvSpPr>
          <p:nvPr>
            <p:ph type="sldNum" sz="quarter" idx="11"/>
          </p:nvPr>
        </p:nvSpPr>
        <p:spPr/>
        <p:txBody>
          <a:bodyPr/>
          <a:lstStyle>
            <a:lvl1pPr>
              <a:defRPr/>
            </a:lvl1pPr>
          </a:lstStyle>
          <a:p>
            <a:r>
              <a:rPr lang="en-US"/>
              <a:t>Chap 3-</a:t>
            </a:r>
            <a:fld id="{3385EB60-6807-475B-8B7C-4C44B1890D6D}" type="slidenum">
              <a:rPr lang="en-US"/>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6100" y="228600"/>
            <a:ext cx="2019300" cy="6172200"/>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838200" y="228600"/>
            <a:ext cx="5905500" cy="6172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Footer Placeholder 3"/>
          <p:cNvSpPr>
            <a:spLocks noGrp="1"/>
          </p:cNvSpPr>
          <p:nvPr>
            <p:ph type="ftr" sz="quarter" idx="10"/>
          </p:nvPr>
        </p:nvSpPr>
        <p:spPr/>
        <p:txBody>
          <a:bodyPr/>
          <a:lstStyle>
            <a:lvl1pPr>
              <a:defRPr/>
            </a:lvl1pPr>
          </a:lstStyle>
          <a:p>
            <a:r>
              <a:rPr lang="en-US" smtClean="0"/>
              <a:t>Copyright ©2012 Pearson Education, Inc. publishing as Prentice Hall</a:t>
            </a:r>
            <a:endParaRPr lang="en-US"/>
          </a:p>
        </p:txBody>
      </p:sp>
      <p:sp>
        <p:nvSpPr>
          <p:cNvPr id="5" name="Slide Number Placeholder 4"/>
          <p:cNvSpPr>
            <a:spLocks noGrp="1"/>
          </p:cNvSpPr>
          <p:nvPr>
            <p:ph type="sldNum" sz="quarter" idx="11"/>
          </p:nvPr>
        </p:nvSpPr>
        <p:spPr/>
        <p:txBody>
          <a:bodyPr/>
          <a:lstStyle>
            <a:lvl1pPr>
              <a:defRPr/>
            </a:lvl1pPr>
          </a:lstStyle>
          <a:p>
            <a:r>
              <a:rPr lang="en-US"/>
              <a:t>Chap 3-</a:t>
            </a:r>
            <a:fld id="{233DCDF9-FAA0-4B41-B4AF-61176F10BF73}"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id-ID"/>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Copyright ©2012 Pearson Education, Inc. publishing as Prentice Hall</a:t>
            </a:r>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5B2B6E-A535-4583-B8BD-EE01F207550E}" type="slidenum">
              <a:rPr lang="id-ID" smtClean="0"/>
              <a:pPr/>
              <a:t>‹#›</a:t>
            </a:fld>
            <a:endParaRPr lang="id-ID"/>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7" name="Rectangle 9"/>
          <p:cNvSpPr>
            <a:spLocks noGrp="1" noChangeArrowheads="1"/>
          </p:cNvSpPr>
          <p:nvPr>
            <p:ph type="title"/>
          </p:nvPr>
        </p:nvSpPr>
        <p:spPr bwMode="auto">
          <a:xfrm>
            <a:off x="1066800" y="228600"/>
            <a:ext cx="7793038" cy="990600"/>
          </a:xfrm>
          <a:prstGeom prst="rect">
            <a:avLst/>
          </a:prstGeom>
          <a:noFill/>
          <a:ln w="9525">
            <a:noFill/>
            <a:miter lim="800000"/>
            <a:headEnd/>
            <a:tailEnd/>
          </a:ln>
          <a:effectLst/>
        </p:spPr>
        <p:txBody>
          <a:bodyPr vert="horz" wrap="square" lIns="85342" tIns="42672" rIns="85342" bIns="42672" numCol="1" anchor="b" anchorCtr="0" compatLnSpc="1">
            <a:prstTxWarp prst="textNoShape">
              <a:avLst/>
            </a:prstTxWarp>
          </a:bodyPr>
          <a:lstStyle/>
          <a:p>
            <a:pPr lvl="0"/>
            <a:r>
              <a:rPr lang="en-US" smtClean="0"/>
              <a:t>Click to edit Master title style</a:t>
            </a:r>
          </a:p>
        </p:txBody>
      </p:sp>
      <p:sp>
        <p:nvSpPr>
          <p:cNvPr id="48138" name="Rectangle 10"/>
          <p:cNvSpPr>
            <a:spLocks noGrp="1" noChangeArrowheads="1"/>
          </p:cNvSpPr>
          <p:nvPr>
            <p:ph type="body" idx="1"/>
          </p:nvPr>
        </p:nvSpPr>
        <p:spPr bwMode="auto">
          <a:xfrm>
            <a:off x="838200" y="1868488"/>
            <a:ext cx="8077200" cy="4532312"/>
          </a:xfrm>
          <a:prstGeom prst="rect">
            <a:avLst/>
          </a:prstGeom>
          <a:noFill/>
          <a:ln w="9525">
            <a:noFill/>
            <a:miter lim="800000"/>
            <a:headEnd/>
            <a:tailEnd/>
          </a:ln>
          <a:effectLst/>
        </p:spPr>
        <p:txBody>
          <a:bodyPr vert="horz" wrap="square" lIns="85342" tIns="42672" rIns="85342" bIns="42672"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8152" name="Rectangle 24"/>
          <p:cNvSpPr>
            <a:spLocks noGrp="1" noChangeArrowheads="1"/>
          </p:cNvSpPr>
          <p:nvPr>
            <p:ph type="ftr" sz="quarter" idx="3"/>
          </p:nvPr>
        </p:nvSpPr>
        <p:spPr bwMode="auto">
          <a:xfrm>
            <a:off x="152400" y="6534150"/>
            <a:ext cx="4648200" cy="323850"/>
          </a:xfrm>
          <a:prstGeom prst="rect">
            <a:avLst/>
          </a:prstGeom>
          <a:noFill/>
          <a:ln w="9525">
            <a:noFill/>
            <a:miter lim="800000"/>
            <a:headEnd/>
            <a:tailEnd/>
          </a:ln>
          <a:effectLst/>
        </p:spPr>
        <p:txBody>
          <a:bodyPr vert="horz" wrap="square" lIns="85342" tIns="42672" rIns="85342" bIns="42672" numCol="1" anchor="b" anchorCtr="0" compatLnSpc="1">
            <a:prstTxWarp prst="textNoShape">
              <a:avLst/>
            </a:prstTxWarp>
          </a:bodyPr>
          <a:lstStyle>
            <a:lvl1pPr defTabSz="852488">
              <a:defRPr sz="1000" b="0"/>
            </a:lvl1pPr>
          </a:lstStyle>
          <a:p>
            <a:r>
              <a:rPr lang="en-US" smtClean="0"/>
              <a:t>Copyright ©2012 Pearson Education, Inc. publishing as Prentice Hall</a:t>
            </a:r>
            <a:endParaRPr lang="en-US"/>
          </a:p>
        </p:txBody>
      </p:sp>
      <p:sp>
        <p:nvSpPr>
          <p:cNvPr id="48153" name="Rectangle 25"/>
          <p:cNvSpPr>
            <a:spLocks noGrp="1" noChangeArrowheads="1"/>
          </p:cNvSpPr>
          <p:nvPr>
            <p:ph type="sldNum" sz="quarter" idx="4"/>
          </p:nvPr>
        </p:nvSpPr>
        <p:spPr bwMode="auto">
          <a:xfrm>
            <a:off x="6858000" y="6534150"/>
            <a:ext cx="2133600" cy="320675"/>
          </a:xfrm>
          <a:prstGeom prst="rect">
            <a:avLst/>
          </a:prstGeom>
          <a:noFill/>
          <a:ln w="9525">
            <a:noFill/>
            <a:miter lim="800000"/>
            <a:headEnd/>
            <a:tailEnd/>
          </a:ln>
          <a:effectLst/>
        </p:spPr>
        <p:txBody>
          <a:bodyPr vert="horz" wrap="square" lIns="85342" tIns="42672" rIns="85342" bIns="42672" numCol="1" anchor="b" anchorCtr="0" compatLnSpc="1">
            <a:prstTxWarp prst="textNoShape">
              <a:avLst/>
            </a:prstTxWarp>
          </a:bodyPr>
          <a:lstStyle>
            <a:lvl1pPr algn="r" defTabSz="852488">
              <a:defRPr sz="1000" b="0"/>
            </a:lvl1pPr>
          </a:lstStyle>
          <a:p>
            <a:r>
              <a:rPr lang="en-US"/>
              <a:t>Chap 3-</a:t>
            </a:r>
            <a:fld id="{F0D80EE3-0E34-4EFE-984F-183791D5182C}" type="slidenum">
              <a:rPr lang="en-US"/>
              <a:pPr/>
              <a:t>‹#›</a:t>
            </a:fld>
            <a:endParaRPr lang="en-US"/>
          </a:p>
        </p:txBody>
      </p:sp>
      <p:pic>
        <p:nvPicPr>
          <p:cNvPr id="48154" name="Picture 26"/>
          <p:cNvPicPr>
            <a:picLocks noChangeAspect="1" noChangeArrowheads="1"/>
          </p:cNvPicPr>
          <p:nvPr userDrawn="1"/>
        </p:nvPicPr>
        <p:blipFill>
          <a:blip r:embed="rId13" cstate="print"/>
          <a:srcRect/>
          <a:stretch>
            <a:fillRect/>
          </a:stretch>
        </p:blipFill>
        <p:spPr bwMode="auto">
          <a:xfrm>
            <a:off x="152400" y="533400"/>
            <a:ext cx="8686800" cy="1177925"/>
          </a:xfrm>
          <a:prstGeom prst="rect">
            <a:avLst/>
          </a:prstGeom>
          <a:noFill/>
          <a:ln w="9525">
            <a:noFill/>
            <a:miter lim="800000"/>
            <a:headEnd/>
            <a:tailEnd/>
          </a:ln>
          <a:effectLst/>
        </p:spPr>
      </p:pic>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iming>
    <p:tnLst>
      <p:par>
        <p:cTn id="1" dur="indefinite" restart="never" nodeType="tmRoot"/>
      </p:par>
    </p:tnLst>
  </p:timing>
  <p:hf sldNum="0" hdr="0" ftr="0" dt="0"/>
  <p:txStyles>
    <p:titleStyle>
      <a:lvl1pPr algn="ctr" defTabSz="852488" rtl="0" fontAlgn="base">
        <a:spcBef>
          <a:spcPct val="0"/>
        </a:spcBef>
        <a:spcAft>
          <a:spcPct val="0"/>
        </a:spcAft>
        <a:defRPr sz="4000">
          <a:solidFill>
            <a:schemeClr val="tx2"/>
          </a:solidFill>
          <a:latin typeface="+mj-lt"/>
          <a:ea typeface="+mj-ea"/>
          <a:cs typeface="+mj-cs"/>
        </a:defRPr>
      </a:lvl1pPr>
      <a:lvl2pPr algn="ctr" defTabSz="852488" rtl="0" fontAlgn="base">
        <a:spcBef>
          <a:spcPct val="0"/>
        </a:spcBef>
        <a:spcAft>
          <a:spcPct val="0"/>
        </a:spcAft>
        <a:defRPr sz="4000">
          <a:solidFill>
            <a:schemeClr val="tx2"/>
          </a:solidFill>
          <a:latin typeface="Arial" pitchFamily="34" charset="0"/>
        </a:defRPr>
      </a:lvl2pPr>
      <a:lvl3pPr algn="ctr" defTabSz="852488" rtl="0" fontAlgn="base">
        <a:spcBef>
          <a:spcPct val="0"/>
        </a:spcBef>
        <a:spcAft>
          <a:spcPct val="0"/>
        </a:spcAft>
        <a:defRPr sz="4000">
          <a:solidFill>
            <a:schemeClr val="tx2"/>
          </a:solidFill>
          <a:latin typeface="Arial" pitchFamily="34" charset="0"/>
        </a:defRPr>
      </a:lvl3pPr>
      <a:lvl4pPr algn="ctr" defTabSz="852488" rtl="0" fontAlgn="base">
        <a:spcBef>
          <a:spcPct val="0"/>
        </a:spcBef>
        <a:spcAft>
          <a:spcPct val="0"/>
        </a:spcAft>
        <a:defRPr sz="4000">
          <a:solidFill>
            <a:schemeClr val="tx2"/>
          </a:solidFill>
          <a:latin typeface="Arial" pitchFamily="34" charset="0"/>
        </a:defRPr>
      </a:lvl4pPr>
      <a:lvl5pPr algn="ctr" defTabSz="852488" rtl="0" fontAlgn="base">
        <a:spcBef>
          <a:spcPct val="0"/>
        </a:spcBef>
        <a:spcAft>
          <a:spcPct val="0"/>
        </a:spcAft>
        <a:defRPr sz="4000">
          <a:solidFill>
            <a:schemeClr val="tx2"/>
          </a:solidFill>
          <a:latin typeface="Arial" pitchFamily="34" charset="0"/>
        </a:defRPr>
      </a:lvl5pPr>
      <a:lvl6pPr marL="457200" algn="ctr" defTabSz="852488" rtl="0" fontAlgn="base">
        <a:spcBef>
          <a:spcPct val="0"/>
        </a:spcBef>
        <a:spcAft>
          <a:spcPct val="0"/>
        </a:spcAft>
        <a:defRPr sz="4000">
          <a:solidFill>
            <a:schemeClr val="tx2"/>
          </a:solidFill>
          <a:latin typeface="Arial" pitchFamily="34" charset="0"/>
        </a:defRPr>
      </a:lvl6pPr>
      <a:lvl7pPr marL="914400" algn="ctr" defTabSz="852488" rtl="0" fontAlgn="base">
        <a:spcBef>
          <a:spcPct val="0"/>
        </a:spcBef>
        <a:spcAft>
          <a:spcPct val="0"/>
        </a:spcAft>
        <a:defRPr sz="4000">
          <a:solidFill>
            <a:schemeClr val="tx2"/>
          </a:solidFill>
          <a:latin typeface="Arial" pitchFamily="34" charset="0"/>
        </a:defRPr>
      </a:lvl7pPr>
      <a:lvl8pPr marL="1371600" algn="ctr" defTabSz="852488" rtl="0" fontAlgn="base">
        <a:spcBef>
          <a:spcPct val="0"/>
        </a:spcBef>
        <a:spcAft>
          <a:spcPct val="0"/>
        </a:spcAft>
        <a:defRPr sz="4000">
          <a:solidFill>
            <a:schemeClr val="tx2"/>
          </a:solidFill>
          <a:latin typeface="Arial" pitchFamily="34" charset="0"/>
        </a:defRPr>
      </a:lvl8pPr>
      <a:lvl9pPr marL="1828800" algn="ctr" defTabSz="852488" rtl="0" fontAlgn="base">
        <a:spcBef>
          <a:spcPct val="0"/>
        </a:spcBef>
        <a:spcAft>
          <a:spcPct val="0"/>
        </a:spcAft>
        <a:defRPr sz="4000">
          <a:solidFill>
            <a:schemeClr val="tx2"/>
          </a:solidFill>
          <a:latin typeface="Arial" pitchFamily="34" charset="0"/>
        </a:defRPr>
      </a:lvl9pPr>
    </p:titleStyle>
    <p:bodyStyle>
      <a:lvl1pPr marL="320675" indent="-320675" algn="l" defTabSz="852488" rtl="0" fontAlgn="base">
        <a:spcBef>
          <a:spcPct val="20000"/>
        </a:spcBef>
        <a:spcAft>
          <a:spcPct val="0"/>
        </a:spcAft>
        <a:buClr>
          <a:schemeClr val="folHlink"/>
        </a:buClr>
        <a:buSzPct val="60000"/>
        <a:buFont typeface="Wingdings" pitchFamily="2" charset="2"/>
        <a:buChar char="n"/>
        <a:defRPr sz="2800">
          <a:solidFill>
            <a:schemeClr val="tx1"/>
          </a:solidFill>
          <a:latin typeface="+mn-lt"/>
          <a:ea typeface="+mn-ea"/>
          <a:cs typeface="+mn-cs"/>
        </a:defRPr>
      </a:lvl1pPr>
      <a:lvl2pPr marL="693738" indent="-268288" algn="l" defTabSz="852488" rtl="0" fontAlgn="base">
        <a:spcBef>
          <a:spcPct val="20000"/>
        </a:spcBef>
        <a:spcAft>
          <a:spcPct val="0"/>
        </a:spcAft>
        <a:buClr>
          <a:schemeClr val="hlink"/>
        </a:buClr>
        <a:buSzPct val="55000"/>
        <a:buFont typeface="Wingdings" pitchFamily="2" charset="2"/>
        <a:buChar char="n"/>
        <a:defRPr sz="2400">
          <a:solidFill>
            <a:schemeClr val="tx1"/>
          </a:solidFill>
          <a:latin typeface="+mn-lt"/>
        </a:defRPr>
      </a:lvl2pPr>
      <a:lvl3pPr marL="1068388" indent="-215900" algn="l" defTabSz="852488" rtl="0" fontAlgn="base">
        <a:spcBef>
          <a:spcPct val="20000"/>
        </a:spcBef>
        <a:spcAft>
          <a:spcPct val="0"/>
        </a:spcAft>
        <a:buClr>
          <a:schemeClr val="accent2"/>
        </a:buClr>
        <a:buSzPct val="50000"/>
        <a:buFont typeface="Wingdings" pitchFamily="2" charset="2"/>
        <a:buChar char="n"/>
        <a:defRPr sz="2000">
          <a:solidFill>
            <a:schemeClr val="tx1"/>
          </a:solidFill>
          <a:latin typeface="+mn-lt"/>
        </a:defRPr>
      </a:lvl3pPr>
      <a:lvl4pPr marL="1493838" indent="-212725" algn="l" defTabSz="852488" rtl="0" fontAlgn="base">
        <a:spcBef>
          <a:spcPct val="20000"/>
        </a:spcBef>
        <a:spcAft>
          <a:spcPct val="0"/>
        </a:spcAft>
        <a:buClr>
          <a:schemeClr val="folHlink"/>
        </a:buClr>
        <a:buSzPct val="55000"/>
        <a:buFont typeface="Wingdings" pitchFamily="2" charset="2"/>
        <a:buChar char="n"/>
        <a:defRPr>
          <a:solidFill>
            <a:schemeClr val="tx1"/>
          </a:solidFill>
          <a:latin typeface="+mn-lt"/>
        </a:defRPr>
      </a:lvl4pPr>
      <a:lvl5pPr marL="1919288" indent="-212725" algn="l" defTabSz="852488" rtl="0" fontAlgn="base">
        <a:spcBef>
          <a:spcPct val="20000"/>
        </a:spcBef>
        <a:spcAft>
          <a:spcPct val="0"/>
        </a:spcAft>
        <a:buClr>
          <a:srgbClr val="FD2B4E"/>
        </a:buClr>
        <a:buSzPct val="50000"/>
        <a:buFont typeface="Wingdings" pitchFamily="2" charset="2"/>
        <a:buChar char="n"/>
        <a:defRPr>
          <a:solidFill>
            <a:schemeClr val="tx1"/>
          </a:solidFill>
          <a:latin typeface="+mn-lt"/>
        </a:defRPr>
      </a:lvl5pPr>
      <a:lvl6pPr marL="2376488" indent="-212725" algn="l" defTabSz="852488" rtl="0" fontAlgn="base">
        <a:spcBef>
          <a:spcPct val="20000"/>
        </a:spcBef>
        <a:spcAft>
          <a:spcPct val="0"/>
        </a:spcAft>
        <a:buClr>
          <a:srgbClr val="FD2B4E"/>
        </a:buClr>
        <a:buSzPct val="50000"/>
        <a:buFont typeface="Wingdings" pitchFamily="2" charset="2"/>
        <a:buChar char="n"/>
        <a:defRPr>
          <a:solidFill>
            <a:schemeClr val="tx1"/>
          </a:solidFill>
          <a:latin typeface="+mn-lt"/>
        </a:defRPr>
      </a:lvl6pPr>
      <a:lvl7pPr marL="2833688" indent="-212725" algn="l" defTabSz="852488" rtl="0" fontAlgn="base">
        <a:spcBef>
          <a:spcPct val="20000"/>
        </a:spcBef>
        <a:spcAft>
          <a:spcPct val="0"/>
        </a:spcAft>
        <a:buClr>
          <a:srgbClr val="FD2B4E"/>
        </a:buClr>
        <a:buSzPct val="50000"/>
        <a:buFont typeface="Wingdings" pitchFamily="2" charset="2"/>
        <a:buChar char="n"/>
        <a:defRPr>
          <a:solidFill>
            <a:schemeClr val="tx1"/>
          </a:solidFill>
          <a:latin typeface="+mn-lt"/>
        </a:defRPr>
      </a:lvl7pPr>
      <a:lvl8pPr marL="3290888" indent="-212725" algn="l" defTabSz="852488" rtl="0" fontAlgn="base">
        <a:spcBef>
          <a:spcPct val="20000"/>
        </a:spcBef>
        <a:spcAft>
          <a:spcPct val="0"/>
        </a:spcAft>
        <a:buClr>
          <a:srgbClr val="FD2B4E"/>
        </a:buClr>
        <a:buSzPct val="50000"/>
        <a:buFont typeface="Wingdings" pitchFamily="2" charset="2"/>
        <a:buChar char="n"/>
        <a:defRPr>
          <a:solidFill>
            <a:schemeClr val="tx1"/>
          </a:solidFill>
          <a:latin typeface="+mn-lt"/>
        </a:defRPr>
      </a:lvl8pPr>
      <a:lvl9pPr marL="3748088" indent="-212725" algn="l" defTabSz="852488" rtl="0" fontAlgn="base">
        <a:spcBef>
          <a:spcPct val="20000"/>
        </a:spcBef>
        <a:spcAft>
          <a:spcPct val="0"/>
        </a:spcAft>
        <a:buClr>
          <a:srgbClr val="FD2B4E"/>
        </a:buClr>
        <a:buSzPct val="50000"/>
        <a:buFont typeface="Wingdings" pitchFamily="2" charset="2"/>
        <a:buChar char="n"/>
        <a:defRPr>
          <a:solidFill>
            <a:schemeClr val="tx1"/>
          </a:solidFill>
          <a:latin typeface="+mn-lt"/>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9.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9.xml"/><Relationship Id="rId1" Type="http://schemas.openxmlformats.org/officeDocument/2006/relationships/vmlDrawing" Target="../drawings/vmlDrawing2.vml"/><Relationship Id="rId5" Type="http://schemas.openxmlformats.org/officeDocument/2006/relationships/image" Target="../media/image5.wmf"/><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9.xml"/><Relationship Id="rId1" Type="http://schemas.openxmlformats.org/officeDocument/2006/relationships/vmlDrawing" Target="../drawings/vmlDrawing3.vml"/><Relationship Id="rId4" Type="http://schemas.openxmlformats.org/officeDocument/2006/relationships/image" Target="../media/image6.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9.xml"/><Relationship Id="rId1" Type="http://schemas.openxmlformats.org/officeDocument/2006/relationships/vmlDrawing" Target="../drawings/vmlDrawing4.vml"/><Relationship Id="rId5" Type="http://schemas.openxmlformats.org/officeDocument/2006/relationships/image" Target="../media/image7.emf"/><Relationship Id="rId4" Type="http://schemas.openxmlformats.org/officeDocument/2006/relationships/oleObject" Target="../embeddings/oleObject6.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9.emf"/><Relationship Id="rId2" Type="http://schemas.openxmlformats.org/officeDocument/2006/relationships/slideLayout" Target="../slideLayouts/slideLayout19.xml"/><Relationship Id="rId1" Type="http://schemas.openxmlformats.org/officeDocument/2006/relationships/vmlDrawing" Target="../drawings/vmlDrawing5.vml"/><Relationship Id="rId6" Type="http://schemas.openxmlformats.org/officeDocument/2006/relationships/oleObject" Target="../embeddings/oleObject8.bin"/><Relationship Id="rId5" Type="http://schemas.openxmlformats.org/officeDocument/2006/relationships/image" Target="../media/image8.emf"/><Relationship Id="rId4" Type="http://schemas.openxmlformats.org/officeDocument/2006/relationships/oleObject" Target="../embeddings/oleObject7.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9.xml"/><Relationship Id="rId1" Type="http://schemas.openxmlformats.org/officeDocument/2006/relationships/vmlDrawing" Target="../drawings/vmlDrawing6.vml"/><Relationship Id="rId4" Type="http://schemas.openxmlformats.org/officeDocument/2006/relationships/image" Target="../media/image10.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9.xml"/><Relationship Id="rId1" Type="http://schemas.openxmlformats.org/officeDocument/2006/relationships/vmlDrawing" Target="../drawings/vmlDrawing7.vml"/><Relationship Id="rId6" Type="http://schemas.openxmlformats.org/officeDocument/2006/relationships/image" Target="../media/image11.wmf"/><Relationship Id="rId5" Type="http://schemas.openxmlformats.org/officeDocument/2006/relationships/image" Target="../media/image12.emf"/><Relationship Id="rId4" Type="http://schemas.openxmlformats.org/officeDocument/2006/relationships/oleObject" Target="../embeddings/oleObject10.bin"/></Relationships>
</file>

<file path=ppt/slides/_rels/slide2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4.xml"/><Relationship Id="rId1" Type="http://schemas.openxmlformats.org/officeDocument/2006/relationships/vmlDrawing" Target="../drawings/vmlDrawing8.vml"/><Relationship Id="rId4" Type="http://schemas.openxmlformats.org/officeDocument/2006/relationships/image" Target="../media/image13.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4.xml"/><Relationship Id="rId1" Type="http://schemas.openxmlformats.org/officeDocument/2006/relationships/vmlDrawing" Target="../drawings/vmlDrawing9.vml"/><Relationship Id="rId6" Type="http://schemas.openxmlformats.org/officeDocument/2006/relationships/image" Target="../media/image15.wmf"/><Relationship Id="rId5" Type="http://schemas.openxmlformats.org/officeDocument/2006/relationships/oleObject" Target="../embeddings/oleObject13.bin"/><Relationship Id="rId4" Type="http://schemas.openxmlformats.org/officeDocument/2006/relationships/image" Target="../media/image14.w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6" name="Rectangle 6"/>
          <p:cNvSpPr>
            <a:spLocks noChangeArrowheads="1"/>
          </p:cNvSpPr>
          <p:nvPr/>
        </p:nvSpPr>
        <p:spPr bwMode="auto">
          <a:xfrm>
            <a:off x="0" y="3441680"/>
            <a:ext cx="8839200" cy="2862322"/>
          </a:xfrm>
          <a:prstGeom prst="rect">
            <a:avLst/>
          </a:prstGeom>
          <a:noFill/>
          <a:ln w="9525">
            <a:noFill/>
            <a:miter lim="800000"/>
            <a:headEnd/>
            <a:tailEnd/>
          </a:ln>
          <a:effectLst/>
        </p:spPr>
        <p:txBody>
          <a:bodyPr wrap="square">
            <a:spAutoFit/>
          </a:bodyPr>
          <a:lstStyle/>
          <a:p>
            <a:pPr algn="ctr"/>
            <a:r>
              <a:rPr lang="id-ID" sz="3600" dirty="0" smtClean="0"/>
              <a:t>Pertemuan 7: Pengujian Hipotesis 1 Populasi</a:t>
            </a:r>
            <a:endParaRPr lang="en-US" sz="3600" b="0" dirty="0"/>
          </a:p>
          <a:p>
            <a:pPr algn="ctr"/>
            <a:endParaRPr lang="id-ID" sz="3600" b="0" dirty="0" smtClean="0"/>
          </a:p>
          <a:p>
            <a:pPr algn="ctr"/>
            <a:endParaRPr lang="id-ID" sz="3600" b="0" dirty="0" smtClean="0"/>
          </a:p>
          <a:p>
            <a:pPr algn="ctr"/>
            <a:r>
              <a:rPr lang="id-ID" sz="3600" b="0" dirty="0" smtClean="0"/>
              <a:t>Dosen Pengampu MK: </a:t>
            </a:r>
          </a:p>
          <a:p>
            <a:pPr algn="ctr"/>
            <a:r>
              <a:rPr lang="id-ID" sz="3600" b="0" dirty="0" smtClean="0"/>
              <a:t>Evellin Lusiana, S.Si, M.Si</a:t>
            </a:r>
            <a:endParaRPr lang="en-US" sz="3600" b="0" dirty="0"/>
          </a:p>
        </p:txBody>
      </p:sp>
      <p:sp>
        <p:nvSpPr>
          <p:cNvPr id="51211" name="Rectangle 11"/>
          <p:cNvSpPr>
            <a:spLocks noChangeArrowheads="1"/>
          </p:cNvSpPr>
          <p:nvPr/>
        </p:nvSpPr>
        <p:spPr bwMode="auto">
          <a:xfrm>
            <a:off x="838200" y="838200"/>
            <a:ext cx="7010400" cy="2062163"/>
          </a:xfrm>
          <a:prstGeom prst="rect">
            <a:avLst/>
          </a:prstGeom>
          <a:noFill/>
          <a:ln w="9525">
            <a:noFill/>
            <a:miter lim="800000"/>
            <a:headEnd/>
            <a:tailEnd/>
          </a:ln>
          <a:effectLst/>
        </p:spPr>
        <p:txBody>
          <a:bodyPr lIns="85342" tIns="42672" rIns="85342" bIns="42672" anchor="b"/>
          <a:lstStyle/>
          <a:p>
            <a:pPr algn="ctr" defTabSz="852488"/>
            <a:r>
              <a:rPr lang="id-ID" sz="4000" b="0" dirty="0" smtClean="0">
                <a:solidFill>
                  <a:schemeClr val="folHlink"/>
                </a:solidFill>
              </a:rPr>
              <a:t>STATISTIKA</a:t>
            </a:r>
            <a:endParaRPr lang="en-US" sz="2800" b="0" dirty="0">
              <a:solidFill>
                <a:schemeClr val="folHlink"/>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Materi hari ini</a:t>
            </a:r>
            <a:endParaRPr lang="id-ID" dirty="0"/>
          </a:p>
        </p:txBody>
      </p:sp>
      <p:sp>
        <p:nvSpPr>
          <p:cNvPr id="3" name="Content Placeholder 2"/>
          <p:cNvSpPr>
            <a:spLocks noGrp="1"/>
          </p:cNvSpPr>
          <p:nvPr>
            <p:ph idx="1"/>
          </p:nvPr>
        </p:nvSpPr>
        <p:spPr/>
        <p:txBody>
          <a:bodyPr/>
          <a:lstStyle/>
          <a:p>
            <a:endParaRPr lang="id-ID" dirty="0" smtClean="0"/>
          </a:p>
          <a:p>
            <a:r>
              <a:rPr lang="id-ID" dirty="0" smtClean="0"/>
              <a:t>Hipotesis, tingkat kesalahan, hipotesis satu arah dan dua arah</a:t>
            </a:r>
          </a:p>
          <a:p>
            <a:r>
              <a:rPr lang="id-ID" dirty="0" smtClean="0"/>
              <a:t>Langkah-langkah pengujian hipotesis</a:t>
            </a:r>
          </a:p>
          <a:p>
            <a:r>
              <a:rPr lang="id-ID" dirty="0" smtClean="0"/>
              <a:t>Uji Hipotesis rata-rata 1 Populasi</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5"/>
          <p:cNvSpPr>
            <a:spLocks noGrp="1" noChangeArrowheads="1"/>
          </p:cNvSpPr>
          <p:nvPr>
            <p:ph type="sldNum" sz="quarter" idx="10"/>
          </p:nvPr>
        </p:nvSpPr>
        <p:spPr>
          <a:ln/>
        </p:spPr>
        <p:txBody>
          <a:bodyPr/>
          <a:lstStyle/>
          <a:p>
            <a:pPr>
              <a:defRPr/>
            </a:pPr>
            <a:r>
              <a:rPr lang="en-US"/>
              <a:t>Chap 9-</a:t>
            </a:r>
            <a:fld id="{3BB9DD33-A35F-4D83-B005-788323AE0484}" type="slidenum">
              <a:rPr lang="en-US"/>
              <a:pPr>
                <a:defRPr/>
              </a:pPr>
              <a:t>3</a:t>
            </a:fld>
            <a:endParaRPr lang="en-US"/>
          </a:p>
        </p:txBody>
      </p:sp>
      <p:sp>
        <p:nvSpPr>
          <p:cNvPr id="115713"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B310785D-D2A6-4B12-92F5-79327FF2910C}" type="slidenum">
              <a:rPr lang="en-US" sz="1000"/>
              <a:pPr algn="r" defTabSz="852488"/>
              <a:t>3</a:t>
            </a:fld>
            <a:endParaRPr lang="en-US" sz="1000"/>
          </a:p>
        </p:txBody>
      </p:sp>
      <p:sp>
        <p:nvSpPr>
          <p:cNvPr id="115714" name="Rectangle 2"/>
          <p:cNvSpPr>
            <a:spLocks noGrp="1" noChangeArrowheads="1"/>
          </p:cNvSpPr>
          <p:nvPr>
            <p:ph type="title" idx="4294967295"/>
          </p:nvPr>
        </p:nvSpPr>
        <p:spPr/>
        <p:txBody>
          <a:bodyPr/>
          <a:lstStyle/>
          <a:p>
            <a:pPr eaLnBrk="1" hangingPunct="1"/>
            <a:r>
              <a:rPr lang="id-ID" dirty="0" smtClean="0"/>
              <a:t>Definisi Hipotesis</a:t>
            </a:r>
            <a:endParaRPr lang="en-US" dirty="0" smtClean="0"/>
          </a:p>
        </p:txBody>
      </p:sp>
      <p:sp>
        <p:nvSpPr>
          <p:cNvPr id="115715" name="Rectangle 3"/>
          <p:cNvSpPr>
            <a:spLocks noGrp="1" noChangeArrowheads="1"/>
          </p:cNvSpPr>
          <p:nvPr>
            <p:ph type="body" idx="4294967295"/>
          </p:nvPr>
        </p:nvSpPr>
        <p:spPr>
          <a:xfrm>
            <a:off x="762000" y="1752600"/>
            <a:ext cx="8077200" cy="4419600"/>
          </a:xfrm>
        </p:spPr>
        <p:txBody>
          <a:bodyPr/>
          <a:lstStyle/>
          <a:p>
            <a:pPr eaLnBrk="1" hangingPunct="1">
              <a:lnSpc>
                <a:spcPct val="70000"/>
              </a:lnSpc>
            </a:pPr>
            <a:r>
              <a:rPr lang="id-ID" sz="3100" dirty="0" smtClean="0"/>
              <a:t>Hipotesis adalah suatu </a:t>
            </a:r>
          </a:p>
          <a:p>
            <a:pPr eaLnBrk="1" hangingPunct="1">
              <a:lnSpc>
                <a:spcPct val="70000"/>
              </a:lnSpc>
              <a:buNone/>
            </a:pPr>
            <a:r>
              <a:rPr lang="id-ID" sz="3100" dirty="0" smtClean="0"/>
              <a:t>   pernyataan yang berkaitan</a:t>
            </a:r>
          </a:p>
          <a:p>
            <a:pPr eaLnBrk="1" hangingPunct="1">
              <a:lnSpc>
                <a:spcPct val="70000"/>
              </a:lnSpc>
              <a:buNone/>
            </a:pPr>
            <a:r>
              <a:rPr lang="id-ID" sz="3100" dirty="0" smtClean="0"/>
              <a:t>   dengan parameter populasi</a:t>
            </a:r>
            <a:endParaRPr lang="en-US" sz="3100" dirty="0" smtClean="0"/>
          </a:p>
          <a:p>
            <a:pPr eaLnBrk="1" hangingPunct="1">
              <a:lnSpc>
                <a:spcPct val="70000"/>
              </a:lnSpc>
              <a:buFont typeface="Wingdings" pitchFamily="2" charset="2"/>
              <a:buNone/>
            </a:pPr>
            <a:endParaRPr lang="en-US" sz="2300" dirty="0" smtClean="0"/>
          </a:p>
          <a:p>
            <a:pPr lvl="1" eaLnBrk="1" hangingPunct="1"/>
            <a:r>
              <a:rPr lang="id-ID" sz="2700" dirty="0" smtClean="0">
                <a:solidFill>
                  <a:schemeClr val="folHlink"/>
                </a:solidFill>
              </a:rPr>
              <a:t>Rata-rata populasi</a:t>
            </a:r>
            <a:endParaRPr lang="en-US" sz="2700" dirty="0" smtClean="0">
              <a:solidFill>
                <a:schemeClr val="folHlink"/>
              </a:solidFill>
            </a:endParaRPr>
          </a:p>
          <a:p>
            <a:pPr lvl="1" eaLnBrk="1" hangingPunct="1">
              <a:buFont typeface="Wingdings" pitchFamily="2" charset="2"/>
              <a:buNone/>
            </a:pPr>
            <a:endParaRPr lang="en-US" sz="2700" dirty="0" smtClean="0"/>
          </a:p>
          <a:p>
            <a:pPr lvl="1" eaLnBrk="1" hangingPunct="1"/>
            <a:endParaRPr lang="en-US" sz="2700" dirty="0" smtClean="0"/>
          </a:p>
        </p:txBody>
      </p:sp>
      <p:sp>
        <p:nvSpPr>
          <p:cNvPr id="115716" name="Rectangle 4"/>
          <p:cNvSpPr>
            <a:spLocks noChangeArrowheads="1"/>
          </p:cNvSpPr>
          <p:nvPr/>
        </p:nvSpPr>
        <p:spPr bwMode="auto">
          <a:xfrm>
            <a:off x="1524000" y="3962400"/>
            <a:ext cx="6629400" cy="1013098"/>
          </a:xfrm>
          <a:prstGeom prst="rect">
            <a:avLst/>
          </a:prstGeom>
          <a:solidFill>
            <a:srgbClr val="FDE0BD"/>
          </a:solidFill>
          <a:ln w="9525">
            <a:solidFill>
              <a:schemeClr val="tx1"/>
            </a:solidFill>
            <a:miter lim="800000"/>
            <a:headEnd/>
            <a:tailEnd/>
          </a:ln>
        </p:spPr>
        <p:txBody>
          <a:bodyPr lIns="90488" tIns="44450" rIns="90488" bIns="44450">
            <a:spAutoFit/>
          </a:bodyPr>
          <a:lstStyle/>
          <a:p>
            <a:pPr eaLnBrk="0" hangingPunct="0">
              <a:spcBef>
                <a:spcPct val="50000"/>
              </a:spcBef>
            </a:pPr>
            <a:r>
              <a:rPr lang="id-ID" sz="2400" b="1" dirty="0" smtClean="0"/>
              <a:t>Contoh</a:t>
            </a:r>
            <a:r>
              <a:rPr lang="en-US" sz="2400" b="1" dirty="0" smtClean="0"/>
              <a:t>:  </a:t>
            </a:r>
            <a:r>
              <a:rPr lang="id-ID" sz="2400" b="1" dirty="0" smtClean="0"/>
              <a:t>rata2 berat ikan tuna sirip kuning</a:t>
            </a:r>
          </a:p>
          <a:p>
            <a:pPr eaLnBrk="0" hangingPunct="0">
              <a:spcBef>
                <a:spcPct val="50000"/>
              </a:spcBef>
            </a:pPr>
            <a:r>
              <a:rPr lang="id-ID" sz="2400" b="1" dirty="0" smtClean="0"/>
              <a:t> </a:t>
            </a:r>
            <a:r>
              <a:rPr lang="el-GR" sz="2400" b="1" dirty="0" smtClean="0">
                <a:cs typeface="Arial" charset="0"/>
                <a:sym typeface="Symbol" pitchFamily="18" charset="2"/>
              </a:rPr>
              <a:t>μ</a:t>
            </a:r>
            <a:r>
              <a:rPr lang="en-US" sz="2400" b="1" dirty="0" smtClean="0">
                <a:sym typeface="Symbol" pitchFamily="18" charset="2"/>
              </a:rPr>
              <a:t> </a:t>
            </a:r>
            <a:r>
              <a:rPr lang="en-US" sz="2400" b="1" dirty="0">
                <a:sym typeface="Symbol" pitchFamily="18" charset="2"/>
              </a:rPr>
              <a:t>=</a:t>
            </a:r>
            <a:r>
              <a:rPr lang="en-US" sz="2400" b="1" dirty="0"/>
              <a:t> </a:t>
            </a:r>
            <a:r>
              <a:rPr lang="id-ID" sz="2400" b="1" dirty="0" smtClean="0"/>
              <a:t>2.5 kg</a:t>
            </a:r>
            <a:endParaRPr lang="en-US" sz="2400" b="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Rectangle 2"/>
          <p:cNvSpPr>
            <a:spLocks noChangeArrowheads="1"/>
          </p:cNvSpPr>
          <p:nvPr/>
        </p:nvSpPr>
        <p:spPr bwMode="auto">
          <a:xfrm>
            <a:off x="1143000" y="2743200"/>
            <a:ext cx="7239000" cy="1143000"/>
          </a:xfrm>
          <a:prstGeom prst="rect">
            <a:avLst/>
          </a:prstGeom>
          <a:solidFill>
            <a:srgbClr val="FDE0BD"/>
          </a:solidFill>
          <a:ln w="9525" algn="ctr">
            <a:solidFill>
              <a:schemeClr val="tx1"/>
            </a:solidFill>
            <a:miter lim="800000"/>
            <a:headEnd/>
            <a:tailEnd/>
          </a:ln>
        </p:spPr>
        <p:txBody>
          <a:bodyPr wrap="none" anchor="ctr"/>
          <a:lstStyle/>
          <a:p>
            <a:endParaRPr lang="en-US"/>
          </a:p>
        </p:txBody>
      </p:sp>
      <p:sp>
        <p:nvSpPr>
          <p:cNvPr id="1033" name="Rectangle 5"/>
          <p:cNvSpPr>
            <a:spLocks noGrp="1" noChangeArrowheads="1"/>
          </p:cNvSpPr>
          <p:nvPr>
            <p:ph type="body" idx="4294967295"/>
          </p:nvPr>
        </p:nvSpPr>
        <p:spPr>
          <a:xfrm>
            <a:off x="838200" y="1676400"/>
            <a:ext cx="8077200" cy="4532313"/>
          </a:xfrm>
        </p:spPr>
        <p:txBody>
          <a:bodyPr/>
          <a:lstStyle/>
          <a:p>
            <a:pPr eaLnBrk="1" hangingPunct="1">
              <a:spcBef>
                <a:spcPct val="40000"/>
              </a:spcBef>
            </a:pPr>
            <a:r>
              <a:rPr lang="id-ID" sz="3100" dirty="0" smtClean="0"/>
              <a:t>Pernyataan/klaim thdp parameter yang akan diuji</a:t>
            </a:r>
            <a:endParaRPr lang="en-US" sz="3100" dirty="0" smtClean="0"/>
          </a:p>
          <a:p>
            <a:pPr eaLnBrk="0" hangingPunct="0">
              <a:spcBef>
                <a:spcPct val="50000"/>
              </a:spcBef>
            </a:pPr>
            <a:r>
              <a:rPr lang="id-ID" sz="2700" dirty="0" smtClean="0">
                <a:solidFill>
                  <a:schemeClr val="folHlink"/>
                </a:solidFill>
              </a:rPr>
              <a:t>Contoh</a:t>
            </a:r>
            <a:r>
              <a:rPr lang="en-US" sz="2700" dirty="0" smtClean="0">
                <a:solidFill>
                  <a:schemeClr val="folHlink"/>
                </a:solidFill>
              </a:rPr>
              <a:t>:</a:t>
            </a:r>
            <a:r>
              <a:rPr lang="en-US" sz="2700" dirty="0" smtClean="0"/>
              <a:t>  </a:t>
            </a:r>
            <a:r>
              <a:rPr lang="id-ID" sz="2400" b="1" dirty="0" smtClean="0"/>
              <a:t>rata2 berat ikan tuna sirip kuning</a:t>
            </a:r>
          </a:p>
          <a:p>
            <a:pPr eaLnBrk="0" hangingPunct="0">
              <a:spcBef>
                <a:spcPct val="50000"/>
              </a:spcBef>
              <a:buNone/>
            </a:pPr>
            <a:r>
              <a:rPr lang="id-ID" sz="2400" b="1" dirty="0" smtClean="0"/>
              <a:t>     </a:t>
            </a:r>
            <a:r>
              <a:rPr lang="el-GR" sz="2400" b="1" dirty="0" smtClean="0">
                <a:cs typeface="Arial" charset="0"/>
                <a:sym typeface="Symbol" pitchFamily="18" charset="2"/>
              </a:rPr>
              <a:t>μ</a:t>
            </a:r>
            <a:r>
              <a:rPr lang="en-US" sz="2400" b="1" dirty="0" smtClean="0">
                <a:sym typeface="Symbol" pitchFamily="18" charset="2"/>
              </a:rPr>
              <a:t> =</a:t>
            </a:r>
            <a:r>
              <a:rPr lang="en-US" sz="2400" b="1" dirty="0" smtClean="0"/>
              <a:t> </a:t>
            </a:r>
            <a:r>
              <a:rPr lang="id-ID" sz="2400" b="1" dirty="0" smtClean="0"/>
              <a:t>2.5 kg    </a:t>
            </a:r>
            <a:r>
              <a:rPr lang="en-US" sz="2700" dirty="0" smtClean="0"/>
              <a:t>(                  )</a:t>
            </a:r>
          </a:p>
          <a:p>
            <a:pPr eaLnBrk="1" hangingPunct="1">
              <a:spcBef>
                <a:spcPct val="40000"/>
              </a:spcBef>
            </a:pPr>
            <a:r>
              <a:rPr lang="id-ID" sz="3100" dirty="0" smtClean="0"/>
              <a:t>Hipotesis selalu berkaitan dengan parameter populasi, tidak pernah statistik sampel</a:t>
            </a:r>
            <a:endParaRPr lang="en-US" sz="2700" dirty="0" smtClean="0"/>
          </a:p>
        </p:txBody>
      </p:sp>
      <p:sp>
        <p:nvSpPr>
          <p:cNvPr id="14" name="Rectangle 5"/>
          <p:cNvSpPr>
            <a:spLocks noGrp="1" noChangeArrowheads="1"/>
          </p:cNvSpPr>
          <p:nvPr>
            <p:ph type="sldNum" sz="quarter" idx="10"/>
          </p:nvPr>
        </p:nvSpPr>
        <p:spPr>
          <a:ln/>
        </p:spPr>
        <p:txBody>
          <a:bodyPr/>
          <a:lstStyle/>
          <a:p>
            <a:pPr>
              <a:defRPr/>
            </a:pPr>
            <a:r>
              <a:rPr lang="en-US"/>
              <a:t>Chap 9-</a:t>
            </a:r>
            <a:fld id="{1CEF2AA0-C4AF-45CE-9181-DEC1FB16863D}" type="slidenum">
              <a:rPr lang="en-US"/>
              <a:pPr>
                <a:defRPr/>
              </a:pPr>
              <a:t>4</a:t>
            </a:fld>
            <a:endParaRPr lang="en-US"/>
          </a:p>
        </p:txBody>
      </p:sp>
      <p:sp>
        <p:nvSpPr>
          <p:cNvPr id="15"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1029"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022E81B1-BC03-447E-A752-0FBBD5406316}" type="slidenum">
              <a:rPr lang="en-US" sz="1000"/>
              <a:pPr algn="r" defTabSz="852488"/>
              <a:t>4</a:t>
            </a:fld>
            <a:endParaRPr lang="en-US" sz="1000"/>
          </a:p>
        </p:txBody>
      </p:sp>
      <p:sp>
        <p:nvSpPr>
          <p:cNvPr id="1031" name="Line 3"/>
          <p:cNvSpPr>
            <a:spLocks noChangeShapeType="1"/>
          </p:cNvSpPr>
          <p:nvPr/>
        </p:nvSpPr>
        <p:spPr bwMode="auto">
          <a:xfrm flipV="1">
            <a:off x="5638800" y="5257800"/>
            <a:ext cx="1371600" cy="990600"/>
          </a:xfrm>
          <a:prstGeom prst="line">
            <a:avLst/>
          </a:prstGeom>
          <a:noFill/>
          <a:ln w="76200">
            <a:solidFill>
              <a:schemeClr val="hlink"/>
            </a:solidFill>
            <a:miter lim="800000"/>
            <a:headEnd/>
            <a:tailEnd/>
          </a:ln>
        </p:spPr>
        <p:txBody>
          <a:bodyPr wrap="none"/>
          <a:lstStyle/>
          <a:p>
            <a:endParaRPr lang="en-US"/>
          </a:p>
        </p:txBody>
      </p:sp>
      <p:sp>
        <p:nvSpPr>
          <p:cNvPr id="1032" name="Rectangle 4"/>
          <p:cNvSpPr>
            <a:spLocks noGrp="1" noChangeArrowheads="1"/>
          </p:cNvSpPr>
          <p:nvPr>
            <p:ph type="title" idx="4294967295"/>
          </p:nvPr>
        </p:nvSpPr>
        <p:spPr/>
        <p:txBody>
          <a:bodyPr/>
          <a:lstStyle/>
          <a:p>
            <a:pPr eaLnBrk="1" hangingPunct="1"/>
            <a:r>
              <a:rPr lang="id-ID" dirty="0" smtClean="0"/>
              <a:t>Hipotesis Nol</a:t>
            </a:r>
            <a:r>
              <a:rPr lang="en-US" dirty="0" smtClean="0"/>
              <a:t>, H</a:t>
            </a:r>
            <a:r>
              <a:rPr lang="en-US" baseline="-25000" dirty="0" smtClean="0"/>
              <a:t>0</a:t>
            </a:r>
          </a:p>
        </p:txBody>
      </p:sp>
      <p:sp>
        <p:nvSpPr>
          <p:cNvPr id="1034" name="Oval 6"/>
          <p:cNvSpPr>
            <a:spLocks noChangeArrowheads="1"/>
          </p:cNvSpPr>
          <p:nvPr/>
        </p:nvSpPr>
        <p:spPr bwMode="auto">
          <a:xfrm>
            <a:off x="2209800" y="5257800"/>
            <a:ext cx="1981200" cy="1371600"/>
          </a:xfrm>
          <a:prstGeom prst="ellipse">
            <a:avLst/>
          </a:prstGeom>
          <a:noFill/>
          <a:ln w="76200">
            <a:solidFill>
              <a:schemeClr val="hlink"/>
            </a:solidFill>
            <a:miter lim="800000"/>
            <a:headEnd/>
            <a:tailEnd/>
          </a:ln>
        </p:spPr>
        <p:txBody>
          <a:bodyPr wrap="none" anchor="ctr"/>
          <a:lstStyle/>
          <a:p>
            <a:endParaRPr lang="en-US"/>
          </a:p>
        </p:txBody>
      </p:sp>
      <p:sp>
        <p:nvSpPr>
          <p:cNvPr id="1035" name="Oval 7"/>
          <p:cNvSpPr>
            <a:spLocks noChangeArrowheads="1"/>
          </p:cNvSpPr>
          <p:nvPr/>
        </p:nvSpPr>
        <p:spPr bwMode="auto">
          <a:xfrm>
            <a:off x="5257800" y="5029200"/>
            <a:ext cx="1981200" cy="1371600"/>
          </a:xfrm>
          <a:prstGeom prst="ellipse">
            <a:avLst/>
          </a:prstGeom>
          <a:noFill/>
          <a:ln w="76200">
            <a:solidFill>
              <a:schemeClr val="hlink"/>
            </a:solidFill>
            <a:miter lim="800000"/>
            <a:headEnd/>
            <a:tailEnd/>
          </a:ln>
        </p:spPr>
        <p:txBody>
          <a:bodyPr wrap="none" anchor="ctr"/>
          <a:lstStyle/>
          <a:p>
            <a:endParaRPr lang="en-US"/>
          </a:p>
        </p:txBody>
      </p:sp>
      <p:graphicFrame>
        <p:nvGraphicFramePr>
          <p:cNvPr id="1026" name="Object 8"/>
          <p:cNvGraphicFramePr>
            <a:graphicFrameLocks noChangeAspect="1"/>
          </p:cNvGraphicFramePr>
          <p:nvPr/>
        </p:nvGraphicFramePr>
        <p:xfrm>
          <a:off x="3230563" y="3429000"/>
          <a:ext cx="1681162" cy="560388"/>
        </p:xfrm>
        <a:graphic>
          <a:graphicData uri="http://schemas.openxmlformats.org/presentationml/2006/ole">
            <mc:AlternateContent xmlns:mc="http://schemas.openxmlformats.org/markup-compatibility/2006">
              <mc:Choice xmlns:v="urn:schemas-microsoft-com:vml" Requires="v">
                <p:oleObj spid="_x0000_s298007" name="Equation" r:id="rId3" imgW="685800" imgH="228600" progId="Equation.DSMT4">
                  <p:embed/>
                </p:oleObj>
              </mc:Choice>
              <mc:Fallback>
                <p:oleObj name="Equation" r:id="rId3" imgW="685800" imgH="22860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0563" y="3429000"/>
                        <a:ext cx="1681162" cy="560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9"/>
          <p:cNvGraphicFramePr>
            <a:graphicFrameLocks noChangeAspect="1"/>
          </p:cNvGraphicFramePr>
          <p:nvPr/>
        </p:nvGraphicFramePr>
        <p:xfrm>
          <a:off x="2301875" y="5715000"/>
          <a:ext cx="1681163" cy="560388"/>
        </p:xfrm>
        <a:graphic>
          <a:graphicData uri="http://schemas.openxmlformats.org/presentationml/2006/ole">
            <mc:AlternateContent xmlns:mc="http://schemas.openxmlformats.org/markup-compatibility/2006">
              <mc:Choice xmlns:v="urn:schemas-microsoft-com:vml" Requires="v">
                <p:oleObj spid="_x0000_s298008" name="Equation" r:id="rId5" imgW="685800" imgH="228600" progId="Equation.DSMT4">
                  <p:embed/>
                </p:oleObj>
              </mc:Choice>
              <mc:Fallback>
                <p:oleObj name="Equation" r:id="rId5" imgW="685800" imgH="2286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1875" y="5715000"/>
                        <a:ext cx="1681163" cy="560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8" name="Object 10"/>
          <p:cNvGraphicFramePr>
            <a:graphicFrameLocks noChangeAspect="1"/>
          </p:cNvGraphicFramePr>
          <p:nvPr/>
        </p:nvGraphicFramePr>
        <p:xfrm>
          <a:off x="5426075" y="5486400"/>
          <a:ext cx="1741488" cy="622300"/>
        </p:xfrm>
        <a:graphic>
          <a:graphicData uri="http://schemas.openxmlformats.org/presentationml/2006/ole">
            <mc:AlternateContent xmlns:mc="http://schemas.openxmlformats.org/markup-compatibility/2006">
              <mc:Choice xmlns:v="urn:schemas-microsoft-com:vml" Requires="v">
                <p:oleObj spid="_x0000_s298009" name="Equation" r:id="rId7" imgW="711000" imgH="253800" progId="Equation.DSMT4">
                  <p:embed/>
                </p:oleObj>
              </mc:Choice>
              <mc:Fallback>
                <p:oleObj name="Equation" r:id="rId7" imgW="711000" imgH="2538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26075" y="5486400"/>
                        <a:ext cx="1741488"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7" name="Rectangle 14"/>
          <p:cNvSpPr>
            <a:spLocks noChangeArrowheads="1"/>
          </p:cNvSpPr>
          <p:nvPr/>
        </p:nvSpPr>
        <p:spPr bwMode="auto">
          <a:xfrm>
            <a:off x="7772400" y="1143000"/>
            <a:ext cx="1257300" cy="461963"/>
          </a:xfrm>
          <a:prstGeom prst="rect">
            <a:avLst/>
          </a:prstGeom>
          <a:noFill/>
          <a:ln w="9525">
            <a:noFill/>
            <a:miter lim="800000"/>
            <a:headEnd/>
            <a:tailEnd/>
          </a:ln>
        </p:spPr>
        <p:txBody>
          <a:bodyPr wrap="none">
            <a:spAutoFit/>
          </a:bodyPr>
          <a:lstStyle/>
          <a:p>
            <a:r>
              <a:rPr lang="en-US"/>
              <a:t>DCOV</a:t>
            </a:r>
            <a:r>
              <a:rPr lang="en-US" u="sng">
                <a:solidFill>
                  <a:srgbClr val="FF0000"/>
                </a:solidFill>
              </a:rPr>
              <a:t>A</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5"/>
          <p:cNvSpPr>
            <a:spLocks noGrp="1" noChangeArrowheads="1"/>
          </p:cNvSpPr>
          <p:nvPr>
            <p:ph type="sldNum" sz="quarter" idx="10"/>
          </p:nvPr>
        </p:nvSpPr>
        <p:spPr>
          <a:ln/>
        </p:spPr>
        <p:txBody>
          <a:bodyPr/>
          <a:lstStyle/>
          <a:p>
            <a:pPr>
              <a:defRPr/>
            </a:pPr>
            <a:r>
              <a:rPr lang="en-US"/>
              <a:t>Chap 9-</a:t>
            </a:r>
            <a:fld id="{D665B9D8-B9ED-4E65-AA10-7A864CE87490}" type="slidenum">
              <a:rPr lang="en-US"/>
              <a:pPr>
                <a:defRPr/>
              </a:pPr>
              <a:t>5</a:t>
            </a:fld>
            <a:endParaRPr lang="en-US"/>
          </a:p>
        </p:txBody>
      </p:sp>
      <p:sp>
        <p:nvSpPr>
          <p:cNvPr id="9"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2051"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96D12D32-EE85-490D-84E8-24BD35FC196F}" type="slidenum">
              <a:rPr lang="en-US" sz="1000"/>
              <a:pPr algn="r" defTabSz="852488"/>
              <a:t>5</a:t>
            </a:fld>
            <a:endParaRPr lang="en-US" sz="1000"/>
          </a:p>
        </p:txBody>
      </p:sp>
      <p:sp>
        <p:nvSpPr>
          <p:cNvPr id="2052" name="Rectangle 2"/>
          <p:cNvSpPr>
            <a:spLocks noGrp="1" noChangeArrowheads="1"/>
          </p:cNvSpPr>
          <p:nvPr>
            <p:ph type="title" idx="4294967295"/>
          </p:nvPr>
        </p:nvSpPr>
        <p:spPr>
          <a:xfrm>
            <a:off x="685800" y="533400"/>
            <a:ext cx="7793038" cy="838200"/>
          </a:xfrm>
        </p:spPr>
        <p:txBody>
          <a:bodyPr/>
          <a:lstStyle/>
          <a:p>
            <a:pPr eaLnBrk="1" hangingPunct="1"/>
            <a:r>
              <a:rPr lang="id-ID" dirty="0" smtClean="0"/>
              <a:t>Hipotesis Nol</a:t>
            </a:r>
            <a:r>
              <a:rPr lang="en-US" dirty="0" smtClean="0"/>
              <a:t>, H</a:t>
            </a:r>
            <a:r>
              <a:rPr lang="en-US" baseline="-25000" dirty="0" smtClean="0"/>
              <a:t>0</a:t>
            </a:r>
          </a:p>
        </p:txBody>
      </p:sp>
      <p:sp>
        <p:nvSpPr>
          <p:cNvPr id="2053" name="Rectangle 3"/>
          <p:cNvSpPr>
            <a:spLocks noGrp="1" noChangeArrowheads="1"/>
          </p:cNvSpPr>
          <p:nvPr>
            <p:ph type="body" idx="4294967295"/>
          </p:nvPr>
        </p:nvSpPr>
        <p:spPr>
          <a:xfrm>
            <a:off x="762000" y="1752600"/>
            <a:ext cx="8077200" cy="4114800"/>
          </a:xfrm>
        </p:spPr>
        <p:txBody>
          <a:bodyPr/>
          <a:lstStyle/>
          <a:p>
            <a:pPr eaLnBrk="1" hangingPunct="1">
              <a:lnSpc>
                <a:spcPct val="90000"/>
              </a:lnSpc>
            </a:pPr>
            <a:r>
              <a:rPr lang="id-ID" sz="3100" dirty="0" smtClean="0"/>
              <a:t>Pengujian hipotesis selalu diawali dengan asumsi bahwa Ho benar.</a:t>
            </a:r>
            <a:endParaRPr lang="en-US" sz="3100" dirty="0" smtClean="0"/>
          </a:p>
          <a:p>
            <a:pPr lvl="1" eaLnBrk="1" hangingPunct="1">
              <a:lnSpc>
                <a:spcPct val="90000"/>
              </a:lnSpc>
            </a:pPr>
            <a:r>
              <a:rPr lang="id-ID" sz="3100" dirty="0" smtClean="0"/>
              <a:t> mirip seperti praduga tak bersalah dalam pengadilan</a:t>
            </a:r>
            <a:endParaRPr lang="en-US" sz="3100" dirty="0" smtClean="0"/>
          </a:p>
          <a:p>
            <a:pPr lvl="1" eaLnBrk="1" hangingPunct="1">
              <a:lnSpc>
                <a:spcPct val="90000"/>
              </a:lnSpc>
              <a:buNone/>
            </a:pPr>
            <a:endParaRPr lang="id-ID" sz="3100" dirty="0" smtClean="0"/>
          </a:p>
          <a:p>
            <a:pPr lvl="1" eaLnBrk="1" hangingPunct="1">
              <a:lnSpc>
                <a:spcPct val="90000"/>
              </a:lnSpc>
              <a:buNone/>
            </a:pPr>
            <a:endParaRPr lang="en-US" sz="3100" dirty="0" smtClean="0"/>
          </a:p>
          <a:p>
            <a:pPr eaLnBrk="1" hangingPunct="1">
              <a:lnSpc>
                <a:spcPct val="90000"/>
              </a:lnSpc>
            </a:pPr>
            <a:r>
              <a:rPr lang="id-ID" sz="3100" dirty="0" smtClean="0"/>
              <a:t>Menunjukkan status quo</a:t>
            </a:r>
            <a:endParaRPr lang="en-US" sz="3100" dirty="0" smtClean="0"/>
          </a:p>
          <a:p>
            <a:pPr eaLnBrk="1" hangingPunct="1">
              <a:lnSpc>
                <a:spcPct val="90000"/>
              </a:lnSpc>
            </a:pPr>
            <a:r>
              <a:rPr lang="id-ID" sz="3100" dirty="0" smtClean="0"/>
              <a:t>Selalu mengandung tanda </a:t>
            </a:r>
            <a:r>
              <a:rPr lang="en-US" sz="3100" dirty="0" smtClean="0"/>
              <a:t>“=“</a:t>
            </a:r>
            <a:r>
              <a:rPr lang="id-ID" sz="3100" dirty="0" smtClean="0"/>
              <a:t> sama dengan</a:t>
            </a:r>
            <a:endParaRPr lang="en-US" sz="3100" dirty="0" smtClean="0"/>
          </a:p>
          <a:p>
            <a:pPr eaLnBrk="1" hangingPunct="1">
              <a:lnSpc>
                <a:spcPct val="90000"/>
              </a:lnSpc>
            </a:pPr>
            <a:r>
              <a:rPr lang="id-ID" sz="3100" dirty="0" smtClean="0"/>
              <a:t>Diterima atau ditolak</a:t>
            </a:r>
            <a:endParaRPr lang="en-US" sz="3100" dirty="0" smtClean="0"/>
          </a:p>
        </p:txBody>
      </p:sp>
      <p:graphicFrame>
        <p:nvGraphicFramePr>
          <p:cNvPr id="2050" name="Object 4">
            <a:hlinkClick r:id="" action="ppaction://ole?verb=0"/>
          </p:cNvPr>
          <p:cNvGraphicFramePr>
            <a:graphicFrameLocks/>
          </p:cNvGraphicFramePr>
          <p:nvPr/>
        </p:nvGraphicFramePr>
        <p:xfrm>
          <a:off x="5181600" y="3276600"/>
          <a:ext cx="1066800" cy="914400"/>
        </p:xfrm>
        <a:graphic>
          <a:graphicData uri="http://schemas.openxmlformats.org/presentationml/2006/ole">
            <mc:AlternateContent xmlns:mc="http://schemas.openxmlformats.org/markup-compatibility/2006">
              <mc:Choice xmlns:v="urn:schemas-microsoft-com:vml" Requires="v">
                <p:oleObj spid="_x0000_s299017" name="Clip" r:id="rId4" imgW="1752480" imgH="1600200" progId="">
                  <p:embed/>
                </p:oleObj>
              </mc:Choice>
              <mc:Fallback>
                <p:oleObj name="Clip" r:id="rId4" imgW="1752480" imgH="1600200" progId="">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3276600"/>
                        <a:ext cx="1066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4" name="Text Box 5"/>
          <p:cNvSpPr txBox="1">
            <a:spLocks noChangeArrowheads="1"/>
          </p:cNvSpPr>
          <p:nvPr/>
        </p:nvSpPr>
        <p:spPr bwMode="auto">
          <a:xfrm>
            <a:off x="7593013" y="1223963"/>
            <a:ext cx="1454150" cy="396875"/>
          </a:xfrm>
          <a:prstGeom prst="rect">
            <a:avLst/>
          </a:prstGeom>
          <a:noFill/>
          <a:ln w="9525">
            <a:noFill/>
            <a:miter lim="800000"/>
            <a:headEnd/>
            <a:tailEnd/>
          </a:ln>
        </p:spPr>
        <p:txBody>
          <a:bodyPr wrap="none">
            <a:spAutoFit/>
          </a:bodyPr>
          <a:lstStyle/>
          <a:p>
            <a:r>
              <a:rPr lang="en-US" sz="2000" i="1">
                <a:solidFill>
                  <a:schemeClr val="tx2"/>
                </a:solidFill>
              </a:rPr>
              <a:t>(continued)</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10"/>
          </p:nvPr>
        </p:nvSpPr>
        <p:spPr>
          <a:ln/>
        </p:spPr>
        <p:txBody>
          <a:bodyPr/>
          <a:lstStyle/>
          <a:p>
            <a:pPr>
              <a:defRPr/>
            </a:pPr>
            <a:r>
              <a:rPr lang="en-US"/>
              <a:t>Chap 9-</a:t>
            </a:r>
            <a:fld id="{57E1D528-824C-493E-944D-3F293251CC48}" type="slidenum">
              <a:rPr lang="en-US"/>
              <a:pPr>
                <a:defRPr/>
              </a:pPr>
              <a:t>6</a:t>
            </a:fld>
            <a:endParaRPr lang="en-US"/>
          </a:p>
        </p:txBody>
      </p:sp>
      <p:sp>
        <p:nvSpPr>
          <p:cNvPr id="8"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23553"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8C854C0C-FEDC-4BE4-B0E1-5B399908795D}" type="slidenum">
              <a:rPr lang="en-US" sz="1000"/>
              <a:pPr algn="r" defTabSz="852488"/>
              <a:t>6</a:t>
            </a:fld>
            <a:endParaRPr lang="en-US" sz="1000"/>
          </a:p>
        </p:txBody>
      </p:sp>
      <p:sp>
        <p:nvSpPr>
          <p:cNvPr id="23554" name="Rectangle 2"/>
          <p:cNvSpPr>
            <a:spLocks noGrp="1" noChangeArrowheads="1"/>
          </p:cNvSpPr>
          <p:nvPr>
            <p:ph type="title" idx="4294967295"/>
          </p:nvPr>
        </p:nvSpPr>
        <p:spPr/>
        <p:txBody>
          <a:bodyPr/>
          <a:lstStyle/>
          <a:p>
            <a:pPr eaLnBrk="1" hangingPunct="1"/>
            <a:r>
              <a:rPr lang="id-ID" dirty="0" smtClean="0"/>
              <a:t>Hipotesis Alternatif</a:t>
            </a:r>
            <a:r>
              <a:rPr lang="en-US" dirty="0" smtClean="0"/>
              <a:t>, H</a:t>
            </a:r>
            <a:r>
              <a:rPr lang="en-US" baseline="-25000" dirty="0" smtClean="0"/>
              <a:t>1</a:t>
            </a:r>
          </a:p>
        </p:txBody>
      </p:sp>
      <p:sp>
        <p:nvSpPr>
          <p:cNvPr id="23555" name="Rectangle 3"/>
          <p:cNvSpPr>
            <a:spLocks noGrp="1" noChangeArrowheads="1"/>
          </p:cNvSpPr>
          <p:nvPr>
            <p:ph type="body" idx="4294967295"/>
          </p:nvPr>
        </p:nvSpPr>
        <p:spPr>
          <a:xfrm>
            <a:off x="1066800" y="1676400"/>
            <a:ext cx="7391400" cy="4532313"/>
          </a:xfrm>
        </p:spPr>
        <p:txBody>
          <a:bodyPr/>
          <a:lstStyle/>
          <a:p>
            <a:pPr eaLnBrk="1" hangingPunct="1"/>
            <a:r>
              <a:rPr lang="id-ID" dirty="0" smtClean="0"/>
              <a:t>Lawan hipotesis nol</a:t>
            </a:r>
            <a:endParaRPr lang="en-US" dirty="0" smtClean="0"/>
          </a:p>
          <a:p>
            <a:pPr lvl="1" eaLnBrk="1" hangingPunct="1"/>
            <a:r>
              <a:rPr lang="en-US" dirty="0" smtClean="0"/>
              <a:t>e.g., </a:t>
            </a:r>
            <a:r>
              <a:rPr lang="id-ID" dirty="0" smtClean="0"/>
              <a:t>rata2 berat ikan tuna sirip kuning </a:t>
            </a:r>
          </a:p>
          <a:p>
            <a:pPr lvl="1" eaLnBrk="1" hangingPunct="1">
              <a:buNone/>
            </a:pPr>
            <a:r>
              <a:rPr lang="id-ID" dirty="0" smtClean="0"/>
              <a:t>   </a:t>
            </a:r>
            <a:r>
              <a:rPr lang="en-US" dirty="0" smtClean="0"/>
              <a:t>( H</a:t>
            </a:r>
            <a:r>
              <a:rPr lang="en-US" baseline="-25000" dirty="0" smtClean="0"/>
              <a:t>1</a:t>
            </a:r>
            <a:r>
              <a:rPr lang="en-US" dirty="0" smtClean="0"/>
              <a:t>: </a:t>
            </a:r>
            <a:r>
              <a:rPr lang="el-GR" dirty="0" smtClean="0">
                <a:cs typeface="Arial" charset="0"/>
                <a:sym typeface="Symbol" pitchFamily="18" charset="2"/>
              </a:rPr>
              <a:t>μ</a:t>
            </a:r>
            <a:r>
              <a:rPr lang="en-US" dirty="0" smtClean="0">
                <a:sym typeface="Symbol" pitchFamily="18" charset="2"/>
              </a:rPr>
              <a:t> </a:t>
            </a:r>
            <a:r>
              <a:rPr lang="en-US" dirty="0" smtClean="0">
                <a:cs typeface="Arial" charset="0"/>
                <a:sym typeface="Symbol" pitchFamily="18" charset="2"/>
              </a:rPr>
              <a:t>≠</a:t>
            </a:r>
            <a:r>
              <a:rPr lang="en-US" dirty="0" smtClean="0">
                <a:sym typeface="Symbol" pitchFamily="18" charset="2"/>
              </a:rPr>
              <a:t> </a:t>
            </a:r>
            <a:r>
              <a:rPr lang="id-ID" dirty="0" smtClean="0">
                <a:sym typeface="Symbol" pitchFamily="18" charset="2"/>
              </a:rPr>
              <a:t>2.5</a:t>
            </a:r>
            <a:r>
              <a:rPr lang="en-US" dirty="0" smtClean="0">
                <a:sym typeface="Symbol" pitchFamily="18" charset="2"/>
              </a:rPr>
              <a:t> </a:t>
            </a:r>
            <a:r>
              <a:rPr lang="en-US" dirty="0" smtClean="0"/>
              <a:t>)</a:t>
            </a:r>
          </a:p>
          <a:p>
            <a:pPr eaLnBrk="1" hangingPunct="1"/>
            <a:r>
              <a:rPr lang="id-ID" dirty="0" smtClean="0"/>
              <a:t>“challenges” status quo</a:t>
            </a:r>
            <a:endParaRPr lang="en-US" dirty="0" smtClean="0"/>
          </a:p>
          <a:p>
            <a:pPr eaLnBrk="1" hangingPunct="1"/>
            <a:r>
              <a:rPr lang="id-ID" dirty="0" smtClean="0"/>
              <a:t>Hipotesis alternatif tidak pernah mengandung tanda “=“</a:t>
            </a:r>
            <a:endParaRPr lang="en-US" dirty="0" smtClean="0"/>
          </a:p>
          <a:p>
            <a:pPr eaLnBrk="1" hangingPunct="1"/>
            <a:r>
              <a:rPr lang="id-ID" dirty="0" smtClean="0"/>
              <a:t>Secara umum merupakan hipotesis yang coba dibuktikan oleh peneliti</a:t>
            </a:r>
            <a:endParaRPr lang="en-US" dirty="0" smtClean="0"/>
          </a:p>
        </p:txBody>
      </p:sp>
      <p:sp>
        <p:nvSpPr>
          <p:cNvPr id="23557" name="Rectangle 6"/>
          <p:cNvSpPr>
            <a:spLocks noChangeArrowheads="1"/>
          </p:cNvSpPr>
          <p:nvPr/>
        </p:nvSpPr>
        <p:spPr bwMode="auto">
          <a:xfrm>
            <a:off x="7772400" y="1143000"/>
            <a:ext cx="1257300" cy="461963"/>
          </a:xfrm>
          <a:prstGeom prst="rect">
            <a:avLst/>
          </a:prstGeom>
          <a:noFill/>
          <a:ln w="9525">
            <a:noFill/>
            <a:miter lim="800000"/>
            <a:headEnd/>
            <a:tailEnd/>
          </a:ln>
        </p:spPr>
        <p:txBody>
          <a:bodyPr wrap="none">
            <a:spAutoFit/>
          </a:bodyPr>
          <a:lstStyle/>
          <a:p>
            <a:r>
              <a:rPr lang="en-US"/>
              <a:t>DCOV</a:t>
            </a:r>
            <a:r>
              <a:rPr lang="en-US" u="sng">
                <a:solidFill>
                  <a:srgbClr val="FF0000"/>
                </a:solidFill>
              </a:rPr>
              <a:t>A</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5"/>
          <p:cNvSpPr>
            <a:spLocks noGrp="1" noChangeArrowheads="1"/>
          </p:cNvSpPr>
          <p:nvPr>
            <p:ph type="sldNum" sz="quarter" idx="10"/>
          </p:nvPr>
        </p:nvSpPr>
        <p:spPr>
          <a:ln/>
        </p:spPr>
        <p:txBody>
          <a:bodyPr/>
          <a:lstStyle/>
          <a:p>
            <a:pPr>
              <a:defRPr/>
            </a:pPr>
            <a:r>
              <a:rPr lang="en-US"/>
              <a:t>Chap 9-</a:t>
            </a:r>
            <a:fld id="{7E18FB1B-DD4F-4FF5-AE5C-2950F6EC5389}" type="slidenum">
              <a:rPr lang="en-US"/>
              <a:pPr>
                <a:defRPr/>
              </a:pPr>
              <a:t>7</a:t>
            </a:fld>
            <a:endParaRPr lang="en-US"/>
          </a:p>
        </p:txBody>
      </p:sp>
      <p:sp>
        <p:nvSpPr>
          <p:cNvPr id="35"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40961"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0BA7F507-FFD0-42A2-A6CE-1E1400834461}" type="slidenum">
              <a:rPr lang="en-US" sz="1000"/>
              <a:pPr algn="r" defTabSz="852488"/>
              <a:t>7</a:t>
            </a:fld>
            <a:endParaRPr lang="en-US" sz="1000"/>
          </a:p>
        </p:txBody>
      </p:sp>
      <p:sp>
        <p:nvSpPr>
          <p:cNvPr id="40962" name="Rectangle 4"/>
          <p:cNvSpPr>
            <a:spLocks noGrp="1" noChangeArrowheads="1"/>
          </p:cNvSpPr>
          <p:nvPr>
            <p:ph type="title" idx="4294967295"/>
          </p:nvPr>
        </p:nvSpPr>
        <p:spPr>
          <a:xfrm>
            <a:off x="990600" y="304800"/>
            <a:ext cx="7793038" cy="990600"/>
          </a:xfrm>
        </p:spPr>
        <p:txBody>
          <a:bodyPr/>
          <a:lstStyle/>
          <a:p>
            <a:pPr eaLnBrk="1" hangingPunct="1">
              <a:lnSpc>
                <a:spcPct val="80000"/>
              </a:lnSpc>
            </a:pPr>
            <a:r>
              <a:rPr lang="id-ID" dirty="0" smtClean="0"/>
              <a:t>Tingkat Signifikansi dan Daerah Penolakan</a:t>
            </a:r>
            <a:endParaRPr lang="en-US" dirty="0" smtClean="0"/>
          </a:p>
        </p:txBody>
      </p:sp>
      <p:grpSp>
        <p:nvGrpSpPr>
          <p:cNvPr id="2" name="Group 67"/>
          <p:cNvGrpSpPr>
            <a:grpSpLocks/>
          </p:cNvGrpSpPr>
          <p:nvPr/>
        </p:nvGrpSpPr>
        <p:grpSpPr bwMode="auto">
          <a:xfrm>
            <a:off x="4114800" y="1676400"/>
            <a:ext cx="3733800" cy="609600"/>
            <a:chOff x="288" y="3360"/>
            <a:chExt cx="2352" cy="384"/>
          </a:xfrm>
        </p:grpSpPr>
        <p:sp>
          <p:nvSpPr>
            <p:cNvPr id="40991" name="Rectangle 2"/>
            <p:cNvSpPr>
              <a:spLocks noChangeArrowheads="1"/>
            </p:cNvSpPr>
            <p:nvPr/>
          </p:nvSpPr>
          <p:spPr bwMode="auto">
            <a:xfrm>
              <a:off x="288" y="3360"/>
              <a:ext cx="2352" cy="384"/>
            </a:xfrm>
            <a:prstGeom prst="rect">
              <a:avLst/>
            </a:prstGeom>
            <a:solidFill>
              <a:srgbClr val="FDE0BD"/>
            </a:solidFill>
            <a:ln w="9525">
              <a:solidFill>
                <a:schemeClr val="tx1"/>
              </a:solidFill>
              <a:miter lim="800000"/>
              <a:headEnd/>
              <a:tailEnd/>
            </a:ln>
          </p:spPr>
          <p:txBody>
            <a:bodyPr wrap="none" anchor="ctr"/>
            <a:lstStyle/>
            <a:p>
              <a:endParaRPr lang="en-US"/>
            </a:p>
          </p:txBody>
        </p:sp>
        <p:sp>
          <p:nvSpPr>
            <p:cNvPr id="40992" name="Rectangle 22"/>
            <p:cNvSpPr>
              <a:spLocks noChangeArrowheads="1"/>
            </p:cNvSpPr>
            <p:nvPr/>
          </p:nvSpPr>
          <p:spPr bwMode="auto">
            <a:xfrm>
              <a:off x="288" y="3408"/>
              <a:ext cx="1916" cy="291"/>
            </a:xfrm>
            <a:prstGeom prst="rect">
              <a:avLst/>
            </a:prstGeom>
            <a:noFill/>
            <a:ln w="9525">
              <a:noFill/>
              <a:miter lim="800000"/>
              <a:headEnd/>
              <a:tailEnd/>
            </a:ln>
          </p:spPr>
          <p:txBody>
            <a:bodyPr wrap="none">
              <a:spAutoFit/>
            </a:bodyPr>
            <a:lstStyle/>
            <a:p>
              <a:r>
                <a:rPr lang="id-ID" sz="2400" dirty="0" smtClean="0"/>
                <a:t>Tingkat signifikansi</a:t>
              </a:r>
              <a:r>
                <a:rPr lang="en-US" sz="2400" dirty="0" smtClean="0"/>
                <a:t>= </a:t>
              </a:r>
              <a:endParaRPr lang="en-US" sz="2400" dirty="0"/>
            </a:p>
          </p:txBody>
        </p:sp>
        <p:sp>
          <p:nvSpPr>
            <p:cNvPr id="40993" name="Rectangle 23"/>
            <p:cNvSpPr>
              <a:spLocks noChangeArrowheads="1"/>
            </p:cNvSpPr>
            <p:nvPr/>
          </p:nvSpPr>
          <p:spPr bwMode="auto">
            <a:xfrm flipH="1">
              <a:off x="2064" y="3360"/>
              <a:ext cx="334" cy="328"/>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800" b="1" i="1" dirty="0">
                  <a:latin typeface="Symbol" pitchFamily="18" charset="2"/>
                </a:rPr>
                <a:t>a</a:t>
              </a:r>
            </a:p>
          </p:txBody>
        </p:sp>
      </p:grpSp>
      <p:sp>
        <p:nvSpPr>
          <p:cNvPr id="40964" name="Rectangle 48"/>
          <p:cNvSpPr>
            <a:spLocks noChangeArrowheads="1"/>
          </p:cNvSpPr>
          <p:nvPr/>
        </p:nvSpPr>
        <p:spPr bwMode="auto">
          <a:xfrm>
            <a:off x="457200" y="6019800"/>
            <a:ext cx="7848600" cy="396875"/>
          </a:xfrm>
          <a:prstGeom prst="rect">
            <a:avLst/>
          </a:prstGeom>
          <a:solidFill>
            <a:srgbClr val="FDE0BD"/>
          </a:solidFill>
          <a:ln w="9525">
            <a:noFill/>
            <a:miter lim="800000"/>
            <a:headEnd/>
            <a:tailEnd/>
          </a:ln>
        </p:spPr>
        <p:txBody>
          <a:bodyPr lIns="90488" tIns="44450" rIns="90488" bIns="44450">
            <a:spAutoFit/>
          </a:bodyPr>
          <a:lstStyle/>
          <a:p>
            <a:pPr algn="just" eaLnBrk="0" hangingPunct="0">
              <a:spcBef>
                <a:spcPct val="50000"/>
              </a:spcBef>
            </a:pPr>
            <a:r>
              <a:rPr lang="id-ID" sz="2000" dirty="0" smtClean="0"/>
              <a:t>Uji ini adalah uji dua arah karena terdapat dua daerah penolakan</a:t>
            </a:r>
            <a:endParaRPr lang="en-US" sz="2000" dirty="0"/>
          </a:p>
        </p:txBody>
      </p:sp>
      <p:sp>
        <p:nvSpPr>
          <p:cNvPr id="40965" name="Rectangle 65"/>
          <p:cNvSpPr>
            <a:spLocks noChangeArrowheads="1"/>
          </p:cNvSpPr>
          <p:nvPr/>
        </p:nvSpPr>
        <p:spPr bwMode="auto">
          <a:xfrm>
            <a:off x="990600" y="1524000"/>
            <a:ext cx="1981200" cy="1055417"/>
          </a:xfrm>
          <a:prstGeom prst="rect">
            <a:avLst/>
          </a:prstGeom>
          <a:solidFill>
            <a:srgbClr val="FDE0BD"/>
          </a:solidFill>
          <a:ln w="9525">
            <a:noFill/>
            <a:miter lim="800000"/>
            <a:headEnd/>
            <a:tailEnd/>
          </a:ln>
        </p:spPr>
        <p:txBody>
          <a:bodyPr lIns="90488" tIns="44450" rIns="90488" bIns="44450">
            <a:spAutoFit/>
          </a:bodyPr>
          <a:lstStyle/>
          <a:p>
            <a:pPr eaLnBrk="0" hangingPunct="0">
              <a:lnSpc>
                <a:spcPct val="110000"/>
              </a:lnSpc>
              <a:spcBef>
                <a:spcPct val="50000"/>
              </a:spcBef>
            </a:pPr>
            <a:r>
              <a:rPr lang="en-US" dirty="0"/>
              <a:t>H</a:t>
            </a:r>
            <a:r>
              <a:rPr lang="en-US" baseline="-25000" dirty="0"/>
              <a:t>0</a:t>
            </a:r>
            <a:r>
              <a:rPr lang="en-US" dirty="0"/>
              <a:t>: </a:t>
            </a:r>
            <a:r>
              <a:rPr lang="el-GR" sz="2400" dirty="0"/>
              <a:t>μ</a:t>
            </a:r>
            <a:r>
              <a:rPr lang="en-US" dirty="0"/>
              <a:t> = 30    </a:t>
            </a:r>
            <a:endParaRPr lang="id-ID" dirty="0" smtClean="0"/>
          </a:p>
          <a:p>
            <a:pPr eaLnBrk="0" hangingPunct="0">
              <a:lnSpc>
                <a:spcPct val="110000"/>
              </a:lnSpc>
              <a:spcBef>
                <a:spcPct val="50000"/>
              </a:spcBef>
            </a:pPr>
            <a:r>
              <a:rPr lang="en-US" dirty="0" smtClean="0"/>
              <a:t>H</a:t>
            </a:r>
            <a:r>
              <a:rPr lang="en-US" baseline="-25000" dirty="0" smtClean="0"/>
              <a:t>1</a:t>
            </a:r>
            <a:r>
              <a:rPr lang="en-US" dirty="0"/>
              <a:t>: </a:t>
            </a:r>
            <a:r>
              <a:rPr lang="el-GR" sz="2400" dirty="0"/>
              <a:t>μ</a:t>
            </a:r>
            <a:r>
              <a:rPr lang="en-US" dirty="0"/>
              <a:t> </a:t>
            </a:r>
            <a:r>
              <a:rPr lang="en-US" dirty="0">
                <a:cs typeface="Arial" charset="0"/>
              </a:rPr>
              <a:t>≠</a:t>
            </a:r>
            <a:r>
              <a:rPr lang="en-US" dirty="0"/>
              <a:t> 30</a:t>
            </a:r>
          </a:p>
        </p:txBody>
      </p:sp>
      <p:grpSp>
        <p:nvGrpSpPr>
          <p:cNvPr id="3" name="Group 74"/>
          <p:cNvGrpSpPr>
            <a:grpSpLocks/>
          </p:cNvGrpSpPr>
          <p:nvPr/>
        </p:nvGrpSpPr>
        <p:grpSpPr bwMode="auto">
          <a:xfrm>
            <a:off x="1828800" y="2590800"/>
            <a:ext cx="5257800" cy="3371850"/>
            <a:chOff x="1200" y="1872"/>
            <a:chExt cx="3312" cy="2124"/>
          </a:xfrm>
        </p:grpSpPr>
        <p:sp>
          <p:nvSpPr>
            <p:cNvPr id="40969" name="Rectangle 18"/>
            <p:cNvSpPr>
              <a:spLocks noChangeArrowheads="1"/>
            </p:cNvSpPr>
            <p:nvPr/>
          </p:nvSpPr>
          <p:spPr bwMode="auto">
            <a:xfrm>
              <a:off x="2160" y="3120"/>
              <a:ext cx="1296" cy="248"/>
            </a:xfrm>
            <a:prstGeom prst="rect">
              <a:avLst/>
            </a:prstGeom>
            <a:solidFill>
              <a:srgbClr val="C7DAF7"/>
            </a:solidFill>
            <a:ln w="9525">
              <a:noFill/>
              <a:miter lim="800000"/>
              <a:headEnd/>
              <a:tailEnd/>
            </a:ln>
          </p:spPr>
          <p:txBody>
            <a:bodyPr lIns="90488" tIns="44450" rIns="90488" bIns="44450">
              <a:spAutoFit/>
            </a:bodyPr>
            <a:lstStyle/>
            <a:p>
              <a:pPr algn="ctr" eaLnBrk="0" hangingPunct="0">
                <a:spcBef>
                  <a:spcPct val="50000"/>
                </a:spcBef>
              </a:pPr>
              <a:r>
                <a:rPr lang="id-ID" sz="2000" b="1" dirty="0" smtClean="0"/>
                <a:t>Titik Kritis</a:t>
              </a:r>
              <a:endParaRPr lang="en-US" sz="2000" b="1" dirty="0"/>
            </a:p>
          </p:txBody>
        </p:sp>
        <p:sp>
          <p:nvSpPr>
            <p:cNvPr id="40970" name="Rectangle 49"/>
            <p:cNvSpPr>
              <a:spLocks noChangeArrowheads="1"/>
            </p:cNvSpPr>
            <p:nvPr/>
          </p:nvSpPr>
          <p:spPr bwMode="auto">
            <a:xfrm>
              <a:off x="2112" y="3552"/>
              <a:ext cx="1440" cy="444"/>
            </a:xfrm>
            <a:prstGeom prst="rect">
              <a:avLst/>
            </a:prstGeom>
            <a:solidFill>
              <a:srgbClr val="C7DAF7"/>
            </a:solidFill>
            <a:ln w="9525">
              <a:noFill/>
              <a:miter lim="800000"/>
              <a:headEnd/>
              <a:tailEnd/>
            </a:ln>
          </p:spPr>
          <p:txBody>
            <a:bodyPr lIns="90488" tIns="44450" rIns="90488" bIns="44450">
              <a:spAutoFit/>
            </a:bodyPr>
            <a:lstStyle/>
            <a:p>
              <a:pPr algn="ctr" eaLnBrk="0" hangingPunct="0">
                <a:spcBef>
                  <a:spcPct val="50000"/>
                </a:spcBef>
              </a:pPr>
              <a:r>
                <a:rPr lang="id-ID" sz="2000" b="1" dirty="0" smtClean="0"/>
                <a:t>Daerah Penolakan</a:t>
              </a:r>
              <a:endParaRPr lang="en-US" sz="2000" b="1" dirty="0"/>
            </a:p>
          </p:txBody>
        </p:sp>
        <p:grpSp>
          <p:nvGrpSpPr>
            <p:cNvPr id="4" name="Group 69"/>
            <p:cNvGrpSpPr>
              <a:grpSpLocks/>
            </p:cNvGrpSpPr>
            <p:nvPr/>
          </p:nvGrpSpPr>
          <p:grpSpPr bwMode="auto">
            <a:xfrm>
              <a:off x="1200" y="1872"/>
              <a:ext cx="3312" cy="1114"/>
              <a:chOff x="1200" y="1872"/>
              <a:chExt cx="3312" cy="1114"/>
            </a:xfrm>
          </p:grpSpPr>
          <p:sp>
            <p:nvSpPr>
              <p:cNvPr id="40976" name="Freeform 50"/>
              <p:cNvSpPr>
                <a:spLocks/>
              </p:cNvSpPr>
              <p:nvPr/>
            </p:nvSpPr>
            <p:spPr bwMode="auto">
              <a:xfrm>
                <a:off x="3455" y="2510"/>
                <a:ext cx="705" cy="279"/>
              </a:xfrm>
              <a:custGeom>
                <a:avLst/>
                <a:gdLst>
                  <a:gd name="T0" fmla="*/ 1520 w 480"/>
                  <a:gd name="T1" fmla="*/ 554 h 192"/>
                  <a:gd name="T2" fmla="*/ 1370 w 480"/>
                  <a:gd name="T3" fmla="*/ 424 h 192"/>
                  <a:gd name="T4" fmla="*/ 737 w 480"/>
                  <a:gd name="T5" fmla="*/ 323 h 192"/>
                  <a:gd name="T6" fmla="*/ 424 w 480"/>
                  <a:gd name="T7" fmla="*/ 222 h 192"/>
                  <a:gd name="T8" fmla="*/ 69 w 480"/>
                  <a:gd name="T9" fmla="*/ 9 h 192"/>
                  <a:gd name="T10" fmla="*/ 0 w 480"/>
                  <a:gd name="T11" fmla="*/ 0 h 192"/>
                  <a:gd name="T12" fmla="*/ 38 w 480"/>
                  <a:gd name="T13" fmla="*/ 589 h 192"/>
                  <a:gd name="T14" fmla="*/ 1520 w 480"/>
                  <a:gd name="T15" fmla="*/ 568 h 192"/>
                  <a:gd name="T16" fmla="*/ 1520 w 480"/>
                  <a:gd name="T17" fmla="*/ 554 h 19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80"/>
                  <a:gd name="T28" fmla="*/ 0 h 192"/>
                  <a:gd name="T29" fmla="*/ 480 w 480"/>
                  <a:gd name="T30" fmla="*/ 192 h 19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80" h="192">
                    <a:moveTo>
                      <a:pt x="480" y="180"/>
                    </a:moveTo>
                    <a:lnTo>
                      <a:pt x="432" y="138"/>
                    </a:lnTo>
                    <a:lnTo>
                      <a:pt x="233" y="105"/>
                    </a:lnTo>
                    <a:lnTo>
                      <a:pt x="134" y="72"/>
                    </a:lnTo>
                    <a:lnTo>
                      <a:pt x="22" y="3"/>
                    </a:lnTo>
                    <a:lnTo>
                      <a:pt x="0" y="0"/>
                    </a:lnTo>
                    <a:lnTo>
                      <a:pt x="12" y="192"/>
                    </a:lnTo>
                    <a:lnTo>
                      <a:pt x="480" y="185"/>
                    </a:lnTo>
                    <a:lnTo>
                      <a:pt x="480" y="180"/>
                    </a:lnTo>
                  </a:path>
                </a:pathLst>
              </a:custGeom>
              <a:solidFill>
                <a:srgbClr val="C3DBFF"/>
              </a:solidFill>
              <a:ln w="12700" cap="rnd">
                <a:noFill/>
                <a:round/>
                <a:headEnd type="none" w="sm" len="sm"/>
                <a:tailEnd type="none" w="sm" len="sm"/>
              </a:ln>
            </p:spPr>
            <p:txBody>
              <a:bodyPr/>
              <a:lstStyle/>
              <a:p>
                <a:endParaRPr lang="en-US"/>
              </a:p>
            </p:txBody>
          </p:sp>
          <p:sp>
            <p:nvSpPr>
              <p:cNvPr id="40977" name="Rectangle 51"/>
              <p:cNvSpPr>
                <a:spLocks noChangeArrowheads="1"/>
              </p:cNvSpPr>
              <p:nvPr/>
            </p:nvSpPr>
            <p:spPr bwMode="auto">
              <a:xfrm>
                <a:off x="3873" y="1945"/>
                <a:ext cx="639" cy="287"/>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400"/>
                  <a:t> /2</a:t>
                </a:r>
              </a:p>
            </p:txBody>
          </p:sp>
          <p:sp>
            <p:nvSpPr>
              <p:cNvPr id="40978" name="Freeform 52"/>
              <p:cNvSpPr>
                <a:spLocks/>
              </p:cNvSpPr>
              <p:nvPr/>
            </p:nvSpPr>
            <p:spPr bwMode="auto">
              <a:xfrm>
                <a:off x="1341" y="2501"/>
                <a:ext cx="696" cy="278"/>
              </a:xfrm>
              <a:custGeom>
                <a:avLst/>
                <a:gdLst>
                  <a:gd name="T0" fmla="*/ 0 w 474"/>
                  <a:gd name="T1" fmla="*/ 573 h 191"/>
                  <a:gd name="T2" fmla="*/ 151 w 474"/>
                  <a:gd name="T3" fmla="*/ 445 h 191"/>
                  <a:gd name="T4" fmla="*/ 778 w 474"/>
                  <a:gd name="T5" fmla="*/ 343 h 191"/>
                  <a:gd name="T6" fmla="*/ 1092 w 474"/>
                  <a:gd name="T7" fmla="*/ 242 h 191"/>
                  <a:gd name="T8" fmla="*/ 1445 w 474"/>
                  <a:gd name="T9" fmla="*/ 28 h 191"/>
                  <a:gd name="T10" fmla="*/ 1501 w 474"/>
                  <a:gd name="T11" fmla="*/ 0 h 191"/>
                  <a:gd name="T12" fmla="*/ 1482 w 474"/>
                  <a:gd name="T13" fmla="*/ 573 h 191"/>
                  <a:gd name="T14" fmla="*/ 0 w 474"/>
                  <a:gd name="T15" fmla="*/ 589 h 191"/>
                  <a:gd name="T16" fmla="*/ 0 w 474"/>
                  <a:gd name="T17" fmla="*/ 573 h 19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74"/>
                  <a:gd name="T28" fmla="*/ 0 h 191"/>
                  <a:gd name="T29" fmla="*/ 474 w 474"/>
                  <a:gd name="T30" fmla="*/ 191 h 19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74" h="191">
                    <a:moveTo>
                      <a:pt x="0" y="186"/>
                    </a:moveTo>
                    <a:lnTo>
                      <a:pt x="48" y="144"/>
                    </a:lnTo>
                    <a:lnTo>
                      <a:pt x="246" y="111"/>
                    </a:lnTo>
                    <a:lnTo>
                      <a:pt x="345" y="78"/>
                    </a:lnTo>
                    <a:lnTo>
                      <a:pt x="456" y="9"/>
                    </a:lnTo>
                    <a:lnTo>
                      <a:pt x="474" y="0"/>
                    </a:lnTo>
                    <a:lnTo>
                      <a:pt x="468" y="186"/>
                    </a:lnTo>
                    <a:lnTo>
                      <a:pt x="0" y="191"/>
                    </a:lnTo>
                    <a:lnTo>
                      <a:pt x="0" y="186"/>
                    </a:lnTo>
                  </a:path>
                </a:pathLst>
              </a:custGeom>
              <a:solidFill>
                <a:srgbClr val="C3DBFF"/>
              </a:solidFill>
              <a:ln w="12700" cap="rnd">
                <a:noFill/>
                <a:round/>
                <a:headEnd type="none" w="sm" len="sm"/>
                <a:tailEnd type="none" w="sm" len="sm"/>
              </a:ln>
            </p:spPr>
            <p:txBody>
              <a:bodyPr/>
              <a:lstStyle/>
              <a:p>
                <a:endParaRPr lang="en-US"/>
              </a:p>
            </p:txBody>
          </p:sp>
          <p:sp>
            <p:nvSpPr>
              <p:cNvPr id="40979" name="Freeform 53"/>
              <p:cNvSpPr>
                <a:spLocks/>
              </p:cNvSpPr>
              <p:nvPr/>
            </p:nvSpPr>
            <p:spPr bwMode="auto">
              <a:xfrm>
                <a:off x="1411" y="1872"/>
                <a:ext cx="1339" cy="839"/>
              </a:xfrm>
              <a:custGeom>
                <a:avLst/>
                <a:gdLst>
                  <a:gd name="T0" fmla="*/ 0 w 600"/>
                  <a:gd name="T1" fmla="*/ 1779 h 576"/>
                  <a:gd name="T2" fmla="*/ 703 w 600"/>
                  <a:gd name="T3" fmla="*/ 1761 h 576"/>
                  <a:gd name="T4" fmla="*/ 1056 w 600"/>
                  <a:gd name="T5" fmla="*/ 1738 h 576"/>
                  <a:gd name="T6" fmla="*/ 1410 w 600"/>
                  <a:gd name="T7" fmla="*/ 1709 h 576"/>
                  <a:gd name="T8" fmla="*/ 1759 w 600"/>
                  <a:gd name="T9" fmla="*/ 1669 h 576"/>
                  <a:gd name="T10" fmla="*/ 2111 w 600"/>
                  <a:gd name="T11" fmla="*/ 1611 h 576"/>
                  <a:gd name="T12" fmla="*/ 2466 w 600"/>
                  <a:gd name="T13" fmla="*/ 1538 h 576"/>
                  <a:gd name="T14" fmla="*/ 3158 w 600"/>
                  <a:gd name="T15" fmla="*/ 1334 h 576"/>
                  <a:gd name="T16" fmla="*/ 3854 w 600"/>
                  <a:gd name="T17" fmla="*/ 1044 h 576"/>
                  <a:gd name="T18" fmla="*/ 4557 w 600"/>
                  <a:gd name="T19" fmla="*/ 692 h 576"/>
                  <a:gd name="T20" fmla="*/ 4901 w 600"/>
                  <a:gd name="T21" fmla="*/ 516 h 576"/>
                  <a:gd name="T22" fmla="*/ 5260 w 600"/>
                  <a:gd name="T23" fmla="*/ 352 h 576"/>
                  <a:gd name="T24" fmla="*/ 5613 w 600"/>
                  <a:gd name="T25" fmla="*/ 208 h 576"/>
                  <a:gd name="T26" fmla="*/ 5947 w 600"/>
                  <a:gd name="T27" fmla="*/ 96 h 576"/>
                  <a:gd name="T28" fmla="*/ 6300 w 600"/>
                  <a:gd name="T29" fmla="*/ 25 h 576"/>
                  <a:gd name="T30" fmla="*/ 6659 w 600"/>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0"/>
                  <a:gd name="T49" fmla="*/ 0 h 576"/>
                  <a:gd name="T50" fmla="*/ 600 w 600"/>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0" h="576">
                    <a:moveTo>
                      <a:pt x="0" y="575"/>
                    </a:moveTo>
                    <a:lnTo>
                      <a:pt x="63" y="570"/>
                    </a:lnTo>
                    <a:lnTo>
                      <a:pt x="95" y="562"/>
                    </a:lnTo>
                    <a:lnTo>
                      <a:pt x="127" y="553"/>
                    </a:lnTo>
                    <a:lnTo>
                      <a:pt x="158" y="540"/>
                    </a:lnTo>
                    <a:lnTo>
                      <a:pt x="190" y="521"/>
                    </a:lnTo>
                    <a:lnTo>
                      <a:pt x="222" y="498"/>
                    </a:lnTo>
                    <a:lnTo>
                      <a:pt x="284" y="432"/>
                    </a:lnTo>
                    <a:lnTo>
                      <a:pt x="347" y="338"/>
                    </a:lnTo>
                    <a:lnTo>
                      <a:pt x="410" y="224"/>
                    </a:lnTo>
                    <a:lnTo>
                      <a:pt x="441" y="167"/>
                    </a:lnTo>
                    <a:lnTo>
                      <a:pt x="473" y="114"/>
                    </a:lnTo>
                    <a:lnTo>
                      <a:pt x="505" y="67"/>
                    </a:lnTo>
                    <a:lnTo>
                      <a:pt x="535" y="31"/>
                    </a:lnTo>
                    <a:lnTo>
                      <a:pt x="567" y="8"/>
                    </a:lnTo>
                    <a:lnTo>
                      <a:pt x="599" y="0"/>
                    </a:lnTo>
                  </a:path>
                </a:pathLst>
              </a:custGeom>
              <a:noFill/>
              <a:ln w="50800" cap="rnd">
                <a:solidFill>
                  <a:srgbClr val="FF0000"/>
                </a:solidFill>
                <a:round/>
                <a:headEnd type="none" w="sm" len="sm"/>
                <a:tailEnd type="none" w="sm" len="sm"/>
              </a:ln>
            </p:spPr>
            <p:txBody>
              <a:bodyPr/>
              <a:lstStyle/>
              <a:p>
                <a:endParaRPr lang="en-US"/>
              </a:p>
            </p:txBody>
          </p:sp>
          <p:sp>
            <p:nvSpPr>
              <p:cNvPr id="40980" name="Freeform 54"/>
              <p:cNvSpPr>
                <a:spLocks/>
              </p:cNvSpPr>
              <p:nvPr/>
            </p:nvSpPr>
            <p:spPr bwMode="auto">
              <a:xfrm>
                <a:off x="2750" y="1872"/>
                <a:ext cx="1339" cy="839"/>
              </a:xfrm>
              <a:custGeom>
                <a:avLst/>
                <a:gdLst>
                  <a:gd name="T0" fmla="*/ 7225 w 576"/>
                  <a:gd name="T1" fmla="*/ 1779 h 576"/>
                  <a:gd name="T2" fmla="*/ 6470 w 576"/>
                  <a:gd name="T3" fmla="*/ 1761 h 576"/>
                  <a:gd name="T4" fmla="*/ 6079 w 576"/>
                  <a:gd name="T5" fmla="*/ 1738 h 576"/>
                  <a:gd name="T6" fmla="*/ 5716 w 576"/>
                  <a:gd name="T7" fmla="*/ 1709 h 576"/>
                  <a:gd name="T8" fmla="*/ 5328 w 576"/>
                  <a:gd name="T9" fmla="*/ 1669 h 576"/>
                  <a:gd name="T10" fmla="*/ 4940 w 576"/>
                  <a:gd name="T11" fmla="*/ 1611 h 576"/>
                  <a:gd name="T12" fmla="*/ 4573 w 576"/>
                  <a:gd name="T13" fmla="*/ 1538 h 576"/>
                  <a:gd name="T14" fmla="*/ 3805 w 576"/>
                  <a:gd name="T15" fmla="*/ 1334 h 576"/>
                  <a:gd name="T16" fmla="*/ 3043 w 576"/>
                  <a:gd name="T17" fmla="*/ 1044 h 576"/>
                  <a:gd name="T18" fmla="*/ 2285 w 576"/>
                  <a:gd name="T19" fmla="*/ 692 h 576"/>
                  <a:gd name="T20" fmla="*/ 1897 w 576"/>
                  <a:gd name="T21" fmla="*/ 516 h 576"/>
                  <a:gd name="T22" fmla="*/ 1509 w 576"/>
                  <a:gd name="T23" fmla="*/ 352 h 576"/>
                  <a:gd name="T24" fmla="*/ 1146 w 576"/>
                  <a:gd name="T25" fmla="*/ 208 h 576"/>
                  <a:gd name="T26" fmla="*/ 751 w 576"/>
                  <a:gd name="T27" fmla="*/ 96 h 576"/>
                  <a:gd name="T28" fmla="*/ 379 w 576"/>
                  <a:gd name="T29" fmla="*/ 25 h 576"/>
                  <a:gd name="T30" fmla="*/ 0 w 576"/>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6"/>
                  <a:gd name="T49" fmla="*/ 0 h 576"/>
                  <a:gd name="T50" fmla="*/ 576 w 576"/>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6" h="576">
                    <a:moveTo>
                      <a:pt x="575" y="575"/>
                    </a:moveTo>
                    <a:lnTo>
                      <a:pt x="515" y="570"/>
                    </a:lnTo>
                    <a:lnTo>
                      <a:pt x="484" y="562"/>
                    </a:lnTo>
                    <a:lnTo>
                      <a:pt x="455" y="553"/>
                    </a:lnTo>
                    <a:lnTo>
                      <a:pt x="424" y="540"/>
                    </a:lnTo>
                    <a:lnTo>
                      <a:pt x="393" y="521"/>
                    </a:lnTo>
                    <a:lnTo>
                      <a:pt x="364" y="498"/>
                    </a:lnTo>
                    <a:lnTo>
                      <a:pt x="303" y="432"/>
                    </a:lnTo>
                    <a:lnTo>
                      <a:pt x="242" y="338"/>
                    </a:lnTo>
                    <a:lnTo>
                      <a:pt x="182" y="224"/>
                    </a:lnTo>
                    <a:lnTo>
                      <a:pt x="151" y="167"/>
                    </a:lnTo>
                    <a:lnTo>
                      <a:pt x="120" y="114"/>
                    </a:lnTo>
                    <a:lnTo>
                      <a:pt x="91" y="67"/>
                    </a:lnTo>
                    <a:lnTo>
                      <a:pt x="60" y="31"/>
                    </a:lnTo>
                    <a:lnTo>
                      <a:pt x="30" y="8"/>
                    </a:lnTo>
                    <a:lnTo>
                      <a:pt x="0" y="0"/>
                    </a:lnTo>
                  </a:path>
                </a:pathLst>
              </a:custGeom>
              <a:noFill/>
              <a:ln w="50800" cap="rnd">
                <a:solidFill>
                  <a:srgbClr val="FF0000"/>
                </a:solidFill>
                <a:round/>
                <a:headEnd type="none" w="sm" len="sm"/>
                <a:tailEnd type="none" w="sm" len="sm"/>
              </a:ln>
            </p:spPr>
            <p:txBody>
              <a:bodyPr/>
              <a:lstStyle/>
              <a:p>
                <a:endParaRPr lang="en-US"/>
              </a:p>
            </p:txBody>
          </p:sp>
          <p:sp>
            <p:nvSpPr>
              <p:cNvPr id="40981" name="Line 55"/>
              <p:cNvSpPr>
                <a:spLocks noChangeShapeType="1"/>
              </p:cNvSpPr>
              <p:nvPr/>
            </p:nvSpPr>
            <p:spPr bwMode="auto">
              <a:xfrm>
                <a:off x="1341" y="2780"/>
                <a:ext cx="2819" cy="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40982" name="Rectangle 56"/>
              <p:cNvSpPr>
                <a:spLocks noChangeArrowheads="1"/>
              </p:cNvSpPr>
              <p:nvPr/>
            </p:nvSpPr>
            <p:spPr bwMode="auto">
              <a:xfrm>
                <a:off x="2640" y="2736"/>
                <a:ext cx="336" cy="25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000" b="1"/>
                  <a:t>30</a:t>
                </a:r>
              </a:p>
            </p:txBody>
          </p:sp>
          <p:sp>
            <p:nvSpPr>
              <p:cNvPr id="40983" name="Freeform 57"/>
              <p:cNvSpPr>
                <a:spLocks/>
              </p:cNvSpPr>
              <p:nvPr/>
            </p:nvSpPr>
            <p:spPr bwMode="auto">
              <a:xfrm>
                <a:off x="1905" y="2641"/>
                <a:ext cx="283" cy="281"/>
              </a:xfrm>
              <a:custGeom>
                <a:avLst/>
                <a:gdLst>
                  <a:gd name="T0" fmla="*/ 607 w 193"/>
                  <a:gd name="T1" fmla="*/ 297 h 193"/>
                  <a:gd name="T2" fmla="*/ 356 w 193"/>
                  <a:gd name="T3" fmla="*/ 243 h 193"/>
                  <a:gd name="T4" fmla="*/ 304 w 193"/>
                  <a:gd name="T5" fmla="*/ 0 h 193"/>
                  <a:gd name="T6" fmla="*/ 249 w 193"/>
                  <a:gd name="T7" fmla="*/ 243 h 193"/>
                  <a:gd name="T8" fmla="*/ 0 w 193"/>
                  <a:gd name="T9" fmla="*/ 297 h 193"/>
                  <a:gd name="T10" fmla="*/ 249 w 193"/>
                  <a:gd name="T11" fmla="*/ 349 h 193"/>
                  <a:gd name="T12" fmla="*/ 304 w 193"/>
                  <a:gd name="T13" fmla="*/ 594 h 193"/>
                  <a:gd name="T14" fmla="*/ 356 w 193"/>
                  <a:gd name="T15" fmla="*/ 349 h 193"/>
                  <a:gd name="T16" fmla="*/ 607 w 193"/>
                  <a:gd name="T17" fmla="*/ 297 h 19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
                  <a:gd name="T28" fmla="*/ 0 h 193"/>
                  <a:gd name="T29" fmla="*/ 193 w 193"/>
                  <a:gd name="T30" fmla="*/ 193 h 19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 h="193">
                    <a:moveTo>
                      <a:pt x="192" y="96"/>
                    </a:moveTo>
                    <a:lnTo>
                      <a:pt x="113" y="79"/>
                    </a:lnTo>
                    <a:lnTo>
                      <a:pt x="96" y="0"/>
                    </a:lnTo>
                    <a:lnTo>
                      <a:pt x="79" y="79"/>
                    </a:lnTo>
                    <a:lnTo>
                      <a:pt x="0" y="96"/>
                    </a:lnTo>
                    <a:lnTo>
                      <a:pt x="79" y="113"/>
                    </a:lnTo>
                    <a:lnTo>
                      <a:pt x="96" y="192"/>
                    </a:lnTo>
                    <a:lnTo>
                      <a:pt x="113" y="113"/>
                    </a:lnTo>
                    <a:lnTo>
                      <a:pt x="192" y="96"/>
                    </a:lnTo>
                  </a:path>
                </a:pathLst>
              </a:custGeom>
              <a:solidFill>
                <a:srgbClr val="F8F800"/>
              </a:solidFill>
              <a:ln w="12700" cap="rnd">
                <a:solidFill>
                  <a:schemeClr val="tx1"/>
                </a:solidFill>
                <a:round/>
                <a:headEnd type="none" w="sm" len="sm"/>
                <a:tailEnd type="none" w="sm" len="sm"/>
              </a:ln>
            </p:spPr>
            <p:txBody>
              <a:bodyPr/>
              <a:lstStyle/>
              <a:p>
                <a:endParaRPr lang="en-US"/>
              </a:p>
            </p:txBody>
          </p:sp>
          <p:sp>
            <p:nvSpPr>
              <p:cNvPr id="40984" name="Line 58"/>
              <p:cNvSpPr>
                <a:spLocks noChangeShapeType="1"/>
              </p:cNvSpPr>
              <p:nvPr/>
            </p:nvSpPr>
            <p:spPr bwMode="auto">
              <a:xfrm>
                <a:off x="2750" y="1872"/>
                <a:ext cx="0" cy="908"/>
              </a:xfrm>
              <a:prstGeom prst="line">
                <a:avLst/>
              </a:prstGeom>
              <a:noFill/>
              <a:ln w="9525" cap="rnd">
                <a:solidFill>
                  <a:schemeClr val="tx1"/>
                </a:solidFill>
                <a:prstDash val="sysDot"/>
                <a:miter lim="800000"/>
                <a:headEnd/>
                <a:tailEnd/>
              </a:ln>
            </p:spPr>
            <p:txBody>
              <a:bodyPr wrap="none"/>
              <a:lstStyle/>
              <a:p>
                <a:endParaRPr lang="en-US"/>
              </a:p>
            </p:txBody>
          </p:sp>
          <p:sp>
            <p:nvSpPr>
              <p:cNvPr id="40985" name="Freeform 59"/>
              <p:cNvSpPr>
                <a:spLocks/>
              </p:cNvSpPr>
              <p:nvPr/>
            </p:nvSpPr>
            <p:spPr bwMode="auto">
              <a:xfrm>
                <a:off x="3313" y="2641"/>
                <a:ext cx="283" cy="281"/>
              </a:xfrm>
              <a:custGeom>
                <a:avLst/>
                <a:gdLst>
                  <a:gd name="T0" fmla="*/ 607 w 193"/>
                  <a:gd name="T1" fmla="*/ 297 h 193"/>
                  <a:gd name="T2" fmla="*/ 356 w 193"/>
                  <a:gd name="T3" fmla="*/ 243 h 193"/>
                  <a:gd name="T4" fmla="*/ 304 w 193"/>
                  <a:gd name="T5" fmla="*/ 0 h 193"/>
                  <a:gd name="T6" fmla="*/ 249 w 193"/>
                  <a:gd name="T7" fmla="*/ 243 h 193"/>
                  <a:gd name="T8" fmla="*/ 0 w 193"/>
                  <a:gd name="T9" fmla="*/ 297 h 193"/>
                  <a:gd name="T10" fmla="*/ 249 w 193"/>
                  <a:gd name="T11" fmla="*/ 349 h 193"/>
                  <a:gd name="T12" fmla="*/ 304 w 193"/>
                  <a:gd name="T13" fmla="*/ 594 h 193"/>
                  <a:gd name="T14" fmla="*/ 356 w 193"/>
                  <a:gd name="T15" fmla="*/ 349 h 193"/>
                  <a:gd name="T16" fmla="*/ 607 w 193"/>
                  <a:gd name="T17" fmla="*/ 297 h 19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3"/>
                  <a:gd name="T28" fmla="*/ 0 h 193"/>
                  <a:gd name="T29" fmla="*/ 193 w 193"/>
                  <a:gd name="T30" fmla="*/ 193 h 19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3" h="193">
                    <a:moveTo>
                      <a:pt x="192" y="96"/>
                    </a:moveTo>
                    <a:lnTo>
                      <a:pt x="113" y="79"/>
                    </a:lnTo>
                    <a:lnTo>
                      <a:pt x="96" y="0"/>
                    </a:lnTo>
                    <a:lnTo>
                      <a:pt x="79" y="79"/>
                    </a:lnTo>
                    <a:lnTo>
                      <a:pt x="0" y="96"/>
                    </a:lnTo>
                    <a:lnTo>
                      <a:pt x="79" y="113"/>
                    </a:lnTo>
                    <a:lnTo>
                      <a:pt x="96" y="192"/>
                    </a:lnTo>
                    <a:lnTo>
                      <a:pt x="113" y="113"/>
                    </a:lnTo>
                    <a:lnTo>
                      <a:pt x="192" y="96"/>
                    </a:lnTo>
                  </a:path>
                </a:pathLst>
              </a:custGeom>
              <a:solidFill>
                <a:srgbClr val="F8F800"/>
              </a:solidFill>
              <a:ln w="12700" cap="rnd">
                <a:solidFill>
                  <a:schemeClr val="tx1"/>
                </a:solidFill>
                <a:round/>
                <a:headEnd type="none" w="sm" len="sm"/>
                <a:tailEnd type="none" w="sm" len="sm"/>
              </a:ln>
            </p:spPr>
            <p:txBody>
              <a:bodyPr/>
              <a:lstStyle/>
              <a:p>
                <a:endParaRPr lang="en-US"/>
              </a:p>
            </p:txBody>
          </p:sp>
          <p:sp>
            <p:nvSpPr>
              <p:cNvPr id="40986" name="Rectangle 60"/>
              <p:cNvSpPr>
                <a:spLocks noChangeArrowheads="1"/>
              </p:cNvSpPr>
              <p:nvPr/>
            </p:nvSpPr>
            <p:spPr bwMode="auto">
              <a:xfrm>
                <a:off x="3737" y="1875"/>
                <a:ext cx="357" cy="325"/>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b="1" i="1">
                    <a:latin typeface="Symbol" pitchFamily="18" charset="2"/>
                  </a:rPr>
                  <a:t>a</a:t>
                </a:r>
              </a:p>
            </p:txBody>
          </p:sp>
          <p:sp>
            <p:nvSpPr>
              <p:cNvPr id="40987" name="Rectangle 61"/>
              <p:cNvSpPr>
                <a:spLocks noChangeArrowheads="1"/>
              </p:cNvSpPr>
              <p:nvPr/>
            </p:nvSpPr>
            <p:spPr bwMode="auto">
              <a:xfrm>
                <a:off x="1337" y="1945"/>
                <a:ext cx="638" cy="287"/>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400"/>
                  <a:t> /2</a:t>
                </a:r>
              </a:p>
            </p:txBody>
          </p:sp>
          <p:sp>
            <p:nvSpPr>
              <p:cNvPr id="40988" name="Rectangle 62"/>
              <p:cNvSpPr>
                <a:spLocks noChangeArrowheads="1"/>
              </p:cNvSpPr>
              <p:nvPr/>
            </p:nvSpPr>
            <p:spPr bwMode="auto">
              <a:xfrm>
                <a:off x="1200" y="1875"/>
                <a:ext cx="357" cy="325"/>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b="1" i="1">
                    <a:latin typeface="Symbol" pitchFamily="18" charset="2"/>
                  </a:rPr>
                  <a:t>a</a:t>
                </a:r>
              </a:p>
            </p:txBody>
          </p:sp>
          <p:sp>
            <p:nvSpPr>
              <p:cNvPr id="40989" name="Line 63"/>
              <p:cNvSpPr>
                <a:spLocks noChangeShapeType="1"/>
              </p:cNvSpPr>
              <p:nvPr/>
            </p:nvSpPr>
            <p:spPr bwMode="auto">
              <a:xfrm>
                <a:off x="1536" y="2208"/>
                <a:ext cx="439" cy="433"/>
              </a:xfrm>
              <a:prstGeom prst="line">
                <a:avLst/>
              </a:prstGeom>
              <a:noFill/>
              <a:ln w="12700">
                <a:solidFill>
                  <a:schemeClr val="tx1"/>
                </a:solidFill>
                <a:round/>
                <a:headEnd type="none" w="sm" len="sm"/>
                <a:tailEnd type="stealth" w="med" len="med"/>
              </a:ln>
            </p:spPr>
            <p:txBody>
              <a:bodyPr wrap="none" anchor="ctr"/>
              <a:lstStyle/>
              <a:p>
                <a:endParaRPr lang="en-US"/>
              </a:p>
            </p:txBody>
          </p:sp>
          <p:sp>
            <p:nvSpPr>
              <p:cNvPr id="40990" name="Line 64"/>
              <p:cNvSpPr>
                <a:spLocks noChangeShapeType="1"/>
              </p:cNvSpPr>
              <p:nvPr/>
            </p:nvSpPr>
            <p:spPr bwMode="auto">
              <a:xfrm flipH="1">
                <a:off x="3525" y="2208"/>
                <a:ext cx="363" cy="433"/>
              </a:xfrm>
              <a:prstGeom prst="line">
                <a:avLst/>
              </a:prstGeom>
              <a:noFill/>
              <a:ln w="12700">
                <a:solidFill>
                  <a:schemeClr val="tx1"/>
                </a:solidFill>
                <a:round/>
                <a:headEnd type="none" w="sm" len="sm"/>
                <a:tailEnd type="stealth" w="med" len="med"/>
              </a:ln>
            </p:spPr>
            <p:txBody>
              <a:bodyPr wrap="none" anchor="ctr"/>
              <a:lstStyle/>
              <a:p>
                <a:endParaRPr lang="en-US"/>
              </a:p>
            </p:txBody>
          </p:sp>
        </p:grpSp>
        <p:sp>
          <p:nvSpPr>
            <p:cNvPr id="40972" name="Line 70"/>
            <p:cNvSpPr>
              <a:spLocks noChangeShapeType="1"/>
            </p:cNvSpPr>
            <p:nvPr/>
          </p:nvSpPr>
          <p:spPr bwMode="auto">
            <a:xfrm flipH="1" flipV="1">
              <a:off x="2112" y="2880"/>
              <a:ext cx="144" cy="240"/>
            </a:xfrm>
            <a:prstGeom prst="line">
              <a:avLst/>
            </a:prstGeom>
            <a:noFill/>
            <a:ln w="9525">
              <a:solidFill>
                <a:schemeClr val="tx1"/>
              </a:solidFill>
              <a:miter lim="800000"/>
              <a:headEnd/>
              <a:tailEnd type="triangle" w="med" len="med"/>
            </a:ln>
          </p:spPr>
          <p:txBody>
            <a:bodyPr wrap="none"/>
            <a:lstStyle/>
            <a:p>
              <a:endParaRPr lang="en-US"/>
            </a:p>
          </p:txBody>
        </p:sp>
        <p:sp>
          <p:nvSpPr>
            <p:cNvPr id="40973" name="Line 71"/>
            <p:cNvSpPr>
              <a:spLocks noChangeShapeType="1"/>
            </p:cNvSpPr>
            <p:nvPr/>
          </p:nvSpPr>
          <p:spPr bwMode="auto">
            <a:xfrm flipV="1">
              <a:off x="3360" y="2880"/>
              <a:ext cx="48" cy="240"/>
            </a:xfrm>
            <a:prstGeom prst="line">
              <a:avLst/>
            </a:prstGeom>
            <a:noFill/>
            <a:ln w="9525">
              <a:solidFill>
                <a:schemeClr val="tx1"/>
              </a:solidFill>
              <a:miter lim="800000"/>
              <a:headEnd/>
              <a:tailEnd type="triangle" w="med" len="med"/>
            </a:ln>
          </p:spPr>
          <p:txBody>
            <a:bodyPr wrap="none"/>
            <a:lstStyle/>
            <a:p>
              <a:endParaRPr lang="en-US"/>
            </a:p>
          </p:txBody>
        </p:sp>
        <p:sp>
          <p:nvSpPr>
            <p:cNvPr id="40974" name="Line 72"/>
            <p:cNvSpPr>
              <a:spLocks noChangeShapeType="1"/>
            </p:cNvSpPr>
            <p:nvPr/>
          </p:nvSpPr>
          <p:spPr bwMode="auto">
            <a:xfrm flipV="1">
              <a:off x="3552" y="2784"/>
              <a:ext cx="240" cy="720"/>
            </a:xfrm>
            <a:prstGeom prst="line">
              <a:avLst/>
            </a:prstGeom>
            <a:noFill/>
            <a:ln w="9525">
              <a:solidFill>
                <a:schemeClr val="tx1"/>
              </a:solidFill>
              <a:miter lim="800000"/>
              <a:headEnd/>
              <a:tailEnd type="triangle" w="med" len="med"/>
            </a:ln>
          </p:spPr>
          <p:txBody>
            <a:bodyPr wrap="none"/>
            <a:lstStyle/>
            <a:p>
              <a:endParaRPr lang="en-US"/>
            </a:p>
          </p:txBody>
        </p:sp>
        <p:sp>
          <p:nvSpPr>
            <p:cNvPr id="40975" name="Line 73"/>
            <p:cNvSpPr>
              <a:spLocks noChangeShapeType="1"/>
            </p:cNvSpPr>
            <p:nvPr/>
          </p:nvSpPr>
          <p:spPr bwMode="auto">
            <a:xfrm flipH="1" flipV="1">
              <a:off x="1680" y="2784"/>
              <a:ext cx="432" cy="816"/>
            </a:xfrm>
            <a:prstGeom prst="line">
              <a:avLst/>
            </a:prstGeom>
            <a:noFill/>
            <a:ln w="9525">
              <a:solidFill>
                <a:schemeClr val="tx1"/>
              </a:solidFill>
              <a:miter lim="800000"/>
              <a:headEnd/>
              <a:tailEnd type="triangle" w="med" len="med"/>
            </a:ln>
          </p:spPr>
          <p:txBody>
            <a:bodyPr wrap="none"/>
            <a:lstStyle/>
            <a:p>
              <a:endParaRPr lang="en-US"/>
            </a:p>
          </p:txBody>
        </p:sp>
      </p:grpSp>
      <p:sp>
        <p:nvSpPr>
          <p:cNvPr id="40968" name="Rectangle 34"/>
          <p:cNvSpPr>
            <a:spLocks noChangeArrowheads="1"/>
          </p:cNvSpPr>
          <p:nvPr/>
        </p:nvSpPr>
        <p:spPr bwMode="auto">
          <a:xfrm>
            <a:off x="7772400" y="1143000"/>
            <a:ext cx="1257300" cy="461963"/>
          </a:xfrm>
          <a:prstGeom prst="rect">
            <a:avLst/>
          </a:prstGeom>
          <a:noFill/>
          <a:ln w="9525">
            <a:noFill/>
            <a:miter lim="800000"/>
            <a:headEnd/>
            <a:tailEnd/>
          </a:ln>
        </p:spPr>
        <p:txBody>
          <a:bodyPr wrap="none">
            <a:spAutoFit/>
          </a:bodyPr>
          <a:lstStyle/>
          <a:p>
            <a:r>
              <a:rPr lang="en-US"/>
              <a:t>DCOV</a:t>
            </a:r>
            <a:r>
              <a:rPr lang="en-US" u="sng">
                <a:solidFill>
                  <a:srgbClr val="FF0000"/>
                </a:solidFill>
              </a:rPr>
              <a:t>A</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5"/>
          <p:cNvSpPr>
            <a:spLocks noGrp="1" noChangeArrowheads="1"/>
          </p:cNvSpPr>
          <p:nvPr>
            <p:ph type="sldNum" sz="quarter" idx="10"/>
          </p:nvPr>
        </p:nvSpPr>
        <p:spPr>
          <a:ln/>
        </p:spPr>
        <p:txBody>
          <a:bodyPr/>
          <a:lstStyle/>
          <a:p>
            <a:pPr>
              <a:defRPr/>
            </a:pPr>
            <a:r>
              <a:rPr lang="en-US"/>
              <a:t>Chap 9-</a:t>
            </a:r>
            <a:fld id="{DCF28E20-B7BB-44D4-9C5A-AB0EA02650B5}" type="slidenum">
              <a:rPr lang="en-US"/>
              <a:pPr>
                <a:defRPr/>
              </a:pPr>
              <a:t>8</a:t>
            </a:fld>
            <a:endParaRPr lang="en-US"/>
          </a:p>
        </p:txBody>
      </p:sp>
      <p:sp>
        <p:nvSpPr>
          <p:cNvPr id="18"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41985"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B717344C-2EFD-42E8-AB60-068E1959C9DD}" type="slidenum">
              <a:rPr lang="en-US" sz="1000"/>
              <a:pPr algn="r" defTabSz="852488"/>
              <a:t>8</a:t>
            </a:fld>
            <a:endParaRPr lang="en-US" sz="1000"/>
          </a:p>
        </p:txBody>
      </p:sp>
      <p:sp>
        <p:nvSpPr>
          <p:cNvPr id="41986" name="Line 3"/>
          <p:cNvSpPr>
            <a:spLocks noChangeShapeType="1"/>
          </p:cNvSpPr>
          <p:nvPr/>
        </p:nvSpPr>
        <p:spPr bwMode="auto">
          <a:xfrm>
            <a:off x="4724400" y="2971800"/>
            <a:ext cx="1588" cy="228600"/>
          </a:xfrm>
          <a:prstGeom prst="line">
            <a:avLst/>
          </a:prstGeom>
          <a:noFill/>
          <a:ln w="28575">
            <a:solidFill>
              <a:schemeClr val="tx1"/>
            </a:solidFill>
            <a:miter lim="800000"/>
            <a:headEnd/>
            <a:tailEnd/>
          </a:ln>
        </p:spPr>
        <p:txBody>
          <a:bodyPr wrap="none"/>
          <a:lstStyle/>
          <a:p>
            <a:endParaRPr lang="en-US"/>
          </a:p>
        </p:txBody>
      </p:sp>
      <p:sp>
        <p:nvSpPr>
          <p:cNvPr id="41987" name="Rectangle 4"/>
          <p:cNvSpPr>
            <a:spLocks noGrp="1" noChangeArrowheads="1"/>
          </p:cNvSpPr>
          <p:nvPr>
            <p:ph type="title" idx="4294967295"/>
          </p:nvPr>
        </p:nvSpPr>
        <p:spPr>
          <a:xfrm>
            <a:off x="990600" y="457200"/>
            <a:ext cx="7793038" cy="685800"/>
          </a:xfrm>
        </p:spPr>
        <p:txBody>
          <a:bodyPr/>
          <a:lstStyle/>
          <a:p>
            <a:pPr eaLnBrk="1" hangingPunct="1">
              <a:lnSpc>
                <a:spcPct val="80000"/>
              </a:lnSpc>
            </a:pPr>
            <a:r>
              <a:rPr lang="id-ID" dirty="0" smtClean="0">
                <a:cs typeface="Arial" charset="0"/>
              </a:rPr>
              <a:t>Uji Hipotesis Bagi Rata-rata sampel besar</a:t>
            </a:r>
            <a:endParaRPr lang="el-GR" dirty="0" smtClean="0">
              <a:cs typeface="Arial" charset="0"/>
            </a:endParaRPr>
          </a:p>
        </p:txBody>
      </p:sp>
      <p:sp>
        <p:nvSpPr>
          <p:cNvPr id="41988" name="Freeform 8"/>
          <p:cNvSpPr>
            <a:spLocks/>
          </p:cNvSpPr>
          <p:nvPr/>
        </p:nvSpPr>
        <p:spPr bwMode="auto">
          <a:xfrm>
            <a:off x="2133600" y="3429000"/>
            <a:ext cx="1819275" cy="1066800"/>
          </a:xfrm>
          <a:custGeom>
            <a:avLst/>
            <a:gdLst>
              <a:gd name="T0" fmla="*/ 0 w 1068"/>
              <a:gd name="T1" fmla="*/ 2147483647 h 429"/>
              <a:gd name="T2" fmla="*/ 2147483647 w 1068"/>
              <a:gd name="T3" fmla="*/ 2147483647 h 429"/>
              <a:gd name="T4" fmla="*/ 2147483647 w 1068"/>
              <a:gd name="T5" fmla="*/ 0 h 429"/>
              <a:gd name="T6" fmla="*/ 0 w 1068"/>
              <a:gd name="T7" fmla="*/ 0 h 429"/>
              <a:gd name="T8" fmla="*/ 0 w 1068"/>
              <a:gd name="T9" fmla="*/ 2147483647 h 429"/>
              <a:gd name="T10" fmla="*/ 0 60000 65536"/>
              <a:gd name="T11" fmla="*/ 0 60000 65536"/>
              <a:gd name="T12" fmla="*/ 0 60000 65536"/>
              <a:gd name="T13" fmla="*/ 0 60000 65536"/>
              <a:gd name="T14" fmla="*/ 0 60000 65536"/>
              <a:gd name="T15" fmla="*/ 0 w 1068"/>
              <a:gd name="T16" fmla="*/ 0 h 429"/>
              <a:gd name="T17" fmla="*/ 1068 w 1068"/>
              <a:gd name="T18" fmla="*/ 429 h 429"/>
            </a:gdLst>
            <a:ahLst/>
            <a:cxnLst>
              <a:cxn ang="T10">
                <a:pos x="T0" y="T1"/>
              </a:cxn>
              <a:cxn ang="T11">
                <a:pos x="T2" y="T3"/>
              </a:cxn>
              <a:cxn ang="T12">
                <a:pos x="T4" y="T5"/>
              </a:cxn>
              <a:cxn ang="T13">
                <a:pos x="T6" y="T7"/>
              </a:cxn>
              <a:cxn ang="T14">
                <a:pos x="T8" y="T9"/>
              </a:cxn>
            </a:cxnLst>
            <a:rect l="T15" t="T16" r="T17" b="T18"/>
            <a:pathLst>
              <a:path w="1068" h="429">
                <a:moveTo>
                  <a:pt x="0" y="428"/>
                </a:moveTo>
                <a:lnTo>
                  <a:pt x="1067" y="428"/>
                </a:lnTo>
                <a:lnTo>
                  <a:pt x="1067" y="0"/>
                </a:lnTo>
                <a:lnTo>
                  <a:pt x="0" y="0"/>
                </a:lnTo>
                <a:lnTo>
                  <a:pt x="0" y="428"/>
                </a:lnTo>
              </a:path>
            </a:pathLst>
          </a:custGeom>
          <a:solidFill>
            <a:srgbClr val="C7DAF7"/>
          </a:solidFill>
          <a:ln w="25400" cap="rnd">
            <a:solidFill>
              <a:srgbClr val="1A1A1A"/>
            </a:solidFill>
            <a:round/>
            <a:headEnd/>
            <a:tailEnd/>
          </a:ln>
        </p:spPr>
        <p:txBody>
          <a:bodyPr/>
          <a:lstStyle/>
          <a:p>
            <a:endParaRPr lang="en-US"/>
          </a:p>
        </p:txBody>
      </p:sp>
      <p:sp>
        <p:nvSpPr>
          <p:cNvPr id="41989" name="Freeform 10"/>
          <p:cNvSpPr>
            <a:spLocks/>
          </p:cNvSpPr>
          <p:nvPr/>
        </p:nvSpPr>
        <p:spPr bwMode="auto">
          <a:xfrm>
            <a:off x="3657600" y="2133600"/>
            <a:ext cx="1981200" cy="914400"/>
          </a:xfrm>
          <a:custGeom>
            <a:avLst/>
            <a:gdLst>
              <a:gd name="T0" fmla="*/ 0 w 1115"/>
              <a:gd name="T1" fmla="*/ 2147483647 h 514"/>
              <a:gd name="T2" fmla="*/ 2147483647 w 1115"/>
              <a:gd name="T3" fmla="*/ 2147483647 h 514"/>
              <a:gd name="T4" fmla="*/ 2147483647 w 1115"/>
              <a:gd name="T5" fmla="*/ 0 h 514"/>
              <a:gd name="T6" fmla="*/ 0 w 1115"/>
              <a:gd name="T7" fmla="*/ 0 h 514"/>
              <a:gd name="T8" fmla="*/ 0 w 1115"/>
              <a:gd name="T9" fmla="*/ 2147483647 h 514"/>
              <a:gd name="T10" fmla="*/ 0 60000 65536"/>
              <a:gd name="T11" fmla="*/ 0 60000 65536"/>
              <a:gd name="T12" fmla="*/ 0 60000 65536"/>
              <a:gd name="T13" fmla="*/ 0 60000 65536"/>
              <a:gd name="T14" fmla="*/ 0 60000 65536"/>
              <a:gd name="T15" fmla="*/ 0 w 1115"/>
              <a:gd name="T16" fmla="*/ 0 h 514"/>
              <a:gd name="T17" fmla="*/ 1115 w 1115"/>
              <a:gd name="T18" fmla="*/ 514 h 514"/>
            </a:gdLst>
            <a:ahLst/>
            <a:cxnLst>
              <a:cxn ang="T10">
                <a:pos x="T0" y="T1"/>
              </a:cxn>
              <a:cxn ang="T11">
                <a:pos x="T2" y="T3"/>
              </a:cxn>
              <a:cxn ang="T12">
                <a:pos x="T4" y="T5"/>
              </a:cxn>
              <a:cxn ang="T13">
                <a:pos x="T6" y="T7"/>
              </a:cxn>
              <a:cxn ang="T14">
                <a:pos x="T8" y="T9"/>
              </a:cxn>
            </a:cxnLst>
            <a:rect l="T15" t="T16" r="T17" b="T18"/>
            <a:pathLst>
              <a:path w="1115" h="514">
                <a:moveTo>
                  <a:pt x="0" y="513"/>
                </a:moveTo>
                <a:lnTo>
                  <a:pt x="1114" y="513"/>
                </a:lnTo>
                <a:lnTo>
                  <a:pt x="1114" y="0"/>
                </a:lnTo>
                <a:lnTo>
                  <a:pt x="0" y="0"/>
                </a:lnTo>
                <a:lnTo>
                  <a:pt x="0" y="513"/>
                </a:lnTo>
              </a:path>
            </a:pathLst>
          </a:custGeom>
          <a:solidFill>
            <a:srgbClr val="C7DAF7"/>
          </a:solidFill>
          <a:ln w="25400" cap="rnd">
            <a:solidFill>
              <a:srgbClr val="1A1A1A"/>
            </a:solidFill>
            <a:round/>
            <a:headEnd/>
            <a:tailEnd/>
          </a:ln>
        </p:spPr>
        <p:txBody>
          <a:bodyPr/>
          <a:lstStyle/>
          <a:p>
            <a:endParaRPr lang="en-US"/>
          </a:p>
        </p:txBody>
      </p:sp>
      <p:sp>
        <p:nvSpPr>
          <p:cNvPr id="41990" name="Rectangle 11"/>
          <p:cNvSpPr>
            <a:spLocks noChangeArrowheads="1"/>
          </p:cNvSpPr>
          <p:nvPr/>
        </p:nvSpPr>
        <p:spPr bwMode="auto">
          <a:xfrm>
            <a:off x="2133600" y="3505200"/>
            <a:ext cx="1803380" cy="459100"/>
          </a:xfrm>
          <a:prstGeom prst="rect">
            <a:avLst/>
          </a:prstGeom>
          <a:noFill/>
          <a:ln w="12700">
            <a:noFill/>
            <a:miter lim="800000"/>
            <a:headEnd/>
            <a:tailEnd/>
          </a:ln>
        </p:spPr>
        <p:txBody>
          <a:bodyPr wrap="none" lIns="90488" tIns="44450" rIns="90488" bIns="44450">
            <a:spAutoFit/>
          </a:bodyPr>
          <a:lstStyle/>
          <a:p>
            <a:pPr eaLnBrk="0" hangingPunct="0"/>
            <a:r>
              <a:rPr lang="en-US" sz="2400" b="1" dirty="0">
                <a:sym typeface="Symbol" pitchFamily="18" charset="2"/>
              </a:rPr>
              <a:t> </a:t>
            </a:r>
            <a:r>
              <a:rPr lang="id-ID" sz="2400" b="1" dirty="0" smtClean="0">
                <a:sym typeface="Symbol" pitchFamily="18" charset="2"/>
              </a:rPr>
              <a:t>diketahui</a:t>
            </a:r>
            <a:endParaRPr lang="en-US" sz="2400" b="1" dirty="0">
              <a:sym typeface="Symbol" pitchFamily="18" charset="2"/>
            </a:endParaRPr>
          </a:p>
        </p:txBody>
      </p:sp>
      <p:sp>
        <p:nvSpPr>
          <p:cNvPr id="41991" name="Freeform 12"/>
          <p:cNvSpPr>
            <a:spLocks/>
          </p:cNvSpPr>
          <p:nvPr/>
        </p:nvSpPr>
        <p:spPr bwMode="auto">
          <a:xfrm>
            <a:off x="5257800" y="3429000"/>
            <a:ext cx="2438400" cy="1066800"/>
          </a:xfrm>
          <a:custGeom>
            <a:avLst/>
            <a:gdLst>
              <a:gd name="T0" fmla="*/ 0 w 1241"/>
              <a:gd name="T1" fmla="*/ 2147483647 h 436"/>
              <a:gd name="T2" fmla="*/ 2147483647 w 1241"/>
              <a:gd name="T3" fmla="*/ 2147483647 h 436"/>
              <a:gd name="T4" fmla="*/ 2147483647 w 1241"/>
              <a:gd name="T5" fmla="*/ 0 h 436"/>
              <a:gd name="T6" fmla="*/ 0 w 1241"/>
              <a:gd name="T7" fmla="*/ 0 h 436"/>
              <a:gd name="T8" fmla="*/ 0 w 1241"/>
              <a:gd name="T9" fmla="*/ 2147483647 h 436"/>
              <a:gd name="T10" fmla="*/ 0 60000 65536"/>
              <a:gd name="T11" fmla="*/ 0 60000 65536"/>
              <a:gd name="T12" fmla="*/ 0 60000 65536"/>
              <a:gd name="T13" fmla="*/ 0 60000 65536"/>
              <a:gd name="T14" fmla="*/ 0 60000 65536"/>
              <a:gd name="T15" fmla="*/ 0 w 1241"/>
              <a:gd name="T16" fmla="*/ 0 h 436"/>
              <a:gd name="T17" fmla="*/ 1241 w 1241"/>
              <a:gd name="T18" fmla="*/ 436 h 436"/>
            </a:gdLst>
            <a:ahLst/>
            <a:cxnLst>
              <a:cxn ang="T10">
                <a:pos x="T0" y="T1"/>
              </a:cxn>
              <a:cxn ang="T11">
                <a:pos x="T2" y="T3"/>
              </a:cxn>
              <a:cxn ang="T12">
                <a:pos x="T4" y="T5"/>
              </a:cxn>
              <a:cxn ang="T13">
                <a:pos x="T6" y="T7"/>
              </a:cxn>
              <a:cxn ang="T14">
                <a:pos x="T8" y="T9"/>
              </a:cxn>
            </a:cxnLst>
            <a:rect l="T15" t="T16" r="T17" b="T18"/>
            <a:pathLst>
              <a:path w="1241" h="436">
                <a:moveTo>
                  <a:pt x="0" y="435"/>
                </a:moveTo>
                <a:lnTo>
                  <a:pt x="1240" y="435"/>
                </a:lnTo>
                <a:lnTo>
                  <a:pt x="1240" y="0"/>
                </a:lnTo>
                <a:lnTo>
                  <a:pt x="0" y="0"/>
                </a:lnTo>
                <a:lnTo>
                  <a:pt x="0" y="435"/>
                </a:lnTo>
              </a:path>
            </a:pathLst>
          </a:custGeom>
          <a:solidFill>
            <a:srgbClr val="C7DAF7"/>
          </a:solidFill>
          <a:ln w="25400" cap="rnd">
            <a:solidFill>
              <a:srgbClr val="1A1A1A"/>
            </a:solidFill>
            <a:round/>
            <a:headEnd/>
            <a:tailEnd/>
          </a:ln>
        </p:spPr>
        <p:txBody>
          <a:bodyPr/>
          <a:lstStyle/>
          <a:p>
            <a:endParaRPr lang="en-US"/>
          </a:p>
        </p:txBody>
      </p:sp>
      <p:sp>
        <p:nvSpPr>
          <p:cNvPr id="41992" name="Line 15"/>
          <p:cNvSpPr>
            <a:spLocks noChangeShapeType="1"/>
          </p:cNvSpPr>
          <p:nvPr/>
        </p:nvSpPr>
        <p:spPr bwMode="auto">
          <a:xfrm>
            <a:off x="3048000" y="3200400"/>
            <a:ext cx="3429000" cy="0"/>
          </a:xfrm>
          <a:prstGeom prst="line">
            <a:avLst/>
          </a:prstGeom>
          <a:noFill/>
          <a:ln w="28575">
            <a:solidFill>
              <a:schemeClr val="tx1"/>
            </a:solidFill>
            <a:round/>
            <a:headEnd/>
            <a:tailEnd/>
          </a:ln>
        </p:spPr>
        <p:txBody>
          <a:bodyPr wrap="none"/>
          <a:lstStyle/>
          <a:p>
            <a:endParaRPr lang="en-US"/>
          </a:p>
        </p:txBody>
      </p:sp>
      <p:sp>
        <p:nvSpPr>
          <p:cNvPr id="41993" name="Line 16"/>
          <p:cNvSpPr>
            <a:spLocks noChangeShapeType="1"/>
          </p:cNvSpPr>
          <p:nvPr/>
        </p:nvSpPr>
        <p:spPr bwMode="auto">
          <a:xfrm>
            <a:off x="3048000" y="3200400"/>
            <a:ext cx="1588" cy="228600"/>
          </a:xfrm>
          <a:prstGeom prst="line">
            <a:avLst/>
          </a:prstGeom>
          <a:noFill/>
          <a:ln w="28575">
            <a:solidFill>
              <a:schemeClr val="tx1"/>
            </a:solidFill>
            <a:miter lim="800000"/>
            <a:headEnd/>
            <a:tailEnd/>
          </a:ln>
        </p:spPr>
        <p:txBody>
          <a:bodyPr wrap="none"/>
          <a:lstStyle/>
          <a:p>
            <a:endParaRPr lang="en-US"/>
          </a:p>
        </p:txBody>
      </p:sp>
      <p:sp>
        <p:nvSpPr>
          <p:cNvPr id="41994" name="Line 17"/>
          <p:cNvSpPr>
            <a:spLocks noChangeShapeType="1"/>
          </p:cNvSpPr>
          <p:nvPr/>
        </p:nvSpPr>
        <p:spPr bwMode="auto">
          <a:xfrm>
            <a:off x="6477000" y="3200400"/>
            <a:ext cx="1588" cy="228600"/>
          </a:xfrm>
          <a:prstGeom prst="line">
            <a:avLst/>
          </a:prstGeom>
          <a:noFill/>
          <a:ln w="28575">
            <a:solidFill>
              <a:schemeClr val="tx1"/>
            </a:solidFill>
            <a:miter lim="800000"/>
            <a:headEnd/>
            <a:tailEnd/>
          </a:ln>
        </p:spPr>
        <p:txBody>
          <a:bodyPr wrap="none"/>
          <a:lstStyle/>
          <a:p>
            <a:endParaRPr lang="en-US"/>
          </a:p>
        </p:txBody>
      </p:sp>
      <p:sp>
        <p:nvSpPr>
          <p:cNvPr id="41995" name="Rectangle 22"/>
          <p:cNvSpPr>
            <a:spLocks noChangeArrowheads="1"/>
          </p:cNvSpPr>
          <p:nvPr/>
        </p:nvSpPr>
        <p:spPr bwMode="auto">
          <a:xfrm>
            <a:off x="5261237" y="3505200"/>
            <a:ext cx="2434963" cy="459100"/>
          </a:xfrm>
          <a:prstGeom prst="rect">
            <a:avLst/>
          </a:prstGeom>
          <a:noFill/>
          <a:ln w="12700">
            <a:noFill/>
            <a:miter lim="800000"/>
            <a:headEnd/>
            <a:tailEnd/>
          </a:ln>
        </p:spPr>
        <p:txBody>
          <a:bodyPr wrap="none" lIns="90488" tIns="44450" rIns="90488" bIns="44450">
            <a:spAutoFit/>
          </a:bodyPr>
          <a:lstStyle/>
          <a:p>
            <a:pPr eaLnBrk="0" hangingPunct="0"/>
            <a:r>
              <a:rPr lang="en-US" sz="2400" b="1" dirty="0">
                <a:sym typeface="Symbol" pitchFamily="18" charset="2"/>
              </a:rPr>
              <a:t> </a:t>
            </a:r>
            <a:r>
              <a:rPr lang="id-ID" sz="2400" b="1" dirty="0" smtClean="0">
                <a:sym typeface="Symbol" pitchFamily="18" charset="2"/>
              </a:rPr>
              <a:t>Tdk diketahui</a:t>
            </a:r>
            <a:endParaRPr lang="en-US" sz="2400" b="1" dirty="0">
              <a:sym typeface="Symbol" pitchFamily="18" charset="2"/>
            </a:endParaRPr>
          </a:p>
        </p:txBody>
      </p:sp>
      <p:sp>
        <p:nvSpPr>
          <p:cNvPr id="41996" name="Rectangle 23"/>
          <p:cNvSpPr>
            <a:spLocks noChangeArrowheads="1"/>
          </p:cNvSpPr>
          <p:nvPr/>
        </p:nvSpPr>
        <p:spPr bwMode="auto">
          <a:xfrm>
            <a:off x="3200400" y="2133600"/>
            <a:ext cx="2743200" cy="828432"/>
          </a:xfrm>
          <a:prstGeom prst="rect">
            <a:avLst/>
          </a:prstGeom>
          <a:noFill/>
          <a:ln w="12700">
            <a:noFill/>
            <a:miter lim="800000"/>
            <a:headEnd/>
            <a:tailEnd/>
          </a:ln>
        </p:spPr>
        <p:txBody>
          <a:bodyPr lIns="90488" tIns="44450" rIns="90488" bIns="44450">
            <a:spAutoFit/>
          </a:bodyPr>
          <a:lstStyle/>
          <a:p>
            <a:pPr algn="ctr" eaLnBrk="0" hangingPunct="0"/>
            <a:r>
              <a:rPr lang="id-ID" sz="2400" b="1" dirty="0" smtClean="0">
                <a:sym typeface="Symbol" pitchFamily="18" charset="2"/>
              </a:rPr>
              <a:t>Uji Hipotesis </a:t>
            </a:r>
          </a:p>
          <a:p>
            <a:pPr algn="ctr" eaLnBrk="0" hangingPunct="0"/>
            <a:r>
              <a:rPr lang="id-ID" sz="2400" b="1" dirty="0" smtClean="0">
                <a:sym typeface="Symbol" pitchFamily="18" charset="2"/>
              </a:rPr>
              <a:t>bagi</a:t>
            </a:r>
            <a:r>
              <a:rPr lang="en-US" sz="2400" b="1" dirty="0" smtClean="0">
                <a:sym typeface="Symbol" pitchFamily="18" charset="2"/>
              </a:rPr>
              <a:t> </a:t>
            </a:r>
            <a:r>
              <a:rPr lang="en-US" sz="2400" b="1" dirty="0">
                <a:sym typeface="Symbol" pitchFamily="18" charset="2"/>
              </a:rPr>
              <a:t></a:t>
            </a:r>
          </a:p>
        </p:txBody>
      </p:sp>
      <p:sp>
        <p:nvSpPr>
          <p:cNvPr id="42000" name="Rectangle 17"/>
          <p:cNvSpPr>
            <a:spLocks noChangeArrowheads="1"/>
          </p:cNvSpPr>
          <p:nvPr/>
        </p:nvSpPr>
        <p:spPr bwMode="auto">
          <a:xfrm>
            <a:off x="7772400" y="1143000"/>
            <a:ext cx="1257300" cy="461963"/>
          </a:xfrm>
          <a:prstGeom prst="rect">
            <a:avLst/>
          </a:prstGeom>
          <a:noFill/>
          <a:ln w="9525">
            <a:noFill/>
            <a:miter lim="800000"/>
            <a:headEnd/>
            <a:tailEnd/>
          </a:ln>
        </p:spPr>
        <p:txBody>
          <a:bodyPr wrap="none">
            <a:spAutoFit/>
          </a:bodyPr>
          <a:lstStyle/>
          <a:p>
            <a:r>
              <a:rPr lang="en-US"/>
              <a:t>DCOV</a:t>
            </a:r>
            <a:r>
              <a:rPr lang="en-US" u="sng">
                <a:solidFill>
                  <a:srgbClr val="FF0000"/>
                </a:solidFill>
              </a:rPr>
              <a:t>A</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5"/>
          <p:cNvSpPr>
            <a:spLocks noGrp="1" noChangeArrowheads="1"/>
          </p:cNvSpPr>
          <p:nvPr>
            <p:ph type="sldNum" sz="quarter" idx="10"/>
          </p:nvPr>
        </p:nvSpPr>
        <p:spPr>
          <a:ln/>
        </p:spPr>
        <p:txBody>
          <a:bodyPr/>
          <a:lstStyle/>
          <a:p>
            <a:pPr>
              <a:defRPr/>
            </a:pPr>
            <a:r>
              <a:rPr lang="en-US"/>
              <a:t>Chap 9-</a:t>
            </a:r>
            <a:fld id="{31EA681D-0F8E-4909-A10A-4744D2AF72A1}" type="slidenum">
              <a:rPr lang="en-US"/>
              <a:pPr>
                <a:defRPr/>
              </a:pPr>
              <a:t>9</a:t>
            </a:fld>
            <a:endParaRPr lang="en-US"/>
          </a:p>
        </p:txBody>
      </p:sp>
      <p:sp>
        <p:nvSpPr>
          <p:cNvPr id="26"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3075"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8FF572D9-0ED3-46F7-9BA9-680F0BDFEA64}" type="slidenum">
              <a:rPr lang="en-US" sz="1000"/>
              <a:pPr algn="r" defTabSz="852488"/>
              <a:t>9</a:t>
            </a:fld>
            <a:endParaRPr lang="en-US" sz="1000"/>
          </a:p>
        </p:txBody>
      </p:sp>
      <p:sp>
        <p:nvSpPr>
          <p:cNvPr id="3076" name="Rectangle 4"/>
          <p:cNvSpPr>
            <a:spLocks noGrp="1" noChangeArrowheads="1"/>
          </p:cNvSpPr>
          <p:nvPr>
            <p:ph type="title" idx="4294967295"/>
          </p:nvPr>
        </p:nvSpPr>
        <p:spPr>
          <a:xfrm>
            <a:off x="990600" y="228600"/>
            <a:ext cx="7793038" cy="1143000"/>
          </a:xfrm>
        </p:spPr>
        <p:txBody>
          <a:bodyPr/>
          <a:lstStyle/>
          <a:p>
            <a:pPr eaLnBrk="1" hangingPunct="1">
              <a:lnSpc>
                <a:spcPct val="80000"/>
              </a:lnSpc>
            </a:pPr>
            <a:r>
              <a:rPr lang="id-ID" dirty="0" smtClean="0"/>
              <a:t>Uji Z – Uji hipotesis bagi rata2</a:t>
            </a:r>
            <a:r>
              <a:rPr lang="en-US" dirty="0" smtClean="0"/>
              <a:t> (</a:t>
            </a:r>
            <a:r>
              <a:rPr lang="el-GR" dirty="0" smtClean="0">
                <a:cs typeface="Arial" charset="0"/>
              </a:rPr>
              <a:t>σ</a:t>
            </a:r>
            <a:r>
              <a:rPr lang="en-US" dirty="0" smtClean="0">
                <a:cs typeface="Arial" charset="0"/>
              </a:rPr>
              <a:t> </a:t>
            </a:r>
            <a:r>
              <a:rPr lang="id-ID" dirty="0" smtClean="0">
                <a:cs typeface="Arial" charset="0"/>
              </a:rPr>
              <a:t>diketahui</a:t>
            </a:r>
            <a:r>
              <a:rPr lang="en-US" dirty="0" smtClean="0">
                <a:cs typeface="Arial" charset="0"/>
              </a:rPr>
              <a:t>)</a:t>
            </a:r>
            <a:endParaRPr lang="el-GR" dirty="0" smtClean="0">
              <a:cs typeface="Arial" charset="0"/>
            </a:endParaRPr>
          </a:p>
        </p:txBody>
      </p:sp>
      <p:sp>
        <p:nvSpPr>
          <p:cNvPr id="3077" name="Rectangle 5"/>
          <p:cNvSpPr>
            <a:spLocks noGrp="1" noChangeArrowheads="1"/>
          </p:cNvSpPr>
          <p:nvPr>
            <p:ph type="body" idx="4294967295"/>
          </p:nvPr>
        </p:nvSpPr>
        <p:spPr>
          <a:xfrm>
            <a:off x="457200" y="1524000"/>
            <a:ext cx="8458200" cy="1258888"/>
          </a:xfrm>
        </p:spPr>
        <p:txBody>
          <a:bodyPr/>
          <a:lstStyle/>
          <a:p>
            <a:pPr eaLnBrk="1" hangingPunct="1">
              <a:lnSpc>
                <a:spcPct val="80000"/>
              </a:lnSpc>
              <a:buFont typeface="Wingdings" pitchFamily="2" charset="2"/>
              <a:buNone/>
            </a:pPr>
            <a:endParaRPr lang="en-US" sz="2700" dirty="0" smtClean="0"/>
          </a:p>
          <a:p>
            <a:pPr eaLnBrk="1" hangingPunct="1">
              <a:buFont typeface="Wingdings" pitchFamily="2" charset="2"/>
              <a:buNone/>
            </a:pPr>
            <a:endParaRPr lang="en-US" sz="2700" dirty="0" smtClean="0"/>
          </a:p>
        </p:txBody>
      </p:sp>
      <p:sp>
        <p:nvSpPr>
          <p:cNvPr id="3078" name="Text Box 6"/>
          <p:cNvSpPr txBox="1">
            <a:spLocks noChangeArrowheads="1"/>
          </p:cNvSpPr>
          <p:nvPr/>
        </p:nvSpPr>
        <p:spPr bwMode="auto">
          <a:xfrm>
            <a:off x="4648200" y="1524000"/>
            <a:ext cx="533400" cy="519113"/>
          </a:xfrm>
          <a:prstGeom prst="rect">
            <a:avLst/>
          </a:prstGeom>
          <a:noFill/>
          <a:ln w="19050" algn="ctr">
            <a:noFill/>
            <a:miter lim="800000"/>
            <a:headEnd/>
            <a:tailEnd/>
          </a:ln>
        </p:spPr>
        <p:txBody>
          <a:bodyPr>
            <a:spAutoFit/>
          </a:bodyPr>
          <a:lstStyle/>
          <a:p>
            <a:pPr algn="ctr">
              <a:spcBef>
                <a:spcPct val="50000"/>
              </a:spcBef>
            </a:pPr>
            <a:r>
              <a:rPr lang="en-US" sz="1400" dirty="0"/>
              <a:t> </a:t>
            </a:r>
            <a:r>
              <a:rPr lang="en-US" dirty="0"/>
              <a:t>X</a:t>
            </a:r>
          </a:p>
        </p:txBody>
      </p:sp>
      <p:sp>
        <p:nvSpPr>
          <p:cNvPr id="3079" name="Line 7"/>
          <p:cNvSpPr>
            <a:spLocks noChangeShapeType="1"/>
          </p:cNvSpPr>
          <p:nvPr/>
        </p:nvSpPr>
        <p:spPr bwMode="auto">
          <a:xfrm>
            <a:off x="4800600" y="1600200"/>
            <a:ext cx="228600" cy="0"/>
          </a:xfrm>
          <a:prstGeom prst="line">
            <a:avLst/>
          </a:prstGeom>
          <a:noFill/>
          <a:ln w="19050">
            <a:solidFill>
              <a:schemeClr val="tx1"/>
            </a:solidFill>
            <a:round/>
            <a:headEnd/>
            <a:tailEnd/>
          </a:ln>
        </p:spPr>
        <p:txBody>
          <a:bodyPr wrap="none" anchor="ctr"/>
          <a:lstStyle/>
          <a:p>
            <a:endParaRPr lang="en-US"/>
          </a:p>
        </p:txBody>
      </p:sp>
      <p:sp>
        <p:nvSpPr>
          <p:cNvPr id="3080" name="Text Box 29"/>
          <p:cNvSpPr txBox="1">
            <a:spLocks noChangeArrowheads="1"/>
          </p:cNvSpPr>
          <p:nvPr/>
        </p:nvSpPr>
        <p:spPr bwMode="auto">
          <a:xfrm>
            <a:off x="381000" y="4343400"/>
            <a:ext cx="3276600" cy="457200"/>
          </a:xfrm>
          <a:prstGeom prst="rect">
            <a:avLst/>
          </a:prstGeom>
          <a:noFill/>
          <a:ln w="19050" algn="ctr">
            <a:noFill/>
            <a:miter lim="800000"/>
            <a:headEnd/>
            <a:tailEnd/>
          </a:ln>
        </p:spPr>
        <p:txBody>
          <a:bodyPr>
            <a:spAutoFit/>
          </a:bodyPr>
          <a:lstStyle/>
          <a:p>
            <a:pPr>
              <a:spcBef>
                <a:spcPct val="50000"/>
              </a:spcBef>
            </a:pPr>
            <a:r>
              <a:rPr lang="id-ID" sz="2400" dirty="0" smtClean="0"/>
              <a:t>Statistik uji</a:t>
            </a:r>
            <a:r>
              <a:rPr lang="en-US" sz="2400" dirty="0" smtClean="0"/>
              <a:t>:</a:t>
            </a:r>
            <a:endParaRPr lang="en-US" sz="2400" dirty="0"/>
          </a:p>
        </p:txBody>
      </p:sp>
      <p:graphicFrame>
        <p:nvGraphicFramePr>
          <p:cNvPr id="3074" name="Object 30">
            <a:hlinkClick r:id="" action="ppaction://ole?verb=0"/>
          </p:cNvPr>
          <p:cNvGraphicFramePr>
            <a:graphicFrameLocks/>
          </p:cNvGraphicFramePr>
          <p:nvPr/>
        </p:nvGraphicFramePr>
        <p:xfrm>
          <a:off x="695325" y="4770438"/>
          <a:ext cx="3073400" cy="1511300"/>
        </p:xfrm>
        <a:graphic>
          <a:graphicData uri="http://schemas.openxmlformats.org/presentationml/2006/ole">
            <mc:AlternateContent xmlns:mc="http://schemas.openxmlformats.org/markup-compatibility/2006">
              <mc:Choice xmlns:v="urn:schemas-microsoft-com:vml" Requires="v">
                <p:oleObj spid="_x0000_s300041" name="Equation" r:id="rId3" imgW="977760" imgH="634680" progId="Equation.3">
                  <p:embed/>
                </p:oleObj>
              </mc:Choice>
              <mc:Fallback>
                <p:oleObj name="Equation" r:id="rId3" imgW="977760" imgH="634680" progId="Equation.3">
                  <p:embed/>
                  <p:pic>
                    <p:nvPicPr>
                      <p:cNvPr id="0" name="Object 3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325" y="4770438"/>
                        <a:ext cx="3073400" cy="1511300"/>
                      </a:xfrm>
                      <a:prstGeom prst="rect">
                        <a:avLst/>
                      </a:prstGeom>
                      <a:solidFill>
                        <a:srgbClr val="FDE0B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81" name="Freeform 31"/>
          <p:cNvSpPr>
            <a:spLocks/>
          </p:cNvSpPr>
          <p:nvPr/>
        </p:nvSpPr>
        <p:spPr bwMode="auto">
          <a:xfrm>
            <a:off x="228600" y="3276600"/>
            <a:ext cx="3962400" cy="3352800"/>
          </a:xfrm>
          <a:custGeom>
            <a:avLst/>
            <a:gdLst>
              <a:gd name="T0" fmla="*/ 2147483647 w 2784"/>
              <a:gd name="T1" fmla="*/ 0 h 2208"/>
              <a:gd name="T2" fmla="*/ 2147483647 w 2784"/>
              <a:gd name="T3" fmla="*/ 2147483647 h 2208"/>
              <a:gd name="T4" fmla="*/ 0 w 2784"/>
              <a:gd name="T5" fmla="*/ 2147483647 h 2208"/>
              <a:gd name="T6" fmla="*/ 0 w 2784"/>
              <a:gd name="T7" fmla="*/ 0 h 2208"/>
              <a:gd name="T8" fmla="*/ 2147483647 w 2784"/>
              <a:gd name="T9" fmla="*/ 0 h 2208"/>
              <a:gd name="T10" fmla="*/ 0 60000 65536"/>
              <a:gd name="T11" fmla="*/ 0 60000 65536"/>
              <a:gd name="T12" fmla="*/ 0 60000 65536"/>
              <a:gd name="T13" fmla="*/ 0 60000 65536"/>
              <a:gd name="T14" fmla="*/ 0 60000 65536"/>
              <a:gd name="T15" fmla="*/ 0 w 2784"/>
              <a:gd name="T16" fmla="*/ 0 h 2208"/>
              <a:gd name="T17" fmla="*/ 2784 w 2784"/>
              <a:gd name="T18" fmla="*/ 2208 h 2208"/>
            </a:gdLst>
            <a:ahLst/>
            <a:cxnLst>
              <a:cxn ang="T10">
                <a:pos x="T0" y="T1"/>
              </a:cxn>
              <a:cxn ang="T11">
                <a:pos x="T2" y="T3"/>
              </a:cxn>
              <a:cxn ang="T12">
                <a:pos x="T4" y="T5"/>
              </a:cxn>
              <a:cxn ang="T13">
                <a:pos x="T6" y="T7"/>
              </a:cxn>
              <a:cxn ang="T14">
                <a:pos x="T8" y="T9"/>
              </a:cxn>
            </a:cxnLst>
            <a:rect l="T15" t="T16" r="T17" b="T18"/>
            <a:pathLst>
              <a:path w="2784" h="2208">
                <a:moveTo>
                  <a:pt x="2784" y="0"/>
                </a:moveTo>
                <a:lnTo>
                  <a:pt x="2784" y="2208"/>
                </a:lnTo>
                <a:lnTo>
                  <a:pt x="0" y="2208"/>
                </a:lnTo>
                <a:lnTo>
                  <a:pt x="0" y="0"/>
                </a:lnTo>
                <a:lnTo>
                  <a:pt x="2784" y="0"/>
                </a:lnTo>
              </a:path>
            </a:pathLst>
          </a:custGeom>
          <a:noFill/>
          <a:ln w="28575">
            <a:solidFill>
              <a:schemeClr val="hlink"/>
            </a:solidFill>
            <a:round/>
            <a:headEnd/>
            <a:tailEnd/>
          </a:ln>
        </p:spPr>
        <p:txBody>
          <a:bodyPr wrap="none" anchor="ctr"/>
          <a:lstStyle/>
          <a:p>
            <a:endParaRPr lang="en-US"/>
          </a:p>
        </p:txBody>
      </p:sp>
      <p:sp>
        <p:nvSpPr>
          <p:cNvPr id="3082" name="Line 32"/>
          <p:cNvSpPr>
            <a:spLocks noChangeShapeType="1"/>
          </p:cNvSpPr>
          <p:nvPr/>
        </p:nvSpPr>
        <p:spPr bwMode="auto">
          <a:xfrm>
            <a:off x="4800600" y="2971800"/>
            <a:ext cx="1588" cy="228600"/>
          </a:xfrm>
          <a:prstGeom prst="line">
            <a:avLst/>
          </a:prstGeom>
          <a:noFill/>
          <a:ln w="28575">
            <a:solidFill>
              <a:schemeClr val="tx1"/>
            </a:solidFill>
            <a:miter lim="800000"/>
            <a:headEnd/>
            <a:tailEnd/>
          </a:ln>
        </p:spPr>
        <p:txBody>
          <a:bodyPr wrap="none"/>
          <a:lstStyle/>
          <a:p>
            <a:endParaRPr lang="en-US"/>
          </a:p>
        </p:txBody>
      </p:sp>
      <p:sp>
        <p:nvSpPr>
          <p:cNvPr id="3083" name="Freeform 34"/>
          <p:cNvSpPr>
            <a:spLocks/>
          </p:cNvSpPr>
          <p:nvPr/>
        </p:nvSpPr>
        <p:spPr bwMode="auto">
          <a:xfrm>
            <a:off x="3733800" y="2133600"/>
            <a:ext cx="1981200" cy="914400"/>
          </a:xfrm>
          <a:custGeom>
            <a:avLst/>
            <a:gdLst>
              <a:gd name="T0" fmla="*/ 0 w 1115"/>
              <a:gd name="T1" fmla="*/ 2147483647 h 514"/>
              <a:gd name="T2" fmla="*/ 2147483647 w 1115"/>
              <a:gd name="T3" fmla="*/ 2147483647 h 514"/>
              <a:gd name="T4" fmla="*/ 2147483647 w 1115"/>
              <a:gd name="T5" fmla="*/ 0 h 514"/>
              <a:gd name="T6" fmla="*/ 0 w 1115"/>
              <a:gd name="T7" fmla="*/ 0 h 514"/>
              <a:gd name="T8" fmla="*/ 0 w 1115"/>
              <a:gd name="T9" fmla="*/ 2147483647 h 514"/>
              <a:gd name="T10" fmla="*/ 0 60000 65536"/>
              <a:gd name="T11" fmla="*/ 0 60000 65536"/>
              <a:gd name="T12" fmla="*/ 0 60000 65536"/>
              <a:gd name="T13" fmla="*/ 0 60000 65536"/>
              <a:gd name="T14" fmla="*/ 0 60000 65536"/>
              <a:gd name="T15" fmla="*/ 0 w 1115"/>
              <a:gd name="T16" fmla="*/ 0 h 514"/>
              <a:gd name="T17" fmla="*/ 1115 w 1115"/>
              <a:gd name="T18" fmla="*/ 514 h 514"/>
            </a:gdLst>
            <a:ahLst/>
            <a:cxnLst>
              <a:cxn ang="T10">
                <a:pos x="T0" y="T1"/>
              </a:cxn>
              <a:cxn ang="T11">
                <a:pos x="T2" y="T3"/>
              </a:cxn>
              <a:cxn ang="T12">
                <a:pos x="T4" y="T5"/>
              </a:cxn>
              <a:cxn ang="T13">
                <a:pos x="T6" y="T7"/>
              </a:cxn>
              <a:cxn ang="T14">
                <a:pos x="T8" y="T9"/>
              </a:cxn>
            </a:cxnLst>
            <a:rect l="T15" t="T16" r="T17" b="T18"/>
            <a:pathLst>
              <a:path w="1115" h="514">
                <a:moveTo>
                  <a:pt x="0" y="513"/>
                </a:moveTo>
                <a:lnTo>
                  <a:pt x="1114" y="513"/>
                </a:lnTo>
                <a:lnTo>
                  <a:pt x="1114" y="0"/>
                </a:lnTo>
                <a:lnTo>
                  <a:pt x="0" y="0"/>
                </a:lnTo>
                <a:lnTo>
                  <a:pt x="0" y="513"/>
                </a:lnTo>
              </a:path>
            </a:pathLst>
          </a:custGeom>
          <a:solidFill>
            <a:srgbClr val="C7DAF7"/>
          </a:solidFill>
          <a:ln w="25400" cap="rnd">
            <a:solidFill>
              <a:srgbClr val="1A1A1A"/>
            </a:solidFill>
            <a:round/>
            <a:headEnd/>
            <a:tailEnd/>
          </a:ln>
        </p:spPr>
        <p:txBody>
          <a:bodyPr/>
          <a:lstStyle/>
          <a:p>
            <a:endParaRPr lang="en-US"/>
          </a:p>
        </p:txBody>
      </p:sp>
      <p:sp>
        <p:nvSpPr>
          <p:cNvPr id="3084" name="Rectangle 35"/>
          <p:cNvSpPr>
            <a:spLocks noChangeArrowheads="1"/>
          </p:cNvSpPr>
          <p:nvPr/>
        </p:nvSpPr>
        <p:spPr bwMode="auto">
          <a:xfrm>
            <a:off x="2362200" y="3505200"/>
            <a:ext cx="1487488" cy="454025"/>
          </a:xfrm>
          <a:prstGeom prst="rect">
            <a:avLst/>
          </a:prstGeom>
          <a:noFill/>
          <a:ln w="12700">
            <a:noFill/>
            <a:miter lim="800000"/>
            <a:headEnd/>
            <a:tailEnd/>
          </a:ln>
        </p:spPr>
        <p:txBody>
          <a:bodyPr wrap="none" lIns="90488" tIns="44450" rIns="90488" bIns="44450">
            <a:spAutoFit/>
          </a:bodyPr>
          <a:lstStyle/>
          <a:p>
            <a:pPr eaLnBrk="0" hangingPunct="0"/>
            <a:r>
              <a:rPr lang="el-GR" sz="2400" b="1">
                <a:cs typeface="Arial" charset="0"/>
                <a:sym typeface="Symbol" pitchFamily="18" charset="2"/>
              </a:rPr>
              <a:t>σ</a:t>
            </a:r>
            <a:r>
              <a:rPr lang="en-US" sz="2400" b="1">
                <a:sym typeface="Symbol" pitchFamily="18" charset="2"/>
              </a:rPr>
              <a:t> Known</a:t>
            </a:r>
          </a:p>
        </p:txBody>
      </p:sp>
      <p:sp>
        <p:nvSpPr>
          <p:cNvPr id="3085" name="Line 37"/>
          <p:cNvSpPr>
            <a:spLocks noChangeShapeType="1"/>
          </p:cNvSpPr>
          <p:nvPr/>
        </p:nvSpPr>
        <p:spPr bwMode="auto">
          <a:xfrm>
            <a:off x="3124200" y="3200400"/>
            <a:ext cx="3429000" cy="0"/>
          </a:xfrm>
          <a:prstGeom prst="line">
            <a:avLst/>
          </a:prstGeom>
          <a:noFill/>
          <a:ln w="28575">
            <a:solidFill>
              <a:schemeClr val="tx1"/>
            </a:solidFill>
            <a:round/>
            <a:headEnd/>
            <a:tailEnd/>
          </a:ln>
        </p:spPr>
        <p:txBody>
          <a:bodyPr wrap="none"/>
          <a:lstStyle/>
          <a:p>
            <a:endParaRPr lang="en-US"/>
          </a:p>
        </p:txBody>
      </p:sp>
      <p:sp>
        <p:nvSpPr>
          <p:cNvPr id="3086" name="Line 38"/>
          <p:cNvSpPr>
            <a:spLocks noChangeShapeType="1"/>
          </p:cNvSpPr>
          <p:nvPr/>
        </p:nvSpPr>
        <p:spPr bwMode="auto">
          <a:xfrm>
            <a:off x="3124200" y="3200400"/>
            <a:ext cx="1588" cy="228600"/>
          </a:xfrm>
          <a:prstGeom prst="line">
            <a:avLst/>
          </a:prstGeom>
          <a:noFill/>
          <a:ln w="28575">
            <a:solidFill>
              <a:schemeClr val="tx1"/>
            </a:solidFill>
            <a:miter lim="800000"/>
            <a:headEnd/>
            <a:tailEnd/>
          </a:ln>
        </p:spPr>
        <p:txBody>
          <a:bodyPr wrap="none"/>
          <a:lstStyle/>
          <a:p>
            <a:endParaRPr lang="en-US"/>
          </a:p>
        </p:txBody>
      </p:sp>
      <p:sp>
        <p:nvSpPr>
          <p:cNvPr id="3087" name="Line 39"/>
          <p:cNvSpPr>
            <a:spLocks noChangeShapeType="1"/>
          </p:cNvSpPr>
          <p:nvPr/>
        </p:nvSpPr>
        <p:spPr bwMode="auto">
          <a:xfrm>
            <a:off x="6553200" y="3200400"/>
            <a:ext cx="1588" cy="228600"/>
          </a:xfrm>
          <a:prstGeom prst="line">
            <a:avLst/>
          </a:prstGeom>
          <a:noFill/>
          <a:ln w="28575">
            <a:solidFill>
              <a:schemeClr val="tx1"/>
            </a:solidFill>
            <a:miter lim="800000"/>
            <a:headEnd/>
            <a:tailEnd/>
          </a:ln>
        </p:spPr>
        <p:txBody>
          <a:bodyPr wrap="none"/>
          <a:lstStyle/>
          <a:p>
            <a:endParaRPr lang="en-US"/>
          </a:p>
        </p:txBody>
      </p:sp>
      <p:sp>
        <p:nvSpPr>
          <p:cNvPr id="3088" name="Rectangle 40"/>
          <p:cNvSpPr>
            <a:spLocks noChangeArrowheads="1"/>
          </p:cNvSpPr>
          <p:nvPr/>
        </p:nvSpPr>
        <p:spPr bwMode="auto">
          <a:xfrm>
            <a:off x="5638800" y="3505200"/>
            <a:ext cx="1843088" cy="454025"/>
          </a:xfrm>
          <a:prstGeom prst="rect">
            <a:avLst/>
          </a:prstGeom>
          <a:noFill/>
          <a:ln w="12700">
            <a:noFill/>
            <a:miter lim="800000"/>
            <a:headEnd/>
            <a:tailEnd/>
          </a:ln>
        </p:spPr>
        <p:txBody>
          <a:bodyPr wrap="none" lIns="90488" tIns="44450" rIns="90488" bIns="44450">
            <a:spAutoFit/>
          </a:bodyPr>
          <a:lstStyle/>
          <a:p>
            <a:pPr eaLnBrk="0" hangingPunct="0"/>
            <a:r>
              <a:rPr lang="el-GR" sz="2400" b="1">
                <a:sym typeface="Symbol" pitchFamily="18" charset="2"/>
              </a:rPr>
              <a:t>σ</a:t>
            </a:r>
            <a:r>
              <a:rPr lang="en-US" sz="2400" b="1">
                <a:sym typeface="Symbol" pitchFamily="18" charset="2"/>
              </a:rPr>
              <a:t> Unknown</a:t>
            </a:r>
          </a:p>
        </p:txBody>
      </p:sp>
      <p:sp>
        <p:nvSpPr>
          <p:cNvPr id="3089" name="Rectangle 41"/>
          <p:cNvSpPr>
            <a:spLocks noChangeArrowheads="1"/>
          </p:cNvSpPr>
          <p:nvPr/>
        </p:nvSpPr>
        <p:spPr bwMode="auto">
          <a:xfrm>
            <a:off x="3276600" y="2133600"/>
            <a:ext cx="2743200" cy="828432"/>
          </a:xfrm>
          <a:prstGeom prst="rect">
            <a:avLst/>
          </a:prstGeom>
          <a:noFill/>
          <a:ln w="12700">
            <a:noFill/>
            <a:miter lim="800000"/>
            <a:headEnd/>
            <a:tailEnd/>
          </a:ln>
        </p:spPr>
        <p:txBody>
          <a:bodyPr lIns="90488" tIns="44450" rIns="90488" bIns="44450">
            <a:spAutoFit/>
          </a:bodyPr>
          <a:lstStyle/>
          <a:p>
            <a:pPr algn="ctr" eaLnBrk="0" hangingPunct="0"/>
            <a:r>
              <a:rPr lang="id-ID" sz="2400" b="1" dirty="0" smtClean="0">
                <a:sym typeface="Symbol" pitchFamily="18" charset="2"/>
              </a:rPr>
              <a:t>Uji hipotesis</a:t>
            </a:r>
          </a:p>
          <a:p>
            <a:pPr algn="ctr" eaLnBrk="0" hangingPunct="0"/>
            <a:r>
              <a:rPr lang="en-US" sz="2400" b="1" dirty="0" smtClean="0">
                <a:sym typeface="Symbol" pitchFamily="18" charset="2"/>
              </a:rPr>
              <a:t> </a:t>
            </a:r>
            <a:r>
              <a:rPr lang="en-US" sz="2400" b="1" dirty="0">
                <a:sym typeface="Symbol" pitchFamily="18" charset="2"/>
              </a:rPr>
              <a:t></a:t>
            </a:r>
          </a:p>
        </p:txBody>
      </p:sp>
      <p:sp>
        <p:nvSpPr>
          <p:cNvPr id="3090" name="Freeform 42"/>
          <p:cNvSpPr>
            <a:spLocks/>
          </p:cNvSpPr>
          <p:nvPr/>
        </p:nvSpPr>
        <p:spPr bwMode="auto">
          <a:xfrm>
            <a:off x="2133600" y="3429000"/>
            <a:ext cx="1819275" cy="914400"/>
          </a:xfrm>
          <a:custGeom>
            <a:avLst/>
            <a:gdLst>
              <a:gd name="T0" fmla="*/ 0 w 1068"/>
              <a:gd name="T1" fmla="*/ 2147483647 h 429"/>
              <a:gd name="T2" fmla="*/ 2147483647 w 1068"/>
              <a:gd name="T3" fmla="*/ 2147483647 h 429"/>
              <a:gd name="T4" fmla="*/ 2147483647 w 1068"/>
              <a:gd name="T5" fmla="*/ 0 h 429"/>
              <a:gd name="T6" fmla="*/ 0 w 1068"/>
              <a:gd name="T7" fmla="*/ 0 h 429"/>
              <a:gd name="T8" fmla="*/ 0 w 1068"/>
              <a:gd name="T9" fmla="*/ 2147483647 h 429"/>
              <a:gd name="T10" fmla="*/ 0 60000 65536"/>
              <a:gd name="T11" fmla="*/ 0 60000 65536"/>
              <a:gd name="T12" fmla="*/ 0 60000 65536"/>
              <a:gd name="T13" fmla="*/ 0 60000 65536"/>
              <a:gd name="T14" fmla="*/ 0 60000 65536"/>
              <a:gd name="T15" fmla="*/ 0 w 1068"/>
              <a:gd name="T16" fmla="*/ 0 h 429"/>
              <a:gd name="T17" fmla="*/ 1068 w 1068"/>
              <a:gd name="T18" fmla="*/ 429 h 429"/>
            </a:gdLst>
            <a:ahLst/>
            <a:cxnLst>
              <a:cxn ang="T10">
                <a:pos x="T0" y="T1"/>
              </a:cxn>
              <a:cxn ang="T11">
                <a:pos x="T2" y="T3"/>
              </a:cxn>
              <a:cxn ang="T12">
                <a:pos x="T4" y="T5"/>
              </a:cxn>
              <a:cxn ang="T13">
                <a:pos x="T6" y="T7"/>
              </a:cxn>
              <a:cxn ang="T14">
                <a:pos x="T8" y="T9"/>
              </a:cxn>
            </a:cxnLst>
            <a:rect l="T15" t="T16" r="T17" b="T18"/>
            <a:pathLst>
              <a:path w="1068" h="429">
                <a:moveTo>
                  <a:pt x="0" y="428"/>
                </a:moveTo>
                <a:lnTo>
                  <a:pt x="1067" y="428"/>
                </a:lnTo>
                <a:lnTo>
                  <a:pt x="1067" y="0"/>
                </a:lnTo>
                <a:lnTo>
                  <a:pt x="0" y="0"/>
                </a:lnTo>
                <a:lnTo>
                  <a:pt x="0" y="428"/>
                </a:lnTo>
              </a:path>
            </a:pathLst>
          </a:custGeom>
          <a:solidFill>
            <a:srgbClr val="FDE0BD"/>
          </a:solidFill>
          <a:ln w="25400" cap="rnd">
            <a:solidFill>
              <a:srgbClr val="1A1A1A"/>
            </a:solidFill>
            <a:round/>
            <a:headEnd/>
            <a:tailEnd/>
          </a:ln>
        </p:spPr>
        <p:txBody>
          <a:bodyPr/>
          <a:lstStyle/>
          <a:p>
            <a:endParaRPr lang="en-US"/>
          </a:p>
        </p:txBody>
      </p:sp>
      <p:sp>
        <p:nvSpPr>
          <p:cNvPr id="3091" name="Rectangle 43"/>
          <p:cNvSpPr>
            <a:spLocks noChangeArrowheads="1"/>
          </p:cNvSpPr>
          <p:nvPr/>
        </p:nvSpPr>
        <p:spPr bwMode="auto">
          <a:xfrm>
            <a:off x="2286000" y="3505200"/>
            <a:ext cx="1803380" cy="459100"/>
          </a:xfrm>
          <a:prstGeom prst="rect">
            <a:avLst/>
          </a:prstGeom>
          <a:noFill/>
          <a:ln w="12700">
            <a:noFill/>
            <a:miter lim="800000"/>
            <a:headEnd/>
            <a:tailEnd/>
          </a:ln>
        </p:spPr>
        <p:txBody>
          <a:bodyPr wrap="none" lIns="90488" tIns="44450" rIns="90488" bIns="44450">
            <a:spAutoFit/>
          </a:bodyPr>
          <a:lstStyle/>
          <a:p>
            <a:pPr eaLnBrk="0" hangingPunct="0"/>
            <a:r>
              <a:rPr lang="en-US" sz="2400" b="1" dirty="0">
                <a:sym typeface="Symbol" pitchFamily="18" charset="2"/>
              </a:rPr>
              <a:t> </a:t>
            </a:r>
            <a:r>
              <a:rPr lang="id-ID" sz="2400" b="1" dirty="0" smtClean="0">
                <a:sym typeface="Symbol" pitchFamily="18" charset="2"/>
              </a:rPr>
              <a:t>diketahui</a:t>
            </a:r>
            <a:endParaRPr lang="en-US" sz="2400" b="1" dirty="0">
              <a:sym typeface="Symbol" pitchFamily="18" charset="2"/>
            </a:endParaRPr>
          </a:p>
        </p:txBody>
      </p:sp>
      <p:sp>
        <p:nvSpPr>
          <p:cNvPr id="3092" name="Freeform 44"/>
          <p:cNvSpPr>
            <a:spLocks/>
          </p:cNvSpPr>
          <p:nvPr/>
        </p:nvSpPr>
        <p:spPr bwMode="auto">
          <a:xfrm>
            <a:off x="5410200" y="3429000"/>
            <a:ext cx="2057400" cy="914400"/>
          </a:xfrm>
          <a:custGeom>
            <a:avLst/>
            <a:gdLst>
              <a:gd name="T0" fmla="*/ 0 w 1241"/>
              <a:gd name="T1" fmla="*/ 2147483647 h 436"/>
              <a:gd name="T2" fmla="*/ 2147483647 w 1241"/>
              <a:gd name="T3" fmla="*/ 2147483647 h 436"/>
              <a:gd name="T4" fmla="*/ 2147483647 w 1241"/>
              <a:gd name="T5" fmla="*/ 0 h 436"/>
              <a:gd name="T6" fmla="*/ 0 w 1241"/>
              <a:gd name="T7" fmla="*/ 0 h 436"/>
              <a:gd name="T8" fmla="*/ 0 w 1241"/>
              <a:gd name="T9" fmla="*/ 2147483647 h 436"/>
              <a:gd name="T10" fmla="*/ 0 60000 65536"/>
              <a:gd name="T11" fmla="*/ 0 60000 65536"/>
              <a:gd name="T12" fmla="*/ 0 60000 65536"/>
              <a:gd name="T13" fmla="*/ 0 60000 65536"/>
              <a:gd name="T14" fmla="*/ 0 60000 65536"/>
              <a:gd name="T15" fmla="*/ 0 w 1241"/>
              <a:gd name="T16" fmla="*/ 0 h 436"/>
              <a:gd name="T17" fmla="*/ 1241 w 1241"/>
              <a:gd name="T18" fmla="*/ 436 h 436"/>
            </a:gdLst>
            <a:ahLst/>
            <a:cxnLst>
              <a:cxn ang="T10">
                <a:pos x="T0" y="T1"/>
              </a:cxn>
              <a:cxn ang="T11">
                <a:pos x="T2" y="T3"/>
              </a:cxn>
              <a:cxn ang="T12">
                <a:pos x="T4" y="T5"/>
              </a:cxn>
              <a:cxn ang="T13">
                <a:pos x="T6" y="T7"/>
              </a:cxn>
              <a:cxn ang="T14">
                <a:pos x="T8" y="T9"/>
              </a:cxn>
            </a:cxnLst>
            <a:rect l="T15" t="T16" r="T17" b="T18"/>
            <a:pathLst>
              <a:path w="1241" h="436">
                <a:moveTo>
                  <a:pt x="0" y="435"/>
                </a:moveTo>
                <a:lnTo>
                  <a:pt x="1240" y="435"/>
                </a:lnTo>
                <a:lnTo>
                  <a:pt x="1240" y="0"/>
                </a:lnTo>
                <a:lnTo>
                  <a:pt x="0" y="0"/>
                </a:lnTo>
                <a:lnTo>
                  <a:pt x="0" y="435"/>
                </a:lnTo>
              </a:path>
            </a:pathLst>
          </a:custGeom>
          <a:solidFill>
            <a:srgbClr val="C7DAF7"/>
          </a:solidFill>
          <a:ln w="25400" cap="rnd">
            <a:solidFill>
              <a:srgbClr val="1A1A1A"/>
            </a:solidFill>
            <a:round/>
            <a:headEnd/>
            <a:tailEnd/>
          </a:ln>
        </p:spPr>
        <p:txBody>
          <a:bodyPr/>
          <a:lstStyle/>
          <a:p>
            <a:endParaRPr lang="en-US"/>
          </a:p>
        </p:txBody>
      </p:sp>
      <p:sp>
        <p:nvSpPr>
          <p:cNvPr id="3093" name="Rectangle 45"/>
          <p:cNvSpPr>
            <a:spLocks noChangeArrowheads="1"/>
          </p:cNvSpPr>
          <p:nvPr/>
        </p:nvSpPr>
        <p:spPr bwMode="auto">
          <a:xfrm>
            <a:off x="5562600" y="3505200"/>
            <a:ext cx="2434963" cy="459100"/>
          </a:xfrm>
          <a:prstGeom prst="rect">
            <a:avLst/>
          </a:prstGeom>
          <a:noFill/>
          <a:ln w="12700">
            <a:noFill/>
            <a:miter lim="800000"/>
            <a:headEnd/>
            <a:tailEnd/>
          </a:ln>
        </p:spPr>
        <p:txBody>
          <a:bodyPr wrap="none" lIns="90488" tIns="44450" rIns="90488" bIns="44450">
            <a:spAutoFit/>
          </a:bodyPr>
          <a:lstStyle/>
          <a:p>
            <a:pPr eaLnBrk="0" hangingPunct="0"/>
            <a:r>
              <a:rPr lang="en-US" sz="2400" b="1" dirty="0" smtClean="0">
                <a:sym typeface="Symbol" pitchFamily="18" charset="2"/>
              </a:rPr>
              <a:t> </a:t>
            </a:r>
            <a:r>
              <a:rPr lang="id-ID" sz="2400" b="1" dirty="0" smtClean="0">
                <a:sym typeface="Symbol" pitchFamily="18" charset="2"/>
              </a:rPr>
              <a:t>Tdk diketahui</a:t>
            </a:r>
            <a:endParaRPr lang="en-US" sz="2400" b="1" dirty="0">
              <a:sym typeface="Symbol" pitchFamily="18" charset="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10"/>
          </p:nvPr>
        </p:nvSpPr>
        <p:spPr>
          <a:ln/>
        </p:spPr>
        <p:txBody>
          <a:bodyPr/>
          <a:lstStyle/>
          <a:p>
            <a:pPr>
              <a:defRPr/>
            </a:pPr>
            <a:r>
              <a:rPr lang="en-US"/>
              <a:t>Chap 9-</a:t>
            </a:r>
            <a:fld id="{0B12E240-70E0-4943-BD45-1CE9D316D7E9}" type="slidenum">
              <a:rPr lang="en-US"/>
              <a:pPr>
                <a:defRPr/>
              </a:pPr>
              <a:t>10</a:t>
            </a:fld>
            <a:endParaRPr lang="en-US"/>
          </a:p>
        </p:txBody>
      </p:sp>
      <p:sp>
        <p:nvSpPr>
          <p:cNvPr id="7"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48129"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38EE7D70-BD5E-4227-B942-D876072E210D}" type="slidenum">
              <a:rPr lang="en-US" sz="1000"/>
              <a:pPr algn="r" defTabSz="852488"/>
              <a:t>10</a:t>
            </a:fld>
            <a:endParaRPr lang="en-US" sz="1000"/>
          </a:p>
        </p:txBody>
      </p:sp>
      <p:sp>
        <p:nvSpPr>
          <p:cNvPr id="48130" name="Rectangle 2"/>
          <p:cNvSpPr>
            <a:spLocks noGrp="1" noChangeArrowheads="1"/>
          </p:cNvSpPr>
          <p:nvPr>
            <p:ph type="title" idx="4294967295"/>
          </p:nvPr>
        </p:nvSpPr>
        <p:spPr>
          <a:xfrm>
            <a:off x="1219200" y="609600"/>
            <a:ext cx="7793038" cy="762000"/>
          </a:xfrm>
        </p:spPr>
        <p:txBody>
          <a:bodyPr/>
          <a:lstStyle/>
          <a:p>
            <a:pPr eaLnBrk="1" hangingPunct="1">
              <a:lnSpc>
                <a:spcPct val="80000"/>
              </a:lnSpc>
            </a:pPr>
            <a:r>
              <a:rPr lang="id-ID" dirty="0" smtClean="0"/>
              <a:t>6 Tahap Pengujian Hipotesis</a:t>
            </a:r>
            <a:endParaRPr lang="en-US" dirty="0" smtClean="0"/>
          </a:p>
        </p:txBody>
      </p:sp>
      <p:sp>
        <p:nvSpPr>
          <p:cNvPr id="48131" name="Rectangle 3"/>
          <p:cNvSpPr>
            <a:spLocks noGrp="1" noChangeArrowheads="1"/>
          </p:cNvSpPr>
          <p:nvPr>
            <p:ph type="body" idx="4294967295"/>
          </p:nvPr>
        </p:nvSpPr>
        <p:spPr>
          <a:xfrm>
            <a:off x="762000" y="1828800"/>
            <a:ext cx="8077200" cy="4724400"/>
          </a:xfrm>
        </p:spPr>
        <p:txBody>
          <a:bodyPr/>
          <a:lstStyle/>
          <a:p>
            <a:pPr marL="533400" indent="-533400">
              <a:spcBef>
                <a:spcPct val="30000"/>
              </a:spcBef>
              <a:buFont typeface="Wingdings" pitchFamily="2" charset="2"/>
              <a:buAutoNum type="arabicPeriod"/>
            </a:pPr>
            <a:r>
              <a:rPr lang="id-ID" dirty="0" smtClean="0"/>
              <a:t>Menyatakan hipotesis nol dan hipotesis alternatif (Ho dan </a:t>
            </a:r>
            <a:r>
              <a:rPr lang="en-US" dirty="0" smtClean="0"/>
              <a:t>H</a:t>
            </a:r>
            <a:r>
              <a:rPr lang="en-US" baseline="-25000" dirty="0" smtClean="0"/>
              <a:t>1</a:t>
            </a:r>
            <a:r>
              <a:rPr lang="id-ID" dirty="0" smtClean="0"/>
              <a:t>) </a:t>
            </a:r>
            <a:endParaRPr lang="en-US" baseline="-25000" dirty="0" smtClean="0"/>
          </a:p>
          <a:p>
            <a:pPr marL="533400" indent="-533400">
              <a:spcBef>
                <a:spcPct val="30000"/>
              </a:spcBef>
              <a:buFont typeface="Wingdings" pitchFamily="2" charset="2"/>
              <a:buAutoNum type="arabicPeriod"/>
            </a:pPr>
            <a:r>
              <a:rPr lang="id-ID" dirty="0" smtClean="0"/>
              <a:t>Tentukan tingkat signifikansi (</a:t>
            </a:r>
            <a:r>
              <a:rPr lang="el-GR" dirty="0" smtClean="0">
                <a:cs typeface="Arial" charset="0"/>
                <a:sym typeface="Symbol" pitchFamily="18" charset="2"/>
              </a:rPr>
              <a:t> </a:t>
            </a:r>
            <a:r>
              <a:rPr lang="id-ID" dirty="0" smtClean="0">
                <a:cs typeface="Arial" charset="0"/>
                <a:sym typeface="Symbol" pitchFamily="18" charset="2"/>
              </a:rPr>
              <a:t>) </a:t>
            </a:r>
            <a:r>
              <a:rPr lang="id-ID" dirty="0" smtClean="0"/>
              <a:t>dan ukuran sampel ( n )</a:t>
            </a:r>
            <a:endParaRPr lang="en-US" dirty="0" smtClean="0">
              <a:cs typeface="Arial" charset="0"/>
            </a:endParaRPr>
          </a:p>
          <a:p>
            <a:pPr marL="533400" indent="-533400" eaLnBrk="1" hangingPunct="1">
              <a:spcBef>
                <a:spcPct val="30000"/>
              </a:spcBef>
              <a:buFont typeface="Wingdings" pitchFamily="2" charset="2"/>
              <a:buAutoNum type="arabicPeriod"/>
            </a:pPr>
            <a:r>
              <a:rPr lang="id-ID" dirty="0" smtClean="0">
                <a:cs typeface="Arial" charset="0"/>
              </a:rPr>
              <a:t>Tentukan distribusi sampling dan statistik uji yang sesuai</a:t>
            </a:r>
          </a:p>
          <a:p>
            <a:pPr marL="533400" indent="-533400" eaLnBrk="1" hangingPunct="1">
              <a:spcBef>
                <a:spcPct val="30000"/>
              </a:spcBef>
              <a:buFont typeface="Wingdings" pitchFamily="2" charset="2"/>
              <a:buAutoNum type="arabicPeriod"/>
            </a:pPr>
            <a:r>
              <a:rPr lang="id-ID" dirty="0" smtClean="0">
                <a:cs typeface="Arial" charset="0"/>
              </a:rPr>
              <a:t>Tentukan titik kritis yang membagi daerah penolakan dan penerimaan Ho.</a:t>
            </a:r>
            <a:endParaRPr lang="en-US" dirty="0" smtClean="0"/>
          </a:p>
        </p:txBody>
      </p:sp>
      <p:sp>
        <p:nvSpPr>
          <p:cNvPr id="48133" name="Rectangle 6"/>
          <p:cNvSpPr>
            <a:spLocks noChangeArrowheads="1"/>
          </p:cNvSpPr>
          <p:nvPr/>
        </p:nvSpPr>
        <p:spPr bwMode="auto">
          <a:xfrm>
            <a:off x="7772400" y="1143000"/>
            <a:ext cx="1257300" cy="461963"/>
          </a:xfrm>
          <a:prstGeom prst="rect">
            <a:avLst/>
          </a:prstGeom>
          <a:noFill/>
          <a:ln w="9525">
            <a:noFill/>
            <a:miter lim="800000"/>
            <a:headEnd/>
            <a:tailEnd/>
          </a:ln>
        </p:spPr>
        <p:txBody>
          <a:bodyPr wrap="none">
            <a:spAutoFit/>
          </a:bodyPr>
          <a:lstStyle/>
          <a:p>
            <a:r>
              <a:rPr lang="en-US"/>
              <a:t>DCOV</a:t>
            </a:r>
            <a:r>
              <a:rPr lang="en-US" u="sng">
                <a:solidFill>
                  <a:srgbClr val="FF0000"/>
                </a:solidFill>
              </a:rPr>
              <a:t>A</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10"/>
          </p:nvPr>
        </p:nvSpPr>
        <p:spPr>
          <a:ln/>
        </p:spPr>
        <p:txBody>
          <a:bodyPr/>
          <a:lstStyle/>
          <a:p>
            <a:pPr>
              <a:defRPr/>
            </a:pPr>
            <a:r>
              <a:rPr lang="en-US"/>
              <a:t>Chap 9-</a:t>
            </a:r>
            <a:fld id="{30F53A62-7535-493A-9A08-0D3D10437573}" type="slidenum">
              <a:rPr lang="en-US"/>
              <a:pPr>
                <a:defRPr/>
              </a:pPr>
              <a:t>11</a:t>
            </a:fld>
            <a:endParaRPr lang="en-US"/>
          </a:p>
        </p:txBody>
      </p:sp>
      <p:sp>
        <p:nvSpPr>
          <p:cNvPr id="8"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49153"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173D8742-7BF1-4029-8452-2949B288CBC2}" type="slidenum">
              <a:rPr lang="en-US" sz="1000"/>
              <a:pPr algn="r" defTabSz="852488"/>
              <a:t>11</a:t>
            </a:fld>
            <a:endParaRPr lang="en-US" sz="1000"/>
          </a:p>
        </p:txBody>
      </p:sp>
      <p:sp>
        <p:nvSpPr>
          <p:cNvPr id="49154" name="Rectangle 2"/>
          <p:cNvSpPr>
            <a:spLocks noGrp="1" noChangeArrowheads="1"/>
          </p:cNvSpPr>
          <p:nvPr>
            <p:ph type="title" idx="4294967295"/>
          </p:nvPr>
        </p:nvSpPr>
        <p:spPr>
          <a:xfrm>
            <a:off x="1219200" y="609600"/>
            <a:ext cx="7793038" cy="762000"/>
          </a:xfrm>
        </p:spPr>
        <p:txBody>
          <a:bodyPr/>
          <a:lstStyle/>
          <a:p>
            <a:pPr eaLnBrk="1" hangingPunct="1">
              <a:lnSpc>
                <a:spcPct val="80000"/>
              </a:lnSpc>
            </a:pPr>
            <a:r>
              <a:rPr lang="id-ID" dirty="0" smtClean="0"/>
              <a:t>6 Tahap Pengujian Hipotesis</a:t>
            </a:r>
            <a:endParaRPr lang="en-US" dirty="0" smtClean="0"/>
          </a:p>
        </p:txBody>
      </p:sp>
      <p:sp>
        <p:nvSpPr>
          <p:cNvPr id="49155" name="Rectangle 3"/>
          <p:cNvSpPr>
            <a:spLocks noGrp="1" noChangeArrowheads="1"/>
          </p:cNvSpPr>
          <p:nvPr>
            <p:ph type="body" idx="4294967295"/>
          </p:nvPr>
        </p:nvSpPr>
        <p:spPr>
          <a:xfrm>
            <a:off x="762000" y="1828800"/>
            <a:ext cx="8077200" cy="4724400"/>
          </a:xfrm>
        </p:spPr>
        <p:txBody>
          <a:bodyPr/>
          <a:lstStyle/>
          <a:p>
            <a:pPr marL="533400" indent="-533400" eaLnBrk="1" hangingPunct="1">
              <a:spcBef>
                <a:spcPct val="30000"/>
              </a:spcBef>
              <a:buFont typeface="Wingdings" pitchFamily="2" charset="2"/>
              <a:buAutoNum type="arabicPeriod" startAt="5"/>
            </a:pPr>
            <a:r>
              <a:rPr lang="id-ID" dirty="0" smtClean="0"/>
              <a:t>Kumpulkan data dan hitung nilai statistik uji</a:t>
            </a:r>
            <a:endParaRPr lang="en-US" dirty="0" smtClean="0"/>
          </a:p>
          <a:p>
            <a:pPr marL="533400" indent="-533400" eaLnBrk="1" hangingPunct="1">
              <a:spcBef>
                <a:spcPct val="30000"/>
              </a:spcBef>
              <a:buFont typeface="Wingdings" pitchFamily="2" charset="2"/>
              <a:buAutoNum type="arabicPeriod" startAt="5"/>
            </a:pPr>
            <a:r>
              <a:rPr lang="id-ID" dirty="0" smtClean="0">
                <a:cs typeface="Arial" charset="0"/>
              </a:rPr>
              <a:t>Lakukan pengambilan keputusan/kesimpulan. Jika statistik uji berada di daerah penolakan, maka tolak Ho. Namun bila statistik uji ada di daerah penerimaan Ho, maka gagal tolak Ho. Kemudian akukan pengambilan kesimpulan sesuai dengan konteks masalah.</a:t>
            </a:r>
            <a:endParaRPr lang="en-US" dirty="0" smtClean="0"/>
          </a:p>
        </p:txBody>
      </p:sp>
      <p:sp>
        <p:nvSpPr>
          <p:cNvPr id="49156" name="Text Box 4"/>
          <p:cNvSpPr txBox="1">
            <a:spLocks noChangeArrowheads="1"/>
          </p:cNvSpPr>
          <p:nvPr/>
        </p:nvSpPr>
        <p:spPr bwMode="auto">
          <a:xfrm>
            <a:off x="7543800" y="1223963"/>
            <a:ext cx="1454150" cy="396875"/>
          </a:xfrm>
          <a:prstGeom prst="rect">
            <a:avLst/>
          </a:prstGeom>
          <a:noFill/>
          <a:ln w="9525">
            <a:noFill/>
            <a:miter lim="800000"/>
            <a:headEnd/>
            <a:tailEnd/>
          </a:ln>
        </p:spPr>
        <p:txBody>
          <a:bodyPr wrap="none">
            <a:spAutoFit/>
          </a:bodyPr>
          <a:lstStyle/>
          <a:p>
            <a:r>
              <a:rPr lang="en-US" sz="2000" i="1">
                <a:solidFill>
                  <a:schemeClr val="tx2"/>
                </a:solidFill>
              </a:rPr>
              <a:t>(continued)</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5"/>
          <p:cNvSpPr>
            <a:spLocks noGrp="1" noChangeArrowheads="1"/>
          </p:cNvSpPr>
          <p:nvPr>
            <p:ph type="sldNum" sz="quarter" idx="10"/>
          </p:nvPr>
        </p:nvSpPr>
        <p:spPr>
          <a:ln/>
        </p:spPr>
        <p:txBody>
          <a:bodyPr/>
          <a:lstStyle/>
          <a:p>
            <a:pPr>
              <a:defRPr/>
            </a:pPr>
            <a:r>
              <a:rPr lang="en-US"/>
              <a:t>Chap 9-</a:t>
            </a:r>
            <a:fld id="{299DE793-7D95-4968-AEBC-EEA1BA8BD346}" type="slidenum">
              <a:rPr lang="en-US"/>
              <a:pPr>
                <a:defRPr/>
              </a:pPr>
              <a:t>12</a:t>
            </a:fld>
            <a:endParaRPr lang="en-US"/>
          </a:p>
        </p:txBody>
      </p:sp>
      <p:sp>
        <p:nvSpPr>
          <p:cNvPr id="11"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50177"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F32166D7-2D01-4BF8-930A-82867BFA3BA1}" type="slidenum">
              <a:rPr lang="en-US" sz="1000"/>
              <a:pPr algn="r" defTabSz="852488"/>
              <a:t>12</a:t>
            </a:fld>
            <a:endParaRPr lang="en-US" sz="1000"/>
          </a:p>
        </p:txBody>
      </p:sp>
      <p:sp>
        <p:nvSpPr>
          <p:cNvPr id="50178" name="Rectangle 2"/>
          <p:cNvSpPr>
            <a:spLocks noGrp="1" noChangeArrowheads="1"/>
          </p:cNvSpPr>
          <p:nvPr>
            <p:ph type="title" idx="4294967295"/>
          </p:nvPr>
        </p:nvSpPr>
        <p:spPr>
          <a:xfrm>
            <a:off x="1219200" y="457200"/>
            <a:ext cx="7467600" cy="762000"/>
          </a:xfrm>
        </p:spPr>
        <p:txBody>
          <a:bodyPr/>
          <a:lstStyle/>
          <a:p>
            <a:pPr eaLnBrk="1" hangingPunct="1"/>
            <a:r>
              <a:rPr lang="id-ID" dirty="0" smtClean="0"/>
              <a:t>Contoh: Pengujian Hipotesis</a:t>
            </a:r>
            <a:endParaRPr lang="en-US" dirty="0" smtClean="0"/>
          </a:p>
        </p:txBody>
      </p:sp>
      <p:sp>
        <p:nvSpPr>
          <p:cNvPr id="50179" name="Rectangle 3"/>
          <p:cNvSpPr>
            <a:spLocks noChangeArrowheads="1"/>
          </p:cNvSpPr>
          <p:nvPr/>
        </p:nvSpPr>
        <p:spPr bwMode="auto">
          <a:xfrm>
            <a:off x="0" y="1600200"/>
            <a:ext cx="8686800" cy="2895600"/>
          </a:xfrm>
          <a:prstGeom prst="rect">
            <a:avLst/>
          </a:prstGeom>
          <a:solidFill>
            <a:srgbClr val="FDE0BD"/>
          </a:solidFill>
          <a:ln w="19050" algn="ctr">
            <a:solidFill>
              <a:schemeClr val="tx1"/>
            </a:solidFill>
            <a:miter lim="800000"/>
            <a:headEnd/>
            <a:tailEnd/>
          </a:ln>
        </p:spPr>
        <p:txBody>
          <a:bodyPr wrap="none" anchor="ctr"/>
          <a:lstStyle/>
          <a:p>
            <a:pPr algn="ctr"/>
            <a:endParaRPr lang="en-US" sz="2000" b="1" dirty="0"/>
          </a:p>
        </p:txBody>
      </p:sp>
      <p:sp>
        <p:nvSpPr>
          <p:cNvPr id="50180" name="Rectangle 4"/>
          <p:cNvSpPr>
            <a:spLocks noChangeArrowheads="1"/>
          </p:cNvSpPr>
          <p:nvPr/>
        </p:nvSpPr>
        <p:spPr bwMode="auto">
          <a:xfrm>
            <a:off x="914400" y="1524000"/>
            <a:ext cx="7162800" cy="2675091"/>
          </a:xfrm>
          <a:prstGeom prst="rect">
            <a:avLst/>
          </a:prstGeom>
          <a:noFill/>
          <a:ln w="9525">
            <a:noFill/>
            <a:miter lim="800000"/>
            <a:headEnd/>
            <a:tailEnd/>
          </a:ln>
        </p:spPr>
        <p:txBody>
          <a:bodyPr wrap="square" lIns="90488" tIns="44450" rIns="90488" bIns="44450">
            <a:spAutoFit/>
          </a:bodyPr>
          <a:lstStyle/>
          <a:p>
            <a:pPr algn="just" eaLnBrk="0" hangingPunct="0">
              <a:spcBef>
                <a:spcPct val="50000"/>
              </a:spcBef>
            </a:pPr>
            <a:r>
              <a:rPr lang="id-ID" sz="2400" dirty="0" smtClean="0">
                <a:solidFill>
                  <a:schemeClr val="bg2"/>
                </a:solidFill>
              </a:rPr>
              <a:t>Sebuah penelitian bertujuan untuk menguji klaim bahwa rata-rata pertumbuhan ikan sirip kuning  adalah 30 gr/hari. Suatu sampel berukuran 100 ekor ikan diambil untuk menguji klaim ini dan diperoleh rata2 pertumbuhan ikan adalah 29.4 gr/hari. Lakukan uji hipotesis apakah klaim ini bisa diterima atau tidak (asumsikan </a:t>
            </a:r>
            <a:r>
              <a:rPr lang="el-GR" sz="2400" dirty="0" smtClean="0">
                <a:solidFill>
                  <a:schemeClr val="bg2"/>
                </a:solidFill>
              </a:rPr>
              <a:t>σ</a:t>
            </a:r>
            <a:r>
              <a:rPr lang="id-ID" sz="2400" dirty="0" smtClean="0">
                <a:solidFill>
                  <a:schemeClr val="bg2"/>
                </a:solidFill>
              </a:rPr>
              <a:t>=3, </a:t>
            </a:r>
            <a:r>
              <a:rPr lang="el-GR" sz="2400" dirty="0" smtClean="0">
                <a:solidFill>
                  <a:schemeClr val="bg2"/>
                </a:solidFill>
              </a:rPr>
              <a:t>α</a:t>
            </a:r>
            <a:r>
              <a:rPr lang="id-ID" sz="2400" dirty="0" smtClean="0">
                <a:solidFill>
                  <a:schemeClr val="bg2"/>
                </a:solidFill>
              </a:rPr>
              <a:t>=0.05).</a:t>
            </a:r>
            <a:endParaRPr lang="en-US" sz="2400" dirty="0">
              <a:solidFill>
                <a:schemeClr val="bg2"/>
              </a:solidFill>
            </a:endParaRPr>
          </a:p>
        </p:txBody>
      </p:sp>
      <p:sp>
        <p:nvSpPr>
          <p:cNvPr id="50182" name="Rectangle 6"/>
          <p:cNvSpPr>
            <a:spLocks noChangeArrowheads="1"/>
          </p:cNvSpPr>
          <p:nvPr/>
        </p:nvSpPr>
        <p:spPr bwMode="auto">
          <a:xfrm>
            <a:off x="609600" y="4876800"/>
            <a:ext cx="7543800" cy="1676400"/>
          </a:xfrm>
          <a:prstGeom prst="rect">
            <a:avLst/>
          </a:prstGeom>
          <a:noFill/>
          <a:ln w="9525">
            <a:noFill/>
            <a:miter lim="800000"/>
            <a:headEnd/>
            <a:tailEnd/>
          </a:ln>
        </p:spPr>
        <p:txBody>
          <a:bodyPr lIns="85342" tIns="42672" rIns="85342" bIns="42672"/>
          <a:lstStyle/>
          <a:p>
            <a:pPr marL="320675" indent="-320675" defTabSz="852488">
              <a:lnSpc>
                <a:spcPct val="80000"/>
              </a:lnSpc>
              <a:spcBef>
                <a:spcPct val="20000"/>
              </a:spcBef>
              <a:buClr>
                <a:schemeClr val="folHlink"/>
              </a:buClr>
              <a:buSzPct val="60000"/>
              <a:buFont typeface="Wingdings" pitchFamily="2" charset="2"/>
              <a:buNone/>
            </a:pPr>
            <a:r>
              <a:rPr lang="en-US" sz="2400" dirty="0"/>
              <a:t>1.	  </a:t>
            </a:r>
            <a:r>
              <a:rPr lang="id-ID" sz="2400" dirty="0" smtClean="0"/>
              <a:t>Nyatakan Ho dan H</a:t>
            </a:r>
            <a:r>
              <a:rPr lang="id-ID" sz="2400" baseline="-25000" dirty="0" smtClean="0"/>
              <a:t>1</a:t>
            </a:r>
            <a:endParaRPr lang="en-US" sz="2400" baseline="-25000" dirty="0"/>
          </a:p>
          <a:p>
            <a:pPr marL="693738" lvl="1" indent="-268288" defTabSz="852488">
              <a:spcBef>
                <a:spcPct val="20000"/>
              </a:spcBef>
              <a:buClr>
                <a:schemeClr val="hlink"/>
              </a:buClr>
              <a:buSzPct val="55000"/>
              <a:buFont typeface="Wingdings" pitchFamily="2" charset="2"/>
              <a:buChar char="n"/>
            </a:pPr>
            <a:r>
              <a:rPr lang="en-US" sz="2400" dirty="0">
                <a:solidFill>
                  <a:schemeClr val="folHlink"/>
                </a:solidFill>
              </a:rPr>
              <a:t>H</a:t>
            </a:r>
            <a:r>
              <a:rPr lang="en-US" sz="2400" baseline="-25000" dirty="0">
                <a:solidFill>
                  <a:schemeClr val="folHlink"/>
                </a:solidFill>
              </a:rPr>
              <a:t>0</a:t>
            </a:r>
            <a:r>
              <a:rPr lang="en-US" sz="2400" dirty="0">
                <a:solidFill>
                  <a:schemeClr val="folHlink"/>
                </a:solidFill>
              </a:rPr>
              <a:t>: </a:t>
            </a:r>
            <a:r>
              <a:rPr lang="el-GR" sz="2400" dirty="0">
                <a:solidFill>
                  <a:schemeClr val="folHlink"/>
                </a:solidFill>
                <a:cs typeface="Arial" charset="0"/>
                <a:sym typeface="Symbol" pitchFamily="18" charset="2"/>
              </a:rPr>
              <a:t>μ</a:t>
            </a:r>
            <a:r>
              <a:rPr lang="en-US" sz="2400" dirty="0">
                <a:solidFill>
                  <a:schemeClr val="folHlink"/>
                </a:solidFill>
                <a:sym typeface="Symbol" pitchFamily="18" charset="2"/>
              </a:rPr>
              <a:t> = 30      H</a:t>
            </a:r>
            <a:r>
              <a:rPr lang="en-US" sz="2400" baseline="-25000" dirty="0">
                <a:solidFill>
                  <a:schemeClr val="folHlink"/>
                </a:solidFill>
                <a:sym typeface="Symbol" pitchFamily="18" charset="2"/>
              </a:rPr>
              <a:t>1</a:t>
            </a:r>
            <a:r>
              <a:rPr lang="en-US" sz="2400" dirty="0">
                <a:solidFill>
                  <a:schemeClr val="folHlink"/>
                </a:solidFill>
                <a:sym typeface="Symbol" pitchFamily="18" charset="2"/>
              </a:rPr>
              <a:t>: </a:t>
            </a:r>
            <a:r>
              <a:rPr lang="el-GR" sz="2400" dirty="0">
                <a:solidFill>
                  <a:schemeClr val="folHlink"/>
                </a:solidFill>
                <a:cs typeface="Arial" charset="0"/>
                <a:sym typeface="Symbol" pitchFamily="18" charset="2"/>
              </a:rPr>
              <a:t>μ</a:t>
            </a:r>
            <a:r>
              <a:rPr lang="en-US" sz="2400" dirty="0">
                <a:solidFill>
                  <a:schemeClr val="folHlink"/>
                </a:solidFill>
                <a:sym typeface="Symbol" pitchFamily="18" charset="2"/>
              </a:rPr>
              <a:t> </a:t>
            </a:r>
            <a:r>
              <a:rPr lang="en-US" sz="2400" dirty="0">
                <a:solidFill>
                  <a:schemeClr val="folHlink"/>
                </a:solidFill>
                <a:cs typeface="Arial" charset="0"/>
                <a:sym typeface="Symbol" pitchFamily="18" charset="2"/>
              </a:rPr>
              <a:t>≠</a:t>
            </a:r>
            <a:r>
              <a:rPr lang="en-US" sz="2400" dirty="0">
                <a:solidFill>
                  <a:schemeClr val="folHlink"/>
                </a:solidFill>
                <a:sym typeface="Symbol" pitchFamily="18" charset="2"/>
              </a:rPr>
              <a:t> 30    </a:t>
            </a:r>
            <a:r>
              <a:rPr lang="en-US" sz="2400" dirty="0" smtClean="0">
                <a:solidFill>
                  <a:schemeClr val="folHlink"/>
                </a:solidFill>
                <a:sym typeface="Symbol" pitchFamily="18" charset="2"/>
              </a:rPr>
              <a:t>(</a:t>
            </a:r>
            <a:r>
              <a:rPr lang="id-ID" sz="2400" dirty="0" smtClean="0">
                <a:solidFill>
                  <a:schemeClr val="folHlink"/>
                </a:solidFill>
                <a:sym typeface="Symbol" pitchFamily="18" charset="2"/>
              </a:rPr>
              <a:t>uji dua arah</a:t>
            </a:r>
            <a:r>
              <a:rPr lang="en-US" sz="2400" dirty="0" smtClean="0">
                <a:solidFill>
                  <a:schemeClr val="folHlink"/>
                </a:solidFill>
                <a:sym typeface="Symbol" pitchFamily="18" charset="2"/>
              </a:rPr>
              <a:t>)</a:t>
            </a:r>
            <a:endParaRPr lang="en-US" sz="2400" dirty="0">
              <a:solidFill>
                <a:schemeClr val="folHlink"/>
              </a:solidFill>
              <a:sym typeface="Symbol" pitchFamily="18" charset="2"/>
            </a:endParaRPr>
          </a:p>
          <a:p>
            <a:pPr marL="320675" indent="-320675" defTabSz="852488">
              <a:spcBef>
                <a:spcPct val="20000"/>
              </a:spcBef>
              <a:buClr>
                <a:schemeClr val="folHlink"/>
              </a:buClr>
              <a:buSzPct val="60000"/>
              <a:buFont typeface="Wingdings" pitchFamily="2" charset="2"/>
              <a:buNone/>
            </a:pPr>
            <a:r>
              <a:rPr lang="en-US" sz="2400" dirty="0" smtClean="0"/>
              <a:t>2</a:t>
            </a:r>
            <a:r>
              <a:rPr lang="id-ID" sz="2400" dirty="0" smtClean="0"/>
              <a:t>. Spesifikasi tingkat signifikansi </a:t>
            </a:r>
            <a:r>
              <a:rPr lang="el-GR" sz="2400" dirty="0" smtClean="0"/>
              <a:t>α</a:t>
            </a:r>
            <a:r>
              <a:rPr lang="id-ID" sz="2400" dirty="0" smtClean="0"/>
              <a:t> dan ukuran sampel</a:t>
            </a:r>
            <a:endParaRPr lang="en-US" sz="2400" dirty="0"/>
          </a:p>
          <a:p>
            <a:pPr marL="693738" lvl="1" indent="-268288" defTabSz="852488">
              <a:spcBef>
                <a:spcPct val="20000"/>
              </a:spcBef>
              <a:buClr>
                <a:schemeClr val="hlink"/>
              </a:buClr>
              <a:buSzPct val="55000"/>
              <a:buFont typeface="Wingdings" pitchFamily="2" charset="2"/>
              <a:buChar char="n"/>
            </a:pPr>
            <a:r>
              <a:rPr lang="en-US" sz="2400" dirty="0" smtClean="0">
                <a:solidFill>
                  <a:schemeClr val="folHlink"/>
                </a:solidFill>
                <a:sym typeface="Symbol" pitchFamily="18" charset="2"/>
              </a:rPr>
              <a:t></a:t>
            </a:r>
            <a:r>
              <a:rPr lang="en-US" sz="2400" dirty="0" smtClean="0">
                <a:solidFill>
                  <a:schemeClr val="folHlink"/>
                </a:solidFill>
              </a:rPr>
              <a:t> </a:t>
            </a:r>
            <a:r>
              <a:rPr lang="en-US" sz="2400" dirty="0">
                <a:solidFill>
                  <a:schemeClr val="folHlink"/>
                </a:solidFill>
              </a:rPr>
              <a:t>= 0.05 </a:t>
            </a:r>
            <a:r>
              <a:rPr lang="id-ID" sz="2400" dirty="0" smtClean="0">
                <a:solidFill>
                  <a:schemeClr val="folHlink"/>
                </a:solidFill>
              </a:rPr>
              <a:t>dan</a:t>
            </a:r>
            <a:r>
              <a:rPr lang="en-US" sz="2400" dirty="0" smtClean="0">
                <a:solidFill>
                  <a:schemeClr val="folHlink"/>
                </a:solidFill>
              </a:rPr>
              <a:t> </a:t>
            </a:r>
            <a:r>
              <a:rPr lang="en-US" sz="2400" dirty="0">
                <a:solidFill>
                  <a:schemeClr val="folHlink"/>
                </a:solidFill>
              </a:rPr>
              <a:t>n = </a:t>
            </a:r>
            <a:r>
              <a:rPr lang="en-US" sz="2400" dirty="0" smtClean="0">
                <a:solidFill>
                  <a:schemeClr val="folHlink"/>
                </a:solidFill>
              </a:rPr>
              <a:t>100</a:t>
            </a:r>
            <a:endParaRPr lang="en-US" sz="2400" dirty="0">
              <a:solidFill>
                <a:schemeClr val="folHlink"/>
              </a:solidFill>
            </a:endParaRPr>
          </a:p>
        </p:txBody>
      </p:sp>
      <p:sp>
        <p:nvSpPr>
          <p:cNvPr id="50184" name="Rectangle 10"/>
          <p:cNvSpPr>
            <a:spLocks noChangeArrowheads="1"/>
          </p:cNvSpPr>
          <p:nvPr/>
        </p:nvSpPr>
        <p:spPr bwMode="auto">
          <a:xfrm>
            <a:off x="7772400" y="1143000"/>
            <a:ext cx="1257300" cy="461963"/>
          </a:xfrm>
          <a:prstGeom prst="rect">
            <a:avLst/>
          </a:prstGeom>
          <a:noFill/>
          <a:ln w="9525">
            <a:noFill/>
            <a:miter lim="800000"/>
            <a:headEnd/>
            <a:tailEnd/>
          </a:ln>
        </p:spPr>
        <p:txBody>
          <a:bodyPr wrap="none">
            <a:spAutoFit/>
          </a:bodyPr>
          <a:lstStyle/>
          <a:p>
            <a:r>
              <a:rPr lang="en-US"/>
              <a:t>DCOV</a:t>
            </a:r>
            <a:r>
              <a:rPr lang="en-US" u="sng">
                <a:solidFill>
                  <a:srgbClr val="FF0000"/>
                </a:solidFill>
              </a:rPr>
              <a:t>A</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5"/>
          <p:cNvSpPr>
            <a:spLocks noGrp="1" noChangeArrowheads="1"/>
          </p:cNvSpPr>
          <p:nvPr>
            <p:ph type="sldNum" sz="quarter" idx="10"/>
          </p:nvPr>
        </p:nvSpPr>
        <p:spPr>
          <a:ln/>
        </p:spPr>
        <p:txBody>
          <a:bodyPr/>
          <a:lstStyle/>
          <a:p>
            <a:pPr>
              <a:defRPr/>
            </a:pPr>
            <a:r>
              <a:rPr lang="en-US"/>
              <a:t>Chap 9-</a:t>
            </a:r>
            <a:fld id="{E4A049FC-4FC8-4850-BD48-5136525285A9}" type="slidenum">
              <a:rPr lang="en-US"/>
              <a:pPr>
                <a:defRPr/>
              </a:pPr>
              <a:t>13</a:t>
            </a:fld>
            <a:endParaRPr lang="en-US"/>
          </a:p>
        </p:txBody>
      </p:sp>
      <p:sp>
        <p:nvSpPr>
          <p:cNvPr id="11"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5123"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9CFE9DCE-E626-4A43-9C2B-30592E7E56DE}" type="slidenum">
              <a:rPr lang="en-US" sz="1000"/>
              <a:pPr algn="r" defTabSz="852488"/>
              <a:t>13</a:t>
            </a:fld>
            <a:endParaRPr lang="en-US" sz="1000"/>
          </a:p>
        </p:txBody>
      </p:sp>
      <p:graphicFrame>
        <p:nvGraphicFramePr>
          <p:cNvPr id="5122" name="Object 10">
            <a:hlinkClick r:id="" action="ppaction://ole?verb=0"/>
          </p:cNvPr>
          <p:cNvGraphicFramePr>
            <a:graphicFrameLocks/>
          </p:cNvGraphicFramePr>
          <p:nvPr/>
        </p:nvGraphicFramePr>
        <p:xfrm>
          <a:off x="581025" y="4659313"/>
          <a:ext cx="6977063" cy="1360487"/>
        </p:xfrm>
        <a:graphic>
          <a:graphicData uri="http://schemas.openxmlformats.org/presentationml/2006/ole">
            <mc:AlternateContent xmlns:mc="http://schemas.openxmlformats.org/markup-compatibility/2006">
              <mc:Choice xmlns:v="urn:schemas-microsoft-com:vml" Requires="v">
                <p:oleObj spid="_x0000_s302089" name="Equation" r:id="rId4" imgW="3047760" imgH="634680" progId="Equation.DSMT4">
                  <p:embed/>
                </p:oleObj>
              </mc:Choice>
              <mc:Fallback>
                <p:oleObj name="Equation" r:id="rId4" imgW="3047760" imgH="634680" progId="Equation.DSMT4">
                  <p:embed/>
                  <p:pic>
                    <p:nvPicPr>
                      <p:cNvPr id="0" name="Object 1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1025" y="4659313"/>
                        <a:ext cx="6977063" cy="1360487"/>
                      </a:xfrm>
                      <a:prstGeom prst="rect">
                        <a:avLst/>
                      </a:prstGeom>
                      <a:solidFill>
                        <a:srgbClr val="FDE0BD"/>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4" name="Rectangle 2"/>
          <p:cNvSpPr>
            <a:spLocks noGrp="1" noChangeArrowheads="1"/>
          </p:cNvSpPr>
          <p:nvPr>
            <p:ph type="title" idx="4294967295"/>
          </p:nvPr>
        </p:nvSpPr>
        <p:spPr>
          <a:xfrm>
            <a:off x="914400" y="304800"/>
            <a:ext cx="7315200" cy="762000"/>
          </a:xfrm>
        </p:spPr>
        <p:txBody>
          <a:bodyPr/>
          <a:lstStyle/>
          <a:p>
            <a:pPr eaLnBrk="1" hangingPunct="1"/>
            <a:r>
              <a:rPr lang="id-ID" dirty="0" smtClean="0"/>
              <a:t>Contoh: Pengujian Hipotesis</a:t>
            </a:r>
            <a:endParaRPr lang="en-US" dirty="0" smtClean="0"/>
          </a:p>
        </p:txBody>
      </p:sp>
      <p:sp>
        <p:nvSpPr>
          <p:cNvPr id="5125" name="Rectangle 6"/>
          <p:cNvSpPr>
            <a:spLocks noChangeArrowheads="1"/>
          </p:cNvSpPr>
          <p:nvPr/>
        </p:nvSpPr>
        <p:spPr bwMode="auto">
          <a:xfrm>
            <a:off x="685800" y="1524000"/>
            <a:ext cx="8229600" cy="3429000"/>
          </a:xfrm>
          <a:prstGeom prst="rect">
            <a:avLst/>
          </a:prstGeom>
          <a:noFill/>
          <a:ln w="9525">
            <a:noFill/>
            <a:miter lim="800000"/>
            <a:headEnd/>
            <a:tailEnd/>
          </a:ln>
        </p:spPr>
        <p:txBody>
          <a:bodyPr lIns="85342" tIns="42672" rIns="85342" bIns="42672"/>
          <a:lstStyle/>
          <a:p>
            <a:pPr marL="320675" indent="-320675" defTabSz="852488">
              <a:lnSpc>
                <a:spcPct val="80000"/>
              </a:lnSpc>
              <a:spcBef>
                <a:spcPct val="20000"/>
              </a:spcBef>
              <a:buClr>
                <a:schemeClr val="folHlink"/>
              </a:buClr>
              <a:buSzPct val="60000"/>
              <a:buFont typeface="Wingdings" pitchFamily="2" charset="2"/>
              <a:buNone/>
            </a:pPr>
            <a:r>
              <a:rPr lang="en-US" sz="2400" dirty="0"/>
              <a:t>3.	  </a:t>
            </a:r>
            <a:r>
              <a:rPr lang="id-ID" sz="2400" dirty="0" smtClean="0"/>
              <a:t>Tentukan distribusi sampling dan statistik uji</a:t>
            </a:r>
            <a:endParaRPr lang="en-US" sz="2400" dirty="0"/>
          </a:p>
          <a:p>
            <a:pPr marL="693738" lvl="1" indent="-268288" defTabSz="852488">
              <a:lnSpc>
                <a:spcPct val="80000"/>
              </a:lnSpc>
              <a:spcBef>
                <a:spcPct val="20000"/>
              </a:spcBef>
              <a:buClr>
                <a:schemeClr val="hlink"/>
              </a:buClr>
              <a:buSzPct val="55000"/>
              <a:buFont typeface="Wingdings" pitchFamily="2" charset="2"/>
              <a:buChar char="n"/>
            </a:pPr>
            <a:r>
              <a:rPr lang="id-ID" sz="2400" dirty="0" smtClean="0">
                <a:solidFill>
                  <a:schemeClr val="folHlink"/>
                </a:solidFill>
                <a:cs typeface="Arial" charset="0"/>
              </a:rPr>
              <a:t>Karena </a:t>
            </a:r>
            <a:r>
              <a:rPr lang="el-GR" sz="2400" dirty="0" smtClean="0">
                <a:solidFill>
                  <a:schemeClr val="folHlink"/>
                </a:solidFill>
                <a:cs typeface="Arial" charset="0"/>
              </a:rPr>
              <a:t>σ</a:t>
            </a:r>
            <a:r>
              <a:rPr lang="en-US" sz="2400" dirty="0" smtClean="0">
                <a:solidFill>
                  <a:schemeClr val="folHlink"/>
                </a:solidFill>
                <a:cs typeface="Arial" charset="0"/>
              </a:rPr>
              <a:t> </a:t>
            </a:r>
            <a:r>
              <a:rPr lang="id-ID" sz="2400" dirty="0" smtClean="0">
                <a:solidFill>
                  <a:schemeClr val="folHlink"/>
                </a:solidFill>
                <a:cs typeface="Arial" charset="0"/>
              </a:rPr>
              <a:t>diasumsikan diketahui maka digunakan uji Z</a:t>
            </a:r>
            <a:endParaRPr lang="en-US" sz="2000" dirty="0"/>
          </a:p>
          <a:p>
            <a:pPr marL="320675" indent="-320675" defTabSz="852488">
              <a:lnSpc>
                <a:spcPct val="80000"/>
              </a:lnSpc>
              <a:spcBef>
                <a:spcPct val="20000"/>
              </a:spcBef>
              <a:buClr>
                <a:schemeClr val="folHlink"/>
              </a:buClr>
              <a:buSzPct val="60000"/>
              <a:buFont typeface="Wingdings" pitchFamily="2" charset="2"/>
              <a:buNone/>
            </a:pPr>
            <a:r>
              <a:rPr lang="en-US" sz="2400" dirty="0"/>
              <a:t>4.	  </a:t>
            </a:r>
            <a:r>
              <a:rPr lang="id-ID" sz="2400" dirty="0" smtClean="0"/>
              <a:t>Tentukan titik kritis</a:t>
            </a:r>
            <a:endParaRPr lang="en-US" sz="2400" dirty="0"/>
          </a:p>
          <a:p>
            <a:pPr marL="693738" lvl="1" indent="-268288" defTabSz="852488">
              <a:spcBef>
                <a:spcPct val="20000"/>
              </a:spcBef>
              <a:buClr>
                <a:schemeClr val="hlink"/>
              </a:buClr>
              <a:buSzPct val="55000"/>
              <a:buFont typeface="Wingdings" pitchFamily="2" charset="2"/>
              <a:buChar char="n"/>
            </a:pPr>
            <a:r>
              <a:rPr lang="id-ID" sz="2400" dirty="0" smtClean="0">
                <a:solidFill>
                  <a:schemeClr val="folHlink"/>
                </a:solidFill>
              </a:rPr>
              <a:t>Untuk</a:t>
            </a:r>
            <a:r>
              <a:rPr lang="en-US" sz="2400" dirty="0" smtClean="0">
                <a:solidFill>
                  <a:schemeClr val="folHlink"/>
                </a:solidFill>
              </a:rPr>
              <a:t> </a:t>
            </a:r>
            <a:r>
              <a:rPr lang="en-US" sz="2400" dirty="0">
                <a:solidFill>
                  <a:schemeClr val="folHlink"/>
                </a:solidFill>
                <a:sym typeface="Symbol" pitchFamily="18" charset="2"/>
              </a:rPr>
              <a:t></a:t>
            </a:r>
            <a:r>
              <a:rPr lang="en-US" sz="2400" dirty="0">
                <a:solidFill>
                  <a:schemeClr val="folHlink"/>
                </a:solidFill>
              </a:rPr>
              <a:t> = 0.05 </a:t>
            </a:r>
            <a:r>
              <a:rPr lang="id-ID" sz="2400" dirty="0" smtClean="0">
                <a:solidFill>
                  <a:schemeClr val="folHlink"/>
                </a:solidFill>
              </a:rPr>
              <a:t>titik kritis Z (Z-tabel) =</a:t>
            </a:r>
            <a:r>
              <a:rPr lang="en-US" sz="2400" dirty="0" smtClean="0">
                <a:solidFill>
                  <a:schemeClr val="folHlink"/>
                </a:solidFill>
                <a:cs typeface="Arial" charset="0"/>
              </a:rPr>
              <a:t>±</a:t>
            </a:r>
            <a:r>
              <a:rPr lang="en-US" sz="2400" dirty="0">
                <a:solidFill>
                  <a:schemeClr val="folHlink"/>
                </a:solidFill>
                <a:cs typeface="Arial" charset="0"/>
              </a:rPr>
              <a:t>1.96</a:t>
            </a:r>
          </a:p>
          <a:p>
            <a:pPr marL="320675" indent="-320675" defTabSz="852488">
              <a:spcBef>
                <a:spcPct val="20000"/>
              </a:spcBef>
              <a:buClr>
                <a:schemeClr val="folHlink"/>
              </a:buClr>
              <a:buSzPct val="60000"/>
              <a:buFont typeface="Wingdings" pitchFamily="2" charset="2"/>
              <a:buNone/>
            </a:pPr>
            <a:r>
              <a:rPr lang="en-US" sz="2400" dirty="0" smtClean="0"/>
              <a:t>5.</a:t>
            </a:r>
            <a:r>
              <a:rPr lang="en-US" sz="2400" dirty="0" smtClean="0">
                <a:solidFill>
                  <a:schemeClr val="folHlink"/>
                </a:solidFill>
              </a:rPr>
              <a:t>   </a:t>
            </a:r>
            <a:r>
              <a:rPr lang="id-ID" sz="2400" dirty="0" smtClean="0"/>
              <a:t>Pengumpulan data dan perhitungan statistik uji</a:t>
            </a:r>
            <a:endParaRPr lang="en-US" sz="2400" dirty="0"/>
          </a:p>
          <a:p>
            <a:pPr marL="693738" lvl="1" indent="-268288" defTabSz="852488">
              <a:lnSpc>
                <a:spcPct val="110000"/>
              </a:lnSpc>
              <a:spcBef>
                <a:spcPct val="20000"/>
              </a:spcBef>
              <a:buClr>
                <a:schemeClr val="hlink"/>
              </a:buClr>
              <a:buSzPct val="55000"/>
              <a:buFont typeface="Wingdings" pitchFamily="2" charset="2"/>
              <a:buChar char="n"/>
            </a:pPr>
            <a:r>
              <a:rPr lang="en-US" sz="2400" dirty="0" smtClean="0">
                <a:solidFill>
                  <a:schemeClr val="folHlink"/>
                </a:solidFill>
              </a:rPr>
              <a:t> n </a:t>
            </a:r>
            <a:r>
              <a:rPr lang="en-US" sz="2400" dirty="0">
                <a:solidFill>
                  <a:schemeClr val="folHlink"/>
                </a:solidFill>
              </a:rPr>
              <a:t>= 100,   X = </a:t>
            </a:r>
            <a:r>
              <a:rPr lang="en-US" sz="2400" dirty="0" smtClean="0">
                <a:solidFill>
                  <a:schemeClr val="folHlink"/>
                </a:solidFill>
              </a:rPr>
              <a:t>2</a:t>
            </a:r>
            <a:r>
              <a:rPr lang="id-ID" sz="2400" dirty="0" smtClean="0">
                <a:solidFill>
                  <a:schemeClr val="folHlink"/>
                </a:solidFill>
              </a:rPr>
              <a:t>9.4</a:t>
            </a:r>
            <a:r>
              <a:rPr lang="en-US" sz="2400" dirty="0" smtClean="0">
                <a:solidFill>
                  <a:schemeClr val="folHlink"/>
                </a:solidFill>
              </a:rPr>
              <a:t>  </a:t>
            </a:r>
            <a:r>
              <a:rPr lang="en-US" sz="2400" dirty="0">
                <a:solidFill>
                  <a:schemeClr val="folHlink"/>
                </a:solidFill>
              </a:rPr>
              <a:t>(</a:t>
            </a:r>
            <a:r>
              <a:rPr lang="el-GR" sz="2400" dirty="0">
                <a:solidFill>
                  <a:schemeClr val="folHlink"/>
                </a:solidFill>
                <a:cs typeface="Arial" charset="0"/>
                <a:sym typeface="Symbol" pitchFamily="18" charset="2"/>
              </a:rPr>
              <a:t>σ</a:t>
            </a:r>
            <a:r>
              <a:rPr lang="en-US" sz="2400" dirty="0">
                <a:solidFill>
                  <a:schemeClr val="folHlink"/>
                </a:solidFill>
                <a:sym typeface="Symbol" pitchFamily="18" charset="2"/>
              </a:rPr>
              <a:t> = </a:t>
            </a:r>
            <a:r>
              <a:rPr lang="id-ID" sz="2400" dirty="0" smtClean="0">
                <a:solidFill>
                  <a:schemeClr val="folHlink"/>
                </a:solidFill>
                <a:sym typeface="Symbol" pitchFamily="18" charset="2"/>
              </a:rPr>
              <a:t>3</a:t>
            </a:r>
            <a:r>
              <a:rPr lang="en-US" sz="2400" dirty="0" smtClean="0">
                <a:solidFill>
                  <a:schemeClr val="folHlink"/>
                </a:solidFill>
                <a:sym typeface="Symbol" pitchFamily="18" charset="2"/>
              </a:rPr>
              <a:t> </a:t>
            </a:r>
            <a:r>
              <a:rPr lang="id-ID" sz="2400" dirty="0" smtClean="0">
                <a:solidFill>
                  <a:schemeClr val="folHlink"/>
                </a:solidFill>
                <a:sym typeface="Symbol" pitchFamily="18" charset="2"/>
              </a:rPr>
              <a:t>diasumsikan diketahui</a:t>
            </a:r>
            <a:r>
              <a:rPr lang="en-US" sz="2400" dirty="0" smtClean="0">
                <a:solidFill>
                  <a:schemeClr val="folHlink"/>
                </a:solidFill>
                <a:sym typeface="Symbol" pitchFamily="18" charset="2"/>
              </a:rPr>
              <a:t>)</a:t>
            </a:r>
            <a:endParaRPr lang="en-US" sz="2400" dirty="0">
              <a:solidFill>
                <a:schemeClr val="folHlink"/>
              </a:solidFill>
              <a:sym typeface="Symbol" pitchFamily="18" charset="2"/>
            </a:endParaRPr>
          </a:p>
          <a:p>
            <a:pPr marL="693738" lvl="1" indent="-268288" defTabSz="852488">
              <a:lnSpc>
                <a:spcPct val="110000"/>
              </a:lnSpc>
              <a:spcBef>
                <a:spcPct val="20000"/>
              </a:spcBef>
              <a:buClr>
                <a:schemeClr val="hlink"/>
              </a:buClr>
              <a:buSzPct val="55000"/>
              <a:buFont typeface="Wingdings" pitchFamily="2" charset="2"/>
              <a:buNone/>
            </a:pPr>
            <a:r>
              <a:rPr lang="id-ID" sz="2400" dirty="0" smtClean="0">
                <a:solidFill>
                  <a:srgbClr val="FF3300"/>
                </a:solidFill>
                <a:sym typeface="Symbol" pitchFamily="18" charset="2"/>
              </a:rPr>
              <a:t>Sehingga nilai statistik uji</a:t>
            </a:r>
            <a:r>
              <a:rPr lang="en-US" sz="2400" dirty="0" smtClean="0">
                <a:solidFill>
                  <a:srgbClr val="FF3300"/>
                </a:solidFill>
                <a:sym typeface="Symbol" pitchFamily="18" charset="2"/>
              </a:rPr>
              <a:t>:</a:t>
            </a:r>
            <a:endParaRPr lang="en-US" sz="2400" dirty="0">
              <a:solidFill>
                <a:srgbClr val="FF3300"/>
              </a:solidFill>
            </a:endParaRPr>
          </a:p>
        </p:txBody>
      </p:sp>
      <p:sp>
        <p:nvSpPr>
          <p:cNvPr id="5126" name="Text Box 8"/>
          <p:cNvSpPr txBox="1">
            <a:spLocks noChangeArrowheads="1"/>
          </p:cNvSpPr>
          <p:nvPr/>
        </p:nvSpPr>
        <p:spPr bwMode="auto">
          <a:xfrm>
            <a:off x="7543800" y="1223963"/>
            <a:ext cx="1454150" cy="396875"/>
          </a:xfrm>
          <a:prstGeom prst="rect">
            <a:avLst/>
          </a:prstGeom>
          <a:noFill/>
          <a:ln w="9525">
            <a:noFill/>
            <a:miter lim="800000"/>
            <a:headEnd/>
            <a:tailEnd/>
          </a:ln>
        </p:spPr>
        <p:txBody>
          <a:bodyPr wrap="none">
            <a:spAutoFit/>
          </a:bodyPr>
          <a:lstStyle/>
          <a:p>
            <a:r>
              <a:rPr lang="en-US" sz="2000" i="1">
                <a:solidFill>
                  <a:schemeClr val="tx2"/>
                </a:solidFill>
              </a:rPr>
              <a:t>(continued)</a:t>
            </a:r>
          </a:p>
        </p:txBody>
      </p:sp>
      <p:sp>
        <p:nvSpPr>
          <p:cNvPr id="5127" name="Line 9"/>
          <p:cNvSpPr>
            <a:spLocks noChangeShapeType="1"/>
          </p:cNvSpPr>
          <p:nvPr/>
        </p:nvSpPr>
        <p:spPr bwMode="auto">
          <a:xfrm>
            <a:off x="2895600" y="3581400"/>
            <a:ext cx="228600" cy="0"/>
          </a:xfrm>
          <a:prstGeom prst="line">
            <a:avLst/>
          </a:prstGeom>
          <a:noFill/>
          <a:ln w="19050">
            <a:solidFill>
              <a:schemeClr val="folHlink"/>
            </a:solidFill>
            <a:miter lim="800000"/>
            <a:headEnd/>
            <a:tailEnd/>
          </a:ln>
        </p:spPr>
        <p:txBody>
          <a:bodyPr wrap="none"/>
          <a:lstStyle/>
          <a:p>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5"/>
          <p:cNvSpPr>
            <a:spLocks noGrp="1" noChangeArrowheads="1"/>
          </p:cNvSpPr>
          <p:nvPr>
            <p:ph type="sldNum" sz="quarter" idx="10"/>
          </p:nvPr>
        </p:nvSpPr>
        <p:spPr>
          <a:ln/>
        </p:spPr>
        <p:txBody>
          <a:bodyPr/>
          <a:lstStyle/>
          <a:p>
            <a:pPr>
              <a:defRPr/>
            </a:pPr>
            <a:r>
              <a:rPr lang="en-US"/>
              <a:t>Chap 9-</a:t>
            </a:r>
            <a:fld id="{2033D32A-AB67-462D-9486-B0C2A6927E87}" type="slidenum">
              <a:rPr lang="en-US"/>
              <a:pPr>
                <a:defRPr/>
              </a:pPr>
              <a:t>14</a:t>
            </a:fld>
            <a:endParaRPr lang="en-US"/>
          </a:p>
        </p:txBody>
      </p:sp>
      <p:sp>
        <p:nvSpPr>
          <p:cNvPr id="36"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54273"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FD28E57C-438A-45AF-B778-BB9BF23A1F44}" type="slidenum">
              <a:rPr lang="en-US" sz="1000"/>
              <a:pPr algn="r" defTabSz="852488"/>
              <a:t>14</a:t>
            </a:fld>
            <a:endParaRPr lang="en-US" sz="1000"/>
          </a:p>
        </p:txBody>
      </p:sp>
      <p:sp>
        <p:nvSpPr>
          <p:cNvPr id="54274" name="Freeform 22"/>
          <p:cNvSpPr>
            <a:spLocks/>
          </p:cNvSpPr>
          <p:nvPr/>
        </p:nvSpPr>
        <p:spPr bwMode="auto">
          <a:xfrm flipH="1">
            <a:off x="7005638" y="3352800"/>
            <a:ext cx="842962" cy="228600"/>
          </a:xfrm>
          <a:custGeom>
            <a:avLst/>
            <a:gdLst>
              <a:gd name="T0" fmla="*/ 2147483647 w 582"/>
              <a:gd name="T1" fmla="*/ 2147483647 h 183"/>
              <a:gd name="T2" fmla="*/ 0 w 582"/>
              <a:gd name="T3" fmla="*/ 2147483647 h 183"/>
              <a:gd name="T4" fmla="*/ 2147483647 w 582"/>
              <a:gd name="T5" fmla="*/ 2147483647 h 183"/>
              <a:gd name="T6" fmla="*/ 2147483647 w 582"/>
              <a:gd name="T7" fmla="*/ 2147483647 h 183"/>
              <a:gd name="T8" fmla="*/ 2147483647 w 582"/>
              <a:gd name="T9" fmla="*/ 2147483647 h 183"/>
              <a:gd name="T10" fmla="*/ 2147483647 w 582"/>
              <a:gd name="T11" fmla="*/ 0 h 183"/>
              <a:gd name="T12" fmla="*/ 2147483647 w 582"/>
              <a:gd name="T13" fmla="*/ 2147483647 h 183"/>
              <a:gd name="T14" fmla="*/ 2147483647 w 582"/>
              <a:gd name="T15" fmla="*/ 2147483647 h 183"/>
              <a:gd name="T16" fmla="*/ 2147483647 w 582"/>
              <a:gd name="T17" fmla="*/ 2147483647 h 1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2"/>
              <a:gd name="T28" fmla="*/ 0 h 183"/>
              <a:gd name="T29" fmla="*/ 582 w 582"/>
              <a:gd name="T30" fmla="*/ 183 h 1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2" h="183">
                <a:moveTo>
                  <a:pt x="9" y="177"/>
                </a:moveTo>
                <a:lnTo>
                  <a:pt x="0" y="132"/>
                </a:lnTo>
                <a:lnTo>
                  <a:pt x="258" y="114"/>
                </a:lnTo>
                <a:lnTo>
                  <a:pt x="423" y="66"/>
                </a:lnTo>
                <a:lnTo>
                  <a:pt x="504" y="48"/>
                </a:lnTo>
                <a:lnTo>
                  <a:pt x="582" y="0"/>
                </a:lnTo>
                <a:lnTo>
                  <a:pt x="582" y="183"/>
                </a:lnTo>
                <a:lnTo>
                  <a:pt x="9" y="182"/>
                </a:lnTo>
                <a:lnTo>
                  <a:pt x="9" y="177"/>
                </a:lnTo>
              </a:path>
            </a:pathLst>
          </a:custGeom>
          <a:solidFill>
            <a:srgbClr val="C3DBFF"/>
          </a:solidFill>
          <a:ln w="12700" cap="rnd">
            <a:noFill/>
            <a:round/>
            <a:headEnd type="none" w="sm" len="sm"/>
            <a:tailEnd type="none" w="sm" len="sm"/>
          </a:ln>
        </p:spPr>
        <p:txBody>
          <a:bodyPr/>
          <a:lstStyle/>
          <a:p>
            <a:endParaRPr lang="en-US"/>
          </a:p>
        </p:txBody>
      </p:sp>
      <p:sp>
        <p:nvSpPr>
          <p:cNvPr id="54275" name="Text Box 2"/>
          <p:cNvSpPr txBox="1">
            <a:spLocks noChangeArrowheads="1"/>
          </p:cNvSpPr>
          <p:nvPr/>
        </p:nvSpPr>
        <p:spPr bwMode="auto">
          <a:xfrm>
            <a:off x="2895600" y="3810000"/>
            <a:ext cx="990600" cy="304800"/>
          </a:xfrm>
          <a:prstGeom prst="rect">
            <a:avLst/>
          </a:prstGeom>
          <a:solidFill>
            <a:srgbClr val="FFFFA7"/>
          </a:solidFill>
          <a:ln w="19050" algn="ctr">
            <a:noFill/>
            <a:miter lim="800000"/>
            <a:headEnd/>
            <a:tailEnd/>
          </a:ln>
        </p:spPr>
        <p:txBody>
          <a:bodyPr>
            <a:spAutoFit/>
          </a:bodyPr>
          <a:lstStyle/>
          <a:p>
            <a:pPr algn="ctr">
              <a:spcBef>
                <a:spcPct val="50000"/>
              </a:spcBef>
            </a:pPr>
            <a:r>
              <a:rPr lang="id-ID" sz="1400" dirty="0" smtClean="0"/>
              <a:t>Tolak</a:t>
            </a:r>
            <a:r>
              <a:rPr lang="en-US" sz="1400" dirty="0" smtClean="0"/>
              <a:t> H</a:t>
            </a:r>
            <a:r>
              <a:rPr lang="id-ID" sz="1400" dirty="0" smtClean="0"/>
              <a:t>o</a:t>
            </a:r>
            <a:endParaRPr lang="en-US" sz="1400" baseline="-25000" dirty="0"/>
          </a:p>
        </p:txBody>
      </p:sp>
      <p:sp>
        <p:nvSpPr>
          <p:cNvPr id="54276" name="Text Box 3"/>
          <p:cNvSpPr txBox="1">
            <a:spLocks noChangeArrowheads="1"/>
          </p:cNvSpPr>
          <p:nvPr/>
        </p:nvSpPr>
        <p:spPr bwMode="auto">
          <a:xfrm>
            <a:off x="4795838" y="3810000"/>
            <a:ext cx="1524000" cy="304800"/>
          </a:xfrm>
          <a:prstGeom prst="rect">
            <a:avLst/>
          </a:prstGeom>
          <a:solidFill>
            <a:srgbClr val="FFFFA7"/>
          </a:solidFill>
          <a:ln w="19050" algn="ctr">
            <a:noFill/>
            <a:miter lim="800000"/>
            <a:headEnd/>
            <a:tailEnd/>
          </a:ln>
        </p:spPr>
        <p:txBody>
          <a:bodyPr>
            <a:spAutoFit/>
          </a:bodyPr>
          <a:lstStyle/>
          <a:p>
            <a:pPr algn="ctr">
              <a:spcBef>
                <a:spcPct val="50000"/>
              </a:spcBef>
            </a:pPr>
            <a:r>
              <a:rPr lang="id-ID" sz="1400" dirty="0" smtClean="0"/>
              <a:t>Gagal tolak </a:t>
            </a:r>
            <a:r>
              <a:rPr lang="en-US" sz="1400" dirty="0" smtClean="0"/>
              <a:t>H</a:t>
            </a:r>
            <a:r>
              <a:rPr lang="id-ID" sz="1400" dirty="0" smtClean="0"/>
              <a:t>o</a:t>
            </a:r>
            <a:endParaRPr lang="en-US" sz="1400" baseline="-25000" dirty="0"/>
          </a:p>
        </p:txBody>
      </p:sp>
      <p:sp>
        <p:nvSpPr>
          <p:cNvPr id="54277" name="Rectangle 5"/>
          <p:cNvSpPr>
            <a:spLocks noGrp="1" noChangeArrowheads="1"/>
          </p:cNvSpPr>
          <p:nvPr>
            <p:ph type="body" idx="4294967295"/>
          </p:nvPr>
        </p:nvSpPr>
        <p:spPr>
          <a:xfrm>
            <a:off x="838200" y="1676400"/>
            <a:ext cx="8077200" cy="755650"/>
          </a:xfrm>
        </p:spPr>
        <p:txBody>
          <a:bodyPr/>
          <a:lstStyle/>
          <a:p>
            <a:pPr eaLnBrk="1" hangingPunct="1">
              <a:spcBef>
                <a:spcPct val="40000"/>
              </a:spcBef>
              <a:buNone/>
            </a:pPr>
            <a:r>
              <a:rPr lang="en-US" sz="2400" dirty="0" smtClean="0"/>
              <a:t>6. 	</a:t>
            </a:r>
            <a:r>
              <a:rPr lang="id-ID" sz="2400" dirty="0" smtClean="0"/>
              <a:t>Apakah statistik uji ada daerah penolakan Ho</a:t>
            </a:r>
            <a:r>
              <a:rPr lang="en-US" sz="2400" dirty="0" smtClean="0"/>
              <a:t>?</a:t>
            </a:r>
          </a:p>
        </p:txBody>
      </p:sp>
      <p:sp>
        <p:nvSpPr>
          <p:cNvPr id="54278" name="Freeform 6"/>
          <p:cNvSpPr>
            <a:spLocks/>
          </p:cNvSpPr>
          <p:nvPr/>
        </p:nvSpPr>
        <p:spPr bwMode="auto">
          <a:xfrm>
            <a:off x="3119438" y="3352800"/>
            <a:ext cx="833437" cy="228600"/>
          </a:xfrm>
          <a:custGeom>
            <a:avLst/>
            <a:gdLst>
              <a:gd name="T0" fmla="*/ 2147483647 w 582"/>
              <a:gd name="T1" fmla="*/ 2147483647 h 183"/>
              <a:gd name="T2" fmla="*/ 0 w 582"/>
              <a:gd name="T3" fmla="*/ 2147483647 h 183"/>
              <a:gd name="T4" fmla="*/ 2147483647 w 582"/>
              <a:gd name="T5" fmla="*/ 2147483647 h 183"/>
              <a:gd name="T6" fmla="*/ 2147483647 w 582"/>
              <a:gd name="T7" fmla="*/ 2147483647 h 183"/>
              <a:gd name="T8" fmla="*/ 2147483647 w 582"/>
              <a:gd name="T9" fmla="*/ 2147483647 h 183"/>
              <a:gd name="T10" fmla="*/ 2147483647 w 582"/>
              <a:gd name="T11" fmla="*/ 0 h 183"/>
              <a:gd name="T12" fmla="*/ 2147483647 w 582"/>
              <a:gd name="T13" fmla="*/ 2147483647 h 183"/>
              <a:gd name="T14" fmla="*/ 2147483647 w 582"/>
              <a:gd name="T15" fmla="*/ 2147483647 h 183"/>
              <a:gd name="T16" fmla="*/ 2147483647 w 582"/>
              <a:gd name="T17" fmla="*/ 2147483647 h 1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2"/>
              <a:gd name="T28" fmla="*/ 0 h 183"/>
              <a:gd name="T29" fmla="*/ 582 w 582"/>
              <a:gd name="T30" fmla="*/ 183 h 1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2" h="183">
                <a:moveTo>
                  <a:pt x="9" y="177"/>
                </a:moveTo>
                <a:lnTo>
                  <a:pt x="0" y="132"/>
                </a:lnTo>
                <a:lnTo>
                  <a:pt x="258" y="114"/>
                </a:lnTo>
                <a:lnTo>
                  <a:pt x="423" y="66"/>
                </a:lnTo>
                <a:lnTo>
                  <a:pt x="504" y="48"/>
                </a:lnTo>
                <a:lnTo>
                  <a:pt x="582" y="0"/>
                </a:lnTo>
                <a:lnTo>
                  <a:pt x="582" y="183"/>
                </a:lnTo>
                <a:lnTo>
                  <a:pt x="9" y="182"/>
                </a:lnTo>
                <a:lnTo>
                  <a:pt x="9" y="177"/>
                </a:lnTo>
              </a:path>
            </a:pathLst>
          </a:custGeom>
          <a:solidFill>
            <a:srgbClr val="C3DBFF"/>
          </a:solidFill>
          <a:ln w="12700" cap="rnd">
            <a:noFill/>
            <a:round/>
            <a:headEnd type="none" w="sm" len="sm"/>
            <a:tailEnd type="none" w="sm" len="sm"/>
          </a:ln>
        </p:spPr>
        <p:txBody>
          <a:bodyPr/>
          <a:lstStyle/>
          <a:p>
            <a:endParaRPr lang="en-US"/>
          </a:p>
        </p:txBody>
      </p:sp>
      <p:sp>
        <p:nvSpPr>
          <p:cNvPr id="54279" name="Freeform 7"/>
          <p:cNvSpPr>
            <a:spLocks/>
          </p:cNvSpPr>
          <p:nvPr/>
        </p:nvSpPr>
        <p:spPr bwMode="auto">
          <a:xfrm>
            <a:off x="3195638" y="2209800"/>
            <a:ext cx="2362200" cy="1295400"/>
          </a:xfrm>
          <a:custGeom>
            <a:avLst/>
            <a:gdLst>
              <a:gd name="T0" fmla="*/ 0 w 600"/>
              <a:gd name="T1" fmla="*/ 2147483647 h 576"/>
              <a:gd name="T2" fmla="*/ 2147483647 w 600"/>
              <a:gd name="T3" fmla="*/ 2147483647 h 576"/>
              <a:gd name="T4" fmla="*/ 2147483647 w 600"/>
              <a:gd name="T5" fmla="*/ 2147483647 h 576"/>
              <a:gd name="T6" fmla="*/ 2147483647 w 600"/>
              <a:gd name="T7" fmla="*/ 2147483647 h 576"/>
              <a:gd name="T8" fmla="*/ 2147483647 w 600"/>
              <a:gd name="T9" fmla="*/ 2147483647 h 576"/>
              <a:gd name="T10" fmla="*/ 2147483647 w 600"/>
              <a:gd name="T11" fmla="*/ 2147483647 h 576"/>
              <a:gd name="T12" fmla="*/ 2147483647 w 600"/>
              <a:gd name="T13" fmla="*/ 2147483647 h 576"/>
              <a:gd name="T14" fmla="*/ 2147483647 w 600"/>
              <a:gd name="T15" fmla="*/ 2147483647 h 576"/>
              <a:gd name="T16" fmla="*/ 2147483647 w 600"/>
              <a:gd name="T17" fmla="*/ 2147483647 h 576"/>
              <a:gd name="T18" fmla="*/ 2147483647 w 600"/>
              <a:gd name="T19" fmla="*/ 2147483647 h 576"/>
              <a:gd name="T20" fmla="*/ 2147483647 w 600"/>
              <a:gd name="T21" fmla="*/ 2147483647 h 576"/>
              <a:gd name="T22" fmla="*/ 2147483647 w 600"/>
              <a:gd name="T23" fmla="*/ 2147483647 h 576"/>
              <a:gd name="T24" fmla="*/ 2147483647 w 600"/>
              <a:gd name="T25" fmla="*/ 2147483647 h 576"/>
              <a:gd name="T26" fmla="*/ 2147483647 w 600"/>
              <a:gd name="T27" fmla="*/ 2147483647 h 576"/>
              <a:gd name="T28" fmla="*/ 2147483647 w 600"/>
              <a:gd name="T29" fmla="*/ 2147483647 h 576"/>
              <a:gd name="T30" fmla="*/ 2147483647 w 600"/>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0"/>
              <a:gd name="T49" fmla="*/ 0 h 576"/>
              <a:gd name="T50" fmla="*/ 600 w 600"/>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0" h="576">
                <a:moveTo>
                  <a:pt x="0" y="575"/>
                </a:moveTo>
                <a:lnTo>
                  <a:pt x="63" y="570"/>
                </a:lnTo>
                <a:lnTo>
                  <a:pt x="95" y="562"/>
                </a:lnTo>
                <a:lnTo>
                  <a:pt x="127" y="553"/>
                </a:lnTo>
                <a:lnTo>
                  <a:pt x="158" y="540"/>
                </a:lnTo>
                <a:lnTo>
                  <a:pt x="190" y="521"/>
                </a:lnTo>
                <a:lnTo>
                  <a:pt x="222" y="498"/>
                </a:lnTo>
                <a:lnTo>
                  <a:pt x="284" y="432"/>
                </a:lnTo>
                <a:lnTo>
                  <a:pt x="347" y="338"/>
                </a:lnTo>
                <a:lnTo>
                  <a:pt x="410" y="224"/>
                </a:lnTo>
                <a:lnTo>
                  <a:pt x="441" y="167"/>
                </a:lnTo>
                <a:lnTo>
                  <a:pt x="473" y="114"/>
                </a:lnTo>
                <a:lnTo>
                  <a:pt x="505" y="67"/>
                </a:lnTo>
                <a:lnTo>
                  <a:pt x="535" y="31"/>
                </a:lnTo>
                <a:lnTo>
                  <a:pt x="567" y="8"/>
                </a:lnTo>
                <a:lnTo>
                  <a:pt x="599" y="0"/>
                </a:lnTo>
              </a:path>
            </a:pathLst>
          </a:custGeom>
          <a:noFill/>
          <a:ln w="50800" cap="rnd">
            <a:solidFill>
              <a:srgbClr val="FF0000"/>
            </a:solidFill>
            <a:round/>
            <a:headEnd type="none" w="sm" len="sm"/>
            <a:tailEnd type="none" w="sm" len="sm"/>
          </a:ln>
        </p:spPr>
        <p:txBody>
          <a:bodyPr/>
          <a:lstStyle/>
          <a:p>
            <a:endParaRPr lang="en-US"/>
          </a:p>
        </p:txBody>
      </p:sp>
      <p:sp>
        <p:nvSpPr>
          <p:cNvPr id="54280" name="Freeform 8"/>
          <p:cNvSpPr>
            <a:spLocks/>
          </p:cNvSpPr>
          <p:nvPr/>
        </p:nvSpPr>
        <p:spPr bwMode="auto">
          <a:xfrm>
            <a:off x="5557838" y="2209800"/>
            <a:ext cx="2209800" cy="1295400"/>
          </a:xfrm>
          <a:custGeom>
            <a:avLst/>
            <a:gdLst>
              <a:gd name="T0" fmla="*/ 2147483647 w 576"/>
              <a:gd name="T1" fmla="*/ 2147483647 h 576"/>
              <a:gd name="T2" fmla="*/ 2147483647 w 576"/>
              <a:gd name="T3" fmla="*/ 2147483647 h 576"/>
              <a:gd name="T4" fmla="*/ 2147483647 w 576"/>
              <a:gd name="T5" fmla="*/ 2147483647 h 576"/>
              <a:gd name="T6" fmla="*/ 2147483647 w 576"/>
              <a:gd name="T7" fmla="*/ 2147483647 h 576"/>
              <a:gd name="T8" fmla="*/ 2147483647 w 576"/>
              <a:gd name="T9" fmla="*/ 2147483647 h 576"/>
              <a:gd name="T10" fmla="*/ 2147483647 w 576"/>
              <a:gd name="T11" fmla="*/ 2147483647 h 576"/>
              <a:gd name="T12" fmla="*/ 2147483647 w 576"/>
              <a:gd name="T13" fmla="*/ 2147483647 h 576"/>
              <a:gd name="T14" fmla="*/ 2147483647 w 576"/>
              <a:gd name="T15" fmla="*/ 2147483647 h 576"/>
              <a:gd name="T16" fmla="*/ 2147483647 w 576"/>
              <a:gd name="T17" fmla="*/ 2147483647 h 576"/>
              <a:gd name="T18" fmla="*/ 2147483647 w 576"/>
              <a:gd name="T19" fmla="*/ 2147483647 h 576"/>
              <a:gd name="T20" fmla="*/ 2147483647 w 576"/>
              <a:gd name="T21" fmla="*/ 2147483647 h 576"/>
              <a:gd name="T22" fmla="*/ 2147483647 w 576"/>
              <a:gd name="T23" fmla="*/ 2147483647 h 576"/>
              <a:gd name="T24" fmla="*/ 2147483647 w 576"/>
              <a:gd name="T25" fmla="*/ 2147483647 h 576"/>
              <a:gd name="T26" fmla="*/ 2147483647 w 576"/>
              <a:gd name="T27" fmla="*/ 2147483647 h 576"/>
              <a:gd name="T28" fmla="*/ 2147483647 w 576"/>
              <a:gd name="T29" fmla="*/ 2147483647 h 576"/>
              <a:gd name="T30" fmla="*/ 0 w 576"/>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6"/>
              <a:gd name="T49" fmla="*/ 0 h 576"/>
              <a:gd name="T50" fmla="*/ 576 w 576"/>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6" h="576">
                <a:moveTo>
                  <a:pt x="575" y="575"/>
                </a:moveTo>
                <a:lnTo>
                  <a:pt x="515" y="570"/>
                </a:lnTo>
                <a:lnTo>
                  <a:pt x="484" y="562"/>
                </a:lnTo>
                <a:lnTo>
                  <a:pt x="455" y="553"/>
                </a:lnTo>
                <a:lnTo>
                  <a:pt x="424" y="540"/>
                </a:lnTo>
                <a:lnTo>
                  <a:pt x="393" y="521"/>
                </a:lnTo>
                <a:lnTo>
                  <a:pt x="364" y="498"/>
                </a:lnTo>
                <a:lnTo>
                  <a:pt x="303" y="432"/>
                </a:lnTo>
                <a:lnTo>
                  <a:pt x="242" y="338"/>
                </a:lnTo>
                <a:lnTo>
                  <a:pt x="182" y="224"/>
                </a:lnTo>
                <a:lnTo>
                  <a:pt x="151" y="167"/>
                </a:lnTo>
                <a:lnTo>
                  <a:pt x="120" y="114"/>
                </a:lnTo>
                <a:lnTo>
                  <a:pt x="91" y="67"/>
                </a:lnTo>
                <a:lnTo>
                  <a:pt x="60" y="31"/>
                </a:lnTo>
                <a:lnTo>
                  <a:pt x="30" y="8"/>
                </a:lnTo>
                <a:lnTo>
                  <a:pt x="0" y="0"/>
                </a:lnTo>
              </a:path>
            </a:pathLst>
          </a:custGeom>
          <a:noFill/>
          <a:ln w="50800" cap="rnd">
            <a:solidFill>
              <a:srgbClr val="FF0000"/>
            </a:solidFill>
            <a:round/>
            <a:headEnd type="none" w="sm" len="sm"/>
            <a:tailEnd type="none" w="sm" len="sm"/>
          </a:ln>
        </p:spPr>
        <p:txBody>
          <a:bodyPr/>
          <a:lstStyle/>
          <a:p>
            <a:endParaRPr lang="en-US"/>
          </a:p>
        </p:txBody>
      </p:sp>
      <p:sp>
        <p:nvSpPr>
          <p:cNvPr id="54281" name="Line 9"/>
          <p:cNvSpPr>
            <a:spLocks noChangeShapeType="1"/>
          </p:cNvSpPr>
          <p:nvPr/>
        </p:nvSpPr>
        <p:spPr bwMode="auto">
          <a:xfrm>
            <a:off x="2967038" y="3581400"/>
            <a:ext cx="5105400" cy="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54282" name="Line 10"/>
          <p:cNvSpPr>
            <a:spLocks noChangeShapeType="1"/>
          </p:cNvSpPr>
          <p:nvPr/>
        </p:nvSpPr>
        <p:spPr bwMode="auto">
          <a:xfrm>
            <a:off x="3195638" y="3048000"/>
            <a:ext cx="457200" cy="457200"/>
          </a:xfrm>
          <a:prstGeom prst="line">
            <a:avLst/>
          </a:prstGeom>
          <a:noFill/>
          <a:ln w="12700">
            <a:solidFill>
              <a:schemeClr val="tx1"/>
            </a:solidFill>
            <a:round/>
            <a:headEnd type="none" w="sm" len="sm"/>
            <a:tailEnd type="stealth" w="med" len="med"/>
          </a:ln>
        </p:spPr>
        <p:txBody>
          <a:bodyPr wrap="none" anchor="ctr"/>
          <a:lstStyle/>
          <a:p>
            <a:endParaRPr lang="en-US"/>
          </a:p>
        </p:txBody>
      </p:sp>
      <p:sp>
        <p:nvSpPr>
          <p:cNvPr id="54283" name="Rectangle 11"/>
          <p:cNvSpPr>
            <a:spLocks noChangeArrowheads="1"/>
          </p:cNvSpPr>
          <p:nvPr/>
        </p:nvSpPr>
        <p:spPr bwMode="auto">
          <a:xfrm flipH="1">
            <a:off x="2286000" y="2667000"/>
            <a:ext cx="1600200" cy="39370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000">
                <a:sym typeface="Symbol" pitchFamily="18" charset="2"/>
              </a:rPr>
              <a:t>/2 </a:t>
            </a:r>
            <a:r>
              <a:rPr lang="en-US" sz="2000"/>
              <a:t>= 0.025</a:t>
            </a:r>
          </a:p>
        </p:txBody>
      </p:sp>
      <p:sp>
        <p:nvSpPr>
          <p:cNvPr id="54284" name="Line 12"/>
          <p:cNvSpPr>
            <a:spLocks noChangeShapeType="1"/>
          </p:cNvSpPr>
          <p:nvPr/>
        </p:nvSpPr>
        <p:spPr bwMode="auto">
          <a:xfrm>
            <a:off x="5557838" y="2209800"/>
            <a:ext cx="0" cy="1371600"/>
          </a:xfrm>
          <a:prstGeom prst="line">
            <a:avLst/>
          </a:prstGeom>
          <a:noFill/>
          <a:ln w="9525" cap="rnd">
            <a:solidFill>
              <a:schemeClr val="tx1"/>
            </a:solidFill>
            <a:prstDash val="sysDot"/>
            <a:miter lim="800000"/>
            <a:headEnd/>
            <a:tailEnd/>
          </a:ln>
        </p:spPr>
        <p:txBody>
          <a:bodyPr wrap="none"/>
          <a:lstStyle/>
          <a:p>
            <a:endParaRPr lang="en-US"/>
          </a:p>
        </p:txBody>
      </p:sp>
      <p:sp>
        <p:nvSpPr>
          <p:cNvPr id="54285" name="Line 13"/>
          <p:cNvSpPr>
            <a:spLocks noChangeShapeType="1"/>
          </p:cNvSpPr>
          <p:nvPr/>
        </p:nvSpPr>
        <p:spPr bwMode="auto">
          <a:xfrm>
            <a:off x="3962400" y="3581400"/>
            <a:ext cx="0" cy="609600"/>
          </a:xfrm>
          <a:prstGeom prst="line">
            <a:avLst/>
          </a:prstGeom>
          <a:noFill/>
          <a:ln w="19050">
            <a:solidFill>
              <a:schemeClr val="tx1"/>
            </a:solidFill>
            <a:round/>
            <a:headEnd/>
            <a:tailEnd/>
          </a:ln>
        </p:spPr>
        <p:txBody>
          <a:bodyPr wrap="none" anchor="ctr"/>
          <a:lstStyle/>
          <a:p>
            <a:endParaRPr lang="en-US"/>
          </a:p>
        </p:txBody>
      </p:sp>
      <p:sp>
        <p:nvSpPr>
          <p:cNvPr id="54286" name="Text Box 14"/>
          <p:cNvSpPr txBox="1">
            <a:spLocks noChangeArrowheads="1"/>
          </p:cNvSpPr>
          <p:nvPr/>
        </p:nvSpPr>
        <p:spPr bwMode="auto">
          <a:xfrm>
            <a:off x="2971800" y="4191000"/>
            <a:ext cx="1676400" cy="396875"/>
          </a:xfrm>
          <a:prstGeom prst="rect">
            <a:avLst/>
          </a:prstGeom>
          <a:noFill/>
          <a:ln w="19050" algn="ctr">
            <a:noFill/>
            <a:miter lim="800000"/>
            <a:headEnd/>
            <a:tailEnd/>
          </a:ln>
        </p:spPr>
        <p:txBody>
          <a:bodyPr>
            <a:spAutoFit/>
          </a:bodyPr>
          <a:lstStyle/>
          <a:p>
            <a:pPr>
              <a:spcBef>
                <a:spcPct val="50000"/>
              </a:spcBef>
            </a:pPr>
            <a:r>
              <a:rPr lang="en-US" sz="2000" b="1"/>
              <a:t>-Z</a:t>
            </a:r>
            <a:r>
              <a:rPr lang="el-GR" sz="2000" b="1" baseline="-25000">
                <a:cs typeface="Arial" charset="0"/>
              </a:rPr>
              <a:t>α</a:t>
            </a:r>
            <a:r>
              <a:rPr lang="en-US" sz="2000" b="1" baseline="-25000">
                <a:cs typeface="Arial" charset="0"/>
              </a:rPr>
              <a:t>/2 </a:t>
            </a:r>
            <a:r>
              <a:rPr lang="en-US" sz="2000" b="1">
                <a:cs typeface="Arial" charset="0"/>
              </a:rPr>
              <a:t>=  -1.96</a:t>
            </a:r>
            <a:endParaRPr lang="el-GR" sz="2000" b="1">
              <a:cs typeface="Arial" charset="0"/>
            </a:endParaRPr>
          </a:p>
        </p:txBody>
      </p:sp>
      <p:sp>
        <p:nvSpPr>
          <p:cNvPr id="54287" name="Line 15"/>
          <p:cNvSpPr>
            <a:spLocks noChangeShapeType="1"/>
          </p:cNvSpPr>
          <p:nvPr/>
        </p:nvSpPr>
        <p:spPr bwMode="auto">
          <a:xfrm>
            <a:off x="3957638" y="3810000"/>
            <a:ext cx="30480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54288" name="Line 16"/>
          <p:cNvSpPr>
            <a:spLocks noChangeShapeType="1"/>
          </p:cNvSpPr>
          <p:nvPr/>
        </p:nvSpPr>
        <p:spPr bwMode="auto">
          <a:xfrm>
            <a:off x="2814638" y="3810000"/>
            <a:ext cx="11430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54289" name="Text Box 17"/>
          <p:cNvSpPr txBox="1">
            <a:spLocks noChangeArrowheads="1"/>
          </p:cNvSpPr>
          <p:nvPr/>
        </p:nvSpPr>
        <p:spPr bwMode="auto">
          <a:xfrm>
            <a:off x="5334000" y="4191000"/>
            <a:ext cx="457200" cy="366713"/>
          </a:xfrm>
          <a:prstGeom prst="rect">
            <a:avLst/>
          </a:prstGeom>
          <a:noFill/>
          <a:ln w="19050" algn="ctr">
            <a:noFill/>
            <a:miter lim="800000"/>
            <a:headEnd/>
            <a:tailEnd/>
          </a:ln>
        </p:spPr>
        <p:txBody>
          <a:bodyPr>
            <a:spAutoFit/>
          </a:bodyPr>
          <a:lstStyle/>
          <a:p>
            <a:pPr algn="ctr">
              <a:spcBef>
                <a:spcPct val="50000"/>
              </a:spcBef>
            </a:pPr>
            <a:r>
              <a:rPr lang="en-US" sz="1800"/>
              <a:t>0</a:t>
            </a:r>
            <a:endParaRPr lang="el-GR" sz="1800" baseline="-25000">
              <a:cs typeface="Arial" charset="0"/>
            </a:endParaRPr>
          </a:p>
        </p:txBody>
      </p:sp>
      <p:sp>
        <p:nvSpPr>
          <p:cNvPr id="54290" name="Text Box 18"/>
          <p:cNvSpPr txBox="1">
            <a:spLocks noChangeArrowheads="1"/>
          </p:cNvSpPr>
          <p:nvPr/>
        </p:nvSpPr>
        <p:spPr bwMode="auto">
          <a:xfrm>
            <a:off x="228600" y="3657600"/>
            <a:ext cx="2286000" cy="2308324"/>
          </a:xfrm>
          <a:prstGeom prst="rect">
            <a:avLst/>
          </a:prstGeom>
          <a:solidFill>
            <a:srgbClr val="FDE0BD"/>
          </a:solidFill>
          <a:ln w="19050" algn="ctr">
            <a:solidFill>
              <a:schemeClr val="tx1"/>
            </a:solidFill>
            <a:miter lim="800000"/>
            <a:headEnd/>
            <a:tailEnd/>
          </a:ln>
        </p:spPr>
        <p:txBody>
          <a:bodyPr>
            <a:spAutoFit/>
          </a:bodyPr>
          <a:lstStyle/>
          <a:p>
            <a:pPr>
              <a:spcBef>
                <a:spcPct val="50000"/>
              </a:spcBef>
            </a:pPr>
            <a:r>
              <a:rPr lang="id-ID" sz="2400" dirty="0" smtClean="0">
                <a:solidFill>
                  <a:schemeClr val="folHlink"/>
                </a:solidFill>
                <a:sym typeface="Symbol" pitchFamily="18" charset="2"/>
              </a:rPr>
              <a:t>Tolak</a:t>
            </a:r>
            <a:r>
              <a:rPr lang="en-US" sz="2400" dirty="0" smtClean="0">
                <a:solidFill>
                  <a:schemeClr val="folHlink"/>
                </a:solidFill>
                <a:sym typeface="Symbol" pitchFamily="18" charset="2"/>
              </a:rPr>
              <a:t> H</a:t>
            </a:r>
            <a:r>
              <a:rPr lang="id-ID" sz="2400" dirty="0" smtClean="0">
                <a:solidFill>
                  <a:schemeClr val="folHlink"/>
                </a:solidFill>
                <a:sym typeface="Symbol" pitchFamily="18" charset="2"/>
              </a:rPr>
              <a:t>o</a:t>
            </a:r>
            <a:r>
              <a:rPr lang="en-US" sz="2400" dirty="0" smtClean="0">
                <a:solidFill>
                  <a:schemeClr val="folHlink"/>
                </a:solidFill>
                <a:sym typeface="Symbol" pitchFamily="18" charset="2"/>
              </a:rPr>
              <a:t> </a:t>
            </a:r>
            <a:r>
              <a:rPr lang="id-ID" sz="2400" dirty="0" smtClean="0">
                <a:solidFill>
                  <a:schemeClr val="folHlink"/>
                </a:solidFill>
                <a:sym typeface="Symbol" pitchFamily="18" charset="2"/>
              </a:rPr>
              <a:t>jika</a:t>
            </a:r>
            <a:r>
              <a:rPr lang="en-US" sz="2400" dirty="0" smtClean="0">
                <a:solidFill>
                  <a:schemeClr val="folHlink"/>
                </a:solidFill>
                <a:sym typeface="Symbol" pitchFamily="18" charset="2"/>
              </a:rPr>
              <a:t>  Z</a:t>
            </a:r>
            <a:r>
              <a:rPr lang="id-ID" sz="2400" baseline="-25000" dirty="0" smtClean="0">
                <a:solidFill>
                  <a:schemeClr val="folHlink"/>
                </a:solidFill>
                <a:sym typeface="Symbol" pitchFamily="18" charset="2"/>
              </a:rPr>
              <a:t>hitung</a:t>
            </a:r>
            <a:r>
              <a:rPr lang="en-US" sz="2400" dirty="0" smtClean="0">
                <a:solidFill>
                  <a:schemeClr val="folHlink"/>
                </a:solidFill>
                <a:sym typeface="Symbol" pitchFamily="18" charset="2"/>
              </a:rPr>
              <a:t> </a:t>
            </a:r>
            <a:r>
              <a:rPr lang="en-US" sz="2400" dirty="0">
                <a:solidFill>
                  <a:schemeClr val="folHlink"/>
                </a:solidFill>
                <a:sym typeface="Symbol" pitchFamily="18" charset="2"/>
              </a:rPr>
              <a:t>&lt; -1.96 </a:t>
            </a:r>
            <a:r>
              <a:rPr lang="id-ID" sz="2400" dirty="0" smtClean="0">
                <a:solidFill>
                  <a:schemeClr val="folHlink"/>
                </a:solidFill>
                <a:sym typeface="Symbol" pitchFamily="18" charset="2"/>
              </a:rPr>
              <a:t>atau</a:t>
            </a:r>
            <a:r>
              <a:rPr lang="en-US" sz="2400" dirty="0" smtClean="0">
                <a:solidFill>
                  <a:schemeClr val="folHlink"/>
                </a:solidFill>
                <a:sym typeface="Symbol" pitchFamily="18" charset="2"/>
              </a:rPr>
              <a:t> Z</a:t>
            </a:r>
            <a:r>
              <a:rPr lang="id-ID" sz="2400" baseline="-25000" dirty="0" smtClean="0">
                <a:solidFill>
                  <a:schemeClr val="folHlink"/>
                </a:solidFill>
                <a:sym typeface="Symbol" pitchFamily="18" charset="2"/>
              </a:rPr>
              <a:t>hitung</a:t>
            </a:r>
            <a:r>
              <a:rPr lang="en-US" sz="2400" dirty="0" smtClean="0">
                <a:solidFill>
                  <a:schemeClr val="folHlink"/>
                </a:solidFill>
                <a:sym typeface="Symbol" pitchFamily="18" charset="2"/>
              </a:rPr>
              <a:t> </a:t>
            </a:r>
            <a:r>
              <a:rPr lang="en-US" sz="2400" dirty="0">
                <a:solidFill>
                  <a:schemeClr val="folHlink"/>
                </a:solidFill>
                <a:sym typeface="Symbol" pitchFamily="18" charset="2"/>
              </a:rPr>
              <a:t>&gt; 1.96;  </a:t>
            </a:r>
            <a:r>
              <a:rPr lang="id-ID" sz="2400" dirty="0" smtClean="0">
                <a:solidFill>
                  <a:schemeClr val="folHlink"/>
                </a:solidFill>
                <a:sym typeface="Symbol" pitchFamily="18" charset="2"/>
              </a:rPr>
              <a:t>sebaliknya, gagal tolak </a:t>
            </a:r>
            <a:r>
              <a:rPr lang="en-US" sz="2400" dirty="0" smtClean="0">
                <a:solidFill>
                  <a:schemeClr val="folHlink"/>
                </a:solidFill>
                <a:sym typeface="Symbol" pitchFamily="18" charset="2"/>
              </a:rPr>
              <a:t>H</a:t>
            </a:r>
            <a:r>
              <a:rPr lang="en-US" sz="2400" baseline="-25000" dirty="0" smtClean="0">
                <a:solidFill>
                  <a:schemeClr val="folHlink"/>
                </a:solidFill>
                <a:sym typeface="Symbol" pitchFamily="18" charset="2"/>
              </a:rPr>
              <a:t>0</a:t>
            </a:r>
            <a:endParaRPr lang="en-US" sz="2400" baseline="-25000" dirty="0">
              <a:solidFill>
                <a:schemeClr val="folHlink"/>
              </a:solidFill>
              <a:sym typeface="Symbol" pitchFamily="18" charset="2"/>
            </a:endParaRPr>
          </a:p>
        </p:txBody>
      </p:sp>
      <p:sp>
        <p:nvSpPr>
          <p:cNvPr id="54291" name="Rectangle 19"/>
          <p:cNvSpPr>
            <a:spLocks noGrp="1" noChangeArrowheads="1"/>
          </p:cNvSpPr>
          <p:nvPr>
            <p:ph type="title" idx="4294967295"/>
          </p:nvPr>
        </p:nvSpPr>
        <p:spPr>
          <a:xfrm>
            <a:off x="762000" y="304800"/>
            <a:ext cx="7383463" cy="990600"/>
          </a:xfrm>
        </p:spPr>
        <p:txBody>
          <a:bodyPr/>
          <a:lstStyle/>
          <a:p>
            <a:pPr eaLnBrk="1" hangingPunct="1"/>
            <a:r>
              <a:rPr lang="id-ID" dirty="0" smtClean="0"/>
              <a:t>Contoh: Pengujian Hipotesis</a:t>
            </a:r>
            <a:endParaRPr lang="en-US" dirty="0" smtClean="0"/>
          </a:p>
        </p:txBody>
      </p:sp>
      <p:sp>
        <p:nvSpPr>
          <p:cNvPr id="54292" name="Text Box 20"/>
          <p:cNvSpPr txBox="1">
            <a:spLocks noChangeArrowheads="1"/>
          </p:cNvSpPr>
          <p:nvPr/>
        </p:nvSpPr>
        <p:spPr bwMode="auto">
          <a:xfrm>
            <a:off x="7543800" y="1223963"/>
            <a:ext cx="1454150" cy="396875"/>
          </a:xfrm>
          <a:prstGeom prst="rect">
            <a:avLst/>
          </a:prstGeom>
          <a:noFill/>
          <a:ln w="9525">
            <a:noFill/>
            <a:miter lim="800000"/>
            <a:headEnd/>
            <a:tailEnd/>
          </a:ln>
        </p:spPr>
        <p:txBody>
          <a:bodyPr wrap="none">
            <a:spAutoFit/>
          </a:bodyPr>
          <a:lstStyle/>
          <a:p>
            <a:r>
              <a:rPr lang="en-US" sz="2000" i="1">
                <a:solidFill>
                  <a:schemeClr val="tx2"/>
                </a:solidFill>
              </a:rPr>
              <a:t>(continued)</a:t>
            </a:r>
          </a:p>
        </p:txBody>
      </p:sp>
      <p:sp>
        <p:nvSpPr>
          <p:cNvPr id="54293" name="Line 23"/>
          <p:cNvSpPr>
            <a:spLocks noChangeShapeType="1"/>
          </p:cNvSpPr>
          <p:nvPr/>
        </p:nvSpPr>
        <p:spPr bwMode="auto">
          <a:xfrm flipH="1">
            <a:off x="7462838" y="3048000"/>
            <a:ext cx="461962" cy="457200"/>
          </a:xfrm>
          <a:prstGeom prst="line">
            <a:avLst/>
          </a:prstGeom>
          <a:noFill/>
          <a:ln w="12700">
            <a:solidFill>
              <a:schemeClr val="tx1"/>
            </a:solidFill>
            <a:round/>
            <a:headEnd type="none" w="sm" len="sm"/>
            <a:tailEnd type="stealth" w="med" len="med"/>
          </a:ln>
        </p:spPr>
        <p:txBody>
          <a:bodyPr wrap="none" anchor="ctr"/>
          <a:lstStyle/>
          <a:p>
            <a:endParaRPr lang="en-US"/>
          </a:p>
        </p:txBody>
      </p:sp>
      <p:sp>
        <p:nvSpPr>
          <p:cNvPr id="54294" name="Rectangle 24"/>
          <p:cNvSpPr>
            <a:spLocks noChangeArrowheads="1"/>
          </p:cNvSpPr>
          <p:nvPr/>
        </p:nvSpPr>
        <p:spPr bwMode="auto">
          <a:xfrm flipH="1">
            <a:off x="7162800" y="2667000"/>
            <a:ext cx="1600200" cy="39370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000">
                <a:sym typeface="Symbol" pitchFamily="18" charset="2"/>
              </a:rPr>
              <a:t>/2 = 0.025</a:t>
            </a:r>
            <a:endParaRPr lang="en-US" sz="2000"/>
          </a:p>
        </p:txBody>
      </p:sp>
      <p:sp>
        <p:nvSpPr>
          <p:cNvPr id="54295" name="Text Box 25"/>
          <p:cNvSpPr txBox="1">
            <a:spLocks noChangeArrowheads="1"/>
          </p:cNvSpPr>
          <p:nvPr/>
        </p:nvSpPr>
        <p:spPr bwMode="auto">
          <a:xfrm>
            <a:off x="7158038" y="3810000"/>
            <a:ext cx="990600" cy="304800"/>
          </a:xfrm>
          <a:prstGeom prst="rect">
            <a:avLst/>
          </a:prstGeom>
          <a:solidFill>
            <a:srgbClr val="FFFFA7"/>
          </a:solidFill>
          <a:ln w="19050" algn="ctr">
            <a:noFill/>
            <a:miter lim="800000"/>
            <a:headEnd/>
            <a:tailEnd/>
          </a:ln>
        </p:spPr>
        <p:txBody>
          <a:bodyPr>
            <a:spAutoFit/>
          </a:bodyPr>
          <a:lstStyle/>
          <a:p>
            <a:pPr algn="ctr">
              <a:spcBef>
                <a:spcPct val="50000"/>
              </a:spcBef>
            </a:pPr>
            <a:r>
              <a:rPr lang="id-ID" sz="1400" dirty="0" smtClean="0"/>
              <a:t>Tolak </a:t>
            </a:r>
            <a:r>
              <a:rPr lang="en-US" sz="1400" dirty="0" smtClean="0"/>
              <a:t>H</a:t>
            </a:r>
            <a:r>
              <a:rPr lang="id-ID" sz="1400" dirty="0" smtClean="0"/>
              <a:t>o</a:t>
            </a:r>
            <a:endParaRPr lang="en-US" sz="1400" baseline="-25000" dirty="0"/>
          </a:p>
        </p:txBody>
      </p:sp>
      <p:sp>
        <p:nvSpPr>
          <p:cNvPr id="54296" name="Line 26"/>
          <p:cNvSpPr>
            <a:spLocks noChangeShapeType="1"/>
          </p:cNvSpPr>
          <p:nvPr/>
        </p:nvSpPr>
        <p:spPr bwMode="auto">
          <a:xfrm>
            <a:off x="7005638" y="3810000"/>
            <a:ext cx="11430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54297" name="Line 27"/>
          <p:cNvSpPr>
            <a:spLocks noChangeShapeType="1"/>
          </p:cNvSpPr>
          <p:nvPr/>
        </p:nvSpPr>
        <p:spPr bwMode="auto">
          <a:xfrm>
            <a:off x="7010400" y="3581400"/>
            <a:ext cx="0" cy="609600"/>
          </a:xfrm>
          <a:prstGeom prst="line">
            <a:avLst/>
          </a:prstGeom>
          <a:noFill/>
          <a:ln w="19050">
            <a:solidFill>
              <a:schemeClr val="tx1"/>
            </a:solidFill>
            <a:round/>
            <a:headEnd/>
            <a:tailEnd/>
          </a:ln>
        </p:spPr>
        <p:txBody>
          <a:bodyPr wrap="none" anchor="ctr"/>
          <a:lstStyle/>
          <a:p>
            <a:endParaRPr lang="en-US"/>
          </a:p>
        </p:txBody>
      </p:sp>
      <p:sp>
        <p:nvSpPr>
          <p:cNvPr id="54298" name="Text Box 28"/>
          <p:cNvSpPr txBox="1">
            <a:spLocks noChangeArrowheads="1"/>
          </p:cNvSpPr>
          <p:nvPr/>
        </p:nvSpPr>
        <p:spPr bwMode="auto">
          <a:xfrm>
            <a:off x="6019800" y="4191000"/>
            <a:ext cx="1752600" cy="396875"/>
          </a:xfrm>
          <a:prstGeom prst="rect">
            <a:avLst/>
          </a:prstGeom>
          <a:noFill/>
          <a:ln w="19050" algn="ctr">
            <a:noFill/>
            <a:miter lim="800000"/>
            <a:headEnd/>
            <a:tailEnd/>
          </a:ln>
        </p:spPr>
        <p:txBody>
          <a:bodyPr>
            <a:spAutoFit/>
          </a:bodyPr>
          <a:lstStyle/>
          <a:p>
            <a:pPr>
              <a:spcBef>
                <a:spcPct val="50000"/>
              </a:spcBef>
            </a:pPr>
            <a:r>
              <a:rPr lang="en-US" sz="2000" b="1"/>
              <a:t>+Z</a:t>
            </a:r>
            <a:r>
              <a:rPr lang="el-GR" sz="2000" b="1" baseline="-25000">
                <a:cs typeface="Arial" charset="0"/>
              </a:rPr>
              <a:t>α</a:t>
            </a:r>
            <a:r>
              <a:rPr lang="en-US" sz="2000" b="1" baseline="-25000">
                <a:cs typeface="Arial" charset="0"/>
              </a:rPr>
              <a:t>/2 </a:t>
            </a:r>
            <a:r>
              <a:rPr lang="en-US" sz="2000" b="1">
                <a:cs typeface="Arial" charset="0"/>
              </a:rPr>
              <a:t>= +1.96</a:t>
            </a:r>
            <a:endParaRPr lang="el-GR" sz="2000" b="1">
              <a:cs typeface="Arial" charset="0"/>
            </a:endParaRPr>
          </a:p>
        </p:txBody>
      </p:sp>
      <p:sp>
        <p:nvSpPr>
          <p:cNvPr id="54299" name="Text Box 29"/>
          <p:cNvSpPr txBox="1">
            <a:spLocks noChangeArrowheads="1"/>
          </p:cNvSpPr>
          <p:nvPr/>
        </p:nvSpPr>
        <p:spPr bwMode="auto">
          <a:xfrm>
            <a:off x="2667000" y="5105400"/>
            <a:ext cx="4648200" cy="1200329"/>
          </a:xfrm>
          <a:prstGeom prst="rect">
            <a:avLst/>
          </a:prstGeom>
          <a:solidFill>
            <a:srgbClr val="C7DAF7"/>
          </a:solidFill>
          <a:ln w="19050" algn="ctr">
            <a:solidFill>
              <a:schemeClr val="tx1"/>
            </a:solidFill>
            <a:miter lim="800000"/>
            <a:headEnd/>
            <a:tailEnd/>
          </a:ln>
        </p:spPr>
        <p:txBody>
          <a:bodyPr>
            <a:spAutoFit/>
          </a:bodyPr>
          <a:lstStyle/>
          <a:p>
            <a:pPr>
              <a:spcBef>
                <a:spcPct val="50000"/>
              </a:spcBef>
            </a:pPr>
            <a:r>
              <a:rPr lang="en-US" sz="2400" dirty="0" smtClean="0">
                <a:sym typeface="Symbol" pitchFamily="18" charset="2"/>
              </a:rPr>
              <a:t> Z</a:t>
            </a:r>
            <a:r>
              <a:rPr lang="id-ID" sz="2400" baseline="-25000" dirty="0" smtClean="0">
                <a:sym typeface="Symbol" pitchFamily="18" charset="2"/>
              </a:rPr>
              <a:t>hitung</a:t>
            </a:r>
            <a:r>
              <a:rPr lang="en-US" sz="2400" dirty="0" smtClean="0">
                <a:sym typeface="Symbol" pitchFamily="18" charset="2"/>
              </a:rPr>
              <a:t> </a:t>
            </a:r>
            <a:r>
              <a:rPr lang="en-US" sz="2400" dirty="0">
                <a:sym typeface="Symbol" pitchFamily="18" charset="2"/>
              </a:rPr>
              <a:t>= -2.0 &lt; -1.96, </a:t>
            </a:r>
            <a:r>
              <a:rPr lang="id-ID" sz="2400" dirty="0" smtClean="0">
                <a:sym typeface="Symbol" pitchFamily="18" charset="2"/>
              </a:rPr>
              <a:t>sehingga statistik uji ada di daerah penolakan Ho.</a:t>
            </a:r>
            <a:endParaRPr lang="en-US" sz="2400" baseline="-25000" dirty="0">
              <a:sym typeface="Symbol" pitchFamily="18" charset="2"/>
            </a:endParaRPr>
          </a:p>
        </p:txBody>
      </p:sp>
      <p:sp>
        <p:nvSpPr>
          <p:cNvPr id="54300" name="Oval 30"/>
          <p:cNvSpPr>
            <a:spLocks noChangeArrowheads="1"/>
          </p:cNvSpPr>
          <p:nvPr/>
        </p:nvSpPr>
        <p:spPr bwMode="auto">
          <a:xfrm>
            <a:off x="4724400" y="5029200"/>
            <a:ext cx="762000" cy="533400"/>
          </a:xfrm>
          <a:prstGeom prst="ellipse">
            <a:avLst/>
          </a:prstGeom>
          <a:noFill/>
          <a:ln w="28575">
            <a:solidFill>
              <a:schemeClr val="hlink"/>
            </a:solidFill>
            <a:miter lim="800000"/>
            <a:headEnd/>
            <a:tailEnd/>
          </a:ln>
        </p:spPr>
        <p:txBody>
          <a:bodyPr wrap="none" anchor="ctr"/>
          <a:lstStyle/>
          <a:p>
            <a:endParaRPr lang="en-US"/>
          </a:p>
        </p:txBody>
      </p:sp>
      <p:sp>
        <p:nvSpPr>
          <p:cNvPr id="54301" name="Line 31"/>
          <p:cNvSpPr>
            <a:spLocks noChangeShapeType="1"/>
          </p:cNvSpPr>
          <p:nvPr/>
        </p:nvSpPr>
        <p:spPr bwMode="auto">
          <a:xfrm>
            <a:off x="3810000" y="4724400"/>
            <a:ext cx="1143000" cy="0"/>
          </a:xfrm>
          <a:prstGeom prst="line">
            <a:avLst/>
          </a:prstGeom>
          <a:noFill/>
          <a:ln w="28575">
            <a:solidFill>
              <a:schemeClr val="hlink"/>
            </a:solidFill>
            <a:miter lim="800000"/>
            <a:headEnd/>
            <a:tailEnd/>
          </a:ln>
        </p:spPr>
        <p:txBody>
          <a:bodyPr wrap="none"/>
          <a:lstStyle/>
          <a:p>
            <a:endParaRPr lang="en-US"/>
          </a:p>
        </p:txBody>
      </p:sp>
      <p:sp>
        <p:nvSpPr>
          <p:cNvPr id="54302" name="Line 32"/>
          <p:cNvSpPr>
            <a:spLocks noChangeShapeType="1"/>
          </p:cNvSpPr>
          <p:nvPr/>
        </p:nvSpPr>
        <p:spPr bwMode="auto">
          <a:xfrm>
            <a:off x="4953000" y="4724400"/>
            <a:ext cx="0" cy="304800"/>
          </a:xfrm>
          <a:prstGeom prst="line">
            <a:avLst/>
          </a:prstGeom>
          <a:noFill/>
          <a:ln w="28575">
            <a:solidFill>
              <a:schemeClr val="hlink"/>
            </a:solidFill>
            <a:miter lim="800000"/>
            <a:headEnd/>
            <a:tailEnd/>
          </a:ln>
        </p:spPr>
        <p:txBody>
          <a:bodyPr wrap="none"/>
          <a:lstStyle/>
          <a:p>
            <a:endParaRPr lang="en-US"/>
          </a:p>
        </p:txBody>
      </p:sp>
      <p:sp>
        <p:nvSpPr>
          <p:cNvPr id="54303" name="Line 33"/>
          <p:cNvSpPr>
            <a:spLocks noChangeShapeType="1"/>
          </p:cNvSpPr>
          <p:nvPr/>
        </p:nvSpPr>
        <p:spPr bwMode="auto">
          <a:xfrm flipV="1">
            <a:off x="3810000" y="3581400"/>
            <a:ext cx="0" cy="1143000"/>
          </a:xfrm>
          <a:prstGeom prst="line">
            <a:avLst/>
          </a:prstGeom>
          <a:noFill/>
          <a:ln w="28575">
            <a:solidFill>
              <a:schemeClr val="hlink"/>
            </a:solidFill>
            <a:miter lim="800000"/>
            <a:headEnd/>
            <a:tailEnd type="triangle" w="med" len="med"/>
          </a:ln>
        </p:spPr>
        <p:txBody>
          <a:bodyPr wrap="none"/>
          <a:lstStyle/>
          <a:p>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5"/>
          <p:cNvSpPr>
            <a:spLocks noGrp="1" noChangeArrowheads="1"/>
          </p:cNvSpPr>
          <p:nvPr>
            <p:ph type="sldNum" sz="quarter" idx="10"/>
          </p:nvPr>
        </p:nvSpPr>
        <p:spPr>
          <a:ln/>
        </p:spPr>
        <p:txBody>
          <a:bodyPr/>
          <a:lstStyle/>
          <a:p>
            <a:pPr>
              <a:defRPr/>
            </a:pPr>
            <a:r>
              <a:rPr lang="en-US"/>
              <a:t>Chap 9-</a:t>
            </a:r>
            <a:fld id="{2013409E-A80D-4E82-BC76-8BC666CB84AC}" type="slidenum">
              <a:rPr lang="en-US"/>
              <a:pPr>
                <a:defRPr/>
              </a:pPr>
              <a:t>15</a:t>
            </a:fld>
            <a:endParaRPr lang="en-US"/>
          </a:p>
        </p:txBody>
      </p:sp>
      <p:sp>
        <p:nvSpPr>
          <p:cNvPr id="34"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56321"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81521DBE-D524-4DC6-AB55-5816A40049FF}" type="slidenum">
              <a:rPr lang="en-US" sz="1000"/>
              <a:pPr algn="r" defTabSz="852488"/>
              <a:t>15</a:t>
            </a:fld>
            <a:endParaRPr lang="en-US" sz="1000"/>
          </a:p>
        </p:txBody>
      </p:sp>
      <p:sp>
        <p:nvSpPr>
          <p:cNvPr id="56322" name="Rectangle 2"/>
          <p:cNvSpPr>
            <a:spLocks noChangeArrowheads="1"/>
          </p:cNvSpPr>
          <p:nvPr/>
        </p:nvSpPr>
        <p:spPr bwMode="auto">
          <a:xfrm>
            <a:off x="3505200" y="4648200"/>
            <a:ext cx="609600" cy="381000"/>
          </a:xfrm>
          <a:prstGeom prst="rect">
            <a:avLst/>
          </a:prstGeom>
          <a:solidFill>
            <a:srgbClr val="C7DAF7"/>
          </a:solidFill>
          <a:ln w="9525" algn="ctr">
            <a:solidFill>
              <a:schemeClr val="tx1"/>
            </a:solidFill>
            <a:miter lim="800000"/>
            <a:headEnd/>
            <a:tailEnd/>
          </a:ln>
        </p:spPr>
        <p:txBody>
          <a:bodyPr wrap="none" anchor="ctr"/>
          <a:lstStyle/>
          <a:p>
            <a:endParaRPr lang="en-US"/>
          </a:p>
        </p:txBody>
      </p:sp>
      <p:sp>
        <p:nvSpPr>
          <p:cNvPr id="56323" name="Text Box 17"/>
          <p:cNvSpPr>
            <a:spLocks noGrp="1" noChangeArrowheads="1"/>
          </p:cNvSpPr>
          <p:nvPr>
            <p:ph type="body" idx="4294967295"/>
          </p:nvPr>
        </p:nvSpPr>
        <p:spPr>
          <a:xfrm>
            <a:off x="838200" y="1600200"/>
            <a:ext cx="8077200" cy="671513"/>
          </a:xfrm>
        </p:spPr>
        <p:txBody>
          <a:bodyPr/>
          <a:lstStyle/>
          <a:p>
            <a:pPr eaLnBrk="1" hangingPunct="1">
              <a:lnSpc>
                <a:spcPct val="90000"/>
              </a:lnSpc>
              <a:spcBef>
                <a:spcPct val="40000"/>
              </a:spcBef>
              <a:buFont typeface="Wingdings" pitchFamily="2" charset="2"/>
              <a:buNone/>
            </a:pPr>
            <a:r>
              <a:rPr lang="en-US" sz="2400" dirty="0" smtClean="0"/>
              <a:t>6  (</a:t>
            </a:r>
            <a:r>
              <a:rPr lang="id-ID" sz="2400" dirty="0" smtClean="0"/>
              <a:t>lanjutan</a:t>
            </a:r>
            <a:r>
              <a:rPr lang="en-US" sz="2400" dirty="0" smtClean="0"/>
              <a:t>).  </a:t>
            </a:r>
            <a:r>
              <a:rPr lang="id-ID" sz="2400" dirty="0" smtClean="0"/>
              <a:t>Buat keputusan dan interpretasikan hasil uji hipotesis.</a:t>
            </a:r>
            <a:endParaRPr lang="en-US" sz="2400" dirty="0" smtClean="0"/>
          </a:p>
        </p:txBody>
      </p:sp>
      <p:sp>
        <p:nvSpPr>
          <p:cNvPr id="56324" name="Text Box 18"/>
          <p:cNvSpPr txBox="1">
            <a:spLocks noChangeArrowheads="1"/>
          </p:cNvSpPr>
          <p:nvPr/>
        </p:nvSpPr>
        <p:spPr bwMode="auto">
          <a:xfrm>
            <a:off x="3505200" y="4648200"/>
            <a:ext cx="685800" cy="396875"/>
          </a:xfrm>
          <a:prstGeom prst="rect">
            <a:avLst/>
          </a:prstGeom>
          <a:noFill/>
          <a:ln w="19050" algn="ctr">
            <a:noFill/>
            <a:miter lim="800000"/>
            <a:headEnd/>
            <a:tailEnd/>
          </a:ln>
        </p:spPr>
        <p:txBody>
          <a:bodyPr>
            <a:spAutoFit/>
          </a:bodyPr>
          <a:lstStyle/>
          <a:p>
            <a:pPr>
              <a:spcBef>
                <a:spcPct val="50000"/>
              </a:spcBef>
            </a:pPr>
            <a:r>
              <a:rPr lang="en-US" sz="2000" b="1">
                <a:solidFill>
                  <a:schemeClr val="folHlink"/>
                </a:solidFill>
                <a:cs typeface="Arial" charset="0"/>
              </a:rPr>
              <a:t>-2.0</a:t>
            </a:r>
            <a:endParaRPr lang="el-GR" sz="2000" b="1">
              <a:solidFill>
                <a:schemeClr val="folHlink"/>
              </a:solidFill>
              <a:cs typeface="Arial" charset="0"/>
            </a:endParaRPr>
          </a:p>
        </p:txBody>
      </p:sp>
      <p:sp>
        <p:nvSpPr>
          <p:cNvPr id="56325" name="Text Box 20"/>
          <p:cNvSpPr txBox="1">
            <a:spLocks noChangeArrowheads="1"/>
          </p:cNvSpPr>
          <p:nvPr/>
        </p:nvSpPr>
        <p:spPr bwMode="auto">
          <a:xfrm>
            <a:off x="304800" y="5105400"/>
            <a:ext cx="7696200" cy="1569660"/>
          </a:xfrm>
          <a:prstGeom prst="rect">
            <a:avLst/>
          </a:prstGeom>
          <a:noFill/>
          <a:ln w="19050" algn="ctr">
            <a:solidFill>
              <a:schemeClr val="tx1"/>
            </a:solidFill>
            <a:miter lim="800000"/>
            <a:headEnd/>
            <a:tailEnd/>
          </a:ln>
        </p:spPr>
        <p:txBody>
          <a:bodyPr>
            <a:spAutoFit/>
          </a:bodyPr>
          <a:lstStyle/>
          <a:p>
            <a:pPr>
              <a:spcBef>
                <a:spcPct val="50000"/>
              </a:spcBef>
            </a:pPr>
            <a:r>
              <a:rPr lang="id-ID" sz="2400" dirty="0" smtClean="0">
                <a:solidFill>
                  <a:schemeClr val="folHlink"/>
                </a:solidFill>
              </a:rPr>
              <a:t>karena</a:t>
            </a:r>
            <a:r>
              <a:rPr lang="en-US" sz="2400" dirty="0" smtClean="0">
                <a:solidFill>
                  <a:schemeClr val="folHlink"/>
                </a:solidFill>
              </a:rPr>
              <a:t>  Z</a:t>
            </a:r>
            <a:r>
              <a:rPr lang="id-ID" sz="2400" baseline="-25000" dirty="0" smtClean="0">
                <a:solidFill>
                  <a:schemeClr val="folHlink"/>
                </a:solidFill>
              </a:rPr>
              <a:t>hitung</a:t>
            </a:r>
            <a:r>
              <a:rPr lang="en-US" sz="2400" dirty="0" smtClean="0">
                <a:solidFill>
                  <a:schemeClr val="folHlink"/>
                </a:solidFill>
              </a:rPr>
              <a:t> </a:t>
            </a:r>
            <a:r>
              <a:rPr lang="en-US" sz="2400" dirty="0">
                <a:solidFill>
                  <a:schemeClr val="folHlink"/>
                </a:solidFill>
              </a:rPr>
              <a:t>= -2.0 &lt; -1.96, </a:t>
            </a:r>
            <a:r>
              <a:rPr lang="id-ID" sz="2400" dirty="0" smtClean="0">
                <a:solidFill>
                  <a:schemeClr val="folHlink"/>
                </a:solidFill>
              </a:rPr>
              <a:t>maka diputuskan tolak Ho</a:t>
            </a:r>
            <a:r>
              <a:rPr lang="en-US" sz="2400" dirty="0" smtClean="0"/>
              <a:t> </a:t>
            </a:r>
            <a:r>
              <a:rPr lang="id-ID" sz="2400" dirty="0" smtClean="0"/>
              <a:t>dan disimpulkan bahwa sudah ada cukup bukti untuk menyatakan bahwa rata2 pertumbuhan ikan sirip kuning tidak sama dengan 30gr/hari.</a:t>
            </a:r>
            <a:endParaRPr lang="en-US" sz="2400" dirty="0"/>
          </a:p>
        </p:txBody>
      </p:sp>
      <p:sp>
        <p:nvSpPr>
          <p:cNvPr id="56327" name="Text Box 22"/>
          <p:cNvSpPr txBox="1">
            <a:spLocks noChangeArrowheads="1"/>
          </p:cNvSpPr>
          <p:nvPr/>
        </p:nvSpPr>
        <p:spPr bwMode="auto">
          <a:xfrm>
            <a:off x="7543800" y="1223963"/>
            <a:ext cx="1454150" cy="396875"/>
          </a:xfrm>
          <a:prstGeom prst="rect">
            <a:avLst/>
          </a:prstGeom>
          <a:noFill/>
          <a:ln w="9525">
            <a:noFill/>
            <a:miter lim="800000"/>
            <a:headEnd/>
            <a:tailEnd/>
          </a:ln>
        </p:spPr>
        <p:txBody>
          <a:bodyPr wrap="none">
            <a:spAutoFit/>
          </a:bodyPr>
          <a:lstStyle/>
          <a:p>
            <a:r>
              <a:rPr lang="en-US" sz="2000" i="1">
                <a:solidFill>
                  <a:schemeClr val="tx2"/>
                </a:solidFill>
              </a:rPr>
              <a:t>(continued)</a:t>
            </a:r>
          </a:p>
        </p:txBody>
      </p:sp>
      <p:sp>
        <p:nvSpPr>
          <p:cNvPr id="56328" name="Freeform 25"/>
          <p:cNvSpPr>
            <a:spLocks/>
          </p:cNvSpPr>
          <p:nvPr/>
        </p:nvSpPr>
        <p:spPr bwMode="auto">
          <a:xfrm flipH="1">
            <a:off x="7005638" y="3352800"/>
            <a:ext cx="842962" cy="228600"/>
          </a:xfrm>
          <a:custGeom>
            <a:avLst/>
            <a:gdLst>
              <a:gd name="T0" fmla="*/ 2147483647 w 582"/>
              <a:gd name="T1" fmla="*/ 2147483647 h 183"/>
              <a:gd name="T2" fmla="*/ 0 w 582"/>
              <a:gd name="T3" fmla="*/ 2147483647 h 183"/>
              <a:gd name="T4" fmla="*/ 2147483647 w 582"/>
              <a:gd name="T5" fmla="*/ 2147483647 h 183"/>
              <a:gd name="T6" fmla="*/ 2147483647 w 582"/>
              <a:gd name="T7" fmla="*/ 2147483647 h 183"/>
              <a:gd name="T8" fmla="*/ 2147483647 w 582"/>
              <a:gd name="T9" fmla="*/ 2147483647 h 183"/>
              <a:gd name="T10" fmla="*/ 2147483647 w 582"/>
              <a:gd name="T11" fmla="*/ 0 h 183"/>
              <a:gd name="T12" fmla="*/ 2147483647 w 582"/>
              <a:gd name="T13" fmla="*/ 2147483647 h 183"/>
              <a:gd name="T14" fmla="*/ 2147483647 w 582"/>
              <a:gd name="T15" fmla="*/ 2147483647 h 183"/>
              <a:gd name="T16" fmla="*/ 2147483647 w 582"/>
              <a:gd name="T17" fmla="*/ 2147483647 h 1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2"/>
              <a:gd name="T28" fmla="*/ 0 h 183"/>
              <a:gd name="T29" fmla="*/ 582 w 582"/>
              <a:gd name="T30" fmla="*/ 183 h 1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2" h="183">
                <a:moveTo>
                  <a:pt x="9" y="177"/>
                </a:moveTo>
                <a:lnTo>
                  <a:pt x="0" y="132"/>
                </a:lnTo>
                <a:lnTo>
                  <a:pt x="258" y="114"/>
                </a:lnTo>
                <a:lnTo>
                  <a:pt x="423" y="66"/>
                </a:lnTo>
                <a:lnTo>
                  <a:pt x="504" y="48"/>
                </a:lnTo>
                <a:lnTo>
                  <a:pt x="582" y="0"/>
                </a:lnTo>
                <a:lnTo>
                  <a:pt x="582" y="183"/>
                </a:lnTo>
                <a:lnTo>
                  <a:pt x="9" y="182"/>
                </a:lnTo>
                <a:lnTo>
                  <a:pt x="9" y="177"/>
                </a:lnTo>
              </a:path>
            </a:pathLst>
          </a:custGeom>
          <a:solidFill>
            <a:srgbClr val="C3DBFF"/>
          </a:solidFill>
          <a:ln w="12700" cap="rnd">
            <a:noFill/>
            <a:round/>
            <a:headEnd type="none" w="sm" len="sm"/>
            <a:tailEnd type="none" w="sm" len="sm"/>
          </a:ln>
        </p:spPr>
        <p:txBody>
          <a:bodyPr/>
          <a:lstStyle/>
          <a:p>
            <a:endParaRPr lang="en-US"/>
          </a:p>
        </p:txBody>
      </p:sp>
      <p:sp>
        <p:nvSpPr>
          <p:cNvPr id="56329" name="Text Box 26"/>
          <p:cNvSpPr txBox="1">
            <a:spLocks noChangeArrowheads="1"/>
          </p:cNvSpPr>
          <p:nvPr/>
        </p:nvSpPr>
        <p:spPr bwMode="auto">
          <a:xfrm>
            <a:off x="2895600" y="3810000"/>
            <a:ext cx="990600" cy="307777"/>
          </a:xfrm>
          <a:prstGeom prst="rect">
            <a:avLst/>
          </a:prstGeom>
          <a:solidFill>
            <a:srgbClr val="FFFFA7"/>
          </a:solidFill>
          <a:ln w="19050" algn="ctr">
            <a:noFill/>
            <a:miter lim="800000"/>
            <a:headEnd/>
            <a:tailEnd/>
          </a:ln>
        </p:spPr>
        <p:txBody>
          <a:bodyPr>
            <a:spAutoFit/>
          </a:bodyPr>
          <a:lstStyle/>
          <a:p>
            <a:pPr algn="ctr">
              <a:spcBef>
                <a:spcPct val="50000"/>
              </a:spcBef>
            </a:pPr>
            <a:r>
              <a:rPr lang="en-US" sz="1400" dirty="0"/>
              <a:t>Reject </a:t>
            </a:r>
            <a:r>
              <a:rPr lang="en-US" sz="1400" dirty="0" smtClean="0"/>
              <a:t>H</a:t>
            </a:r>
            <a:r>
              <a:rPr lang="id-ID" sz="1400" dirty="0" smtClean="0"/>
              <a:t>o</a:t>
            </a:r>
            <a:endParaRPr lang="en-US" sz="1400" baseline="-25000" dirty="0"/>
          </a:p>
        </p:txBody>
      </p:sp>
      <p:sp>
        <p:nvSpPr>
          <p:cNvPr id="56330" name="Text Box 27"/>
          <p:cNvSpPr txBox="1">
            <a:spLocks noChangeArrowheads="1"/>
          </p:cNvSpPr>
          <p:nvPr/>
        </p:nvSpPr>
        <p:spPr bwMode="auto">
          <a:xfrm>
            <a:off x="4795838" y="3810000"/>
            <a:ext cx="1524000" cy="307777"/>
          </a:xfrm>
          <a:prstGeom prst="rect">
            <a:avLst/>
          </a:prstGeom>
          <a:solidFill>
            <a:srgbClr val="FFFFA7"/>
          </a:solidFill>
          <a:ln w="19050" algn="ctr">
            <a:noFill/>
            <a:miter lim="800000"/>
            <a:headEnd/>
            <a:tailEnd/>
          </a:ln>
        </p:spPr>
        <p:txBody>
          <a:bodyPr>
            <a:spAutoFit/>
          </a:bodyPr>
          <a:lstStyle/>
          <a:p>
            <a:pPr algn="ctr">
              <a:spcBef>
                <a:spcPct val="50000"/>
              </a:spcBef>
            </a:pPr>
            <a:r>
              <a:rPr lang="en-US" sz="1400" dirty="0"/>
              <a:t>Do not reject </a:t>
            </a:r>
            <a:r>
              <a:rPr lang="en-US" sz="1400" dirty="0" smtClean="0"/>
              <a:t>H</a:t>
            </a:r>
            <a:r>
              <a:rPr lang="id-ID" sz="1400" dirty="0" smtClean="0"/>
              <a:t>o</a:t>
            </a:r>
            <a:endParaRPr lang="en-US" sz="1400" baseline="-25000" dirty="0"/>
          </a:p>
        </p:txBody>
      </p:sp>
      <p:sp>
        <p:nvSpPr>
          <p:cNvPr id="56331" name="Freeform 28"/>
          <p:cNvSpPr>
            <a:spLocks/>
          </p:cNvSpPr>
          <p:nvPr/>
        </p:nvSpPr>
        <p:spPr bwMode="auto">
          <a:xfrm>
            <a:off x="3119438" y="3352800"/>
            <a:ext cx="833437" cy="228600"/>
          </a:xfrm>
          <a:custGeom>
            <a:avLst/>
            <a:gdLst>
              <a:gd name="T0" fmla="*/ 2147483647 w 582"/>
              <a:gd name="T1" fmla="*/ 2147483647 h 183"/>
              <a:gd name="T2" fmla="*/ 0 w 582"/>
              <a:gd name="T3" fmla="*/ 2147483647 h 183"/>
              <a:gd name="T4" fmla="*/ 2147483647 w 582"/>
              <a:gd name="T5" fmla="*/ 2147483647 h 183"/>
              <a:gd name="T6" fmla="*/ 2147483647 w 582"/>
              <a:gd name="T7" fmla="*/ 2147483647 h 183"/>
              <a:gd name="T8" fmla="*/ 2147483647 w 582"/>
              <a:gd name="T9" fmla="*/ 2147483647 h 183"/>
              <a:gd name="T10" fmla="*/ 2147483647 w 582"/>
              <a:gd name="T11" fmla="*/ 0 h 183"/>
              <a:gd name="T12" fmla="*/ 2147483647 w 582"/>
              <a:gd name="T13" fmla="*/ 2147483647 h 183"/>
              <a:gd name="T14" fmla="*/ 2147483647 w 582"/>
              <a:gd name="T15" fmla="*/ 2147483647 h 183"/>
              <a:gd name="T16" fmla="*/ 2147483647 w 582"/>
              <a:gd name="T17" fmla="*/ 2147483647 h 1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2"/>
              <a:gd name="T28" fmla="*/ 0 h 183"/>
              <a:gd name="T29" fmla="*/ 582 w 582"/>
              <a:gd name="T30" fmla="*/ 183 h 1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2" h="183">
                <a:moveTo>
                  <a:pt x="9" y="177"/>
                </a:moveTo>
                <a:lnTo>
                  <a:pt x="0" y="132"/>
                </a:lnTo>
                <a:lnTo>
                  <a:pt x="258" y="114"/>
                </a:lnTo>
                <a:lnTo>
                  <a:pt x="423" y="66"/>
                </a:lnTo>
                <a:lnTo>
                  <a:pt x="504" y="48"/>
                </a:lnTo>
                <a:lnTo>
                  <a:pt x="582" y="0"/>
                </a:lnTo>
                <a:lnTo>
                  <a:pt x="582" y="183"/>
                </a:lnTo>
                <a:lnTo>
                  <a:pt x="9" y="182"/>
                </a:lnTo>
                <a:lnTo>
                  <a:pt x="9" y="177"/>
                </a:lnTo>
              </a:path>
            </a:pathLst>
          </a:custGeom>
          <a:solidFill>
            <a:srgbClr val="C3DBFF"/>
          </a:solidFill>
          <a:ln w="12700" cap="rnd">
            <a:noFill/>
            <a:round/>
            <a:headEnd type="none" w="sm" len="sm"/>
            <a:tailEnd type="none" w="sm" len="sm"/>
          </a:ln>
        </p:spPr>
        <p:txBody>
          <a:bodyPr/>
          <a:lstStyle/>
          <a:p>
            <a:endParaRPr lang="en-US"/>
          </a:p>
        </p:txBody>
      </p:sp>
      <p:sp>
        <p:nvSpPr>
          <p:cNvPr id="56332" name="Freeform 29"/>
          <p:cNvSpPr>
            <a:spLocks/>
          </p:cNvSpPr>
          <p:nvPr/>
        </p:nvSpPr>
        <p:spPr bwMode="auto">
          <a:xfrm>
            <a:off x="3195638" y="2209800"/>
            <a:ext cx="2362200" cy="1295400"/>
          </a:xfrm>
          <a:custGeom>
            <a:avLst/>
            <a:gdLst>
              <a:gd name="T0" fmla="*/ 0 w 600"/>
              <a:gd name="T1" fmla="*/ 2147483647 h 576"/>
              <a:gd name="T2" fmla="*/ 2147483647 w 600"/>
              <a:gd name="T3" fmla="*/ 2147483647 h 576"/>
              <a:gd name="T4" fmla="*/ 2147483647 w 600"/>
              <a:gd name="T5" fmla="*/ 2147483647 h 576"/>
              <a:gd name="T6" fmla="*/ 2147483647 w 600"/>
              <a:gd name="T7" fmla="*/ 2147483647 h 576"/>
              <a:gd name="T8" fmla="*/ 2147483647 w 600"/>
              <a:gd name="T9" fmla="*/ 2147483647 h 576"/>
              <a:gd name="T10" fmla="*/ 2147483647 w 600"/>
              <a:gd name="T11" fmla="*/ 2147483647 h 576"/>
              <a:gd name="T12" fmla="*/ 2147483647 w 600"/>
              <a:gd name="T13" fmla="*/ 2147483647 h 576"/>
              <a:gd name="T14" fmla="*/ 2147483647 w 600"/>
              <a:gd name="T15" fmla="*/ 2147483647 h 576"/>
              <a:gd name="T16" fmla="*/ 2147483647 w 600"/>
              <a:gd name="T17" fmla="*/ 2147483647 h 576"/>
              <a:gd name="T18" fmla="*/ 2147483647 w 600"/>
              <a:gd name="T19" fmla="*/ 2147483647 h 576"/>
              <a:gd name="T20" fmla="*/ 2147483647 w 600"/>
              <a:gd name="T21" fmla="*/ 2147483647 h 576"/>
              <a:gd name="T22" fmla="*/ 2147483647 w 600"/>
              <a:gd name="T23" fmla="*/ 2147483647 h 576"/>
              <a:gd name="T24" fmla="*/ 2147483647 w 600"/>
              <a:gd name="T25" fmla="*/ 2147483647 h 576"/>
              <a:gd name="T26" fmla="*/ 2147483647 w 600"/>
              <a:gd name="T27" fmla="*/ 2147483647 h 576"/>
              <a:gd name="T28" fmla="*/ 2147483647 w 600"/>
              <a:gd name="T29" fmla="*/ 2147483647 h 576"/>
              <a:gd name="T30" fmla="*/ 2147483647 w 600"/>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0"/>
              <a:gd name="T49" fmla="*/ 0 h 576"/>
              <a:gd name="T50" fmla="*/ 600 w 600"/>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0" h="576">
                <a:moveTo>
                  <a:pt x="0" y="575"/>
                </a:moveTo>
                <a:lnTo>
                  <a:pt x="63" y="570"/>
                </a:lnTo>
                <a:lnTo>
                  <a:pt x="95" y="562"/>
                </a:lnTo>
                <a:lnTo>
                  <a:pt x="127" y="553"/>
                </a:lnTo>
                <a:lnTo>
                  <a:pt x="158" y="540"/>
                </a:lnTo>
                <a:lnTo>
                  <a:pt x="190" y="521"/>
                </a:lnTo>
                <a:lnTo>
                  <a:pt x="222" y="498"/>
                </a:lnTo>
                <a:lnTo>
                  <a:pt x="284" y="432"/>
                </a:lnTo>
                <a:lnTo>
                  <a:pt x="347" y="338"/>
                </a:lnTo>
                <a:lnTo>
                  <a:pt x="410" y="224"/>
                </a:lnTo>
                <a:lnTo>
                  <a:pt x="441" y="167"/>
                </a:lnTo>
                <a:lnTo>
                  <a:pt x="473" y="114"/>
                </a:lnTo>
                <a:lnTo>
                  <a:pt x="505" y="67"/>
                </a:lnTo>
                <a:lnTo>
                  <a:pt x="535" y="31"/>
                </a:lnTo>
                <a:lnTo>
                  <a:pt x="567" y="8"/>
                </a:lnTo>
                <a:lnTo>
                  <a:pt x="599" y="0"/>
                </a:lnTo>
              </a:path>
            </a:pathLst>
          </a:custGeom>
          <a:noFill/>
          <a:ln w="50800" cap="rnd">
            <a:solidFill>
              <a:srgbClr val="FF0000"/>
            </a:solidFill>
            <a:round/>
            <a:headEnd type="none" w="sm" len="sm"/>
            <a:tailEnd type="none" w="sm" len="sm"/>
          </a:ln>
        </p:spPr>
        <p:txBody>
          <a:bodyPr/>
          <a:lstStyle/>
          <a:p>
            <a:endParaRPr lang="en-US"/>
          </a:p>
        </p:txBody>
      </p:sp>
      <p:sp>
        <p:nvSpPr>
          <p:cNvPr id="56333" name="Freeform 30"/>
          <p:cNvSpPr>
            <a:spLocks/>
          </p:cNvSpPr>
          <p:nvPr/>
        </p:nvSpPr>
        <p:spPr bwMode="auto">
          <a:xfrm>
            <a:off x="5557838" y="2209800"/>
            <a:ext cx="2209800" cy="1295400"/>
          </a:xfrm>
          <a:custGeom>
            <a:avLst/>
            <a:gdLst>
              <a:gd name="T0" fmla="*/ 2147483647 w 576"/>
              <a:gd name="T1" fmla="*/ 2147483647 h 576"/>
              <a:gd name="T2" fmla="*/ 2147483647 w 576"/>
              <a:gd name="T3" fmla="*/ 2147483647 h 576"/>
              <a:gd name="T4" fmla="*/ 2147483647 w 576"/>
              <a:gd name="T5" fmla="*/ 2147483647 h 576"/>
              <a:gd name="T6" fmla="*/ 2147483647 w 576"/>
              <a:gd name="T7" fmla="*/ 2147483647 h 576"/>
              <a:gd name="T8" fmla="*/ 2147483647 w 576"/>
              <a:gd name="T9" fmla="*/ 2147483647 h 576"/>
              <a:gd name="T10" fmla="*/ 2147483647 w 576"/>
              <a:gd name="T11" fmla="*/ 2147483647 h 576"/>
              <a:gd name="T12" fmla="*/ 2147483647 w 576"/>
              <a:gd name="T13" fmla="*/ 2147483647 h 576"/>
              <a:gd name="T14" fmla="*/ 2147483647 w 576"/>
              <a:gd name="T15" fmla="*/ 2147483647 h 576"/>
              <a:gd name="T16" fmla="*/ 2147483647 w 576"/>
              <a:gd name="T17" fmla="*/ 2147483647 h 576"/>
              <a:gd name="T18" fmla="*/ 2147483647 w 576"/>
              <a:gd name="T19" fmla="*/ 2147483647 h 576"/>
              <a:gd name="T20" fmla="*/ 2147483647 w 576"/>
              <a:gd name="T21" fmla="*/ 2147483647 h 576"/>
              <a:gd name="T22" fmla="*/ 2147483647 w 576"/>
              <a:gd name="T23" fmla="*/ 2147483647 h 576"/>
              <a:gd name="T24" fmla="*/ 2147483647 w 576"/>
              <a:gd name="T25" fmla="*/ 2147483647 h 576"/>
              <a:gd name="T26" fmla="*/ 2147483647 w 576"/>
              <a:gd name="T27" fmla="*/ 2147483647 h 576"/>
              <a:gd name="T28" fmla="*/ 2147483647 w 576"/>
              <a:gd name="T29" fmla="*/ 2147483647 h 576"/>
              <a:gd name="T30" fmla="*/ 0 w 576"/>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6"/>
              <a:gd name="T49" fmla="*/ 0 h 576"/>
              <a:gd name="T50" fmla="*/ 576 w 576"/>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6" h="576">
                <a:moveTo>
                  <a:pt x="575" y="575"/>
                </a:moveTo>
                <a:lnTo>
                  <a:pt x="515" y="570"/>
                </a:lnTo>
                <a:lnTo>
                  <a:pt x="484" y="562"/>
                </a:lnTo>
                <a:lnTo>
                  <a:pt x="455" y="553"/>
                </a:lnTo>
                <a:lnTo>
                  <a:pt x="424" y="540"/>
                </a:lnTo>
                <a:lnTo>
                  <a:pt x="393" y="521"/>
                </a:lnTo>
                <a:lnTo>
                  <a:pt x="364" y="498"/>
                </a:lnTo>
                <a:lnTo>
                  <a:pt x="303" y="432"/>
                </a:lnTo>
                <a:lnTo>
                  <a:pt x="242" y="338"/>
                </a:lnTo>
                <a:lnTo>
                  <a:pt x="182" y="224"/>
                </a:lnTo>
                <a:lnTo>
                  <a:pt x="151" y="167"/>
                </a:lnTo>
                <a:lnTo>
                  <a:pt x="120" y="114"/>
                </a:lnTo>
                <a:lnTo>
                  <a:pt x="91" y="67"/>
                </a:lnTo>
                <a:lnTo>
                  <a:pt x="60" y="31"/>
                </a:lnTo>
                <a:lnTo>
                  <a:pt x="30" y="8"/>
                </a:lnTo>
                <a:lnTo>
                  <a:pt x="0" y="0"/>
                </a:lnTo>
              </a:path>
            </a:pathLst>
          </a:custGeom>
          <a:noFill/>
          <a:ln w="50800" cap="rnd">
            <a:solidFill>
              <a:srgbClr val="FF0000"/>
            </a:solidFill>
            <a:round/>
            <a:headEnd type="none" w="sm" len="sm"/>
            <a:tailEnd type="none" w="sm" len="sm"/>
          </a:ln>
        </p:spPr>
        <p:txBody>
          <a:bodyPr/>
          <a:lstStyle/>
          <a:p>
            <a:endParaRPr lang="en-US"/>
          </a:p>
        </p:txBody>
      </p:sp>
      <p:sp>
        <p:nvSpPr>
          <p:cNvPr id="56334" name="Line 31"/>
          <p:cNvSpPr>
            <a:spLocks noChangeShapeType="1"/>
          </p:cNvSpPr>
          <p:nvPr/>
        </p:nvSpPr>
        <p:spPr bwMode="auto">
          <a:xfrm>
            <a:off x="2967038" y="3581400"/>
            <a:ext cx="5105400" cy="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56335" name="Line 32"/>
          <p:cNvSpPr>
            <a:spLocks noChangeShapeType="1"/>
          </p:cNvSpPr>
          <p:nvPr/>
        </p:nvSpPr>
        <p:spPr bwMode="auto">
          <a:xfrm>
            <a:off x="3195638" y="3048000"/>
            <a:ext cx="457200" cy="457200"/>
          </a:xfrm>
          <a:prstGeom prst="line">
            <a:avLst/>
          </a:prstGeom>
          <a:noFill/>
          <a:ln w="12700">
            <a:solidFill>
              <a:schemeClr val="tx1"/>
            </a:solidFill>
            <a:round/>
            <a:headEnd type="none" w="sm" len="sm"/>
            <a:tailEnd type="stealth" w="med" len="med"/>
          </a:ln>
        </p:spPr>
        <p:txBody>
          <a:bodyPr wrap="none" anchor="ctr"/>
          <a:lstStyle/>
          <a:p>
            <a:endParaRPr lang="en-US"/>
          </a:p>
        </p:txBody>
      </p:sp>
      <p:sp>
        <p:nvSpPr>
          <p:cNvPr id="56336" name="Rectangle 33"/>
          <p:cNvSpPr>
            <a:spLocks noChangeArrowheads="1"/>
          </p:cNvSpPr>
          <p:nvPr/>
        </p:nvSpPr>
        <p:spPr bwMode="auto">
          <a:xfrm flipH="1">
            <a:off x="2587625" y="2667000"/>
            <a:ext cx="1376363" cy="39370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000">
                <a:sym typeface="Symbol" pitchFamily="18" charset="2"/>
              </a:rPr>
              <a:t> </a:t>
            </a:r>
            <a:r>
              <a:rPr lang="en-US" sz="2000"/>
              <a:t>= 0.05/2</a:t>
            </a:r>
          </a:p>
        </p:txBody>
      </p:sp>
      <p:sp>
        <p:nvSpPr>
          <p:cNvPr id="56337" name="Line 34"/>
          <p:cNvSpPr>
            <a:spLocks noChangeShapeType="1"/>
          </p:cNvSpPr>
          <p:nvPr/>
        </p:nvSpPr>
        <p:spPr bwMode="auto">
          <a:xfrm>
            <a:off x="5557838" y="2209800"/>
            <a:ext cx="0" cy="1371600"/>
          </a:xfrm>
          <a:prstGeom prst="line">
            <a:avLst/>
          </a:prstGeom>
          <a:noFill/>
          <a:ln w="9525" cap="rnd">
            <a:solidFill>
              <a:schemeClr val="tx1"/>
            </a:solidFill>
            <a:prstDash val="sysDot"/>
            <a:miter lim="800000"/>
            <a:headEnd/>
            <a:tailEnd/>
          </a:ln>
        </p:spPr>
        <p:txBody>
          <a:bodyPr wrap="none"/>
          <a:lstStyle/>
          <a:p>
            <a:endParaRPr lang="en-US"/>
          </a:p>
        </p:txBody>
      </p:sp>
      <p:sp>
        <p:nvSpPr>
          <p:cNvPr id="56338" name="Line 35"/>
          <p:cNvSpPr>
            <a:spLocks noChangeShapeType="1"/>
          </p:cNvSpPr>
          <p:nvPr/>
        </p:nvSpPr>
        <p:spPr bwMode="auto">
          <a:xfrm>
            <a:off x="3962400" y="3581400"/>
            <a:ext cx="0" cy="609600"/>
          </a:xfrm>
          <a:prstGeom prst="line">
            <a:avLst/>
          </a:prstGeom>
          <a:noFill/>
          <a:ln w="19050">
            <a:solidFill>
              <a:schemeClr val="tx1"/>
            </a:solidFill>
            <a:round/>
            <a:headEnd/>
            <a:tailEnd/>
          </a:ln>
        </p:spPr>
        <p:txBody>
          <a:bodyPr wrap="none" anchor="ctr"/>
          <a:lstStyle/>
          <a:p>
            <a:endParaRPr lang="en-US"/>
          </a:p>
        </p:txBody>
      </p:sp>
      <p:sp>
        <p:nvSpPr>
          <p:cNvPr id="56339" name="Text Box 36"/>
          <p:cNvSpPr txBox="1">
            <a:spLocks noChangeArrowheads="1"/>
          </p:cNvSpPr>
          <p:nvPr/>
        </p:nvSpPr>
        <p:spPr bwMode="auto">
          <a:xfrm>
            <a:off x="2895600" y="4191000"/>
            <a:ext cx="1752600" cy="396875"/>
          </a:xfrm>
          <a:prstGeom prst="rect">
            <a:avLst/>
          </a:prstGeom>
          <a:noFill/>
          <a:ln w="19050" algn="ctr">
            <a:noFill/>
            <a:miter lim="800000"/>
            <a:headEnd/>
            <a:tailEnd/>
          </a:ln>
        </p:spPr>
        <p:txBody>
          <a:bodyPr>
            <a:spAutoFit/>
          </a:bodyPr>
          <a:lstStyle/>
          <a:p>
            <a:pPr>
              <a:spcBef>
                <a:spcPct val="50000"/>
              </a:spcBef>
            </a:pPr>
            <a:r>
              <a:rPr lang="en-US" sz="2000" b="1"/>
              <a:t>-Z</a:t>
            </a:r>
            <a:r>
              <a:rPr lang="el-GR" sz="2000" b="1" baseline="-25000">
                <a:cs typeface="Arial" charset="0"/>
              </a:rPr>
              <a:t>α</a:t>
            </a:r>
            <a:r>
              <a:rPr lang="en-US" sz="2000" b="1" baseline="-25000">
                <a:cs typeface="Arial" charset="0"/>
              </a:rPr>
              <a:t>/2 </a:t>
            </a:r>
            <a:r>
              <a:rPr lang="en-US" sz="2000" b="1">
                <a:cs typeface="Arial" charset="0"/>
              </a:rPr>
              <a:t>=   -1.96</a:t>
            </a:r>
            <a:endParaRPr lang="el-GR" sz="2000" b="1">
              <a:cs typeface="Arial" charset="0"/>
            </a:endParaRPr>
          </a:p>
        </p:txBody>
      </p:sp>
      <p:sp>
        <p:nvSpPr>
          <p:cNvPr id="56340" name="Line 37"/>
          <p:cNvSpPr>
            <a:spLocks noChangeShapeType="1"/>
          </p:cNvSpPr>
          <p:nvPr/>
        </p:nvSpPr>
        <p:spPr bwMode="auto">
          <a:xfrm>
            <a:off x="3957638" y="3810000"/>
            <a:ext cx="30480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56341" name="Line 38"/>
          <p:cNvSpPr>
            <a:spLocks noChangeShapeType="1"/>
          </p:cNvSpPr>
          <p:nvPr/>
        </p:nvSpPr>
        <p:spPr bwMode="auto">
          <a:xfrm>
            <a:off x="2814638" y="3810000"/>
            <a:ext cx="11430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56342" name="Text Box 39"/>
          <p:cNvSpPr txBox="1">
            <a:spLocks noChangeArrowheads="1"/>
          </p:cNvSpPr>
          <p:nvPr/>
        </p:nvSpPr>
        <p:spPr bwMode="auto">
          <a:xfrm>
            <a:off x="5334000" y="4191000"/>
            <a:ext cx="457200" cy="366713"/>
          </a:xfrm>
          <a:prstGeom prst="rect">
            <a:avLst/>
          </a:prstGeom>
          <a:noFill/>
          <a:ln w="19050" algn="ctr">
            <a:noFill/>
            <a:miter lim="800000"/>
            <a:headEnd/>
            <a:tailEnd/>
          </a:ln>
        </p:spPr>
        <p:txBody>
          <a:bodyPr>
            <a:spAutoFit/>
          </a:bodyPr>
          <a:lstStyle/>
          <a:p>
            <a:pPr algn="ctr">
              <a:spcBef>
                <a:spcPct val="50000"/>
              </a:spcBef>
            </a:pPr>
            <a:r>
              <a:rPr lang="en-US" sz="1800"/>
              <a:t>0</a:t>
            </a:r>
            <a:endParaRPr lang="el-GR" sz="1800" baseline="-25000">
              <a:cs typeface="Arial" charset="0"/>
            </a:endParaRPr>
          </a:p>
        </p:txBody>
      </p:sp>
      <p:sp>
        <p:nvSpPr>
          <p:cNvPr id="56343" name="Line 40"/>
          <p:cNvSpPr>
            <a:spLocks noChangeShapeType="1"/>
          </p:cNvSpPr>
          <p:nvPr/>
        </p:nvSpPr>
        <p:spPr bwMode="auto">
          <a:xfrm flipH="1">
            <a:off x="7462838" y="3048000"/>
            <a:ext cx="461962" cy="457200"/>
          </a:xfrm>
          <a:prstGeom prst="line">
            <a:avLst/>
          </a:prstGeom>
          <a:noFill/>
          <a:ln w="12700">
            <a:solidFill>
              <a:schemeClr val="tx1"/>
            </a:solidFill>
            <a:round/>
            <a:headEnd type="none" w="sm" len="sm"/>
            <a:tailEnd type="stealth" w="med" len="med"/>
          </a:ln>
        </p:spPr>
        <p:txBody>
          <a:bodyPr wrap="none" anchor="ctr"/>
          <a:lstStyle/>
          <a:p>
            <a:endParaRPr lang="en-US"/>
          </a:p>
        </p:txBody>
      </p:sp>
      <p:sp>
        <p:nvSpPr>
          <p:cNvPr id="56344" name="Rectangle 41"/>
          <p:cNvSpPr>
            <a:spLocks noChangeArrowheads="1"/>
          </p:cNvSpPr>
          <p:nvPr/>
        </p:nvSpPr>
        <p:spPr bwMode="auto">
          <a:xfrm flipH="1">
            <a:off x="7315200" y="2667000"/>
            <a:ext cx="1371600" cy="39370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000">
                <a:sym typeface="Symbol" pitchFamily="18" charset="2"/>
              </a:rPr>
              <a:t> </a:t>
            </a:r>
            <a:r>
              <a:rPr lang="en-US" sz="2000"/>
              <a:t>= 0.05/2</a:t>
            </a:r>
          </a:p>
        </p:txBody>
      </p:sp>
      <p:sp>
        <p:nvSpPr>
          <p:cNvPr id="56345" name="Text Box 42"/>
          <p:cNvSpPr txBox="1">
            <a:spLocks noChangeArrowheads="1"/>
          </p:cNvSpPr>
          <p:nvPr/>
        </p:nvSpPr>
        <p:spPr bwMode="auto">
          <a:xfrm>
            <a:off x="7158038" y="3810000"/>
            <a:ext cx="990600" cy="307777"/>
          </a:xfrm>
          <a:prstGeom prst="rect">
            <a:avLst/>
          </a:prstGeom>
          <a:solidFill>
            <a:srgbClr val="FFFFA7"/>
          </a:solidFill>
          <a:ln w="19050" algn="ctr">
            <a:noFill/>
            <a:miter lim="800000"/>
            <a:headEnd/>
            <a:tailEnd/>
          </a:ln>
        </p:spPr>
        <p:txBody>
          <a:bodyPr>
            <a:spAutoFit/>
          </a:bodyPr>
          <a:lstStyle/>
          <a:p>
            <a:pPr algn="ctr">
              <a:spcBef>
                <a:spcPct val="50000"/>
              </a:spcBef>
            </a:pPr>
            <a:r>
              <a:rPr lang="en-US" sz="1400" dirty="0"/>
              <a:t>Reject </a:t>
            </a:r>
            <a:r>
              <a:rPr lang="en-US" sz="1400" dirty="0" smtClean="0"/>
              <a:t>H</a:t>
            </a:r>
            <a:r>
              <a:rPr lang="id-ID" sz="1400" dirty="0" smtClean="0"/>
              <a:t>o</a:t>
            </a:r>
            <a:endParaRPr lang="en-US" sz="1400" baseline="-25000" dirty="0"/>
          </a:p>
        </p:txBody>
      </p:sp>
      <p:sp>
        <p:nvSpPr>
          <p:cNvPr id="56346" name="Line 43"/>
          <p:cNvSpPr>
            <a:spLocks noChangeShapeType="1"/>
          </p:cNvSpPr>
          <p:nvPr/>
        </p:nvSpPr>
        <p:spPr bwMode="auto">
          <a:xfrm>
            <a:off x="7005638" y="3810000"/>
            <a:ext cx="11430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56347" name="Line 44"/>
          <p:cNvSpPr>
            <a:spLocks noChangeShapeType="1"/>
          </p:cNvSpPr>
          <p:nvPr/>
        </p:nvSpPr>
        <p:spPr bwMode="auto">
          <a:xfrm>
            <a:off x="7010400" y="3581400"/>
            <a:ext cx="0" cy="609600"/>
          </a:xfrm>
          <a:prstGeom prst="line">
            <a:avLst/>
          </a:prstGeom>
          <a:noFill/>
          <a:ln w="19050">
            <a:solidFill>
              <a:schemeClr val="tx1"/>
            </a:solidFill>
            <a:round/>
            <a:headEnd/>
            <a:tailEnd/>
          </a:ln>
        </p:spPr>
        <p:txBody>
          <a:bodyPr wrap="none" anchor="ctr"/>
          <a:lstStyle/>
          <a:p>
            <a:endParaRPr lang="en-US"/>
          </a:p>
        </p:txBody>
      </p:sp>
      <p:sp>
        <p:nvSpPr>
          <p:cNvPr id="56348" name="Text Box 45"/>
          <p:cNvSpPr txBox="1">
            <a:spLocks noChangeArrowheads="1"/>
          </p:cNvSpPr>
          <p:nvPr/>
        </p:nvSpPr>
        <p:spPr bwMode="auto">
          <a:xfrm>
            <a:off x="6096000" y="4191000"/>
            <a:ext cx="1671638" cy="396875"/>
          </a:xfrm>
          <a:prstGeom prst="rect">
            <a:avLst/>
          </a:prstGeom>
          <a:noFill/>
          <a:ln w="19050" algn="ctr">
            <a:noFill/>
            <a:miter lim="800000"/>
            <a:headEnd/>
            <a:tailEnd/>
          </a:ln>
        </p:spPr>
        <p:txBody>
          <a:bodyPr>
            <a:spAutoFit/>
          </a:bodyPr>
          <a:lstStyle/>
          <a:p>
            <a:pPr>
              <a:spcBef>
                <a:spcPct val="50000"/>
              </a:spcBef>
            </a:pPr>
            <a:r>
              <a:rPr lang="en-US" sz="2000" b="1"/>
              <a:t>+Z</a:t>
            </a:r>
            <a:r>
              <a:rPr lang="el-GR" sz="2000" b="1" baseline="-25000">
                <a:cs typeface="Arial" charset="0"/>
              </a:rPr>
              <a:t>α</a:t>
            </a:r>
            <a:r>
              <a:rPr lang="en-US" sz="2000" b="1" baseline="-25000">
                <a:cs typeface="Arial" charset="0"/>
              </a:rPr>
              <a:t>/2</a:t>
            </a:r>
            <a:r>
              <a:rPr lang="en-US" sz="2000" b="1">
                <a:cs typeface="Arial" charset="0"/>
              </a:rPr>
              <a:t>= +1.96</a:t>
            </a:r>
            <a:endParaRPr lang="el-GR" sz="2000" b="1">
              <a:cs typeface="Arial" charset="0"/>
            </a:endParaRPr>
          </a:p>
        </p:txBody>
      </p:sp>
      <p:sp>
        <p:nvSpPr>
          <p:cNvPr id="56349" name="Line 19"/>
          <p:cNvSpPr>
            <a:spLocks noChangeShapeType="1"/>
          </p:cNvSpPr>
          <p:nvPr/>
        </p:nvSpPr>
        <p:spPr bwMode="auto">
          <a:xfrm flipV="1">
            <a:off x="3810000" y="3657600"/>
            <a:ext cx="0" cy="990600"/>
          </a:xfrm>
          <a:prstGeom prst="line">
            <a:avLst/>
          </a:prstGeom>
          <a:noFill/>
          <a:ln w="57150">
            <a:solidFill>
              <a:schemeClr val="hlink"/>
            </a:solidFill>
            <a:round/>
            <a:headEnd/>
            <a:tailEnd type="triangle" w="med" len="med"/>
          </a:ln>
        </p:spPr>
        <p:txBody>
          <a:bodyPr wrap="none" anchor="ctr"/>
          <a:lstStyle/>
          <a:p>
            <a:endParaRPr lang="en-US"/>
          </a:p>
        </p:txBody>
      </p:sp>
      <p:sp>
        <p:nvSpPr>
          <p:cNvPr id="35" name="Rectangle 19"/>
          <p:cNvSpPr txBox="1">
            <a:spLocks noChangeArrowheads="1"/>
          </p:cNvSpPr>
          <p:nvPr/>
        </p:nvSpPr>
        <p:spPr bwMode="auto">
          <a:xfrm>
            <a:off x="914400" y="457200"/>
            <a:ext cx="7383463" cy="990600"/>
          </a:xfrm>
          <a:prstGeom prst="rect">
            <a:avLst/>
          </a:prstGeom>
          <a:noFill/>
          <a:ln w="9525">
            <a:noFill/>
            <a:miter lim="800000"/>
            <a:headEnd/>
            <a:tailEnd/>
          </a:ln>
          <a:effectLst/>
        </p:spPr>
        <p:txBody>
          <a:bodyPr vert="horz" wrap="square" lIns="85342" tIns="42672" rIns="85342" bIns="42672" numCol="1" anchor="b" anchorCtr="0" compatLnSpc="1">
            <a:prstTxWarp prst="textNoShape">
              <a:avLst/>
            </a:prstTxWarp>
          </a:bodyPr>
          <a:lstStyle/>
          <a:p>
            <a:pPr marL="0" marR="0" lvl="0" indent="0" algn="ctr" defTabSz="852488" rtl="0" eaLnBrk="1" fontAlgn="base" latinLnBrk="0" hangingPunct="1">
              <a:lnSpc>
                <a:spcPct val="100000"/>
              </a:lnSpc>
              <a:spcBef>
                <a:spcPct val="0"/>
              </a:spcBef>
              <a:spcAft>
                <a:spcPct val="0"/>
              </a:spcAft>
              <a:buClrTx/>
              <a:buSzTx/>
              <a:buFontTx/>
              <a:buNone/>
              <a:tabLst/>
              <a:defRPr/>
            </a:pPr>
            <a:r>
              <a:rPr kumimoji="0" lang="id-ID" sz="4000" b="0" i="0" u="none" strike="noStrike" kern="0" cap="none" spc="0" normalizeH="0" baseline="0" noProof="0" dirty="0" smtClean="0">
                <a:ln>
                  <a:noFill/>
                </a:ln>
                <a:solidFill>
                  <a:schemeClr val="tx2"/>
                </a:solidFill>
                <a:effectLst/>
                <a:uLnTx/>
                <a:uFillTx/>
                <a:latin typeface="+mj-lt"/>
                <a:ea typeface="+mj-ea"/>
                <a:cs typeface="+mj-cs"/>
              </a:rPr>
              <a:t>Contoh: Pengujian Hipotesis</a:t>
            </a:r>
            <a:endParaRPr kumimoji="0" lang="en-US" sz="4000" b="0" i="0" u="none" strike="noStrike" kern="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10"/>
          </p:nvPr>
        </p:nvSpPr>
        <p:spPr>
          <a:ln/>
        </p:spPr>
        <p:txBody>
          <a:bodyPr/>
          <a:lstStyle/>
          <a:p>
            <a:pPr>
              <a:defRPr/>
            </a:pPr>
            <a:r>
              <a:rPr lang="en-US"/>
              <a:t>Chap 9-</a:t>
            </a:r>
            <a:fld id="{D0E97C72-23E0-4486-BE28-36C11FB4E09A}" type="slidenum">
              <a:rPr lang="en-US"/>
              <a:pPr>
                <a:defRPr/>
              </a:pPr>
              <a:t>16</a:t>
            </a:fld>
            <a:endParaRPr lang="en-US"/>
          </a:p>
        </p:txBody>
      </p:sp>
      <p:sp>
        <p:nvSpPr>
          <p:cNvPr id="7"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71681"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D7CF5E44-9568-442D-B2FF-C3DDDD1E44C5}" type="slidenum">
              <a:rPr lang="en-US" sz="1000"/>
              <a:pPr algn="r" defTabSz="852488"/>
              <a:t>16</a:t>
            </a:fld>
            <a:endParaRPr lang="en-US" sz="1000"/>
          </a:p>
        </p:txBody>
      </p:sp>
      <p:sp>
        <p:nvSpPr>
          <p:cNvPr id="71682" name="Rectangle 2"/>
          <p:cNvSpPr>
            <a:spLocks noGrp="1" noChangeArrowheads="1"/>
          </p:cNvSpPr>
          <p:nvPr>
            <p:ph type="title" idx="4294967295"/>
          </p:nvPr>
        </p:nvSpPr>
        <p:spPr>
          <a:xfrm>
            <a:off x="1150938" y="381000"/>
            <a:ext cx="7383462" cy="990600"/>
          </a:xfrm>
        </p:spPr>
        <p:txBody>
          <a:bodyPr/>
          <a:lstStyle/>
          <a:p>
            <a:pPr eaLnBrk="1" hangingPunct="1"/>
            <a:r>
              <a:rPr lang="id-ID" dirty="0" smtClean="0"/>
              <a:t>Pengujian Hipotesis</a:t>
            </a:r>
            <a:r>
              <a:rPr lang="en-US" dirty="0" smtClean="0"/>
              <a:t>: </a:t>
            </a:r>
            <a:br>
              <a:rPr lang="en-US" dirty="0" smtClean="0"/>
            </a:br>
            <a:r>
              <a:rPr lang="el-GR" dirty="0" smtClean="0">
                <a:cs typeface="Arial" charset="0"/>
              </a:rPr>
              <a:t>σ</a:t>
            </a:r>
            <a:r>
              <a:rPr lang="en-US" dirty="0" smtClean="0">
                <a:cs typeface="Arial" charset="0"/>
              </a:rPr>
              <a:t> </a:t>
            </a:r>
            <a:r>
              <a:rPr lang="id-ID" dirty="0" smtClean="0">
                <a:cs typeface="Arial" charset="0"/>
              </a:rPr>
              <a:t>tidak diketahui</a:t>
            </a:r>
            <a:endParaRPr lang="en-US" dirty="0" smtClean="0">
              <a:cs typeface="Arial" charset="0"/>
            </a:endParaRPr>
          </a:p>
        </p:txBody>
      </p:sp>
      <p:sp>
        <p:nvSpPr>
          <p:cNvPr id="71683" name="Rectangle 3"/>
          <p:cNvSpPr>
            <a:spLocks noGrp="1" noChangeArrowheads="1"/>
          </p:cNvSpPr>
          <p:nvPr>
            <p:ph type="body" idx="4294967295"/>
          </p:nvPr>
        </p:nvSpPr>
        <p:spPr>
          <a:xfrm>
            <a:off x="457200" y="1828800"/>
            <a:ext cx="8382000" cy="4279900"/>
          </a:xfrm>
        </p:spPr>
        <p:txBody>
          <a:bodyPr/>
          <a:lstStyle/>
          <a:p>
            <a:pPr eaLnBrk="1" hangingPunct="1">
              <a:lnSpc>
                <a:spcPct val="80000"/>
              </a:lnSpc>
            </a:pPr>
            <a:r>
              <a:rPr lang="id-ID" sz="2400" dirty="0" smtClean="0"/>
              <a:t>Karena standar deviasi populasi (</a:t>
            </a:r>
            <a:r>
              <a:rPr lang="el-GR" sz="2400" dirty="0" smtClean="0"/>
              <a:t>σ</a:t>
            </a:r>
            <a:r>
              <a:rPr lang="id-ID" sz="2400" dirty="0" smtClean="0"/>
              <a:t>)  tidak diketahui, gunakan standar deviasi sampel ( S )</a:t>
            </a:r>
            <a:endParaRPr lang="en-US" sz="2400" dirty="0" smtClean="0"/>
          </a:p>
          <a:p>
            <a:pPr eaLnBrk="1" hangingPunct="1">
              <a:lnSpc>
                <a:spcPct val="80000"/>
              </a:lnSpc>
            </a:pPr>
            <a:endParaRPr lang="en-US" sz="2400" dirty="0" smtClean="0"/>
          </a:p>
          <a:p>
            <a:pPr eaLnBrk="1" hangingPunct="1">
              <a:lnSpc>
                <a:spcPct val="80000"/>
              </a:lnSpc>
            </a:pPr>
            <a:r>
              <a:rPr lang="id-ID" sz="2400" dirty="0" smtClean="0"/>
              <a:t>Akibat perubahan ini, guna</a:t>
            </a:r>
            <a:r>
              <a:rPr lang="en-US" sz="2400" dirty="0" smtClean="0"/>
              <a:t>k</a:t>
            </a:r>
            <a:r>
              <a:rPr lang="id-ID" sz="2400" dirty="0" smtClean="0"/>
              <a:t>an distribusi t untuk menguji hipotesis</a:t>
            </a:r>
          </a:p>
          <a:p>
            <a:pPr eaLnBrk="1" hangingPunct="1">
              <a:lnSpc>
                <a:spcPct val="80000"/>
              </a:lnSpc>
              <a:buNone/>
            </a:pPr>
            <a:endParaRPr lang="en-US" sz="2400" dirty="0" smtClean="0"/>
          </a:p>
          <a:p>
            <a:pPr eaLnBrk="1" hangingPunct="1">
              <a:lnSpc>
                <a:spcPct val="80000"/>
              </a:lnSpc>
            </a:pPr>
            <a:r>
              <a:rPr lang="id-ID" sz="2400" dirty="0" smtClean="0"/>
              <a:t>Semua tahapan, konsep dan kesimpulan uji hipotesis denga distribusi t sama dengan distribusi Z</a:t>
            </a:r>
            <a:endParaRPr lang="en-US" sz="2400" dirty="0" smtClean="0"/>
          </a:p>
        </p:txBody>
      </p:sp>
      <p:sp>
        <p:nvSpPr>
          <p:cNvPr id="71685" name="Rectangle 6"/>
          <p:cNvSpPr>
            <a:spLocks noChangeArrowheads="1"/>
          </p:cNvSpPr>
          <p:nvPr/>
        </p:nvSpPr>
        <p:spPr bwMode="auto">
          <a:xfrm>
            <a:off x="7772400" y="1143000"/>
            <a:ext cx="1257300" cy="461963"/>
          </a:xfrm>
          <a:prstGeom prst="rect">
            <a:avLst/>
          </a:prstGeom>
          <a:noFill/>
          <a:ln w="9525">
            <a:noFill/>
            <a:miter lim="800000"/>
            <a:headEnd/>
            <a:tailEnd/>
          </a:ln>
        </p:spPr>
        <p:txBody>
          <a:bodyPr wrap="none">
            <a:spAutoFit/>
          </a:bodyPr>
          <a:lstStyle/>
          <a:p>
            <a:r>
              <a:rPr lang="en-US"/>
              <a:t>DCOV</a:t>
            </a:r>
            <a:r>
              <a:rPr lang="en-US" u="sng">
                <a:solidFill>
                  <a:srgbClr val="FF0000"/>
                </a:solidFill>
              </a:rPr>
              <a:t>A</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5"/>
          <p:cNvSpPr>
            <a:spLocks noGrp="1" noChangeArrowheads="1"/>
          </p:cNvSpPr>
          <p:nvPr>
            <p:ph type="sldNum" sz="quarter" idx="10"/>
          </p:nvPr>
        </p:nvSpPr>
        <p:spPr>
          <a:ln/>
        </p:spPr>
        <p:txBody>
          <a:bodyPr/>
          <a:lstStyle/>
          <a:p>
            <a:pPr>
              <a:defRPr/>
            </a:pPr>
            <a:r>
              <a:rPr lang="en-US"/>
              <a:t>Chap 9-</a:t>
            </a:r>
            <a:fld id="{70F6A50F-54E0-4C90-B2AE-7E7C1ADAAF78}" type="slidenum">
              <a:rPr lang="en-US"/>
              <a:pPr>
                <a:defRPr/>
              </a:pPr>
              <a:t>17</a:t>
            </a:fld>
            <a:endParaRPr lang="en-US"/>
          </a:p>
        </p:txBody>
      </p:sp>
      <p:sp>
        <p:nvSpPr>
          <p:cNvPr id="8198" name="Rectangle 2"/>
          <p:cNvSpPr>
            <a:spLocks noGrp="1" noChangeArrowheads="1"/>
          </p:cNvSpPr>
          <p:nvPr>
            <p:ph type="title" idx="4294967295"/>
          </p:nvPr>
        </p:nvSpPr>
        <p:spPr>
          <a:xfrm>
            <a:off x="990600" y="228600"/>
            <a:ext cx="7793038" cy="1143000"/>
          </a:xfrm>
        </p:spPr>
        <p:txBody>
          <a:bodyPr/>
          <a:lstStyle/>
          <a:p>
            <a:pPr eaLnBrk="1" hangingPunct="1">
              <a:lnSpc>
                <a:spcPct val="80000"/>
              </a:lnSpc>
            </a:pPr>
            <a:r>
              <a:rPr lang="id-ID" dirty="0" smtClean="0"/>
              <a:t>Uji t untuk Pengujian Hipotesis Rata2 </a:t>
            </a:r>
            <a:r>
              <a:rPr lang="en-US" dirty="0" smtClean="0"/>
              <a:t>(</a:t>
            </a:r>
            <a:r>
              <a:rPr lang="el-GR" dirty="0" smtClean="0">
                <a:cs typeface="Arial" charset="0"/>
              </a:rPr>
              <a:t>σ</a:t>
            </a:r>
            <a:r>
              <a:rPr lang="en-US" dirty="0" smtClean="0">
                <a:cs typeface="Arial" charset="0"/>
              </a:rPr>
              <a:t> </a:t>
            </a:r>
            <a:r>
              <a:rPr lang="id-ID" dirty="0" smtClean="0">
                <a:cs typeface="Arial" charset="0"/>
              </a:rPr>
              <a:t>tidak diketahui</a:t>
            </a:r>
            <a:r>
              <a:rPr lang="en-US" dirty="0" smtClean="0">
                <a:cs typeface="Arial" charset="0"/>
              </a:rPr>
              <a:t>)</a:t>
            </a:r>
            <a:endParaRPr lang="el-GR" dirty="0" smtClean="0">
              <a:cs typeface="Arial" charset="0"/>
            </a:endParaRPr>
          </a:p>
        </p:txBody>
      </p:sp>
      <p:sp>
        <p:nvSpPr>
          <p:cNvPr id="8200" name="Freeform 9"/>
          <p:cNvSpPr>
            <a:spLocks/>
          </p:cNvSpPr>
          <p:nvPr/>
        </p:nvSpPr>
        <p:spPr bwMode="auto">
          <a:xfrm>
            <a:off x="4648200" y="3276600"/>
            <a:ext cx="4191000" cy="3352800"/>
          </a:xfrm>
          <a:custGeom>
            <a:avLst/>
            <a:gdLst>
              <a:gd name="T0" fmla="*/ 2147483647 w 2784"/>
              <a:gd name="T1" fmla="*/ 0 h 2208"/>
              <a:gd name="T2" fmla="*/ 2147483647 w 2784"/>
              <a:gd name="T3" fmla="*/ 2147483647 h 2208"/>
              <a:gd name="T4" fmla="*/ 0 w 2784"/>
              <a:gd name="T5" fmla="*/ 2147483647 h 2208"/>
              <a:gd name="T6" fmla="*/ 0 w 2784"/>
              <a:gd name="T7" fmla="*/ 0 h 2208"/>
              <a:gd name="T8" fmla="*/ 2147483647 w 2784"/>
              <a:gd name="T9" fmla="*/ 0 h 2208"/>
              <a:gd name="T10" fmla="*/ 0 60000 65536"/>
              <a:gd name="T11" fmla="*/ 0 60000 65536"/>
              <a:gd name="T12" fmla="*/ 0 60000 65536"/>
              <a:gd name="T13" fmla="*/ 0 60000 65536"/>
              <a:gd name="T14" fmla="*/ 0 60000 65536"/>
              <a:gd name="T15" fmla="*/ 0 w 2784"/>
              <a:gd name="T16" fmla="*/ 0 h 2208"/>
              <a:gd name="T17" fmla="*/ 2784 w 2784"/>
              <a:gd name="T18" fmla="*/ 2208 h 2208"/>
            </a:gdLst>
            <a:ahLst/>
            <a:cxnLst>
              <a:cxn ang="T10">
                <a:pos x="T0" y="T1"/>
              </a:cxn>
              <a:cxn ang="T11">
                <a:pos x="T2" y="T3"/>
              </a:cxn>
              <a:cxn ang="T12">
                <a:pos x="T4" y="T5"/>
              </a:cxn>
              <a:cxn ang="T13">
                <a:pos x="T6" y="T7"/>
              </a:cxn>
              <a:cxn ang="T14">
                <a:pos x="T8" y="T9"/>
              </a:cxn>
            </a:cxnLst>
            <a:rect l="T15" t="T16" r="T17" b="T18"/>
            <a:pathLst>
              <a:path w="2784" h="2208">
                <a:moveTo>
                  <a:pt x="2784" y="0"/>
                </a:moveTo>
                <a:lnTo>
                  <a:pt x="2784" y="2208"/>
                </a:lnTo>
                <a:lnTo>
                  <a:pt x="0" y="2208"/>
                </a:lnTo>
                <a:lnTo>
                  <a:pt x="0" y="0"/>
                </a:lnTo>
                <a:lnTo>
                  <a:pt x="2784" y="0"/>
                </a:lnTo>
              </a:path>
            </a:pathLst>
          </a:custGeom>
          <a:noFill/>
          <a:ln w="28575">
            <a:solidFill>
              <a:schemeClr val="hlink"/>
            </a:solidFill>
            <a:round/>
            <a:headEnd/>
            <a:tailEnd/>
          </a:ln>
        </p:spPr>
        <p:txBody>
          <a:bodyPr wrap="none" anchor="ctr"/>
          <a:lstStyle/>
          <a:p>
            <a:endParaRPr lang="en-US"/>
          </a:p>
        </p:txBody>
      </p:sp>
      <p:sp>
        <p:nvSpPr>
          <p:cNvPr id="8201" name="Line 10"/>
          <p:cNvSpPr>
            <a:spLocks noChangeShapeType="1"/>
          </p:cNvSpPr>
          <p:nvPr/>
        </p:nvSpPr>
        <p:spPr bwMode="auto">
          <a:xfrm>
            <a:off x="4800600" y="2971800"/>
            <a:ext cx="1588" cy="228600"/>
          </a:xfrm>
          <a:prstGeom prst="line">
            <a:avLst/>
          </a:prstGeom>
          <a:noFill/>
          <a:ln w="28575">
            <a:solidFill>
              <a:schemeClr val="tx1"/>
            </a:solidFill>
            <a:miter lim="800000"/>
            <a:headEnd/>
            <a:tailEnd/>
          </a:ln>
        </p:spPr>
        <p:txBody>
          <a:bodyPr wrap="none"/>
          <a:lstStyle/>
          <a:p>
            <a:endParaRPr lang="en-US"/>
          </a:p>
        </p:txBody>
      </p:sp>
      <p:sp>
        <p:nvSpPr>
          <p:cNvPr id="8202" name="Freeform 12"/>
          <p:cNvSpPr>
            <a:spLocks/>
          </p:cNvSpPr>
          <p:nvPr/>
        </p:nvSpPr>
        <p:spPr bwMode="auto">
          <a:xfrm>
            <a:off x="3733800" y="2133600"/>
            <a:ext cx="1981200" cy="914400"/>
          </a:xfrm>
          <a:custGeom>
            <a:avLst/>
            <a:gdLst>
              <a:gd name="T0" fmla="*/ 0 w 1115"/>
              <a:gd name="T1" fmla="*/ 2147483647 h 514"/>
              <a:gd name="T2" fmla="*/ 2147483647 w 1115"/>
              <a:gd name="T3" fmla="*/ 2147483647 h 514"/>
              <a:gd name="T4" fmla="*/ 2147483647 w 1115"/>
              <a:gd name="T5" fmla="*/ 0 h 514"/>
              <a:gd name="T6" fmla="*/ 0 w 1115"/>
              <a:gd name="T7" fmla="*/ 0 h 514"/>
              <a:gd name="T8" fmla="*/ 0 w 1115"/>
              <a:gd name="T9" fmla="*/ 2147483647 h 514"/>
              <a:gd name="T10" fmla="*/ 0 60000 65536"/>
              <a:gd name="T11" fmla="*/ 0 60000 65536"/>
              <a:gd name="T12" fmla="*/ 0 60000 65536"/>
              <a:gd name="T13" fmla="*/ 0 60000 65536"/>
              <a:gd name="T14" fmla="*/ 0 60000 65536"/>
              <a:gd name="T15" fmla="*/ 0 w 1115"/>
              <a:gd name="T16" fmla="*/ 0 h 514"/>
              <a:gd name="T17" fmla="*/ 1115 w 1115"/>
              <a:gd name="T18" fmla="*/ 514 h 514"/>
            </a:gdLst>
            <a:ahLst/>
            <a:cxnLst>
              <a:cxn ang="T10">
                <a:pos x="T0" y="T1"/>
              </a:cxn>
              <a:cxn ang="T11">
                <a:pos x="T2" y="T3"/>
              </a:cxn>
              <a:cxn ang="T12">
                <a:pos x="T4" y="T5"/>
              </a:cxn>
              <a:cxn ang="T13">
                <a:pos x="T6" y="T7"/>
              </a:cxn>
              <a:cxn ang="T14">
                <a:pos x="T8" y="T9"/>
              </a:cxn>
            </a:cxnLst>
            <a:rect l="T15" t="T16" r="T17" b="T18"/>
            <a:pathLst>
              <a:path w="1115" h="514">
                <a:moveTo>
                  <a:pt x="0" y="513"/>
                </a:moveTo>
                <a:lnTo>
                  <a:pt x="1114" y="513"/>
                </a:lnTo>
                <a:lnTo>
                  <a:pt x="1114" y="0"/>
                </a:lnTo>
                <a:lnTo>
                  <a:pt x="0" y="0"/>
                </a:lnTo>
                <a:lnTo>
                  <a:pt x="0" y="513"/>
                </a:lnTo>
              </a:path>
            </a:pathLst>
          </a:custGeom>
          <a:solidFill>
            <a:srgbClr val="C7DAF7"/>
          </a:solidFill>
          <a:ln w="25400" cap="rnd">
            <a:solidFill>
              <a:srgbClr val="1A1A1A"/>
            </a:solidFill>
            <a:round/>
            <a:headEnd/>
            <a:tailEnd/>
          </a:ln>
        </p:spPr>
        <p:txBody>
          <a:bodyPr/>
          <a:lstStyle/>
          <a:p>
            <a:endParaRPr lang="en-US"/>
          </a:p>
        </p:txBody>
      </p:sp>
      <p:sp>
        <p:nvSpPr>
          <p:cNvPr id="8203" name="Line 15"/>
          <p:cNvSpPr>
            <a:spLocks noChangeShapeType="1"/>
          </p:cNvSpPr>
          <p:nvPr/>
        </p:nvSpPr>
        <p:spPr bwMode="auto">
          <a:xfrm>
            <a:off x="3124200" y="3200400"/>
            <a:ext cx="3429000" cy="0"/>
          </a:xfrm>
          <a:prstGeom prst="line">
            <a:avLst/>
          </a:prstGeom>
          <a:noFill/>
          <a:ln w="28575">
            <a:solidFill>
              <a:schemeClr val="tx1"/>
            </a:solidFill>
            <a:round/>
            <a:headEnd/>
            <a:tailEnd/>
          </a:ln>
        </p:spPr>
        <p:txBody>
          <a:bodyPr wrap="none"/>
          <a:lstStyle/>
          <a:p>
            <a:endParaRPr lang="en-US"/>
          </a:p>
        </p:txBody>
      </p:sp>
      <p:sp>
        <p:nvSpPr>
          <p:cNvPr id="8204" name="Line 16"/>
          <p:cNvSpPr>
            <a:spLocks noChangeShapeType="1"/>
          </p:cNvSpPr>
          <p:nvPr/>
        </p:nvSpPr>
        <p:spPr bwMode="auto">
          <a:xfrm>
            <a:off x="3124200" y="3200400"/>
            <a:ext cx="1588" cy="228600"/>
          </a:xfrm>
          <a:prstGeom prst="line">
            <a:avLst/>
          </a:prstGeom>
          <a:noFill/>
          <a:ln w="28575">
            <a:solidFill>
              <a:schemeClr val="tx1"/>
            </a:solidFill>
            <a:miter lim="800000"/>
            <a:headEnd/>
            <a:tailEnd/>
          </a:ln>
        </p:spPr>
        <p:txBody>
          <a:bodyPr wrap="none"/>
          <a:lstStyle/>
          <a:p>
            <a:endParaRPr lang="en-US"/>
          </a:p>
        </p:txBody>
      </p:sp>
      <p:sp>
        <p:nvSpPr>
          <p:cNvPr id="8205" name="Line 17"/>
          <p:cNvSpPr>
            <a:spLocks noChangeShapeType="1"/>
          </p:cNvSpPr>
          <p:nvPr/>
        </p:nvSpPr>
        <p:spPr bwMode="auto">
          <a:xfrm>
            <a:off x="6553200" y="3200400"/>
            <a:ext cx="1588" cy="228600"/>
          </a:xfrm>
          <a:prstGeom prst="line">
            <a:avLst/>
          </a:prstGeom>
          <a:noFill/>
          <a:ln w="28575">
            <a:solidFill>
              <a:schemeClr val="tx1"/>
            </a:solidFill>
            <a:miter lim="800000"/>
            <a:headEnd/>
            <a:tailEnd/>
          </a:ln>
        </p:spPr>
        <p:txBody>
          <a:bodyPr wrap="none"/>
          <a:lstStyle/>
          <a:p>
            <a:endParaRPr lang="en-US"/>
          </a:p>
        </p:txBody>
      </p:sp>
      <p:sp>
        <p:nvSpPr>
          <p:cNvPr id="8206" name="Rectangle 19"/>
          <p:cNvSpPr>
            <a:spLocks noChangeArrowheads="1"/>
          </p:cNvSpPr>
          <p:nvPr/>
        </p:nvSpPr>
        <p:spPr bwMode="auto">
          <a:xfrm>
            <a:off x="3276600" y="2133600"/>
            <a:ext cx="2743200" cy="819150"/>
          </a:xfrm>
          <a:prstGeom prst="rect">
            <a:avLst/>
          </a:prstGeom>
          <a:noFill/>
          <a:ln w="12700">
            <a:noFill/>
            <a:miter lim="800000"/>
            <a:headEnd/>
            <a:tailEnd/>
          </a:ln>
        </p:spPr>
        <p:txBody>
          <a:bodyPr lIns="90488" tIns="44450" rIns="90488" bIns="44450">
            <a:spAutoFit/>
          </a:bodyPr>
          <a:lstStyle/>
          <a:p>
            <a:pPr algn="ctr" eaLnBrk="0" hangingPunct="0"/>
            <a:r>
              <a:rPr lang="en-US" sz="2400" b="1">
                <a:sym typeface="Symbol" pitchFamily="18" charset="2"/>
              </a:rPr>
              <a:t>Hypothesis </a:t>
            </a:r>
          </a:p>
          <a:p>
            <a:pPr algn="ctr" eaLnBrk="0" hangingPunct="0"/>
            <a:r>
              <a:rPr lang="en-US" sz="2400" b="1">
                <a:sym typeface="Symbol" pitchFamily="18" charset="2"/>
              </a:rPr>
              <a:t>Tests for </a:t>
            </a:r>
          </a:p>
        </p:txBody>
      </p:sp>
      <p:sp>
        <p:nvSpPr>
          <p:cNvPr id="8207" name="Rectangle 20"/>
          <p:cNvSpPr>
            <a:spLocks noChangeArrowheads="1"/>
          </p:cNvSpPr>
          <p:nvPr/>
        </p:nvSpPr>
        <p:spPr bwMode="auto">
          <a:xfrm>
            <a:off x="2362200" y="3505200"/>
            <a:ext cx="1487488" cy="454025"/>
          </a:xfrm>
          <a:prstGeom prst="rect">
            <a:avLst/>
          </a:prstGeom>
          <a:noFill/>
          <a:ln w="12700">
            <a:noFill/>
            <a:miter lim="800000"/>
            <a:headEnd/>
            <a:tailEnd/>
          </a:ln>
        </p:spPr>
        <p:txBody>
          <a:bodyPr wrap="none" lIns="90488" tIns="44450" rIns="90488" bIns="44450">
            <a:spAutoFit/>
          </a:bodyPr>
          <a:lstStyle/>
          <a:p>
            <a:pPr eaLnBrk="0" hangingPunct="0"/>
            <a:r>
              <a:rPr lang="el-GR" sz="2400" b="1">
                <a:cs typeface="Arial" charset="0"/>
                <a:sym typeface="Symbol" pitchFamily="18" charset="2"/>
              </a:rPr>
              <a:t>σ</a:t>
            </a:r>
            <a:r>
              <a:rPr lang="en-US" sz="2400" b="1">
                <a:sym typeface="Symbol" pitchFamily="18" charset="2"/>
              </a:rPr>
              <a:t> Known</a:t>
            </a:r>
          </a:p>
        </p:txBody>
      </p:sp>
      <p:sp>
        <p:nvSpPr>
          <p:cNvPr id="8208" name="Line 21"/>
          <p:cNvSpPr>
            <a:spLocks noChangeShapeType="1"/>
          </p:cNvSpPr>
          <p:nvPr/>
        </p:nvSpPr>
        <p:spPr bwMode="auto">
          <a:xfrm>
            <a:off x="3124200" y="3200400"/>
            <a:ext cx="3429000" cy="0"/>
          </a:xfrm>
          <a:prstGeom prst="line">
            <a:avLst/>
          </a:prstGeom>
          <a:noFill/>
          <a:ln w="28575">
            <a:solidFill>
              <a:schemeClr val="tx1"/>
            </a:solidFill>
            <a:round/>
            <a:headEnd/>
            <a:tailEnd/>
          </a:ln>
        </p:spPr>
        <p:txBody>
          <a:bodyPr wrap="none"/>
          <a:lstStyle/>
          <a:p>
            <a:endParaRPr lang="en-US"/>
          </a:p>
        </p:txBody>
      </p:sp>
      <p:sp>
        <p:nvSpPr>
          <p:cNvPr id="8209" name="Line 22"/>
          <p:cNvSpPr>
            <a:spLocks noChangeShapeType="1"/>
          </p:cNvSpPr>
          <p:nvPr/>
        </p:nvSpPr>
        <p:spPr bwMode="auto">
          <a:xfrm>
            <a:off x="3124200" y="3200400"/>
            <a:ext cx="1588" cy="228600"/>
          </a:xfrm>
          <a:prstGeom prst="line">
            <a:avLst/>
          </a:prstGeom>
          <a:noFill/>
          <a:ln w="28575">
            <a:solidFill>
              <a:schemeClr val="tx1"/>
            </a:solidFill>
            <a:miter lim="800000"/>
            <a:headEnd/>
            <a:tailEnd/>
          </a:ln>
        </p:spPr>
        <p:txBody>
          <a:bodyPr wrap="none"/>
          <a:lstStyle/>
          <a:p>
            <a:endParaRPr lang="en-US"/>
          </a:p>
        </p:txBody>
      </p:sp>
      <p:sp>
        <p:nvSpPr>
          <p:cNvPr id="8210" name="Line 23"/>
          <p:cNvSpPr>
            <a:spLocks noChangeShapeType="1"/>
          </p:cNvSpPr>
          <p:nvPr/>
        </p:nvSpPr>
        <p:spPr bwMode="auto">
          <a:xfrm>
            <a:off x="6553200" y="3200400"/>
            <a:ext cx="1588" cy="228600"/>
          </a:xfrm>
          <a:prstGeom prst="line">
            <a:avLst/>
          </a:prstGeom>
          <a:noFill/>
          <a:ln w="28575">
            <a:solidFill>
              <a:schemeClr val="tx1"/>
            </a:solidFill>
            <a:miter lim="800000"/>
            <a:headEnd/>
            <a:tailEnd/>
          </a:ln>
        </p:spPr>
        <p:txBody>
          <a:bodyPr wrap="none"/>
          <a:lstStyle/>
          <a:p>
            <a:endParaRPr lang="en-US"/>
          </a:p>
        </p:txBody>
      </p:sp>
      <p:sp>
        <p:nvSpPr>
          <p:cNvPr id="8211" name="Rectangle 24"/>
          <p:cNvSpPr>
            <a:spLocks noChangeArrowheads="1"/>
          </p:cNvSpPr>
          <p:nvPr/>
        </p:nvSpPr>
        <p:spPr bwMode="auto">
          <a:xfrm>
            <a:off x="5638800" y="3505200"/>
            <a:ext cx="1843088" cy="454025"/>
          </a:xfrm>
          <a:prstGeom prst="rect">
            <a:avLst/>
          </a:prstGeom>
          <a:noFill/>
          <a:ln w="12700">
            <a:noFill/>
            <a:miter lim="800000"/>
            <a:headEnd/>
            <a:tailEnd/>
          </a:ln>
        </p:spPr>
        <p:txBody>
          <a:bodyPr wrap="none" lIns="90488" tIns="44450" rIns="90488" bIns="44450">
            <a:spAutoFit/>
          </a:bodyPr>
          <a:lstStyle/>
          <a:p>
            <a:pPr eaLnBrk="0" hangingPunct="0"/>
            <a:r>
              <a:rPr lang="el-GR" sz="2400" b="1">
                <a:sym typeface="Symbol" pitchFamily="18" charset="2"/>
              </a:rPr>
              <a:t>σ</a:t>
            </a:r>
            <a:r>
              <a:rPr lang="en-US" sz="2400" b="1">
                <a:sym typeface="Symbol" pitchFamily="18" charset="2"/>
              </a:rPr>
              <a:t> Unknown</a:t>
            </a:r>
          </a:p>
        </p:txBody>
      </p:sp>
      <p:sp>
        <p:nvSpPr>
          <p:cNvPr id="8212" name="Freeform 25"/>
          <p:cNvSpPr>
            <a:spLocks/>
          </p:cNvSpPr>
          <p:nvPr/>
        </p:nvSpPr>
        <p:spPr bwMode="auto">
          <a:xfrm>
            <a:off x="2133600" y="3429000"/>
            <a:ext cx="1819275" cy="914400"/>
          </a:xfrm>
          <a:custGeom>
            <a:avLst/>
            <a:gdLst>
              <a:gd name="T0" fmla="*/ 0 w 1068"/>
              <a:gd name="T1" fmla="*/ 2147483647 h 429"/>
              <a:gd name="T2" fmla="*/ 2147483647 w 1068"/>
              <a:gd name="T3" fmla="*/ 2147483647 h 429"/>
              <a:gd name="T4" fmla="*/ 2147483647 w 1068"/>
              <a:gd name="T5" fmla="*/ 0 h 429"/>
              <a:gd name="T6" fmla="*/ 0 w 1068"/>
              <a:gd name="T7" fmla="*/ 0 h 429"/>
              <a:gd name="T8" fmla="*/ 0 w 1068"/>
              <a:gd name="T9" fmla="*/ 2147483647 h 429"/>
              <a:gd name="T10" fmla="*/ 0 60000 65536"/>
              <a:gd name="T11" fmla="*/ 0 60000 65536"/>
              <a:gd name="T12" fmla="*/ 0 60000 65536"/>
              <a:gd name="T13" fmla="*/ 0 60000 65536"/>
              <a:gd name="T14" fmla="*/ 0 60000 65536"/>
              <a:gd name="T15" fmla="*/ 0 w 1068"/>
              <a:gd name="T16" fmla="*/ 0 h 429"/>
              <a:gd name="T17" fmla="*/ 1068 w 1068"/>
              <a:gd name="T18" fmla="*/ 429 h 429"/>
            </a:gdLst>
            <a:ahLst/>
            <a:cxnLst>
              <a:cxn ang="T10">
                <a:pos x="T0" y="T1"/>
              </a:cxn>
              <a:cxn ang="T11">
                <a:pos x="T2" y="T3"/>
              </a:cxn>
              <a:cxn ang="T12">
                <a:pos x="T4" y="T5"/>
              </a:cxn>
              <a:cxn ang="T13">
                <a:pos x="T6" y="T7"/>
              </a:cxn>
              <a:cxn ang="T14">
                <a:pos x="T8" y="T9"/>
              </a:cxn>
            </a:cxnLst>
            <a:rect l="T15" t="T16" r="T17" b="T18"/>
            <a:pathLst>
              <a:path w="1068" h="429">
                <a:moveTo>
                  <a:pt x="0" y="428"/>
                </a:moveTo>
                <a:lnTo>
                  <a:pt x="1067" y="428"/>
                </a:lnTo>
                <a:lnTo>
                  <a:pt x="1067" y="0"/>
                </a:lnTo>
                <a:lnTo>
                  <a:pt x="0" y="0"/>
                </a:lnTo>
                <a:lnTo>
                  <a:pt x="0" y="428"/>
                </a:lnTo>
              </a:path>
            </a:pathLst>
          </a:custGeom>
          <a:solidFill>
            <a:srgbClr val="C7DAF7"/>
          </a:solidFill>
          <a:ln w="25400" cap="rnd">
            <a:solidFill>
              <a:srgbClr val="1A1A1A"/>
            </a:solidFill>
            <a:round/>
            <a:headEnd/>
            <a:tailEnd/>
          </a:ln>
        </p:spPr>
        <p:txBody>
          <a:bodyPr/>
          <a:lstStyle/>
          <a:p>
            <a:endParaRPr lang="en-US"/>
          </a:p>
        </p:txBody>
      </p:sp>
      <p:sp>
        <p:nvSpPr>
          <p:cNvPr id="8213" name="Rectangle 26"/>
          <p:cNvSpPr>
            <a:spLocks noChangeArrowheads="1"/>
          </p:cNvSpPr>
          <p:nvPr/>
        </p:nvSpPr>
        <p:spPr bwMode="auto">
          <a:xfrm>
            <a:off x="2286000" y="3505200"/>
            <a:ext cx="1463675" cy="454025"/>
          </a:xfrm>
          <a:prstGeom prst="rect">
            <a:avLst/>
          </a:prstGeom>
          <a:noFill/>
          <a:ln w="12700">
            <a:noFill/>
            <a:miter lim="800000"/>
            <a:headEnd/>
            <a:tailEnd/>
          </a:ln>
        </p:spPr>
        <p:txBody>
          <a:bodyPr wrap="none" lIns="90488" tIns="44450" rIns="90488" bIns="44450">
            <a:spAutoFit/>
          </a:bodyPr>
          <a:lstStyle/>
          <a:p>
            <a:pPr eaLnBrk="0" hangingPunct="0"/>
            <a:r>
              <a:rPr lang="en-US" sz="2400" b="1">
                <a:sym typeface="Symbol" pitchFamily="18" charset="2"/>
              </a:rPr>
              <a:t> Known</a:t>
            </a:r>
          </a:p>
        </p:txBody>
      </p:sp>
      <p:sp>
        <p:nvSpPr>
          <p:cNvPr id="8214" name="Freeform 27"/>
          <p:cNvSpPr>
            <a:spLocks/>
          </p:cNvSpPr>
          <p:nvPr/>
        </p:nvSpPr>
        <p:spPr bwMode="auto">
          <a:xfrm>
            <a:off x="5410200" y="3429000"/>
            <a:ext cx="2057400" cy="914400"/>
          </a:xfrm>
          <a:custGeom>
            <a:avLst/>
            <a:gdLst>
              <a:gd name="T0" fmla="*/ 0 w 1241"/>
              <a:gd name="T1" fmla="*/ 2147483647 h 436"/>
              <a:gd name="T2" fmla="*/ 2147483647 w 1241"/>
              <a:gd name="T3" fmla="*/ 2147483647 h 436"/>
              <a:gd name="T4" fmla="*/ 2147483647 w 1241"/>
              <a:gd name="T5" fmla="*/ 0 h 436"/>
              <a:gd name="T6" fmla="*/ 0 w 1241"/>
              <a:gd name="T7" fmla="*/ 0 h 436"/>
              <a:gd name="T8" fmla="*/ 0 w 1241"/>
              <a:gd name="T9" fmla="*/ 2147483647 h 436"/>
              <a:gd name="T10" fmla="*/ 0 60000 65536"/>
              <a:gd name="T11" fmla="*/ 0 60000 65536"/>
              <a:gd name="T12" fmla="*/ 0 60000 65536"/>
              <a:gd name="T13" fmla="*/ 0 60000 65536"/>
              <a:gd name="T14" fmla="*/ 0 60000 65536"/>
              <a:gd name="T15" fmla="*/ 0 w 1241"/>
              <a:gd name="T16" fmla="*/ 0 h 436"/>
              <a:gd name="T17" fmla="*/ 1241 w 1241"/>
              <a:gd name="T18" fmla="*/ 436 h 436"/>
            </a:gdLst>
            <a:ahLst/>
            <a:cxnLst>
              <a:cxn ang="T10">
                <a:pos x="T0" y="T1"/>
              </a:cxn>
              <a:cxn ang="T11">
                <a:pos x="T2" y="T3"/>
              </a:cxn>
              <a:cxn ang="T12">
                <a:pos x="T4" y="T5"/>
              </a:cxn>
              <a:cxn ang="T13">
                <a:pos x="T6" y="T7"/>
              </a:cxn>
              <a:cxn ang="T14">
                <a:pos x="T8" y="T9"/>
              </a:cxn>
            </a:cxnLst>
            <a:rect l="T15" t="T16" r="T17" b="T18"/>
            <a:pathLst>
              <a:path w="1241" h="436">
                <a:moveTo>
                  <a:pt x="0" y="435"/>
                </a:moveTo>
                <a:lnTo>
                  <a:pt x="1240" y="435"/>
                </a:lnTo>
                <a:lnTo>
                  <a:pt x="1240" y="0"/>
                </a:lnTo>
                <a:lnTo>
                  <a:pt x="0" y="0"/>
                </a:lnTo>
                <a:lnTo>
                  <a:pt x="0" y="435"/>
                </a:lnTo>
              </a:path>
            </a:pathLst>
          </a:custGeom>
          <a:solidFill>
            <a:srgbClr val="FDE0BD"/>
          </a:solidFill>
          <a:ln w="25400" cap="rnd">
            <a:solidFill>
              <a:srgbClr val="1A1A1A"/>
            </a:solidFill>
            <a:round/>
            <a:headEnd/>
            <a:tailEnd/>
          </a:ln>
        </p:spPr>
        <p:txBody>
          <a:bodyPr/>
          <a:lstStyle/>
          <a:p>
            <a:endParaRPr lang="en-US"/>
          </a:p>
        </p:txBody>
      </p:sp>
      <p:sp>
        <p:nvSpPr>
          <p:cNvPr id="8215" name="Rectangle 28"/>
          <p:cNvSpPr>
            <a:spLocks noChangeArrowheads="1"/>
          </p:cNvSpPr>
          <p:nvPr/>
        </p:nvSpPr>
        <p:spPr bwMode="auto">
          <a:xfrm>
            <a:off x="5562600" y="3505200"/>
            <a:ext cx="1819275" cy="454025"/>
          </a:xfrm>
          <a:prstGeom prst="rect">
            <a:avLst/>
          </a:prstGeom>
          <a:noFill/>
          <a:ln w="12700">
            <a:noFill/>
            <a:miter lim="800000"/>
            <a:headEnd/>
            <a:tailEnd/>
          </a:ln>
        </p:spPr>
        <p:txBody>
          <a:bodyPr wrap="none" lIns="90488" tIns="44450" rIns="90488" bIns="44450">
            <a:spAutoFit/>
          </a:bodyPr>
          <a:lstStyle/>
          <a:p>
            <a:pPr eaLnBrk="0" hangingPunct="0"/>
            <a:r>
              <a:rPr lang="en-US" sz="2400" b="1">
                <a:sym typeface="Symbol" pitchFamily="18" charset="2"/>
              </a:rPr>
              <a:t> Unknown</a:t>
            </a:r>
          </a:p>
        </p:txBody>
      </p:sp>
      <p:sp>
        <p:nvSpPr>
          <p:cNvPr id="8216" name="Text Box 29"/>
          <p:cNvSpPr txBox="1">
            <a:spLocks noChangeArrowheads="1"/>
          </p:cNvSpPr>
          <p:nvPr/>
        </p:nvSpPr>
        <p:spPr bwMode="auto">
          <a:xfrm>
            <a:off x="2362200" y="3860800"/>
            <a:ext cx="1200150" cy="457200"/>
          </a:xfrm>
          <a:prstGeom prst="rect">
            <a:avLst/>
          </a:prstGeom>
          <a:noFill/>
          <a:ln w="9525">
            <a:noFill/>
            <a:miter lim="800000"/>
            <a:headEnd/>
            <a:tailEnd/>
          </a:ln>
        </p:spPr>
        <p:txBody>
          <a:bodyPr wrap="none">
            <a:spAutoFit/>
          </a:bodyPr>
          <a:lstStyle/>
          <a:p>
            <a:r>
              <a:rPr lang="en-US" sz="2400" b="1"/>
              <a:t>(Z test)</a:t>
            </a:r>
          </a:p>
        </p:txBody>
      </p:sp>
      <p:sp>
        <p:nvSpPr>
          <p:cNvPr id="8217" name="Text Box 30"/>
          <p:cNvSpPr txBox="1">
            <a:spLocks noChangeArrowheads="1"/>
          </p:cNvSpPr>
          <p:nvPr/>
        </p:nvSpPr>
        <p:spPr bwMode="auto">
          <a:xfrm>
            <a:off x="5810250" y="3886200"/>
            <a:ext cx="1116013" cy="457200"/>
          </a:xfrm>
          <a:prstGeom prst="rect">
            <a:avLst/>
          </a:prstGeom>
          <a:noFill/>
          <a:ln w="9525">
            <a:noFill/>
            <a:miter lim="800000"/>
            <a:headEnd/>
            <a:tailEnd/>
          </a:ln>
        </p:spPr>
        <p:txBody>
          <a:bodyPr wrap="none">
            <a:spAutoFit/>
          </a:bodyPr>
          <a:lstStyle/>
          <a:p>
            <a:r>
              <a:rPr lang="en-US" sz="2400" b="1"/>
              <a:t>(t test)</a:t>
            </a:r>
          </a:p>
        </p:txBody>
      </p:sp>
      <p:sp>
        <p:nvSpPr>
          <p:cNvPr id="8218" name="Rectangle 33"/>
          <p:cNvSpPr>
            <a:spLocks noChangeArrowheads="1"/>
          </p:cNvSpPr>
          <p:nvPr/>
        </p:nvSpPr>
        <p:spPr bwMode="auto">
          <a:xfrm>
            <a:off x="381000" y="1524000"/>
            <a:ext cx="8458200" cy="1258888"/>
          </a:xfrm>
          <a:prstGeom prst="rect">
            <a:avLst/>
          </a:prstGeom>
          <a:noFill/>
          <a:ln w="9525">
            <a:noFill/>
            <a:miter lim="800000"/>
            <a:headEnd/>
            <a:tailEnd/>
          </a:ln>
        </p:spPr>
        <p:txBody>
          <a:bodyPr lIns="85342" tIns="42672" rIns="85342" bIns="42672"/>
          <a:lstStyle/>
          <a:p>
            <a:pPr marL="320675" indent="-320675" defTabSz="852488">
              <a:spcBef>
                <a:spcPct val="20000"/>
              </a:spcBef>
              <a:buClr>
                <a:schemeClr val="folHlink"/>
              </a:buClr>
              <a:buSzPct val="60000"/>
              <a:buFont typeface="Wingdings" pitchFamily="2" charset="2"/>
              <a:buChar char="n"/>
            </a:pPr>
            <a:r>
              <a:rPr lang="id-ID" sz="2700" dirty="0" smtClean="0"/>
              <a:t>Konversikan </a:t>
            </a:r>
            <a:r>
              <a:rPr lang="en-US" sz="2700" dirty="0" smtClean="0"/>
              <a:t>(     </a:t>
            </a:r>
            <a:r>
              <a:rPr lang="en-US" sz="2700" dirty="0"/>
              <a:t>) </a:t>
            </a:r>
            <a:r>
              <a:rPr lang="id-ID" sz="2700" dirty="0" smtClean="0"/>
              <a:t>menjadi </a:t>
            </a:r>
            <a:r>
              <a:rPr lang="id-ID" sz="2700" dirty="0" smtClean="0">
                <a:solidFill>
                  <a:srgbClr val="0070C0"/>
                </a:solidFill>
              </a:rPr>
              <a:t>statistik uji</a:t>
            </a:r>
            <a:r>
              <a:rPr lang="en-US" sz="2700" dirty="0" smtClean="0"/>
              <a:t>  t</a:t>
            </a:r>
            <a:r>
              <a:rPr lang="id-ID" sz="2700" baseline="-25000" dirty="0" smtClean="0"/>
              <a:t>hitung</a:t>
            </a:r>
            <a:endParaRPr lang="en-US" sz="2700" dirty="0"/>
          </a:p>
          <a:p>
            <a:pPr marL="320675" indent="-320675" defTabSz="852488">
              <a:lnSpc>
                <a:spcPct val="80000"/>
              </a:lnSpc>
              <a:spcBef>
                <a:spcPct val="20000"/>
              </a:spcBef>
              <a:buClr>
                <a:schemeClr val="folHlink"/>
              </a:buClr>
              <a:buSzPct val="60000"/>
              <a:buFont typeface="Wingdings" pitchFamily="2" charset="2"/>
              <a:buNone/>
            </a:pPr>
            <a:r>
              <a:rPr lang="en-US" sz="2700" dirty="0"/>
              <a:t> </a:t>
            </a:r>
          </a:p>
          <a:p>
            <a:pPr marL="320675" indent="-320675" defTabSz="852488">
              <a:spcBef>
                <a:spcPct val="20000"/>
              </a:spcBef>
              <a:buClr>
                <a:schemeClr val="folHlink"/>
              </a:buClr>
              <a:buSzPct val="60000"/>
              <a:buFont typeface="Wingdings" pitchFamily="2" charset="2"/>
              <a:buNone/>
            </a:pPr>
            <a:endParaRPr lang="en-US" sz="2700" dirty="0"/>
          </a:p>
        </p:txBody>
      </p:sp>
      <p:sp>
        <p:nvSpPr>
          <p:cNvPr id="8219" name="Text Box 36"/>
          <p:cNvSpPr txBox="1">
            <a:spLocks noChangeArrowheads="1"/>
          </p:cNvSpPr>
          <p:nvPr/>
        </p:nvSpPr>
        <p:spPr bwMode="auto">
          <a:xfrm>
            <a:off x="4724400" y="4343400"/>
            <a:ext cx="3276600" cy="457200"/>
          </a:xfrm>
          <a:prstGeom prst="rect">
            <a:avLst/>
          </a:prstGeom>
          <a:noFill/>
          <a:ln w="19050" algn="ctr">
            <a:noFill/>
            <a:miter lim="800000"/>
            <a:headEnd/>
            <a:tailEnd/>
          </a:ln>
        </p:spPr>
        <p:txBody>
          <a:bodyPr>
            <a:spAutoFit/>
          </a:bodyPr>
          <a:lstStyle/>
          <a:p>
            <a:pPr>
              <a:spcBef>
                <a:spcPct val="50000"/>
              </a:spcBef>
            </a:pPr>
            <a:r>
              <a:rPr lang="id-ID" sz="2400" dirty="0" smtClean="0"/>
              <a:t>Statistik uji</a:t>
            </a:r>
            <a:r>
              <a:rPr lang="en-US" sz="2400" dirty="0" smtClean="0"/>
              <a:t>:</a:t>
            </a:r>
            <a:endParaRPr lang="en-US" sz="2400" dirty="0"/>
          </a:p>
        </p:txBody>
      </p:sp>
      <p:sp>
        <p:nvSpPr>
          <p:cNvPr id="8220" name="Freeform 38"/>
          <p:cNvSpPr>
            <a:spLocks/>
          </p:cNvSpPr>
          <p:nvPr/>
        </p:nvSpPr>
        <p:spPr bwMode="auto">
          <a:xfrm>
            <a:off x="4648200" y="3276600"/>
            <a:ext cx="4191000" cy="3352800"/>
          </a:xfrm>
          <a:custGeom>
            <a:avLst/>
            <a:gdLst>
              <a:gd name="T0" fmla="*/ 2147483647 w 2784"/>
              <a:gd name="T1" fmla="*/ 0 h 2208"/>
              <a:gd name="T2" fmla="*/ 2147483647 w 2784"/>
              <a:gd name="T3" fmla="*/ 2147483647 h 2208"/>
              <a:gd name="T4" fmla="*/ 0 w 2784"/>
              <a:gd name="T5" fmla="*/ 2147483647 h 2208"/>
              <a:gd name="T6" fmla="*/ 0 w 2784"/>
              <a:gd name="T7" fmla="*/ 0 h 2208"/>
              <a:gd name="T8" fmla="*/ 2147483647 w 2784"/>
              <a:gd name="T9" fmla="*/ 0 h 2208"/>
              <a:gd name="T10" fmla="*/ 0 60000 65536"/>
              <a:gd name="T11" fmla="*/ 0 60000 65536"/>
              <a:gd name="T12" fmla="*/ 0 60000 65536"/>
              <a:gd name="T13" fmla="*/ 0 60000 65536"/>
              <a:gd name="T14" fmla="*/ 0 60000 65536"/>
              <a:gd name="T15" fmla="*/ 0 w 2784"/>
              <a:gd name="T16" fmla="*/ 0 h 2208"/>
              <a:gd name="T17" fmla="*/ 2784 w 2784"/>
              <a:gd name="T18" fmla="*/ 2208 h 2208"/>
            </a:gdLst>
            <a:ahLst/>
            <a:cxnLst>
              <a:cxn ang="T10">
                <a:pos x="T0" y="T1"/>
              </a:cxn>
              <a:cxn ang="T11">
                <a:pos x="T2" y="T3"/>
              </a:cxn>
              <a:cxn ang="T12">
                <a:pos x="T4" y="T5"/>
              </a:cxn>
              <a:cxn ang="T13">
                <a:pos x="T6" y="T7"/>
              </a:cxn>
              <a:cxn ang="T14">
                <a:pos x="T8" y="T9"/>
              </a:cxn>
            </a:cxnLst>
            <a:rect l="T15" t="T16" r="T17" b="T18"/>
            <a:pathLst>
              <a:path w="2784" h="2208">
                <a:moveTo>
                  <a:pt x="2784" y="0"/>
                </a:moveTo>
                <a:lnTo>
                  <a:pt x="2784" y="2208"/>
                </a:lnTo>
                <a:lnTo>
                  <a:pt x="0" y="2208"/>
                </a:lnTo>
                <a:lnTo>
                  <a:pt x="0" y="0"/>
                </a:lnTo>
                <a:lnTo>
                  <a:pt x="2784" y="0"/>
                </a:lnTo>
              </a:path>
            </a:pathLst>
          </a:custGeom>
          <a:noFill/>
          <a:ln w="28575">
            <a:solidFill>
              <a:schemeClr val="hlink"/>
            </a:solidFill>
            <a:round/>
            <a:headEnd/>
            <a:tailEnd/>
          </a:ln>
        </p:spPr>
        <p:txBody>
          <a:bodyPr wrap="none" anchor="ctr"/>
          <a:lstStyle/>
          <a:p>
            <a:endParaRPr lang="en-US"/>
          </a:p>
        </p:txBody>
      </p:sp>
      <p:sp>
        <p:nvSpPr>
          <p:cNvPr id="8221" name="Line 39"/>
          <p:cNvSpPr>
            <a:spLocks noChangeShapeType="1"/>
          </p:cNvSpPr>
          <p:nvPr/>
        </p:nvSpPr>
        <p:spPr bwMode="auto">
          <a:xfrm>
            <a:off x="4800600" y="2971800"/>
            <a:ext cx="1588" cy="228600"/>
          </a:xfrm>
          <a:prstGeom prst="line">
            <a:avLst/>
          </a:prstGeom>
          <a:noFill/>
          <a:ln w="28575">
            <a:solidFill>
              <a:schemeClr val="tx1"/>
            </a:solidFill>
            <a:miter lim="800000"/>
            <a:headEnd/>
            <a:tailEnd/>
          </a:ln>
        </p:spPr>
        <p:txBody>
          <a:bodyPr wrap="none"/>
          <a:lstStyle/>
          <a:p>
            <a:endParaRPr lang="en-US"/>
          </a:p>
        </p:txBody>
      </p:sp>
      <p:sp>
        <p:nvSpPr>
          <p:cNvPr id="8222" name="Freeform 40"/>
          <p:cNvSpPr>
            <a:spLocks/>
          </p:cNvSpPr>
          <p:nvPr/>
        </p:nvSpPr>
        <p:spPr bwMode="auto">
          <a:xfrm>
            <a:off x="3733800" y="2133600"/>
            <a:ext cx="1981200" cy="914400"/>
          </a:xfrm>
          <a:custGeom>
            <a:avLst/>
            <a:gdLst>
              <a:gd name="T0" fmla="*/ 0 w 1115"/>
              <a:gd name="T1" fmla="*/ 2147483647 h 514"/>
              <a:gd name="T2" fmla="*/ 2147483647 w 1115"/>
              <a:gd name="T3" fmla="*/ 2147483647 h 514"/>
              <a:gd name="T4" fmla="*/ 2147483647 w 1115"/>
              <a:gd name="T5" fmla="*/ 0 h 514"/>
              <a:gd name="T6" fmla="*/ 0 w 1115"/>
              <a:gd name="T7" fmla="*/ 0 h 514"/>
              <a:gd name="T8" fmla="*/ 0 w 1115"/>
              <a:gd name="T9" fmla="*/ 2147483647 h 514"/>
              <a:gd name="T10" fmla="*/ 0 60000 65536"/>
              <a:gd name="T11" fmla="*/ 0 60000 65536"/>
              <a:gd name="T12" fmla="*/ 0 60000 65536"/>
              <a:gd name="T13" fmla="*/ 0 60000 65536"/>
              <a:gd name="T14" fmla="*/ 0 60000 65536"/>
              <a:gd name="T15" fmla="*/ 0 w 1115"/>
              <a:gd name="T16" fmla="*/ 0 h 514"/>
              <a:gd name="T17" fmla="*/ 1115 w 1115"/>
              <a:gd name="T18" fmla="*/ 514 h 514"/>
            </a:gdLst>
            <a:ahLst/>
            <a:cxnLst>
              <a:cxn ang="T10">
                <a:pos x="T0" y="T1"/>
              </a:cxn>
              <a:cxn ang="T11">
                <a:pos x="T2" y="T3"/>
              </a:cxn>
              <a:cxn ang="T12">
                <a:pos x="T4" y="T5"/>
              </a:cxn>
              <a:cxn ang="T13">
                <a:pos x="T6" y="T7"/>
              </a:cxn>
              <a:cxn ang="T14">
                <a:pos x="T8" y="T9"/>
              </a:cxn>
            </a:cxnLst>
            <a:rect l="T15" t="T16" r="T17" b="T18"/>
            <a:pathLst>
              <a:path w="1115" h="514">
                <a:moveTo>
                  <a:pt x="0" y="513"/>
                </a:moveTo>
                <a:lnTo>
                  <a:pt x="1114" y="513"/>
                </a:lnTo>
                <a:lnTo>
                  <a:pt x="1114" y="0"/>
                </a:lnTo>
                <a:lnTo>
                  <a:pt x="0" y="0"/>
                </a:lnTo>
                <a:lnTo>
                  <a:pt x="0" y="513"/>
                </a:lnTo>
              </a:path>
            </a:pathLst>
          </a:custGeom>
          <a:solidFill>
            <a:srgbClr val="C7DAF7"/>
          </a:solidFill>
          <a:ln w="25400" cap="rnd">
            <a:solidFill>
              <a:srgbClr val="1A1A1A"/>
            </a:solidFill>
            <a:round/>
            <a:headEnd/>
            <a:tailEnd/>
          </a:ln>
        </p:spPr>
        <p:txBody>
          <a:bodyPr/>
          <a:lstStyle/>
          <a:p>
            <a:endParaRPr lang="en-US"/>
          </a:p>
        </p:txBody>
      </p:sp>
      <p:sp>
        <p:nvSpPr>
          <p:cNvPr id="8223" name="Line 41"/>
          <p:cNvSpPr>
            <a:spLocks noChangeShapeType="1"/>
          </p:cNvSpPr>
          <p:nvPr/>
        </p:nvSpPr>
        <p:spPr bwMode="auto">
          <a:xfrm>
            <a:off x="3124200" y="3200400"/>
            <a:ext cx="3429000" cy="0"/>
          </a:xfrm>
          <a:prstGeom prst="line">
            <a:avLst/>
          </a:prstGeom>
          <a:noFill/>
          <a:ln w="28575">
            <a:solidFill>
              <a:schemeClr val="tx1"/>
            </a:solidFill>
            <a:round/>
            <a:headEnd/>
            <a:tailEnd/>
          </a:ln>
        </p:spPr>
        <p:txBody>
          <a:bodyPr wrap="none"/>
          <a:lstStyle/>
          <a:p>
            <a:endParaRPr lang="en-US"/>
          </a:p>
        </p:txBody>
      </p:sp>
      <p:sp>
        <p:nvSpPr>
          <p:cNvPr id="8224" name="Line 42"/>
          <p:cNvSpPr>
            <a:spLocks noChangeShapeType="1"/>
          </p:cNvSpPr>
          <p:nvPr/>
        </p:nvSpPr>
        <p:spPr bwMode="auto">
          <a:xfrm>
            <a:off x="3124200" y="3200400"/>
            <a:ext cx="1588" cy="228600"/>
          </a:xfrm>
          <a:prstGeom prst="line">
            <a:avLst/>
          </a:prstGeom>
          <a:noFill/>
          <a:ln w="28575">
            <a:solidFill>
              <a:schemeClr val="tx1"/>
            </a:solidFill>
            <a:miter lim="800000"/>
            <a:headEnd/>
            <a:tailEnd/>
          </a:ln>
        </p:spPr>
        <p:txBody>
          <a:bodyPr wrap="none"/>
          <a:lstStyle/>
          <a:p>
            <a:endParaRPr lang="en-US"/>
          </a:p>
        </p:txBody>
      </p:sp>
      <p:sp>
        <p:nvSpPr>
          <p:cNvPr id="8225" name="Line 43"/>
          <p:cNvSpPr>
            <a:spLocks noChangeShapeType="1"/>
          </p:cNvSpPr>
          <p:nvPr/>
        </p:nvSpPr>
        <p:spPr bwMode="auto">
          <a:xfrm>
            <a:off x="6553200" y="3200400"/>
            <a:ext cx="1588" cy="228600"/>
          </a:xfrm>
          <a:prstGeom prst="line">
            <a:avLst/>
          </a:prstGeom>
          <a:noFill/>
          <a:ln w="28575">
            <a:solidFill>
              <a:schemeClr val="tx1"/>
            </a:solidFill>
            <a:miter lim="800000"/>
            <a:headEnd/>
            <a:tailEnd/>
          </a:ln>
        </p:spPr>
        <p:txBody>
          <a:bodyPr wrap="none"/>
          <a:lstStyle/>
          <a:p>
            <a:endParaRPr lang="en-US"/>
          </a:p>
        </p:txBody>
      </p:sp>
      <p:sp>
        <p:nvSpPr>
          <p:cNvPr id="8226" name="Rectangle 44"/>
          <p:cNvSpPr>
            <a:spLocks noChangeArrowheads="1"/>
          </p:cNvSpPr>
          <p:nvPr/>
        </p:nvSpPr>
        <p:spPr bwMode="auto">
          <a:xfrm>
            <a:off x="3276600" y="2133600"/>
            <a:ext cx="2743200" cy="819150"/>
          </a:xfrm>
          <a:prstGeom prst="rect">
            <a:avLst/>
          </a:prstGeom>
          <a:noFill/>
          <a:ln w="12700">
            <a:noFill/>
            <a:miter lim="800000"/>
            <a:headEnd/>
            <a:tailEnd/>
          </a:ln>
        </p:spPr>
        <p:txBody>
          <a:bodyPr lIns="90488" tIns="44450" rIns="90488" bIns="44450">
            <a:spAutoFit/>
          </a:bodyPr>
          <a:lstStyle/>
          <a:p>
            <a:pPr algn="ctr" eaLnBrk="0" hangingPunct="0"/>
            <a:r>
              <a:rPr lang="en-US" sz="2400" b="1">
                <a:sym typeface="Symbol" pitchFamily="18" charset="2"/>
              </a:rPr>
              <a:t>Hypothesis </a:t>
            </a:r>
          </a:p>
          <a:p>
            <a:pPr algn="ctr" eaLnBrk="0" hangingPunct="0"/>
            <a:r>
              <a:rPr lang="en-US" sz="2400" b="1">
                <a:sym typeface="Symbol" pitchFamily="18" charset="2"/>
              </a:rPr>
              <a:t>Tests for </a:t>
            </a:r>
          </a:p>
        </p:txBody>
      </p:sp>
      <p:sp>
        <p:nvSpPr>
          <p:cNvPr id="8227" name="Rectangle 45"/>
          <p:cNvSpPr>
            <a:spLocks noChangeArrowheads="1"/>
          </p:cNvSpPr>
          <p:nvPr/>
        </p:nvSpPr>
        <p:spPr bwMode="auto">
          <a:xfrm>
            <a:off x="2362200" y="3505200"/>
            <a:ext cx="1487488" cy="454025"/>
          </a:xfrm>
          <a:prstGeom prst="rect">
            <a:avLst/>
          </a:prstGeom>
          <a:noFill/>
          <a:ln w="12700">
            <a:noFill/>
            <a:miter lim="800000"/>
            <a:headEnd/>
            <a:tailEnd/>
          </a:ln>
        </p:spPr>
        <p:txBody>
          <a:bodyPr wrap="none" lIns="90488" tIns="44450" rIns="90488" bIns="44450">
            <a:spAutoFit/>
          </a:bodyPr>
          <a:lstStyle/>
          <a:p>
            <a:pPr eaLnBrk="0" hangingPunct="0"/>
            <a:r>
              <a:rPr lang="el-GR" sz="2400" b="1">
                <a:cs typeface="Arial" charset="0"/>
                <a:sym typeface="Symbol" pitchFamily="18" charset="2"/>
              </a:rPr>
              <a:t>σ</a:t>
            </a:r>
            <a:r>
              <a:rPr lang="en-US" sz="2400" b="1">
                <a:sym typeface="Symbol" pitchFamily="18" charset="2"/>
              </a:rPr>
              <a:t> Known</a:t>
            </a:r>
          </a:p>
        </p:txBody>
      </p:sp>
      <p:sp>
        <p:nvSpPr>
          <p:cNvPr id="8228" name="Line 46"/>
          <p:cNvSpPr>
            <a:spLocks noChangeShapeType="1"/>
          </p:cNvSpPr>
          <p:nvPr/>
        </p:nvSpPr>
        <p:spPr bwMode="auto">
          <a:xfrm>
            <a:off x="3124200" y="3200400"/>
            <a:ext cx="3429000" cy="0"/>
          </a:xfrm>
          <a:prstGeom prst="line">
            <a:avLst/>
          </a:prstGeom>
          <a:noFill/>
          <a:ln w="28575">
            <a:solidFill>
              <a:schemeClr val="tx1"/>
            </a:solidFill>
            <a:round/>
            <a:headEnd/>
            <a:tailEnd/>
          </a:ln>
        </p:spPr>
        <p:txBody>
          <a:bodyPr wrap="none"/>
          <a:lstStyle/>
          <a:p>
            <a:endParaRPr lang="en-US"/>
          </a:p>
        </p:txBody>
      </p:sp>
      <p:sp>
        <p:nvSpPr>
          <p:cNvPr id="8229" name="Line 47"/>
          <p:cNvSpPr>
            <a:spLocks noChangeShapeType="1"/>
          </p:cNvSpPr>
          <p:nvPr/>
        </p:nvSpPr>
        <p:spPr bwMode="auto">
          <a:xfrm>
            <a:off x="3124200" y="3200400"/>
            <a:ext cx="1588" cy="228600"/>
          </a:xfrm>
          <a:prstGeom prst="line">
            <a:avLst/>
          </a:prstGeom>
          <a:noFill/>
          <a:ln w="28575">
            <a:solidFill>
              <a:schemeClr val="tx1"/>
            </a:solidFill>
            <a:miter lim="800000"/>
            <a:headEnd/>
            <a:tailEnd/>
          </a:ln>
        </p:spPr>
        <p:txBody>
          <a:bodyPr wrap="none"/>
          <a:lstStyle/>
          <a:p>
            <a:endParaRPr lang="en-US"/>
          </a:p>
        </p:txBody>
      </p:sp>
      <p:sp>
        <p:nvSpPr>
          <p:cNvPr id="8230" name="Line 48"/>
          <p:cNvSpPr>
            <a:spLocks noChangeShapeType="1"/>
          </p:cNvSpPr>
          <p:nvPr/>
        </p:nvSpPr>
        <p:spPr bwMode="auto">
          <a:xfrm>
            <a:off x="6553200" y="3200400"/>
            <a:ext cx="1588" cy="228600"/>
          </a:xfrm>
          <a:prstGeom prst="line">
            <a:avLst/>
          </a:prstGeom>
          <a:noFill/>
          <a:ln w="28575">
            <a:solidFill>
              <a:schemeClr val="tx1"/>
            </a:solidFill>
            <a:miter lim="800000"/>
            <a:headEnd/>
            <a:tailEnd/>
          </a:ln>
        </p:spPr>
        <p:txBody>
          <a:bodyPr wrap="none"/>
          <a:lstStyle/>
          <a:p>
            <a:endParaRPr lang="en-US"/>
          </a:p>
        </p:txBody>
      </p:sp>
      <p:sp>
        <p:nvSpPr>
          <p:cNvPr id="8231" name="Rectangle 49"/>
          <p:cNvSpPr>
            <a:spLocks noChangeArrowheads="1"/>
          </p:cNvSpPr>
          <p:nvPr/>
        </p:nvSpPr>
        <p:spPr bwMode="auto">
          <a:xfrm>
            <a:off x="5638800" y="3505200"/>
            <a:ext cx="1843088" cy="454025"/>
          </a:xfrm>
          <a:prstGeom prst="rect">
            <a:avLst/>
          </a:prstGeom>
          <a:noFill/>
          <a:ln w="12700">
            <a:noFill/>
            <a:miter lim="800000"/>
            <a:headEnd/>
            <a:tailEnd/>
          </a:ln>
        </p:spPr>
        <p:txBody>
          <a:bodyPr wrap="none" lIns="90488" tIns="44450" rIns="90488" bIns="44450">
            <a:spAutoFit/>
          </a:bodyPr>
          <a:lstStyle/>
          <a:p>
            <a:pPr eaLnBrk="0" hangingPunct="0"/>
            <a:r>
              <a:rPr lang="el-GR" sz="2400" b="1">
                <a:sym typeface="Symbol" pitchFamily="18" charset="2"/>
              </a:rPr>
              <a:t>σ</a:t>
            </a:r>
            <a:r>
              <a:rPr lang="en-US" sz="2400" b="1">
                <a:sym typeface="Symbol" pitchFamily="18" charset="2"/>
              </a:rPr>
              <a:t> Unknown</a:t>
            </a:r>
          </a:p>
        </p:txBody>
      </p:sp>
      <p:sp>
        <p:nvSpPr>
          <p:cNvPr id="8232" name="Freeform 50"/>
          <p:cNvSpPr>
            <a:spLocks/>
          </p:cNvSpPr>
          <p:nvPr/>
        </p:nvSpPr>
        <p:spPr bwMode="auto">
          <a:xfrm>
            <a:off x="2133600" y="3429000"/>
            <a:ext cx="1819275" cy="914400"/>
          </a:xfrm>
          <a:custGeom>
            <a:avLst/>
            <a:gdLst>
              <a:gd name="T0" fmla="*/ 0 w 1068"/>
              <a:gd name="T1" fmla="*/ 2147483647 h 429"/>
              <a:gd name="T2" fmla="*/ 2147483647 w 1068"/>
              <a:gd name="T3" fmla="*/ 2147483647 h 429"/>
              <a:gd name="T4" fmla="*/ 2147483647 w 1068"/>
              <a:gd name="T5" fmla="*/ 0 h 429"/>
              <a:gd name="T6" fmla="*/ 0 w 1068"/>
              <a:gd name="T7" fmla="*/ 0 h 429"/>
              <a:gd name="T8" fmla="*/ 0 w 1068"/>
              <a:gd name="T9" fmla="*/ 2147483647 h 429"/>
              <a:gd name="T10" fmla="*/ 0 60000 65536"/>
              <a:gd name="T11" fmla="*/ 0 60000 65536"/>
              <a:gd name="T12" fmla="*/ 0 60000 65536"/>
              <a:gd name="T13" fmla="*/ 0 60000 65536"/>
              <a:gd name="T14" fmla="*/ 0 60000 65536"/>
              <a:gd name="T15" fmla="*/ 0 w 1068"/>
              <a:gd name="T16" fmla="*/ 0 h 429"/>
              <a:gd name="T17" fmla="*/ 1068 w 1068"/>
              <a:gd name="T18" fmla="*/ 429 h 429"/>
            </a:gdLst>
            <a:ahLst/>
            <a:cxnLst>
              <a:cxn ang="T10">
                <a:pos x="T0" y="T1"/>
              </a:cxn>
              <a:cxn ang="T11">
                <a:pos x="T2" y="T3"/>
              </a:cxn>
              <a:cxn ang="T12">
                <a:pos x="T4" y="T5"/>
              </a:cxn>
              <a:cxn ang="T13">
                <a:pos x="T6" y="T7"/>
              </a:cxn>
              <a:cxn ang="T14">
                <a:pos x="T8" y="T9"/>
              </a:cxn>
            </a:cxnLst>
            <a:rect l="T15" t="T16" r="T17" b="T18"/>
            <a:pathLst>
              <a:path w="1068" h="429">
                <a:moveTo>
                  <a:pt x="0" y="428"/>
                </a:moveTo>
                <a:lnTo>
                  <a:pt x="1067" y="428"/>
                </a:lnTo>
                <a:lnTo>
                  <a:pt x="1067" y="0"/>
                </a:lnTo>
                <a:lnTo>
                  <a:pt x="0" y="0"/>
                </a:lnTo>
                <a:lnTo>
                  <a:pt x="0" y="428"/>
                </a:lnTo>
              </a:path>
            </a:pathLst>
          </a:custGeom>
          <a:solidFill>
            <a:srgbClr val="C7DAF7"/>
          </a:solidFill>
          <a:ln w="25400" cap="rnd">
            <a:solidFill>
              <a:srgbClr val="1A1A1A"/>
            </a:solidFill>
            <a:round/>
            <a:headEnd/>
            <a:tailEnd/>
          </a:ln>
        </p:spPr>
        <p:txBody>
          <a:bodyPr/>
          <a:lstStyle/>
          <a:p>
            <a:endParaRPr lang="en-US"/>
          </a:p>
        </p:txBody>
      </p:sp>
      <p:sp>
        <p:nvSpPr>
          <p:cNvPr id="8233" name="Rectangle 51"/>
          <p:cNvSpPr>
            <a:spLocks noChangeArrowheads="1"/>
          </p:cNvSpPr>
          <p:nvPr/>
        </p:nvSpPr>
        <p:spPr bwMode="auto">
          <a:xfrm>
            <a:off x="2286000" y="3505200"/>
            <a:ext cx="1463675" cy="454025"/>
          </a:xfrm>
          <a:prstGeom prst="rect">
            <a:avLst/>
          </a:prstGeom>
          <a:noFill/>
          <a:ln w="12700">
            <a:noFill/>
            <a:miter lim="800000"/>
            <a:headEnd/>
            <a:tailEnd/>
          </a:ln>
        </p:spPr>
        <p:txBody>
          <a:bodyPr wrap="none" lIns="90488" tIns="44450" rIns="90488" bIns="44450">
            <a:spAutoFit/>
          </a:bodyPr>
          <a:lstStyle/>
          <a:p>
            <a:pPr eaLnBrk="0" hangingPunct="0"/>
            <a:r>
              <a:rPr lang="en-US" sz="2400" b="1">
                <a:sym typeface="Symbol" pitchFamily="18" charset="2"/>
              </a:rPr>
              <a:t> Known</a:t>
            </a:r>
          </a:p>
        </p:txBody>
      </p:sp>
      <p:sp>
        <p:nvSpPr>
          <p:cNvPr id="8234" name="Freeform 52"/>
          <p:cNvSpPr>
            <a:spLocks/>
          </p:cNvSpPr>
          <p:nvPr/>
        </p:nvSpPr>
        <p:spPr bwMode="auto">
          <a:xfrm>
            <a:off x="5410200" y="3429000"/>
            <a:ext cx="2057400" cy="914400"/>
          </a:xfrm>
          <a:custGeom>
            <a:avLst/>
            <a:gdLst>
              <a:gd name="T0" fmla="*/ 0 w 1241"/>
              <a:gd name="T1" fmla="*/ 2147483647 h 436"/>
              <a:gd name="T2" fmla="*/ 2147483647 w 1241"/>
              <a:gd name="T3" fmla="*/ 2147483647 h 436"/>
              <a:gd name="T4" fmla="*/ 2147483647 w 1241"/>
              <a:gd name="T5" fmla="*/ 0 h 436"/>
              <a:gd name="T6" fmla="*/ 0 w 1241"/>
              <a:gd name="T7" fmla="*/ 0 h 436"/>
              <a:gd name="T8" fmla="*/ 0 w 1241"/>
              <a:gd name="T9" fmla="*/ 2147483647 h 436"/>
              <a:gd name="T10" fmla="*/ 0 60000 65536"/>
              <a:gd name="T11" fmla="*/ 0 60000 65536"/>
              <a:gd name="T12" fmla="*/ 0 60000 65536"/>
              <a:gd name="T13" fmla="*/ 0 60000 65536"/>
              <a:gd name="T14" fmla="*/ 0 60000 65536"/>
              <a:gd name="T15" fmla="*/ 0 w 1241"/>
              <a:gd name="T16" fmla="*/ 0 h 436"/>
              <a:gd name="T17" fmla="*/ 1241 w 1241"/>
              <a:gd name="T18" fmla="*/ 436 h 436"/>
            </a:gdLst>
            <a:ahLst/>
            <a:cxnLst>
              <a:cxn ang="T10">
                <a:pos x="T0" y="T1"/>
              </a:cxn>
              <a:cxn ang="T11">
                <a:pos x="T2" y="T3"/>
              </a:cxn>
              <a:cxn ang="T12">
                <a:pos x="T4" y="T5"/>
              </a:cxn>
              <a:cxn ang="T13">
                <a:pos x="T6" y="T7"/>
              </a:cxn>
              <a:cxn ang="T14">
                <a:pos x="T8" y="T9"/>
              </a:cxn>
            </a:cxnLst>
            <a:rect l="T15" t="T16" r="T17" b="T18"/>
            <a:pathLst>
              <a:path w="1241" h="436">
                <a:moveTo>
                  <a:pt x="0" y="435"/>
                </a:moveTo>
                <a:lnTo>
                  <a:pt x="1240" y="435"/>
                </a:lnTo>
                <a:lnTo>
                  <a:pt x="1240" y="0"/>
                </a:lnTo>
                <a:lnTo>
                  <a:pt x="0" y="0"/>
                </a:lnTo>
                <a:lnTo>
                  <a:pt x="0" y="435"/>
                </a:lnTo>
              </a:path>
            </a:pathLst>
          </a:custGeom>
          <a:solidFill>
            <a:srgbClr val="FDE0BD"/>
          </a:solidFill>
          <a:ln w="25400" cap="rnd">
            <a:solidFill>
              <a:srgbClr val="1A1A1A"/>
            </a:solidFill>
            <a:round/>
            <a:headEnd/>
            <a:tailEnd/>
          </a:ln>
        </p:spPr>
        <p:txBody>
          <a:bodyPr/>
          <a:lstStyle/>
          <a:p>
            <a:endParaRPr lang="en-US"/>
          </a:p>
        </p:txBody>
      </p:sp>
      <p:sp>
        <p:nvSpPr>
          <p:cNvPr id="8235" name="Rectangle 53"/>
          <p:cNvSpPr>
            <a:spLocks noChangeArrowheads="1"/>
          </p:cNvSpPr>
          <p:nvPr/>
        </p:nvSpPr>
        <p:spPr bwMode="auto">
          <a:xfrm>
            <a:off x="5562600" y="3505200"/>
            <a:ext cx="1819275" cy="454025"/>
          </a:xfrm>
          <a:prstGeom prst="rect">
            <a:avLst/>
          </a:prstGeom>
          <a:noFill/>
          <a:ln w="12700">
            <a:noFill/>
            <a:miter lim="800000"/>
            <a:headEnd/>
            <a:tailEnd/>
          </a:ln>
        </p:spPr>
        <p:txBody>
          <a:bodyPr wrap="none" lIns="90488" tIns="44450" rIns="90488" bIns="44450">
            <a:spAutoFit/>
          </a:bodyPr>
          <a:lstStyle/>
          <a:p>
            <a:pPr eaLnBrk="0" hangingPunct="0"/>
            <a:r>
              <a:rPr lang="en-US" sz="2400" b="1">
                <a:sym typeface="Symbol" pitchFamily="18" charset="2"/>
              </a:rPr>
              <a:t> Unknown</a:t>
            </a:r>
          </a:p>
        </p:txBody>
      </p:sp>
      <p:sp>
        <p:nvSpPr>
          <p:cNvPr id="8236" name="Text Box 54"/>
          <p:cNvSpPr txBox="1">
            <a:spLocks noChangeArrowheads="1"/>
          </p:cNvSpPr>
          <p:nvPr/>
        </p:nvSpPr>
        <p:spPr bwMode="auto">
          <a:xfrm>
            <a:off x="2362200" y="3860800"/>
            <a:ext cx="1200150" cy="457200"/>
          </a:xfrm>
          <a:prstGeom prst="rect">
            <a:avLst/>
          </a:prstGeom>
          <a:noFill/>
          <a:ln w="9525">
            <a:noFill/>
            <a:miter lim="800000"/>
            <a:headEnd/>
            <a:tailEnd/>
          </a:ln>
        </p:spPr>
        <p:txBody>
          <a:bodyPr wrap="none">
            <a:spAutoFit/>
          </a:bodyPr>
          <a:lstStyle/>
          <a:p>
            <a:r>
              <a:rPr lang="en-US" sz="2400" b="1"/>
              <a:t>(Z test)</a:t>
            </a:r>
          </a:p>
        </p:txBody>
      </p:sp>
      <p:sp>
        <p:nvSpPr>
          <p:cNvPr id="8237" name="Text Box 55"/>
          <p:cNvSpPr txBox="1">
            <a:spLocks noChangeArrowheads="1"/>
          </p:cNvSpPr>
          <p:nvPr/>
        </p:nvSpPr>
        <p:spPr bwMode="auto">
          <a:xfrm>
            <a:off x="5810250" y="3886200"/>
            <a:ext cx="1116013" cy="457200"/>
          </a:xfrm>
          <a:prstGeom prst="rect">
            <a:avLst/>
          </a:prstGeom>
          <a:noFill/>
          <a:ln w="9525">
            <a:noFill/>
            <a:miter lim="800000"/>
            <a:headEnd/>
            <a:tailEnd/>
          </a:ln>
        </p:spPr>
        <p:txBody>
          <a:bodyPr wrap="none">
            <a:spAutoFit/>
          </a:bodyPr>
          <a:lstStyle/>
          <a:p>
            <a:r>
              <a:rPr lang="en-US" sz="2400" b="1"/>
              <a:t>(t test)</a:t>
            </a:r>
          </a:p>
        </p:txBody>
      </p:sp>
      <p:sp>
        <p:nvSpPr>
          <p:cNvPr id="8238" name="Text Box 57"/>
          <p:cNvSpPr txBox="1">
            <a:spLocks noChangeArrowheads="1"/>
          </p:cNvSpPr>
          <p:nvPr/>
        </p:nvSpPr>
        <p:spPr bwMode="auto">
          <a:xfrm>
            <a:off x="2895600" y="1524000"/>
            <a:ext cx="533400" cy="461665"/>
          </a:xfrm>
          <a:prstGeom prst="rect">
            <a:avLst/>
          </a:prstGeom>
          <a:noFill/>
          <a:ln w="19050" algn="ctr">
            <a:noFill/>
            <a:miter lim="800000"/>
            <a:headEnd/>
            <a:tailEnd/>
          </a:ln>
        </p:spPr>
        <p:txBody>
          <a:bodyPr>
            <a:spAutoFit/>
          </a:bodyPr>
          <a:lstStyle/>
          <a:p>
            <a:pPr algn="ctr">
              <a:spcBef>
                <a:spcPct val="50000"/>
              </a:spcBef>
            </a:pPr>
            <a:r>
              <a:rPr lang="en-US" dirty="0"/>
              <a:t> </a:t>
            </a:r>
            <a:r>
              <a:rPr lang="en-US" sz="2400" dirty="0"/>
              <a:t>X</a:t>
            </a:r>
          </a:p>
        </p:txBody>
      </p:sp>
      <p:sp>
        <p:nvSpPr>
          <p:cNvPr id="8239" name="Line 58"/>
          <p:cNvSpPr>
            <a:spLocks noChangeShapeType="1"/>
          </p:cNvSpPr>
          <p:nvPr/>
        </p:nvSpPr>
        <p:spPr bwMode="auto">
          <a:xfrm>
            <a:off x="3048000" y="1600200"/>
            <a:ext cx="228600" cy="0"/>
          </a:xfrm>
          <a:prstGeom prst="line">
            <a:avLst/>
          </a:prstGeom>
          <a:noFill/>
          <a:ln w="19050">
            <a:solidFill>
              <a:schemeClr val="tx1"/>
            </a:solidFill>
            <a:round/>
            <a:headEnd/>
            <a:tailEnd/>
          </a:ln>
        </p:spPr>
        <p:txBody>
          <a:bodyPr wrap="none" anchor="ctr"/>
          <a:lstStyle/>
          <a:p>
            <a:endParaRPr lang="en-US"/>
          </a:p>
        </p:txBody>
      </p:sp>
      <p:grpSp>
        <p:nvGrpSpPr>
          <p:cNvPr id="2" name="Group 80"/>
          <p:cNvGrpSpPr>
            <a:grpSpLocks/>
          </p:cNvGrpSpPr>
          <p:nvPr/>
        </p:nvGrpSpPr>
        <p:grpSpPr bwMode="auto">
          <a:xfrm>
            <a:off x="2133600" y="2133600"/>
            <a:ext cx="6705600" cy="4495800"/>
            <a:chOff x="1344" y="1344"/>
            <a:chExt cx="4224" cy="2832"/>
          </a:xfrm>
        </p:grpSpPr>
        <p:graphicFrame>
          <p:nvGraphicFramePr>
            <p:cNvPr id="8196" name="Object 60">
              <a:hlinkClick r:id="" action="ppaction://ole?verb=0"/>
            </p:cNvPr>
            <p:cNvGraphicFramePr>
              <a:graphicFrameLocks/>
            </p:cNvGraphicFramePr>
            <p:nvPr/>
          </p:nvGraphicFramePr>
          <p:xfrm>
            <a:off x="3086" y="3061"/>
            <a:ext cx="1124" cy="887"/>
          </p:xfrm>
          <a:graphic>
            <a:graphicData uri="http://schemas.openxmlformats.org/presentationml/2006/ole">
              <mc:AlternateContent xmlns:mc="http://schemas.openxmlformats.org/markup-compatibility/2006">
                <mc:Choice xmlns:v="urn:schemas-microsoft-com:vml" Requires="v">
                  <p:oleObj spid="_x0000_s305168" name="Equation" r:id="rId4" imgW="1041120" imgH="838080" progId="Equation.DSMT4">
                    <p:embed/>
                  </p:oleObj>
                </mc:Choice>
                <mc:Fallback>
                  <p:oleObj name="Equation" r:id="rId4" imgW="1041120" imgH="838080" progId="Equation.DSMT4">
                    <p:embed/>
                    <p:pic>
                      <p:nvPicPr>
                        <p:cNvPr id="0" name="Object 6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86" y="3061"/>
                          <a:ext cx="1124" cy="887"/>
                        </a:xfrm>
                        <a:prstGeom prst="rect">
                          <a:avLst/>
                        </a:prstGeom>
                        <a:solidFill>
                          <a:srgbClr val="FDE0BD"/>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44" name="Freeform 61"/>
            <p:cNvSpPr>
              <a:spLocks/>
            </p:cNvSpPr>
            <p:nvPr/>
          </p:nvSpPr>
          <p:spPr bwMode="auto">
            <a:xfrm>
              <a:off x="2928" y="2064"/>
              <a:ext cx="2640" cy="2112"/>
            </a:xfrm>
            <a:custGeom>
              <a:avLst/>
              <a:gdLst>
                <a:gd name="T0" fmla="*/ 2374 w 2784"/>
                <a:gd name="T1" fmla="*/ 0 h 2208"/>
                <a:gd name="T2" fmla="*/ 2374 w 2784"/>
                <a:gd name="T3" fmla="*/ 1932 h 2208"/>
                <a:gd name="T4" fmla="*/ 0 w 2784"/>
                <a:gd name="T5" fmla="*/ 1932 h 2208"/>
                <a:gd name="T6" fmla="*/ 0 w 2784"/>
                <a:gd name="T7" fmla="*/ 0 h 2208"/>
                <a:gd name="T8" fmla="*/ 2374 w 2784"/>
                <a:gd name="T9" fmla="*/ 0 h 2208"/>
                <a:gd name="T10" fmla="*/ 0 60000 65536"/>
                <a:gd name="T11" fmla="*/ 0 60000 65536"/>
                <a:gd name="T12" fmla="*/ 0 60000 65536"/>
                <a:gd name="T13" fmla="*/ 0 60000 65536"/>
                <a:gd name="T14" fmla="*/ 0 60000 65536"/>
                <a:gd name="T15" fmla="*/ 0 w 2784"/>
                <a:gd name="T16" fmla="*/ 0 h 2208"/>
                <a:gd name="T17" fmla="*/ 2784 w 2784"/>
                <a:gd name="T18" fmla="*/ 2208 h 2208"/>
              </a:gdLst>
              <a:ahLst/>
              <a:cxnLst>
                <a:cxn ang="T10">
                  <a:pos x="T0" y="T1"/>
                </a:cxn>
                <a:cxn ang="T11">
                  <a:pos x="T2" y="T3"/>
                </a:cxn>
                <a:cxn ang="T12">
                  <a:pos x="T4" y="T5"/>
                </a:cxn>
                <a:cxn ang="T13">
                  <a:pos x="T6" y="T7"/>
                </a:cxn>
                <a:cxn ang="T14">
                  <a:pos x="T8" y="T9"/>
                </a:cxn>
              </a:cxnLst>
              <a:rect l="T15" t="T16" r="T17" b="T18"/>
              <a:pathLst>
                <a:path w="2784" h="2208">
                  <a:moveTo>
                    <a:pt x="2784" y="0"/>
                  </a:moveTo>
                  <a:lnTo>
                    <a:pt x="2784" y="2208"/>
                  </a:lnTo>
                  <a:lnTo>
                    <a:pt x="0" y="2208"/>
                  </a:lnTo>
                  <a:lnTo>
                    <a:pt x="0" y="0"/>
                  </a:lnTo>
                  <a:lnTo>
                    <a:pt x="2784" y="0"/>
                  </a:lnTo>
                </a:path>
              </a:pathLst>
            </a:custGeom>
            <a:noFill/>
            <a:ln w="28575">
              <a:solidFill>
                <a:schemeClr val="hlink"/>
              </a:solidFill>
              <a:round/>
              <a:headEnd/>
              <a:tailEnd/>
            </a:ln>
          </p:spPr>
          <p:txBody>
            <a:bodyPr wrap="none" anchor="ctr"/>
            <a:lstStyle/>
            <a:p>
              <a:endParaRPr lang="en-US"/>
            </a:p>
          </p:txBody>
        </p:sp>
        <p:sp>
          <p:nvSpPr>
            <p:cNvPr id="8245" name="Line 62"/>
            <p:cNvSpPr>
              <a:spLocks noChangeShapeType="1"/>
            </p:cNvSpPr>
            <p:nvPr/>
          </p:nvSpPr>
          <p:spPr bwMode="auto">
            <a:xfrm>
              <a:off x="3024" y="1872"/>
              <a:ext cx="1" cy="144"/>
            </a:xfrm>
            <a:prstGeom prst="line">
              <a:avLst/>
            </a:prstGeom>
            <a:noFill/>
            <a:ln w="28575">
              <a:solidFill>
                <a:schemeClr val="tx1"/>
              </a:solidFill>
              <a:miter lim="800000"/>
              <a:headEnd/>
              <a:tailEnd/>
            </a:ln>
          </p:spPr>
          <p:txBody>
            <a:bodyPr wrap="none"/>
            <a:lstStyle/>
            <a:p>
              <a:endParaRPr lang="en-US"/>
            </a:p>
          </p:txBody>
        </p:sp>
        <p:sp>
          <p:nvSpPr>
            <p:cNvPr id="8246" name="Freeform 63"/>
            <p:cNvSpPr>
              <a:spLocks/>
            </p:cNvSpPr>
            <p:nvPr/>
          </p:nvSpPr>
          <p:spPr bwMode="auto">
            <a:xfrm>
              <a:off x="2352" y="1344"/>
              <a:ext cx="1248" cy="576"/>
            </a:xfrm>
            <a:custGeom>
              <a:avLst/>
              <a:gdLst>
                <a:gd name="T0" fmla="*/ 0 w 1115"/>
                <a:gd name="T1" fmla="*/ 722 h 514"/>
                <a:gd name="T2" fmla="*/ 1563 w 1115"/>
                <a:gd name="T3" fmla="*/ 722 h 514"/>
                <a:gd name="T4" fmla="*/ 1563 w 1115"/>
                <a:gd name="T5" fmla="*/ 0 h 514"/>
                <a:gd name="T6" fmla="*/ 0 w 1115"/>
                <a:gd name="T7" fmla="*/ 0 h 514"/>
                <a:gd name="T8" fmla="*/ 0 w 1115"/>
                <a:gd name="T9" fmla="*/ 722 h 514"/>
                <a:gd name="T10" fmla="*/ 0 60000 65536"/>
                <a:gd name="T11" fmla="*/ 0 60000 65536"/>
                <a:gd name="T12" fmla="*/ 0 60000 65536"/>
                <a:gd name="T13" fmla="*/ 0 60000 65536"/>
                <a:gd name="T14" fmla="*/ 0 60000 65536"/>
                <a:gd name="T15" fmla="*/ 0 w 1115"/>
                <a:gd name="T16" fmla="*/ 0 h 514"/>
                <a:gd name="T17" fmla="*/ 1115 w 1115"/>
                <a:gd name="T18" fmla="*/ 514 h 514"/>
              </a:gdLst>
              <a:ahLst/>
              <a:cxnLst>
                <a:cxn ang="T10">
                  <a:pos x="T0" y="T1"/>
                </a:cxn>
                <a:cxn ang="T11">
                  <a:pos x="T2" y="T3"/>
                </a:cxn>
                <a:cxn ang="T12">
                  <a:pos x="T4" y="T5"/>
                </a:cxn>
                <a:cxn ang="T13">
                  <a:pos x="T6" y="T7"/>
                </a:cxn>
                <a:cxn ang="T14">
                  <a:pos x="T8" y="T9"/>
                </a:cxn>
              </a:cxnLst>
              <a:rect l="T15" t="T16" r="T17" b="T18"/>
              <a:pathLst>
                <a:path w="1115" h="514">
                  <a:moveTo>
                    <a:pt x="0" y="513"/>
                  </a:moveTo>
                  <a:lnTo>
                    <a:pt x="1114" y="513"/>
                  </a:lnTo>
                  <a:lnTo>
                    <a:pt x="1114" y="0"/>
                  </a:lnTo>
                  <a:lnTo>
                    <a:pt x="0" y="0"/>
                  </a:lnTo>
                  <a:lnTo>
                    <a:pt x="0" y="513"/>
                  </a:lnTo>
                </a:path>
              </a:pathLst>
            </a:custGeom>
            <a:solidFill>
              <a:srgbClr val="C7DAF7"/>
            </a:solidFill>
            <a:ln w="25400" cap="rnd">
              <a:solidFill>
                <a:srgbClr val="1A1A1A"/>
              </a:solidFill>
              <a:round/>
              <a:headEnd/>
              <a:tailEnd/>
            </a:ln>
          </p:spPr>
          <p:txBody>
            <a:bodyPr/>
            <a:lstStyle/>
            <a:p>
              <a:endParaRPr lang="en-US"/>
            </a:p>
          </p:txBody>
        </p:sp>
        <p:sp>
          <p:nvSpPr>
            <p:cNvPr id="8247" name="Line 64"/>
            <p:cNvSpPr>
              <a:spLocks noChangeShapeType="1"/>
            </p:cNvSpPr>
            <p:nvPr/>
          </p:nvSpPr>
          <p:spPr bwMode="auto">
            <a:xfrm>
              <a:off x="1968" y="2016"/>
              <a:ext cx="2160" cy="0"/>
            </a:xfrm>
            <a:prstGeom prst="line">
              <a:avLst/>
            </a:prstGeom>
            <a:noFill/>
            <a:ln w="28575">
              <a:solidFill>
                <a:schemeClr val="tx1"/>
              </a:solidFill>
              <a:round/>
              <a:headEnd/>
              <a:tailEnd/>
            </a:ln>
          </p:spPr>
          <p:txBody>
            <a:bodyPr wrap="none"/>
            <a:lstStyle/>
            <a:p>
              <a:endParaRPr lang="en-US"/>
            </a:p>
          </p:txBody>
        </p:sp>
        <p:sp>
          <p:nvSpPr>
            <p:cNvPr id="8248" name="Line 65"/>
            <p:cNvSpPr>
              <a:spLocks noChangeShapeType="1"/>
            </p:cNvSpPr>
            <p:nvPr/>
          </p:nvSpPr>
          <p:spPr bwMode="auto">
            <a:xfrm>
              <a:off x="1968" y="2016"/>
              <a:ext cx="1" cy="144"/>
            </a:xfrm>
            <a:prstGeom prst="line">
              <a:avLst/>
            </a:prstGeom>
            <a:noFill/>
            <a:ln w="28575">
              <a:solidFill>
                <a:schemeClr val="tx1"/>
              </a:solidFill>
              <a:miter lim="800000"/>
              <a:headEnd/>
              <a:tailEnd/>
            </a:ln>
          </p:spPr>
          <p:txBody>
            <a:bodyPr wrap="none"/>
            <a:lstStyle/>
            <a:p>
              <a:endParaRPr lang="en-US"/>
            </a:p>
          </p:txBody>
        </p:sp>
        <p:sp>
          <p:nvSpPr>
            <p:cNvPr id="8249" name="Line 66"/>
            <p:cNvSpPr>
              <a:spLocks noChangeShapeType="1"/>
            </p:cNvSpPr>
            <p:nvPr/>
          </p:nvSpPr>
          <p:spPr bwMode="auto">
            <a:xfrm>
              <a:off x="4128" y="2016"/>
              <a:ext cx="1" cy="144"/>
            </a:xfrm>
            <a:prstGeom prst="line">
              <a:avLst/>
            </a:prstGeom>
            <a:noFill/>
            <a:ln w="28575">
              <a:solidFill>
                <a:schemeClr val="tx1"/>
              </a:solidFill>
              <a:miter lim="800000"/>
              <a:headEnd/>
              <a:tailEnd/>
            </a:ln>
          </p:spPr>
          <p:txBody>
            <a:bodyPr wrap="none"/>
            <a:lstStyle/>
            <a:p>
              <a:endParaRPr lang="en-US"/>
            </a:p>
          </p:txBody>
        </p:sp>
        <p:sp>
          <p:nvSpPr>
            <p:cNvPr id="8250" name="Rectangle 67"/>
            <p:cNvSpPr>
              <a:spLocks noChangeArrowheads="1"/>
            </p:cNvSpPr>
            <p:nvPr/>
          </p:nvSpPr>
          <p:spPr bwMode="auto">
            <a:xfrm>
              <a:off x="2064" y="1344"/>
              <a:ext cx="1728" cy="522"/>
            </a:xfrm>
            <a:prstGeom prst="rect">
              <a:avLst/>
            </a:prstGeom>
            <a:noFill/>
            <a:ln w="12700">
              <a:noFill/>
              <a:miter lim="800000"/>
              <a:headEnd/>
              <a:tailEnd/>
            </a:ln>
          </p:spPr>
          <p:txBody>
            <a:bodyPr lIns="90488" tIns="44450" rIns="90488" bIns="44450">
              <a:spAutoFit/>
            </a:bodyPr>
            <a:lstStyle/>
            <a:p>
              <a:pPr algn="ctr" eaLnBrk="0" hangingPunct="0"/>
              <a:r>
                <a:rPr lang="id-ID" sz="2400" b="1" dirty="0" smtClean="0">
                  <a:sym typeface="Symbol" pitchFamily="18" charset="2"/>
                </a:rPr>
                <a:t>Uji Hipotesis </a:t>
              </a:r>
            </a:p>
            <a:p>
              <a:pPr algn="ctr" eaLnBrk="0" hangingPunct="0"/>
              <a:r>
                <a:rPr lang="id-ID" sz="2400" b="1" dirty="0" smtClean="0">
                  <a:sym typeface="Symbol" pitchFamily="18" charset="2"/>
                </a:rPr>
                <a:t>Bagi </a:t>
              </a:r>
              <a:r>
                <a:rPr lang="en-US" sz="2400" b="1" dirty="0" smtClean="0">
                  <a:sym typeface="Symbol" pitchFamily="18" charset="2"/>
                </a:rPr>
                <a:t></a:t>
              </a:r>
              <a:endParaRPr lang="en-US" sz="2400" b="1" dirty="0">
                <a:sym typeface="Symbol" pitchFamily="18" charset="2"/>
              </a:endParaRPr>
            </a:p>
          </p:txBody>
        </p:sp>
        <p:sp>
          <p:nvSpPr>
            <p:cNvPr id="8251" name="Rectangle 68"/>
            <p:cNvSpPr>
              <a:spLocks noChangeArrowheads="1"/>
            </p:cNvSpPr>
            <p:nvPr/>
          </p:nvSpPr>
          <p:spPr bwMode="auto">
            <a:xfrm>
              <a:off x="1488" y="2208"/>
              <a:ext cx="937" cy="286"/>
            </a:xfrm>
            <a:prstGeom prst="rect">
              <a:avLst/>
            </a:prstGeom>
            <a:noFill/>
            <a:ln w="12700">
              <a:noFill/>
              <a:miter lim="800000"/>
              <a:headEnd/>
              <a:tailEnd/>
            </a:ln>
          </p:spPr>
          <p:txBody>
            <a:bodyPr wrap="none" lIns="90488" tIns="44450" rIns="90488" bIns="44450">
              <a:spAutoFit/>
            </a:bodyPr>
            <a:lstStyle/>
            <a:p>
              <a:pPr eaLnBrk="0" hangingPunct="0"/>
              <a:r>
                <a:rPr lang="el-GR" sz="2400" b="1">
                  <a:cs typeface="Arial" charset="0"/>
                  <a:sym typeface="Symbol" pitchFamily="18" charset="2"/>
                </a:rPr>
                <a:t>σ</a:t>
              </a:r>
              <a:r>
                <a:rPr lang="en-US" sz="2400" b="1">
                  <a:sym typeface="Symbol" pitchFamily="18" charset="2"/>
                </a:rPr>
                <a:t> Known</a:t>
              </a:r>
            </a:p>
          </p:txBody>
        </p:sp>
        <p:sp>
          <p:nvSpPr>
            <p:cNvPr id="8252" name="Line 69"/>
            <p:cNvSpPr>
              <a:spLocks noChangeShapeType="1"/>
            </p:cNvSpPr>
            <p:nvPr/>
          </p:nvSpPr>
          <p:spPr bwMode="auto">
            <a:xfrm>
              <a:off x="1968" y="2016"/>
              <a:ext cx="2160" cy="0"/>
            </a:xfrm>
            <a:prstGeom prst="line">
              <a:avLst/>
            </a:prstGeom>
            <a:noFill/>
            <a:ln w="28575">
              <a:solidFill>
                <a:schemeClr val="tx1"/>
              </a:solidFill>
              <a:round/>
              <a:headEnd/>
              <a:tailEnd/>
            </a:ln>
          </p:spPr>
          <p:txBody>
            <a:bodyPr wrap="none"/>
            <a:lstStyle/>
            <a:p>
              <a:endParaRPr lang="en-US"/>
            </a:p>
          </p:txBody>
        </p:sp>
        <p:sp>
          <p:nvSpPr>
            <p:cNvPr id="8253" name="Line 70"/>
            <p:cNvSpPr>
              <a:spLocks noChangeShapeType="1"/>
            </p:cNvSpPr>
            <p:nvPr/>
          </p:nvSpPr>
          <p:spPr bwMode="auto">
            <a:xfrm>
              <a:off x="1968" y="2016"/>
              <a:ext cx="1" cy="144"/>
            </a:xfrm>
            <a:prstGeom prst="line">
              <a:avLst/>
            </a:prstGeom>
            <a:noFill/>
            <a:ln w="28575">
              <a:solidFill>
                <a:schemeClr val="tx1"/>
              </a:solidFill>
              <a:miter lim="800000"/>
              <a:headEnd/>
              <a:tailEnd/>
            </a:ln>
          </p:spPr>
          <p:txBody>
            <a:bodyPr wrap="none"/>
            <a:lstStyle/>
            <a:p>
              <a:endParaRPr lang="en-US"/>
            </a:p>
          </p:txBody>
        </p:sp>
        <p:sp>
          <p:nvSpPr>
            <p:cNvPr id="8254" name="Line 71"/>
            <p:cNvSpPr>
              <a:spLocks noChangeShapeType="1"/>
            </p:cNvSpPr>
            <p:nvPr/>
          </p:nvSpPr>
          <p:spPr bwMode="auto">
            <a:xfrm>
              <a:off x="4128" y="2016"/>
              <a:ext cx="1" cy="144"/>
            </a:xfrm>
            <a:prstGeom prst="line">
              <a:avLst/>
            </a:prstGeom>
            <a:noFill/>
            <a:ln w="28575">
              <a:solidFill>
                <a:schemeClr val="tx1"/>
              </a:solidFill>
              <a:miter lim="800000"/>
              <a:headEnd/>
              <a:tailEnd/>
            </a:ln>
          </p:spPr>
          <p:txBody>
            <a:bodyPr wrap="none"/>
            <a:lstStyle/>
            <a:p>
              <a:endParaRPr lang="en-US"/>
            </a:p>
          </p:txBody>
        </p:sp>
        <p:sp>
          <p:nvSpPr>
            <p:cNvPr id="8255" name="Rectangle 72"/>
            <p:cNvSpPr>
              <a:spLocks noChangeArrowheads="1"/>
            </p:cNvSpPr>
            <p:nvPr/>
          </p:nvSpPr>
          <p:spPr bwMode="auto">
            <a:xfrm>
              <a:off x="3552" y="2208"/>
              <a:ext cx="1161" cy="286"/>
            </a:xfrm>
            <a:prstGeom prst="rect">
              <a:avLst/>
            </a:prstGeom>
            <a:noFill/>
            <a:ln w="12700">
              <a:noFill/>
              <a:miter lim="800000"/>
              <a:headEnd/>
              <a:tailEnd/>
            </a:ln>
          </p:spPr>
          <p:txBody>
            <a:bodyPr wrap="none" lIns="90488" tIns="44450" rIns="90488" bIns="44450">
              <a:spAutoFit/>
            </a:bodyPr>
            <a:lstStyle/>
            <a:p>
              <a:pPr eaLnBrk="0" hangingPunct="0"/>
              <a:r>
                <a:rPr lang="el-GR" sz="2400" b="1">
                  <a:sym typeface="Symbol" pitchFamily="18" charset="2"/>
                </a:rPr>
                <a:t>σ</a:t>
              </a:r>
              <a:r>
                <a:rPr lang="en-US" sz="2400" b="1">
                  <a:sym typeface="Symbol" pitchFamily="18" charset="2"/>
                </a:rPr>
                <a:t> Unknown</a:t>
              </a:r>
            </a:p>
          </p:txBody>
        </p:sp>
        <p:sp>
          <p:nvSpPr>
            <p:cNvPr id="8256" name="Freeform 73"/>
            <p:cNvSpPr>
              <a:spLocks/>
            </p:cNvSpPr>
            <p:nvPr/>
          </p:nvSpPr>
          <p:spPr bwMode="auto">
            <a:xfrm>
              <a:off x="1344" y="2160"/>
              <a:ext cx="1146" cy="576"/>
            </a:xfrm>
            <a:custGeom>
              <a:avLst/>
              <a:gdLst>
                <a:gd name="T0" fmla="*/ 0 w 1068"/>
                <a:gd name="T1" fmla="*/ 1037 h 429"/>
                <a:gd name="T2" fmla="*/ 1319 w 1068"/>
                <a:gd name="T3" fmla="*/ 1037 h 429"/>
                <a:gd name="T4" fmla="*/ 1319 w 1068"/>
                <a:gd name="T5" fmla="*/ 0 h 429"/>
                <a:gd name="T6" fmla="*/ 0 w 1068"/>
                <a:gd name="T7" fmla="*/ 0 h 429"/>
                <a:gd name="T8" fmla="*/ 0 w 1068"/>
                <a:gd name="T9" fmla="*/ 1037 h 429"/>
                <a:gd name="T10" fmla="*/ 0 60000 65536"/>
                <a:gd name="T11" fmla="*/ 0 60000 65536"/>
                <a:gd name="T12" fmla="*/ 0 60000 65536"/>
                <a:gd name="T13" fmla="*/ 0 60000 65536"/>
                <a:gd name="T14" fmla="*/ 0 60000 65536"/>
                <a:gd name="T15" fmla="*/ 0 w 1068"/>
                <a:gd name="T16" fmla="*/ 0 h 429"/>
                <a:gd name="T17" fmla="*/ 1068 w 1068"/>
                <a:gd name="T18" fmla="*/ 429 h 429"/>
              </a:gdLst>
              <a:ahLst/>
              <a:cxnLst>
                <a:cxn ang="T10">
                  <a:pos x="T0" y="T1"/>
                </a:cxn>
                <a:cxn ang="T11">
                  <a:pos x="T2" y="T3"/>
                </a:cxn>
                <a:cxn ang="T12">
                  <a:pos x="T4" y="T5"/>
                </a:cxn>
                <a:cxn ang="T13">
                  <a:pos x="T6" y="T7"/>
                </a:cxn>
                <a:cxn ang="T14">
                  <a:pos x="T8" y="T9"/>
                </a:cxn>
              </a:cxnLst>
              <a:rect l="T15" t="T16" r="T17" b="T18"/>
              <a:pathLst>
                <a:path w="1068" h="429">
                  <a:moveTo>
                    <a:pt x="0" y="428"/>
                  </a:moveTo>
                  <a:lnTo>
                    <a:pt x="1067" y="428"/>
                  </a:lnTo>
                  <a:lnTo>
                    <a:pt x="1067" y="0"/>
                  </a:lnTo>
                  <a:lnTo>
                    <a:pt x="0" y="0"/>
                  </a:lnTo>
                  <a:lnTo>
                    <a:pt x="0" y="428"/>
                  </a:lnTo>
                </a:path>
              </a:pathLst>
            </a:custGeom>
            <a:solidFill>
              <a:srgbClr val="C7DAF7"/>
            </a:solidFill>
            <a:ln w="25400" cap="rnd">
              <a:solidFill>
                <a:srgbClr val="1A1A1A"/>
              </a:solidFill>
              <a:round/>
              <a:headEnd/>
              <a:tailEnd/>
            </a:ln>
          </p:spPr>
          <p:txBody>
            <a:bodyPr/>
            <a:lstStyle/>
            <a:p>
              <a:endParaRPr lang="en-US"/>
            </a:p>
          </p:txBody>
        </p:sp>
        <p:sp>
          <p:nvSpPr>
            <p:cNvPr id="8257" name="Rectangle 74"/>
            <p:cNvSpPr>
              <a:spLocks noChangeArrowheads="1"/>
            </p:cNvSpPr>
            <p:nvPr/>
          </p:nvSpPr>
          <p:spPr bwMode="auto">
            <a:xfrm>
              <a:off x="1344" y="2208"/>
              <a:ext cx="1136" cy="289"/>
            </a:xfrm>
            <a:prstGeom prst="rect">
              <a:avLst/>
            </a:prstGeom>
            <a:noFill/>
            <a:ln w="12700">
              <a:noFill/>
              <a:miter lim="800000"/>
              <a:headEnd/>
              <a:tailEnd/>
            </a:ln>
          </p:spPr>
          <p:txBody>
            <a:bodyPr wrap="none" lIns="90488" tIns="44450" rIns="90488" bIns="44450">
              <a:spAutoFit/>
            </a:bodyPr>
            <a:lstStyle/>
            <a:p>
              <a:pPr eaLnBrk="0" hangingPunct="0"/>
              <a:r>
                <a:rPr lang="en-US" sz="2400" b="1" dirty="0">
                  <a:sym typeface="Symbol" pitchFamily="18" charset="2"/>
                </a:rPr>
                <a:t> </a:t>
              </a:r>
              <a:r>
                <a:rPr lang="id-ID" sz="2400" b="1" dirty="0" smtClean="0">
                  <a:sym typeface="Symbol" pitchFamily="18" charset="2"/>
                </a:rPr>
                <a:t>diketahui</a:t>
              </a:r>
              <a:endParaRPr lang="en-US" sz="2400" b="1" dirty="0">
                <a:sym typeface="Symbol" pitchFamily="18" charset="2"/>
              </a:endParaRPr>
            </a:p>
          </p:txBody>
        </p:sp>
        <p:sp>
          <p:nvSpPr>
            <p:cNvPr id="8258" name="Freeform 75"/>
            <p:cNvSpPr>
              <a:spLocks/>
            </p:cNvSpPr>
            <p:nvPr/>
          </p:nvSpPr>
          <p:spPr bwMode="auto">
            <a:xfrm>
              <a:off x="3408" y="2160"/>
              <a:ext cx="1776" cy="576"/>
            </a:xfrm>
            <a:custGeom>
              <a:avLst/>
              <a:gdLst>
                <a:gd name="T0" fmla="*/ 0 w 1241"/>
                <a:gd name="T1" fmla="*/ 1004 h 436"/>
                <a:gd name="T2" fmla="*/ 1412 w 1241"/>
                <a:gd name="T3" fmla="*/ 1004 h 436"/>
                <a:gd name="T4" fmla="*/ 1412 w 1241"/>
                <a:gd name="T5" fmla="*/ 0 h 436"/>
                <a:gd name="T6" fmla="*/ 0 w 1241"/>
                <a:gd name="T7" fmla="*/ 0 h 436"/>
                <a:gd name="T8" fmla="*/ 0 w 1241"/>
                <a:gd name="T9" fmla="*/ 1004 h 436"/>
                <a:gd name="T10" fmla="*/ 0 60000 65536"/>
                <a:gd name="T11" fmla="*/ 0 60000 65536"/>
                <a:gd name="T12" fmla="*/ 0 60000 65536"/>
                <a:gd name="T13" fmla="*/ 0 60000 65536"/>
                <a:gd name="T14" fmla="*/ 0 60000 65536"/>
                <a:gd name="T15" fmla="*/ 0 w 1241"/>
                <a:gd name="T16" fmla="*/ 0 h 436"/>
                <a:gd name="T17" fmla="*/ 1241 w 1241"/>
                <a:gd name="T18" fmla="*/ 436 h 436"/>
              </a:gdLst>
              <a:ahLst/>
              <a:cxnLst>
                <a:cxn ang="T10">
                  <a:pos x="T0" y="T1"/>
                </a:cxn>
                <a:cxn ang="T11">
                  <a:pos x="T2" y="T3"/>
                </a:cxn>
                <a:cxn ang="T12">
                  <a:pos x="T4" y="T5"/>
                </a:cxn>
                <a:cxn ang="T13">
                  <a:pos x="T6" y="T7"/>
                </a:cxn>
                <a:cxn ang="T14">
                  <a:pos x="T8" y="T9"/>
                </a:cxn>
              </a:cxnLst>
              <a:rect l="T15" t="T16" r="T17" b="T18"/>
              <a:pathLst>
                <a:path w="1241" h="436">
                  <a:moveTo>
                    <a:pt x="0" y="435"/>
                  </a:moveTo>
                  <a:lnTo>
                    <a:pt x="1240" y="435"/>
                  </a:lnTo>
                  <a:lnTo>
                    <a:pt x="1240" y="0"/>
                  </a:lnTo>
                  <a:lnTo>
                    <a:pt x="0" y="0"/>
                  </a:lnTo>
                  <a:lnTo>
                    <a:pt x="0" y="435"/>
                  </a:lnTo>
                </a:path>
              </a:pathLst>
            </a:custGeom>
            <a:solidFill>
              <a:srgbClr val="FDE0BD"/>
            </a:solidFill>
            <a:ln w="25400" cap="rnd">
              <a:solidFill>
                <a:srgbClr val="1A1A1A"/>
              </a:solidFill>
              <a:round/>
              <a:headEnd/>
              <a:tailEnd/>
            </a:ln>
          </p:spPr>
          <p:txBody>
            <a:bodyPr/>
            <a:lstStyle/>
            <a:p>
              <a:endParaRPr lang="en-US"/>
            </a:p>
          </p:txBody>
        </p:sp>
        <p:sp>
          <p:nvSpPr>
            <p:cNvPr id="8259" name="Rectangle 76"/>
            <p:cNvSpPr>
              <a:spLocks noChangeArrowheads="1"/>
            </p:cNvSpPr>
            <p:nvPr/>
          </p:nvSpPr>
          <p:spPr bwMode="auto">
            <a:xfrm>
              <a:off x="3504" y="2208"/>
              <a:ext cx="1534" cy="289"/>
            </a:xfrm>
            <a:prstGeom prst="rect">
              <a:avLst/>
            </a:prstGeom>
            <a:noFill/>
            <a:ln w="12700">
              <a:noFill/>
              <a:miter lim="800000"/>
              <a:headEnd/>
              <a:tailEnd/>
            </a:ln>
          </p:spPr>
          <p:txBody>
            <a:bodyPr wrap="none" lIns="90488" tIns="44450" rIns="90488" bIns="44450">
              <a:spAutoFit/>
            </a:bodyPr>
            <a:lstStyle/>
            <a:p>
              <a:pPr eaLnBrk="0" hangingPunct="0"/>
              <a:r>
                <a:rPr lang="en-US" sz="2400" b="1" dirty="0">
                  <a:sym typeface="Symbol" pitchFamily="18" charset="2"/>
                </a:rPr>
                <a:t> </a:t>
              </a:r>
              <a:r>
                <a:rPr lang="id-ID" sz="2400" b="1" dirty="0" smtClean="0">
                  <a:sym typeface="Symbol" pitchFamily="18" charset="2"/>
                </a:rPr>
                <a:t>Tdk diketahui</a:t>
              </a:r>
              <a:endParaRPr lang="en-US" sz="2400" b="1" dirty="0">
                <a:sym typeface="Symbol" pitchFamily="18" charset="2"/>
              </a:endParaRPr>
            </a:p>
          </p:txBody>
        </p:sp>
      </p:grpSp>
      <p:sp>
        <p:nvSpPr>
          <p:cNvPr id="8242" name="Rectangle 70"/>
          <p:cNvSpPr>
            <a:spLocks noChangeArrowheads="1"/>
          </p:cNvSpPr>
          <p:nvPr/>
        </p:nvSpPr>
        <p:spPr bwMode="auto">
          <a:xfrm>
            <a:off x="7772400" y="1143000"/>
            <a:ext cx="1257300" cy="461963"/>
          </a:xfrm>
          <a:prstGeom prst="rect">
            <a:avLst/>
          </a:prstGeom>
          <a:noFill/>
          <a:ln w="9525">
            <a:noFill/>
            <a:miter lim="800000"/>
            <a:headEnd/>
            <a:tailEnd/>
          </a:ln>
        </p:spPr>
        <p:txBody>
          <a:bodyPr wrap="none">
            <a:spAutoFit/>
          </a:bodyPr>
          <a:lstStyle/>
          <a:p>
            <a:r>
              <a:rPr lang="en-US"/>
              <a:t>DCOV</a:t>
            </a:r>
            <a:r>
              <a:rPr lang="en-US" u="sng">
                <a:solidFill>
                  <a:srgbClr val="FF0000"/>
                </a:solidFill>
              </a:rPr>
              <a:t>A</a:t>
            </a:r>
          </a:p>
        </p:txBody>
      </p:sp>
      <p:graphicFrame>
        <p:nvGraphicFramePr>
          <p:cNvPr id="63" name="Object 60">
            <a:hlinkClick r:id="" action="ppaction://ole?verb=0"/>
          </p:cNvPr>
          <p:cNvGraphicFramePr>
            <a:graphicFrameLocks/>
          </p:cNvGraphicFramePr>
          <p:nvPr/>
        </p:nvGraphicFramePr>
        <p:xfrm>
          <a:off x="6934200" y="4800600"/>
          <a:ext cx="1697038" cy="1447800"/>
        </p:xfrm>
        <a:graphic>
          <a:graphicData uri="http://schemas.openxmlformats.org/presentationml/2006/ole">
            <mc:AlternateContent xmlns:mc="http://schemas.openxmlformats.org/markup-compatibility/2006">
              <mc:Choice xmlns:v="urn:schemas-microsoft-com:vml" Requires="v">
                <p:oleObj spid="_x0000_s305169" name="Equation" r:id="rId6" imgW="990360" imgH="838080" progId="Equation.DSMT4">
                  <p:embed/>
                </p:oleObj>
              </mc:Choice>
              <mc:Fallback>
                <p:oleObj name="Equation" r:id="rId6" imgW="990360" imgH="838080" progId="Equation.DSMT4">
                  <p:embed/>
                  <p:pic>
                    <p:nvPicPr>
                      <p:cNvPr id="0" name="Picture 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34200" y="4800600"/>
                        <a:ext cx="1697038" cy="1447800"/>
                      </a:xfrm>
                      <a:prstGeom prst="rect">
                        <a:avLst/>
                      </a:prstGeom>
                      <a:solidFill>
                        <a:srgbClr val="FDE0BD"/>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5"/>
          <p:cNvSpPr>
            <a:spLocks noGrp="1" noChangeArrowheads="1"/>
          </p:cNvSpPr>
          <p:nvPr>
            <p:ph type="sldNum" sz="quarter" idx="10"/>
          </p:nvPr>
        </p:nvSpPr>
        <p:spPr>
          <a:ln/>
        </p:spPr>
        <p:txBody>
          <a:bodyPr/>
          <a:lstStyle/>
          <a:p>
            <a:pPr>
              <a:defRPr/>
            </a:pPr>
            <a:r>
              <a:rPr lang="en-US"/>
              <a:t>Chap 9-</a:t>
            </a:r>
            <a:fld id="{286D32B1-F7AD-4528-B240-726CC72241F4}" type="slidenum">
              <a:rPr lang="en-US"/>
              <a:pPr>
                <a:defRPr/>
              </a:pPr>
              <a:t>18</a:t>
            </a:fld>
            <a:endParaRPr lang="en-US"/>
          </a:p>
        </p:txBody>
      </p:sp>
      <p:sp>
        <p:nvSpPr>
          <p:cNvPr id="10"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76801"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28B129FB-3970-458B-99A4-C866DBAADD79}" type="slidenum">
              <a:rPr lang="en-US" sz="1000"/>
              <a:pPr algn="r" defTabSz="852488"/>
              <a:t>18</a:t>
            </a:fld>
            <a:endParaRPr lang="en-US" sz="1000"/>
          </a:p>
        </p:txBody>
      </p:sp>
      <p:sp>
        <p:nvSpPr>
          <p:cNvPr id="76802" name="Rectangle 2"/>
          <p:cNvSpPr>
            <a:spLocks noGrp="1" noChangeArrowheads="1"/>
          </p:cNvSpPr>
          <p:nvPr>
            <p:ph type="title" idx="4294967295"/>
          </p:nvPr>
        </p:nvSpPr>
        <p:spPr>
          <a:xfrm>
            <a:off x="990600" y="304800"/>
            <a:ext cx="7793038" cy="990600"/>
          </a:xfrm>
        </p:spPr>
        <p:txBody>
          <a:bodyPr/>
          <a:lstStyle/>
          <a:p>
            <a:pPr eaLnBrk="1" hangingPunct="1">
              <a:lnSpc>
                <a:spcPct val="80000"/>
              </a:lnSpc>
            </a:pPr>
            <a:r>
              <a:rPr lang="id-ID" dirty="0" smtClean="0"/>
              <a:t>Contoh: Pengujian Hipotesis </a:t>
            </a:r>
            <a:r>
              <a:rPr lang="el-GR" dirty="0" smtClean="0"/>
              <a:t>σ</a:t>
            </a:r>
            <a:r>
              <a:rPr lang="id-ID" dirty="0" smtClean="0"/>
              <a:t> Tidak diketahui</a:t>
            </a:r>
            <a:endParaRPr lang="en-US" i="1" dirty="0" smtClean="0">
              <a:sym typeface="Symbol" pitchFamily="18" charset="2"/>
            </a:endParaRPr>
          </a:p>
        </p:txBody>
      </p:sp>
      <p:sp>
        <p:nvSpPr>
          <p:cNvPr id="76803" name="Rectangle 3"/>
          <p:cNvSpPr>
            <a:spLocks noGrp="1" noChangeArrowheads="1"/>
          </p:cNvSpPr>
          <p:nvPr>
            <p:ph type="body" sz="half" idx="4294967295"/>
          </p:nvPr>
        </p:nvSpPr>
        <p:spPr>
          <a:xfrm>
            <a:off x="0" y="1676400"/>
            <a:ext cx="8610600" cy="2590800"/>
          </a:xfrm>
          <a:solidFill>
            <a:srgbClr val="FDE0BD"/>
          </a:solidFill>
          <a:ln w="19050">
            <a:solidFill>
              <a:schemeClr val="tx1"/>
            </a:solidFill>
          </a:ln>
        </p:spPr>
        <p:txBody>
          <a:bodyPr lIns="90488" tIns="44450" rIns="90488" bIns="44450"/>
          <a:lstStyle/>
          <a:p>
            <a:pPr eaLnBrk="1" hangingPunct="1">
              <a:buFont typeface="Wingdings" pitchFamily="2" charset="2"/>
              <a:buNone/>
            </a:pPr>
            <a:r>
              <a:rPr lang="en-US" sz="2100" dirty="0" smtClean="0"/>
              <a:t>   </a:t>
            </a:r>
            <a:r>
              <a:rPr lang="id-ID" sz="2100" dirty="0" smtClean="0"/>
              <a:t>  Dikatakan rata2 hasil tangkapan ikan sekumpulan kapa</a:t>
            </a:r>
            <a:r>
              <a:rPr lang="en-US" sz="2100" dirty="0" smtClean="0"/>
              <a:t>l</a:t>
            </a:r>
            <a:r>
              <a:rPr lang="id-ID" sz="2100" dirty="0" smtClean="0"/>
              <a:t> adalah 168 kw/minggu. Untuk mengetahui apakah hal ini benar, sebuah sampel dari 36 kapal dipilih dengan rata2 hasil tangkapan sebesar 172.5 kw/minggu dan standar deviasi sampel 15.40 kw/minggu. Uji hipotesis pada tingkat </a:t>
            </a:r>
            <a:r>
              <a:rPr lang="el-GR" sz="2100" dirty="0" smtClean="0"/>
              <a:t>α</a:t>
            </a:r>
            <a:r>
              <a:rPr lang="id-ID" sz="2100" dirty="0" smtClean="0"/>
              <a:t>=0.05.</a:t>
            </a:r>
            <a:endParaRPr lang="en-US" dirty="0" smtClean="0"/>
          </a:p>
          <a:p>
            <a:pPr eaLnBrk="1" hangingPunct="1">
              <a:buFont typeface="Wingdings" pitchFamily="2" charset="2"/>
              <a:buNone/>
            </a:pPr>
            <a:endParaRPr lang="en-US" sz="1400" dirty="0" smtClean="0"/>
          </a:p>
          <a:p>
            <a:pPr eaLnBrk="1" hangingPunct="1">
              <a:buFont typeface="Wingdings" pitchFamily="2" charset="2"/>
              <a:buNone/>
            </a:pPr>
            <a:r>
              <a:rPr lang="en-US" sz="1300" dirty="0" smtClean="0"/>
              <a:t>	</a:t>
            </a:r>
            <a:r>
              <a:rPr lang="en-US" sz="1400" dirty="0" smtClean="0"/>
              <a:t>(</a:t>
            </a:r>
            <a:r>
              <a:rPr lang="id-ID" sz="1400" dirty="0" smtClean="0"/>
              <a:t>asumsikan populasi berdistribusi normal</a:t>
            </a:r>
            <a:r>
              <a:rPr lang="en-US" sz="1400" dirty="0" smtClean="0"/>
              <a:t>)</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ChangeArrowheads="1"/>
          </p:cNvSpPr>
          <p:nvPr/>
        </p:nvSpPr>
        <p:spPr bwMode="auto">
          <a:xfrm>
            <a:off x="7467600" y="4495800"/>
            <a:ext cx="609600" cy="381000"/>
          </a:xfrm>
          <a:prstGeom prst="rect">
            <a:avLst/>
          </a:prstGeom>
          <a:solidFill>
            <a:srgbClr val="B5D7F9"/>
          </a:solidFill>
          <a:ln w="19050" algn="ctr">
            <a:noFill/>
            <a:miter lim="800000"/>
            <a:headEnd/>
            <a:tailEnd/>
          </a:ln>
        </p:spPr>
        <p:txBody>
          <a:bodyPr wrap="none" anchor="ctr"/>
          <a:lstStyle/>
          <a:p>
            <a:endParaRPr lang="en-US"/>
          </a:p>
        </p:txBody>
      </p:sp>
      <p:sp>
        <p:nvSpPr>
          <p:cNvPr id="9221" name="Rectangle 3"/>
          <p:cNvSpPr>
            <a:spLocks noChangeArrowheads="1"/>
          </p:cNvSpPr>
          <p:nvPr/>
        </p:nvSpPr>
        <p:spPr bwMode="auto">
          <a:xfrm>
            <a:off x="7467600" y="3810000"/>
            <a:ext cx="990600" cy="228600"/>
          </a:xfrm>
          <a:prstGeom prst="rect">
            <a:avLst/>
          </a:prstGeom>
          <a:solidFill>
            <a:srgbClr val="FDDBE4"/>
          </a:solidFill>
          <a:ln w="9525">
            <a:noFill/>
            <a:miter lim="800000"/>
            <a:headEnd/>
            <a:tailEnd/>
          </a:ln>
        </p:spPr>
        <p:txBody>
          <a:bodyPr wrap="none" anchor="ctr"/>
          <a:lstStyle/>
          <a:p>
            <a:endParaRPr lang="en-US"/>
          </a:p>
        </p:txBody>
      </p:sp>
      <p:sp>
        <p:nvSpPr>
          <p:cNvPr id="9222" name="Rectangle 4"/>
          <p:cNvSpPr>
            <a:spLocks noChangeArrowheads="1"/>
          </p:cNvSpPr>
          <p:nvPr/>
        </p:nvSpPr>
        <p:spPr bwMode="auto">
          <a:xfrm>
            <a:off x="4343400" y="3886200"/>
            <a:ext cx="1066800" cy="228600"/>
          </a:xfrm>
          <a:prstGeom prst="rect">
            <a:avLst/>
          </a:prstGeom>
          <a:solidFill>
            <a:srgbClr val="FDDBE4"/>
          </a:solidFill>
          <a:ln w="9525">
            <a:noFill/>
            <a:miter lim="800000"/>
            <a:headEnd/>
            <a:tailEnd/>
          </a:ln>
        </p:spPr>
        <p:txBody>
          <a:bodyPr wrap="none" anchor="ctr"/>
          <a:lstStyle/>
          <a:p>
            <a:endParaRPr lang="en-US"/>
          </a:p>
        </p:txBody>
      </p:sp>
      <p:sp>
        <p:nvSpPr>
          <p:cNvPr id="9223" name="Rectangle 5"/>
          <p:cNvSpPr>
            <a:spLocks noChangeArrowheads="1"/>
          </p:cNvSpPr>
          <p:nvPr/>
        </p:nvSpPr>
        <p:spPr bwMode="auto">
          <a:xfrm>
            <a:off x="228600" y="3505200"/>
            <a:ext cx="2819400" cy="762000"/>
          </a:xfrm>
          <a:prstGeom prst="rect">
            <a:avLst/>
          </a:prstGeom>
          <a:solidFill>
            <a:srgbClr val="C7DAF7"/>
          </a:solidFill>
          <a:ln w="9525">
            <a:noFill/>
            <a:miter lim="800000"/>
            <a:headEnd/>
            <a:tailEnd/>
          </a:ln>
        </p:spPr>
        <p:txBody>
          <a:bodyPr wrap="none" anchor="ctr"/>
          <a:lstStyle/>
          <a:p>
            <a:endParaRPr lang="en-US"/>
          </a:p>
        </p:txBody>
      </p:sp>
      <p:sp>
        <p:nvSpPr>
          <p:cNvPr id="9226" name="Rectangle 8"/>
          <p:cNvSpPr>
            <a:spLocks noGrp="1" noChangeArrowheads="1"/>
          </p:cNvSpPr>
          <p:nvPr>
            <p:ph type="title" idx="4294967295"/>
          </p:nvPr>
        </p:nvSpPr>
        <p:spPr>
          <a:xfrm>
            <a:off x="1150938" y="381000"/>
            <a:ext cx="7383462" cy="990600"/>
          </a:xfrm>
        </p:spPr>
        <p:txBody>
          <a:bodyPr/>
          <a:lstStyle/>
          <a:p>
            <a:pPr eaLnBrk="1" hangingPunct="1">
              <a:lnSpc>
                <a:spcPct val="80000"/>
              </a:lnSpc>
            </a:pPr>
            <a:r>
              <a:rPr lang="id-ID" dirty="0" smtClean="0"/>
              <a:t>Contoh: Pengujian Hipotesis </a:t>
            </a:r>
            <a:r>
              <a:rPr lang="el-GR" dirty="0" smtClean="0"/>
              <a:t>σ</a:t>
            </a:r>
            <a:r>
              <a:rPr lang="id-ID" dirty="0" smtClean="0"/>
              <a:t> Tidak diketahui</a:t>
            </a:r>
            <a:endParaRPr lang="en-US" dirty="0" smtClean="0"/>
          </a:p>
        </p:txBody>
      </p:sp>
      <p:sp>
        <p:nvSpPr>
          <p:cNvPr id="9227" name="Rectangle 9"/>
          <p:cNvSpPr>
            <a:spLocks noChangeArrowheads="1"/>
          </p:cNvSpPr>
          <p:nvPr/>
        </p:nvSpPr>
        <p:spPr bwMode="auto">
          <a:xfrm>
            <a:off x="3581400" y="4495800"/>
            <a:ext cx="5562600" cy="1013098"/>
          </a:xfrm>
          <a:prstGeom prst="rect">
            <a:avLst/>
          </a:prstGeom>
          <a:solidFill>
            <a:srgbClr val="FDE0BD"/>
          </a:solidFill>
          <a:ln w="9525">
            <a:solidFill>
              <a:schemeClr val="tx1"/>
            </a:solidFill>
            <a:miter lim="800000"/>
            <a:headEnd/>
            <a:tailEnd/>
          </a:ln>
        </p:spPr>
        <p:txBody>
          <a:bodyPr lIns="90488" tIns="44450" rIns="90488" bIns="44450">
            <a:spAutoFit/>
          </a:bodyPr>
          <a:lstStyle/>
          <a:p>
            <a:pPr algn="ctr" eaLnBrk="0" hangingPunct="0">
              <a:spcBef>
                <a:spcPct val="50000"/>
              </a:spcBef>
            </a:pPr>
            <a:r>
              <a:rPr lang="id-ID" sz="2000" b="1" dirty="0" smtClean="0"/>
              <a:t>6. Keputusan: Gagal tolak </a:t>
            </a:r>
            <a:r>
              <a:rPr lang="en-US" sz="2000" b="1" dirty="0" smtClean="0"/>
              <a:t>H</a:t>
            </a:r>
            <a:r>
              <a:rPr lang="id-ID" sz="2000" b="1" dirty="0" smtClean="0"/>
              <a:t>o. </a:t>
            </a:r>
            <a:r>
              <a:rPr lang="id-ID" sz="2000" dirty="0" smtClean="0"/>
              <a:t>Artinya, belum ada cukup bukti bahwa rata2 hasil tangkapan </a:t>
            </a:r>
            <a:r>
              <a:rPr lang="en-US" sz="2000" dirty="0" err="1" smtClean="0"/>
              <a:t>tidak</a:t>
            </a:r>
            <a:r>
              <a:rPr lang="en-US" sz="2000" dirty="0" smtClean="0"/>
              <a:t> </a:t>
            </a:r>
            <a:r>
              <a:rPr lang="id-ID" sz="2000" dirty="0" smtClean="0"/>
              <a:t>sama dengan 168 kw/minggu</a:t>
            </a:r>
            <a:endParaRPr lang="en-US" sz="2000" dirty="0"/>
          </a:p>
        </p:txBody>
      </p:sp>
      <p:sp>
        <p:nvSpPr>
          <p:cNvPr id="9228" name="Text Box 10"/>
          <p:cNvSpPr txBox="1">
            <a:spLocks noChangeArrowheads="1"/>
          </p:cNvSpPr>
          <p:nvPr/>
        </p:nvSpPr>
        <p:spPr bwMode="auto">
          <a:xfrm>
            <a:off x="7924800" y="3276600"/>
            <a:ext cx="990600" cy="304800"/>
          </a:xfrm>
          <a:prstGeom prst="rect">
            <a:avLst/>
          </a:prstGeom>
          <a:solidFill>
            <a:srgbClr val="FAFEB4"/>
          </a:solidFill>
          <a:ln w="19050" algn="ctr">
            <a:noFill/>
            <a:miter lim="800000"/>
            <a:headEnd/>
            <a:tailEnd/>
          </a:ln>
        </p:spPr>
        <p:txBody>
          <a:bodyPr>
            <a:spAutoFit/>
          </a:bodyPr>
          <a:lstStyle/>
          <a:p>
            <a:pPr algn="ctr">
              <a:spcBef>
                <a:spcPct val="50000"/>
              </a:spcBef>
            </a:pPr>
            <a:r>
              <a:rPr lang="id-ID" sz="1400" dirty="0" smtClean="0"/>
              <a:t>Tolak </a:t>
            </a:r>
            <a:r>
              <a:rPr lang="en-US" sz="1400" dirty="0" smtClean="0"/>
              <a:t>H</a:t>
            </a:r>
            <a:r>
              <a:rPr lang="id-ID" sz="1400" dirty="0" smtClean="0"/>
              <a:t>o</a:t>
            </a:r>
            <a:endParaRPr lang="en-US" sz="1400" baseline="-25000" dirty="0"/>
          </a:p>
        </p:txBody>
      </p:sp>
      <p:sp>
        <p:nvSpPr>
          <p:cNvPr id="9229" name="Text Box 11"/>
          <p:cNvSpPr txBox="1">
            <a:spLocks noChangeArrowheads="1"/>
          </p:cNvSpPr>
          <p:nvPr/>
        </p:nvSpPr>
        <p:spPr bwMode="auto">
          <a:xfrm>
            <a:off x="3733800" y="3276600"/>
            <a:ext cx="990600" cy="304800"/>
          </a:xfrm>
          <a:prstGeom prst="rect">
            <a:avLst/>
          </a:prstGeom>
          <a:solidFill>
            <a:srgbClr val="FAFEB4"/>
          </a:solidFill>
          <a:ln w="19050" algn="ctr">
            <a:noFill/>
            <a:miter lim="800000"/>
            <a:headEnd/>
            <a:tailEnd/>
          </a:ln>
        </p:spPr>
        <p:txBody>
          <a:bodyPr>
            <a:spAutoFit/>
          </a:bodyPr>
          <a:lstStyle/>
          <a:p>
            <a:pPr algn="ctr">
              <a:spcBef>
                <a:spcPct val="50000"/>
              </a:spcBef>
            </a:pPr>
            <a:r>
              <a:rPr lang="id-ID" sz="1400" dirty="0" smtClean="0"/>
              <a:t>Tolak </a:t>
            </a:r>
            <a:r>
              <a:rPr lang="en-US" sz="1400" dirty="0" smtClean="0"/>
              <a:t>H</a:t>
            </a:r>
            <a:r>
              <a:rPr lang="id-ID" sz="1400" dirty="0" smtClean="0"/>
              <a:t>o</a:t>
            </a:r>
            <a:endParaRPr lang="en-US" sz="1400" baseline="-25000" dirty="0"/>
          </a:p>
        </p:txBody>
      </p:sp>
      <p:sp>
        <p:nvSpPr>
          <p:cNvPr id="9230" name="Freeform 12"/>
          <p:cNvSpPr>
            <a:spLocks/>
          </p:cNvSpPr>
          <p:nvPr/>
        </p:nvSpPr>
        <p:spPr bwMode="auto">
          <a:xfrm flipH="1">
            <a:off x="7848600" y="2819400"/>
            <a:ext cx="842963" cy="228600"/>
          </a:xfrm>
          <a:custGeom>
            <a:avLst/>
            <a:gdLst>
              <a:gd name="T0" fmla="*/ 2147483647 w 582"/>
              <a:gd name="T1" fmla="*/ 2147483647 h 183"/>
              <a:gd name="T2" fmla="*/ 0 w 582"/>
              <a:gd name="T3" fmla="*/ 2147483647 h 183"/>
              <a:gd name="T4" fmla="*/ 2147483647 w 582"/>
              <a:gd name="T5" fmla="*/ 2147483647 h 183"/>
              <a:gd name="T6" fmla="*/ 2147483647 w 582"/>
              <a:gd name="T7" fmla="*/ 2147483647 h 183"/>
              <a:gd name="T8" fmla="*/ 2147483647 w 582"/>
              <a:gd name="T9" fmla="*/ 2147483647 h 183"/>
              <a:gd name="T10" fmla="*/ 2147483647 w 582"/>
              <a:gd name="T11" fmla="*/ 0 h 183"/>
              <a:gd name="T12" fmla="*/ 2147483647 w 582"/>
              <a:gd name="T13" fmla="*/ 2147483647 h 183"/>
              <a:gd name="T14" fmla="*/ 2147483647 w 582"/>
              <a:gd name="T15" fmla="*/ 2147483647 h 183"/>
              <a:gd name="T16" fmla="*/ 2147483647 w 582"/>
              <a:gd name="T17" fmla="*/ 2147483647 h 1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2"/>
              <a:gd name="T28" fmla="*/ 0 h 183"/>
              <a:gd name="T29" fmla="*/ 582 w 582"/>
              <a:gd name="T30" fmla="*/ 183 h 1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2" h="183">
                <a:moveTo>
                  <a:pt x="9" y="177"/>
                </a:moveTo>
                <a:lnTo>
                  <a:pt x="0" y="132"/>
                </a:lnTo>
                <a:lnTo>
                  <a:pt x="258" y="114"/>
                </a:lnTo>
                <a:lnTo>
                  <a:pt x="423" y="66"/>
                </a:lnTo>
                <a:lnTo>
                  <a:pt x="504" y="48"/>
                </a:lnTo>
                <a:lnTo>
                  <a:pt x="582" y="0"/>
                </a:lnTo>
                <a:lnTo>
                  <a:pt x="582" y="183"/>
                </a:lnTo>
                <a:lnTo>
                  <a:pt x="9" y="182"/>
                </a:lnTo>
                <a:lnTo>
                  <a:pt x="9" y="177"/>
                </a:lnTo>
              </a:path>
            </a:pathLst>
          </a:custGeom>
          <a:solidFill>
            <a:srgbClr val="C3DBFF"/>
          </a:solidFill>
          <a:ln w="12700" cap="rnd">
            <a:noFill/>
            <a:round/>
            <a:headEnd type="none" w="sm" len="sm"/>
            <a:tailEnd type="none" w="sm" len="sm"/>
          </a:ln>
        </p:spPr>
        <p:txBody>
          <a:bodyPr/>
          <a:lstStyle/>
          <a:p>
            <a:endParaRPr lang="en-US"/>
          </a:p>
        </p:txBody>
      </p:sp>
      <p:sp>
        <p:nvSpPr>
          <p:cNvPr id="9231" name="Freeform 13"/>
          <p:cNvSpPr>
            <a:spLocks/>
          </p:cNvSpPr>
          <p:nvPr/>
        </p:nvSpPr>
        <p:spPr bwMode="auto">
          <a:xfrm>
            <a:off x="3962400" y="2819400"/>
            <a:ext cx="833438" cy="228600"/>
          </a:xfrm>
          <a:custGeom>
            <a:avLst/>
            <a:gdLst>
              <a:gd name="T0" fmla="*/ 2147483647 w 582"/>
              <a:gd name="T1" fmla="*/ 2147483647 h 183"/>
              <a:gd name="T2" fmla="*/ 0 w 582"/>
              <a:gd name="T3" fmla="*/ 2147483647 h 183"/>
              <a:gd name="T4" fmla="*/ 2147483647 w 582"/>
              <a:gd name="T5" fmla="*/ 2147483647 h 183"/>
              <a:gd name="T6" fmla="*/ 2147483647 w 582"/>
              <a:gd name="T7" fmla="*/ 2147483647 h 183"/>
              <a:gd name="T8" fmla="*/ 2147483647 w 582"/>
              <a:gd name="T9" fmla="*/ 2147483647 h 183"/>
              <a:gd name="T10" fmla="*/ 2147483647 w 582"/>
              <a:gd name="T11" fmla="*/ 0 h 183"/>
              <a:gd name="T12" fmla="*/ 2147483647 w 582"/>
              <a:gd name="T13" fmla="*/ 2147483647 h 183"/>
              <a:gd name="T14" fmla="*/ 2147483647 w 582"/>
              <a:gd name="T15" fmla="*/ 2147483647 h 183"/>
              <a:gd name="T16" fmla="*/ 2147483647 w 582"/>
              <a:gd name="T17" fmla="*/ 2147483647 h 1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2"/>
              <a:gd name="T28" fmla="*/ 0 h 183"/>
              <a:gd name="T29" fmla="*/ 582 w 582"/>
              <a:gd name="T30" fmla="*/ 183 h 1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2" h="183">
                <a:moveTo>
                  <a:pt x="9" y="177"/>
                </a:moveTo>
                <a:lnTo>
                  <a:pt x="0" y="132"/>
                </a:lnTo>
                <a:lnTo>
                  <a:pt x="258" y="114"/>
                </a:lnTo>
                <a:lnTo>
                  <a:pt x="423" y="66"/>
                </a:lnTo>
                <a:lnTo>
                  <a:pt x="504" y="48"/>
                </a:lnTo>
                <a:lnTo>
                  <a:pt x="582" y="0"/>
                </a:lnTo>
                <a:lnTo>
                  <a:pt x="582" y="183"/>
                </a:lnTo>
                <a:lnTo>
                  <a:pt x="9" y="182"/>
                </a:lnTo>
                <a:lnTo>
                  <a:pt x="9" y="177"/>
                </a:lnTo>
              </a:path>
            </a:pathLst>
          </a:custGeom>
          <a:solidFill>
            <a:srgbClr val="C3DBFF"/>
          </a:solidFill>
          <a:ln w="12700" cap="rnd">
            <a:noFill/>
            <a:round/>
            <a:headEnd type="none" w="sm" len="sm"/>
            <a:tailEnd type="none" w="sm" len="sm"/>
          </a:ln>
        </p:spPr>
        <p:txBody>
          <a:bodyPr/>
          <a:lstStyle/>
          <a:p>
            <a:endParaRPr lang="en-US"/>
          </a:p>
        </p:txBody>
      </p:sp>
      <p:sp>
        <p:nvSpPr>
          <p:cNvPr id="9232" name="Freeform 14"/>
          <p:cNvSpPr>
            <a:spLocks/>
          </p:cNvSpPr>
          <p:nvPr/>
        </p:nvSpPr>
        <p:spPr bwMode="auto">
          <a:xfrm>
            <a:off x="4038600" y="1676400"/>
            <a:ext cx="2362200" cy="1295400"/>
          </a:xfrm>
          <a:custGeom>
            <a:avLst/>
            <a:gdLst>
              <a:gd name="T0" fmla="*/ 0 w 600"/>
              <a:gd name="T1" fmla="*/ 2147483647 h 576"/>
              <a:gd name="T2" fmla="*/ 2147483647 w 600"/>
              <a:gd name="T3" fmla="*/ 2147483647 h 576"/>
              <a:gd name="T4" fmla="*/ 2147483647 w 600"/>
              <a:gd name="T5" fmla="*/ 2147483647 h 576"/>
              <a:gd name="T6" fmla="*/ 2147483647 w 600"/>
              <a:gd name="T7" fmla="*/ 2147483647 h 576"/>
              <a:gd name="T8" fmla="*/ 2147483647 w 600"/>
              <a:gd name="T9" fmla="*/ 2147483647 h 576"/>
              <a:gd name="T10" fmla="*/ 2147483647 w 600"/>
              <a:gd name="T11" fmla="*/ 2147483647 h 576"/>
              <a:gd name="T12" fmla="*/ 2147483647 w 600"/>
              <a:gd name="T13" fmla="*/ 2147483647 h 576"/>
              <a:gd name="T14" fmla="*/ 2147483647 w 600"/>
              <a:gd name="T15" fmla="*/ 2147483647 h 576"/>
              <a:gd name="T16" fmla="*/ 2147483647 w 600"/>
              <a:gd name="T17" fmla="*/ 2147483647 h 576"/>
              <a:gd name="T18" fmla="*/ 2147483647 w 600"/>
              <a:gd name="T19" fmla="*/ 2147483647 h 576"/>
              <a:gd name="T20" fmla="*/ 2147483647 w 600"/>
              <a:gd name="T21" fmla="*/ 2147483647 h 576"/>
              <a:gd name="T22" fmla="*/ 2147483647 w 600"/>
              <a:gd name="T23" fmla="*/ 2147483647 h 576"/>
              <a:gd name="T24" fmla="*/ 2147483647 w 600"/>
              <a:gd name="T25" fmla="*/ 2147483647 h 576"/>
              <a:gd name="T26" fmla="*/ 2147483647 w 600"/>
              <a:gd name="T27" fmla="*/ 2147483647 h 576"/>
              <a:gd name="T28" fmla="*/ 2147483647 w 600"/>
              <a:gd name="T29" fmla="*/ 2147483647 h 576"/>
              <a:gd name="T30" fmla="*/ 2147483647 w 600"/>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0"/>
              <a:gd name="T49" fmla="*/ 0 h 576"/>
              <a:gd name="T50" fmla="*/ 600 w 600"/>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0" h="576">
                <a:moveTo>
                  <a:pt x="0" y="575"/>
                </a:moveTo>
                <a:lnTo>
                  <a:pt x="63" y="570"/>
                </a:lnTo>
                <a:lnTo>
                  <a:pt x="95" y="562"/>
                </a:lnTo>
                <a:lnTo>
                  <a:pt x="127" y="553"/>
                </a:lnTo>
                <a:lnTo>
                  <a:pt x="158" y="540"/>
                </a:lnTo>
                <a:lnTo>
                  <a:pt x="190" y="521"/>
                </a:lnTo>
                <a:lnTo>
                  <a:pt x="222" y="498"/>
                </a:lnTo>
                <a:lnTo>
                  <a:pt x="284" y="432"/>
                </a:lnTo>
                <a:lnTo>
                  <a:pt x="347" y="338"/>
                </a:lnTo>
                <a:lnTo>
                  <a:pt x="410" y="224"/>
                </a:lnTo>
                <a:lnTo>
                  <a:pt x="441" y="167"/>
                </a:lnTo>
                <a:lnTo>
                  <a:pt x="473" y="114"/>
                </a:lnTo>
                <a:lnTo>
                  <a:pt x="505" y="67"/>
                </a:lnTo>
                <a:lnTo>
                  <a:pt x="535" y="31"/>
                </a:lnTo>
                <a:lnTo>
                  <a:pt x="567" y="8"/>
                </a:lnTo>
                <a:lnTo>
                  <a:pt x="599" y="0"/>
                </a:lnTo>
              </a:path>
            </a:pathLst>
          </a:custGeom>
          <a:noFill/>
          <a:ln w="50800" cap="rnd">
            <a:solidFill>
              <a:srgbClr val="FF0000"/>
            </a:solidFill>
            <a:round/>
            <a:headEnd type="none" w="sm" len="sm"/>
            <a:tailEnd type="none" w="sm" len="sm"/>
          </a:ln>
        </p:spPr>
        <p:txBody>
          <a:bodyPr/>
          <a:lstStyle/>
          <a:p>
            <a:endParaRPr lang="en-US"/>
          </a:p>
        </p:txBody>
      </p:sp>
      <p:sp>
        <p:nvSpPr>
          <p:cNvPr id="9233" name="Freeform 15"/>
          <p:cNvSpPr>
            <a:spLocks/>
          </p:cNvSpPr>
          <p:nvPr/>
        </p:nvSpPr>
        <p:spPr bwMode="auto">
          <a:xfrm>
            <a:off x="6400800" y="1676400"/>
            <a:ext cx="2209800" cy="1295400"/>
          </a:xfrm>
          <a:custGeom>
            <a:avLst/>
            <a:gdLst>
              <a:gd name="T0" fmla="*/ 2147483647 w 576"/>
              <a:gd name="T1" fmla="*/ 2147483647 h 576"/>
              <a:gd name="T2" fmla="*/ 2147483647 w 576"/>
              <a:gd name="T3" fmla="*/ 2147483647 h 576"/>
              <a:gd name="T4" fmla="*/ 2147483647 w 576"/>
              <a:gd name="T5" fmla="*/ 2147483647 h 576"/>
              <a:gd name="T6" fmla="*/ 2147483647 w 576"/>
              <a:gd name="T7" fmla="*/ 2147483647 h 576"/>
              <a:gd name="T8" fmla="*/ 2147483647 w 576"/>
              <a:gd name="T9" fmla="*/ 2147483647 h 576"/>
              <a:gd name="T10" fmla="*/ 2147483647 w 576"/>
              <a:gd name="T11" fmla="*/ 2147483647 h 576"/>
              <a:gd name="T12" fmla="*/ 2147483647 w 576"/>
              <a:gd name="T13" fmla="*/ 2147483647 h 576"/>
              <a:gd name="T14" fmla="*/ 2147483647 w 576"/>
              <a:gd name="T15" fmla="*/ 2147483647 h 576"/>
              <a:gd name="T16" fmla="*/ 2147483647 w 576"/>
              <a:gd name="T17" fmla="*/ 2147483647 h 576"/>
              <a:gd name="T18" fmla="*/ 2147483647 w 576"/>
              <a:gd name="T19" fmla="*/ 2147483647 h 576"/>
              <a:gd name="T20" fmla="*/ 2147483647 w 576"/>
              <a:gd name="T21" fmla="*/ 2147483647 h 576"/>
              <a:gd name="T22" fmla="*/ 2147483647 w 576"/>
              <a:gd name="T23" fmla="*/ 2147483647 h 576"/>
              <a:gd name="T24" fmla="*/ 2147483647 w 576"/>
              <a:gd name="T25" fmla="*/ 2147483647 h 576"/>
              <a:gd name="T26" fmla="*/ 2147483647 w 576"/>
              <a:gd name="T27" fmla="*/ 2147483647 h 576"/>
              <a:gd name="T28" fmla="*/ 2147483647 w 576"/>
              <a:gd name="T29" fmla="*/ 2147483647 h 576"/>
              <a:gd name="T30" fmla="*/ 0 w 576"/>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6"/>
              <a:gd name="T49" fmla="*/ 0 h 576"/>
              <a:gd name="T50" fmla="*/ 576 w 576"/>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6" h="576">
                <a:moveTo>
                  <a:pt x="575" y="575"/>
                </a:moveTo>
                <a:lnTo>
                  <a:pt x="515" y="570"/>
                </a:lnTo>
                <a:lnTo>
                  <a:pt x="484" y="562"/>
                </a:lnTo>
                <a:lnTo>
                  <a:pt x="455" y="553"/>
                </a:lnTo>
                <a:lnTo>
                  <a:pt x="424" y="540"/>
                </a:lnTo>
                <a:lnTo>
                  <a:pt x="393" y="521"/>
                </a:lnTo>
                <a:lnTo>
                  <a:pt x="364" y="498"/>
                </a:lnTo>
                <a:lnTo>
                  <a:pt x="303" y="432"/>
                </a:lnTo>
                <a:lnTo>
                  <a:pt x="242" y="338"/>
                </a:lnTo>
                <a:lnTo>
                  <a:pt x="182" y="224"/>
                </a:lnTo>
                <a:lnTo>
                  <a:pt x="151" y="167"/>
                </a:lnTo>
                <a:lnTo>
                  <a:pt x="120" y="114"/>
                </a:lnTo>
                <a:lnTo>
                  <a:pt x="91" y="67"/>
                </a:lnTo>
                <a:lnTo>
                  <a:pt x="60" y="31"/>
                </a:lnTo>
                <a:lnTo>
                  <a:pt x="30" y="8"/>
                </a:lnTo>
                <a:lnTo>
                  <a:pt x="0" y="0"/>
                </a:lnTo>
              </a:path>
            </a:pathLst>
          </a:custGeom>
          <a:noFill/>
          <a:ln w="50800" cap="rnd">
            <a:solidFill>
              <a:srgbClr val="FF0000"/>
            </a:solidFill>
            <a:round/>
            <a:headEnd type="none" w="sm" len="sm"/>
            <a:tailEnd type="none" w="sm" len="sm"/>
          </a:ln>
        </p:spPr>
        <p:txBody>
          <a:bodyPr/>
          <a:lstStyle/>
          <a:p>
            <a:endParaRPr lang="en-US"/>
          </a:p>
        </p:txBody>
      </p:sp>
      <p:sp>
        <p:nvSpPr>
          <p:cNvPr id="9234" name="Line 16"/>
          <p:cNvSpPr>
            <a:spLocks noChangeShapeType="1"/>
          </p:cNvSpPr>
          <p:nvPr/>
        </p:nvSpPr>
        <p:spPr bwMode="auto">
          <a:xfrm>
            <a:off x="3810000" y="3048000"/>
            <a:ext cx="5105400" cy="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9235" name="Line 17"/>
          <p:cNvSpPr>
            <a:spLocks noChangeShapeType="1"/>
          </p:cNvSpPr>
          <p:nvPr/>
        </p:nvSpPr>
        <p:spPr bwMode="auto">
          <a:xfrm>
            <a:off x="4038600" y="2514600"/>
            <a:ext cx="457200" cy="457200"/>
          </a:xfrm>
          <a:prstGeom prst="line">
            <a:avLst/>
          </a:prstGeom>
          <a:noFill/>
          <a:ln w="12700">
            <a:solidFill>
              <a:schemeClr val="tx1"/>
            </a:solidFill>
            <a:round/>
            <a:headEnd type="none" w="sm" len="sm"/>
            <a:tailEnd type="stealth" w="med" len="med"/>
          </a:ln>
        </p:spPr>
        <p:txBody>
          <a:bodyPr wrap="none" anchor="ctr"/>
          <a:lstStyle/>
          <a:p>
            <a:endParaRPr lang="en-US"/>
          </a:p>
        </p:txBody>
      </p:sp>
      <p:sp>
        <p:nvSpPr>
          <p:cNvPr id="9236" name="Rectangle 18"/>
          <p:cNvSpPr>
            <a:spLocks noChangeArrowheads="1"/>
          </p:cNvSpPr>
          <p:nvPr/>
        </p:nvSpPr>
        <p:spPr bwMode="auto">
          <a:xfrm flipH="1">
            <a:off x="3352800" y="2133600"/>
            <a:ext cx="1219200" cy="39370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000">
                <a:latin typeface="Symbol" pitchFamily="18" charset="2"/>
              </a:rPr>
              <a:t>a</a:t>
            </a:r>
            <a:r>
              <a:rPr lang="en-US" sz="2000"/>
              <a:t>/2=.025</a:t>
            </a:r>
          </a:p>
        </p:txBody>
      </p:sp>
      <p:sp>
        <p:nvSpPr>
          <p:cNvPr id="9237" name="Line 19"/>
          <p:cNvSpPr>
            <a:spLocks noChangeShapeType="1"/>
          </p:cNvSpPr>
          <p:nvPr/>
        </p:nvSpPr>
        <p:spPr bwMode="auto">
          <a:xfrm>
            <a:off x="6400800" y="1676400"/>
            <a:ext cx="0" cy="1371600"/>
          </a:xfrm>
          <a:prstGeom prst="line">
            <a:avLst/>
          </a:prstGeom>
          <a:noFill/>
          <a:ln w="9525" cap="rnd">
            <a:solidFill>
              <a:schemeClr val="tx1"/>
            </a:solidFill>
            <a:prstDash val="sysDot"/>
            <a:miter lim="800000"/>
            <a:headEnd/>
            <a:tailEnd/>
          </a:ln>
        </p:spPr>
        <p:txBody>
          <a:bodyPr wrap="none"/>
          <a:lstStyle/>
          <a:p>
            <a:endParaRPr lang="en-US"/>
          </a:p>
        </p:txBody>
      </p:sp>
      <p:sp>
        <p:nvSpPr>
          <p:cNvPr id="9238" name="Line 20"/>
          <p:cNvSpPr>
            <a:spLocks noChangeShapeType="1"/>
          </p:cNvSpPr>
          <p:nvPr/>
        </p:nvSpPr>
        <p:spPr bwMode="auto">
          <a:xfrm>
            <a:off x="4800600" y="3124200"/>
            <a:ext cx="0" cy="304800"/>
          </a:xfrm>
          <a:prstGeom prst="line">
            <a:avLst/>
          </a:prstGeom>
          <a:noFill/>
          <a:ln w="19050">
            <a:solidFill>
              <a:schemeClr val="tx1"/>
            </a:solidFill>
            <a:round/>
            <a:headEnd/>
            <a:tailEnd/>
          </a:ln>
        </p:spPr>
        <p:txBody>
          <a:bodyPr wrap="none" anchor="ctr"/>
          <a:lstStyle/>
          <a:p>
            <a:endParaRPr lang="en-US"/>
          </a:p>
        </p:txBody>
      </p:sp>
      <p:sp>
        <p:nvSpPr>
          <p:cNvPr id="9240" name="Line 22"/>
          <p:cNvSpPr>
            <a:spLocks noChangeShapeType="1"/>
          </p:cNvSpPr>
          <p:nvPr/>
        </p:nvSpPr>
        <p:spPr bwMode="auto">
          <a:xfrm>
            <a:off x="4800600" y="3276600"/>
            <a:ext cx="30480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9241" name="Text Box 23"/>
          <p:cNvSpPr txBox="1">
            <a:spLocks noChangeArrowheads="1"/>
          </p:cNvSpPr>
          <p:nvPr/>
        </p:nvSpPr>
        <p:spPr bwMode="auto">
          <a:xfrm>
            <a:off x="5562600" y="3276600"/>
            <a:ext cx="1524000" cy="304800"/>
          </a:xfrm>
          <a:prstGeom prst="rect">
            <a:avLst/>
          </a:prstGeom>
          <a:solidFill>
            <a:srgbClr val="FAFEB4"/>
          </a:solidFill>
          <a:ln w="19050" algn="ctr">
            <a:noFill/>
            <a:miter lim="800000"/>
            <a:headEnd/>
            <a:tailEnd/>
          </a:ln>
        </p:spPr>
        <p:txBody>
          <a:bodyPr>
            <a:spAutoFit/>
          </a:bodyPr>
          <a:lstStyle/>
          <a:p>
            <a:pPr algn="ctr">
              <a:spcBef>
                <a:spcPct val="50000"/>
              </a:spcBef>
            </a:pPr>
            <a:r>
              <a:rPr lang="id-ID" sz="1400" dirty="0" smtClean="0"/>
              <a:t>Gagal tolak </a:t>
            </a:r>
            <a:r>
              <a:rPr lang="en-US" sz="1400" dirty="0" smtClean="0"/>
              <a:t>H</a:t>
            </a:r>
            <a:r>
              <a:rPr lang="id-ID" sz="1400" dirty="0" smtClean="0"/>
              <a:t>o</a:t>
            </a:r>
            <a:endParaRPr lang="en-US" sz="1400" baseline="-25000" dirty="0"/>
          </a:p>
        </p:txBody>
      </p:sp>
      <p:sp>
        <p:nvSpPr>
          <p:cNvPr id="9242" name="Line 24"/>
          <p:cNvSpPr>
            <a:spLocks noChangeShapeType="1"/>
          </p:cNvSpPr>
          <p:nvPr/>
        </p:nvSpPr>
        <p:spPr bwMode="auto">
          <a:xfrm>
            <a:off x="3657600" y="3276600"/>
            <a:ext cx="11430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9243" name="Text Box 25"/>
          <p:cNvSpPr txBox="1">
            <a:spLocks noChangeArrowheads="1"/>
          </p:cNvSpPr>
          <p:nvPr/>
        </p:nvSpPr>
        <p:spPr bwMode="auto">
          <a:xfrm>
            <a:off x="6172200" y="3505200"/>
            <a:ext cx="457200" cy="366713"/>
          </a:xfrm>
          <a:prstGeom prst="rect">
            <a:avLst/>
          </a:prstGeom>
          <a:noFill/>
          <a:ln w="19050" algn="ctr">
            <a:noFill/>
            <a:miter lim="800000"/>
            <a:headEnd/>
            <a:tailEnd/>
          </a:ln>
        </p:spPr>
        <p:txBody>
          <a:bodyPr>
            <a:spAutoFit/>
          </a:bodyPr>
          <a:lstStyle/>
          <a:p>
            <a:pPr algn="ctr">
              <a:spcBef>
                <a:spcPct val="50000"/>
              </a:spcBef>
            </a:pPr>
            <a:r>
              <a:rPr lang="en-US" sz="1800"/>
              <a:t>0</a:t>
            </a:r>
            <a:endParaRPr lang="el-GR" sz="1800" baseline="-25000">
              <a:cs typeface="Arial" charset="0"/>
            </a:endParaRPr>
          </a:p>
        </p:txBody>
      </p:sp>
      <p:sp>
        <p:nvSpPr>
          <p:cNvPr id="9244" name="Line 27"/>
          <p:cNvSpPr>
            <a:spLocks noChangeShapeType="1"/>
          </p:cNvSpPr>
          <p:nvPr/>
        </p:nvSpPr>
        <p:spPr bwMode="auto">
          <a:xfrm>
            <a:off x="7848600" y="3124200"/>
            <a:ext cx="0" cy="304800"/>
          </a:xfrm>
          <a:prstGeom prst="line">
            <a:avLst/>
          </a:prstGeom>
          <a:noFill/>
          <a:ln w="19050">
            <a:solidFill>
              <a:schemeClr val="tx1"/>
            </a:solidFill>
            <a:round/>
            <a:headEnd/>
            <a:tailEnd/>
          </a:ln>
        </p:spPr>
        <p:txBody>
          <a:bodyPr wrap="none" anchor="ctr"/>
          <a:lstStyle/>
          <a:p>
            <a:endParaRPr lang="en-US"/>
          </a:p>
        </p:txBody>
      </p:sp>
      <p:sp>
        <p:nvSpPr>
          <p:cNvPr id="9245" name="Line 28"/>
          <p:cNvSpPr>
            <a:spLocks noChangeShapeType="1"/>
          </p:cNvSpPr>
          <p:nvPr/>
        </p:nvSpPr>
        <p:spPr bwMode="auto">
          <a:xfrm>
            <a:off x="7848600" y="3276600"/>
            <a:ext cx="11430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9246" name="Line 29"/>
          <p:cNvSpPr>
            <a:spLocks noChangeShapeType="1"/>
          </p:cNvSpPr>
          <p:nvPr/>
        </p:nvSpPr>
        <p:spPr bwMode="auto">
          <a:xfrm flipH="1">
            <a:off x="8001000" y="2514600"/>
            <a:ext cx="304800" cy="457200"/>
          </a:xfrm>
          <a:prstGeom prst="line">
            <a:avLst/>
          </a:prstGeom>
          <a:noFill/>
          <a:ln w="12700">
            <a:solidFill>
              <a:schemeClr val="tx1"/>
            </a:solidFill>
            <a:round/>
            <a:headEnd type="none" w="sm" len="sm"/>
            <a:tailEnd type="stealth" w="med" len="med"/>
          </a:ln>
        </p:spPr>
        <p:txBody>
          <a:bodyPr wrap="none" anchor="ctr"/>
          <a:lstStyle/>
          <a:p>
            <a:endParaRPr lang="en-US"/>
          </a:p>
        </p:txBody>
      </p:sp>
      <p:sp>
        <p:nvSpPr>
          <p:cNvPr id="9247" name="Rectangle 30"/>
          <p:cNvSpPr>
            <a:spLocks noChangeArrowheads="1"/>
          </p:cNvSpPr>
          <p:nvPr/>
        </p:nvSpPr>
        <p:spPr bwMode="auto">
          <a:xfrm flipH="1">
            <a:off x="7696200" y="2133600"/>
            <a:ext cx="1219200" cy="39370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000">
                <a:latin typeface="Symbol" pitchFamily="18" charset="2"/>
              </a:rPr>
              <a:t>a</a:t>
            </a:r>
            <a:r>
              <a:rPr lang="en-US" sz="2000"/>
              <a:t>/2=.025</a:t>
            </a:r>
          </a:p>
        </p:txBody>
      </p:sp>
      <p:sp>
        <p:nvSpPr>
          <p:cNvPr id="9248" name="Rectangle 31"/>
          <p:cNvSpPr>
            <a:spLocks noChangeArrowheads="1"/>
          </p:cNvSpPr>
          <p:nvPr/>
        </p:nvSpPr>
        <p:spPr bwMode="auto">
          <a:xfrm flipH="1">
            <a:off x="4343400" y="3810000"/>
            <a:ext cx="1219200" cy="39370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000" b="1" dirty="0" smtClean="0"/>
              <a:t>-</a:t>
            </a:r>
            <a:endParaRPr lang="en-US" sz="2000" b="1" dirty="0"/>
          </a:p>
        </p:txBody>
      </p:sp>
      <p:sp>
        <p:nvSpPr>
          <p:cNvPr id="9249" name="Rectangle 32"/>
          <p:cNvSpPr>
            <a:spLocks noChangeArrowheads="1"/>
          </p:cNvSpPr>
          <p:nvPr/>
        </p:nvSpPr>
        <p:spPr bwMode="auto">
          <a:xfrm flipH="1">
            <a:off x="7467600" y="3733800"/>
            <a:ext cx="1219200" cy="39370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000" b="1" dirty="0" smtClean="0"/>
              <a:t>1.96</a:t>
            </a:r>
            <a:endParaRPr lang="en-US" sz="2000" b="1" dirty="0"/>
          </a:p>
        </p:txBody>
      </p:sp>
      <p:graphicFrame>
        <p:nvGraphicFramePr>
          <p:cNvPr id="9218" name="Object 33">
            <a:hlinkClick r:id="" action="ppaction://ole?verb=0"/>
          </p:cNvPr>
          <p:cNvGraphicFramePr>
            <a:graphicFrameLocks/>
          </p:cNvGraphicFramePr>
          <p:nvPr/>
        </p:nvGraphicFramePr>
        <p:xfrm>
          <a:off x="2590800" y="5638800"/>
          <a:ext cx="4038600" cy="990600"/>
        </p:xfrm>
        <a:graphic>
          <a:graphicData uri="http://schemas.openxmlformats.org/presentationml/2006/ole">
            <mc:AlternateContent xmlns:mc="http://schemas.openxmlformats.org/markup-compatibility/2006">
              <mc:Choice xmlns:v="urn:schemas-microsoft-com:vml" Requires="v">
                <p:oleObj spid="_x0000_s306185" name="Equation" r:id="rId3" imgW="2374560" imgH="634680" progId="Equation.DSMT4">
                  <p:embed/>
                </p:oleObj>
              </mc:Choice>
              <mc:Fallback>
                <p:oleObj name="Equation" r:id="rId3" imgW="2374560" imgH="634680" progId="Equation.DSMT4">
                  <p:embed/>
                  <p:pic>
                    <p:nvPicPr>
                      <p:cNvPr id="0" name="Object 3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638800"/>
                        <a:ext cx="4038600" cy="9906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50" name="Rectangle 34"/>
          <p:cNvSpPr>
            <a:spLocks noChangeArrowheads="1"/>
          </p:cNvSpPr>
          <p:nvPr/>
        </p:nvSpPr>
        <p:spPr bwMode="auto">
          <a:xfrm flipH="1">
            <a:off x="6858000" y="3886200"/>
            <a:ext cx="762000" cy="39370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000" b="1" dirty="0">
                <a:solidFill>
                  <a:schemeClr val="folHlink"/>
                </a:solidFill>
              </a:rPr>
              <a:t>1.46</a:t>
            </a:r>
          </a:p>
        </p:txBody>
      </p:sp>
      <p:sp>
        <p:nvSpPr>
          <p:cNvPr id="9251" name="Line 35"/>
          <p:cNvSpPr>
            <a:spLocks noChangeShapeType="1"/>
          </p:cNvSpPr>
          <p:nvPr/>
        </p:nvSpPr>
        <p:spPr bwMode="auto">
          <a:xfrm flipV="1">
            <a:off x="7239000" y="3276600"/>
            <a:ext cx="0" cy="609600"/>
          </a:xfrm>
          <a:prstGeom prst="line">
            <a:avLst/>
          </a:prstGeom>
          <a:noFill/>
          <a:ln w="57150">
            <a:solidFill>
              <a:schemeClr val="folHlink"/>
            </a:solidFill>
            <a:round/>
            <a:headEnd/>
            <a:tailEnd type="triangle" w="med" len="med"/>
          </a:ln>
        </p:spPr>
        <p:txBody>
          <a:bodyPr wrap="none" anchor="ctr"/>
          <a:lstStyle/>
          <a:p>
            <a:endParaRPr lang="en-US"/>
          </a:p>
        </p:txBody>
      </p:sp>
      <p:sp>
        <p:nvSpPr>
          <p:cNvPr id="9253" name="Rectangle 37"/>
          <p:cNvSpPr>
            <a:spLocks noChangeArrowheads="1"/>
          </p:cNvSpPr>
          <p:nvPr/>
        </p:nvSpPr>
        <p:spPr bwMode="auto">
          <a:xfrm>
            <a:off x="533400" y="1905000"/>
            <a:ext cx="2057400" cy="837665"/>
          </a:xfrm>
          <a:prstGeom prst="rect">
            <a:avLst/>
          </a:prstGeom>
          <a:noFill/>
          <a:ln w="19050">
            <a:solidFill>
              <a:schemeClr val="tx1"/>
            </a:solidFill>
            <a:miter lim="800000"/>
            <a:headEnd/>
            <a:tailEnd/>
          </a:ln>
        </p:spPr>
        <p:txBody>
          <a:bodyPr lIns="90488" tIns="44450" rIns="90488" bIns="44450">
            <a:spAutoFit/>
          </a:bodyPr>
          <a:lstStyle/>
          <a:p>
            <a:pPr eaLnBrk="0" hangingPunct="0">
              <a:lnSpc>
                <a:spcPct val="110000"/>
              </a:lnSpc>
              <a:spcBef>
                <a:spcPct val="50000"/>
              </a:spcBef>
            </a:pPr>
            <a:r>
              <a:rPr lang="id-ID" b="1" dirty="0" smtClean="0"/>
              <a:t>1. </a:t>
            </a:r>
            <a:r>
              <a:rPr lang="en-US" b="1" dirty="0" smtClean="0"/>
              <a:t>H</a:t>
            </a:r>
            <a:r>
              <a:rPr lang="en-US" b="1" baseline="-25000" dirty="0" smtClean="0"/>
              <a:t>0</a:t>
            </a:r>
            <a:r>
              <a:rPr lang="en-US" b="1" dirty="0"/>
              <a:t>: </a:t>
            </a:r>
            <a:r>
              <a:rPr lang="el-GR" b="1" dirty="0">
                <a:cs typeface="Arial" charset="0"/>
              </a:rPr>
              <a:t>μ</a:t>
            </a:r>
            <a:r>
              <a:rPr lang="en-US" b="1" dirty="0">
                <a:latin typeface="Symbol" pitchFamily="18" charset="2"/>
              </a:rPr>
              <a:t> </a:t>
            </a:r>
            <a:r>
              <a:rPr lang="en-US" b="1" dirty="0"/>
              <a:t>= 168 </a:t>
            </a:r>
            <a:endParaRPr lang="id-ID" b="1" dirty="0" smtClean="0"/>
          </a:p>
          <a:p>
            <a:pPr eaLnBrk="0" hangingPunct="0">
              <a:lnSpc>
                <a:spcPct val="110000"/>
              </a:lnSpc>
              <a:spcBef>
                <a:spcPct val="50000"/>
              </a:spcBef>
            </a:pPr>
            <a:r>
              <a:rPr lang="id-ID" b="1" dirty="0" smtClean="0"/>
              <a:t>    </a:t>
            </a:r>
            <a:r>
              <a:rPr lang="en-US" b="1" dirty="0" smtClean="0"/>
              <a:t>H</a:t>
            </a:r>
            <a:r>
              <a:rPr lang="en-US" b="1" baseline="-25000" dirty="0" smtClean="0"/>
              <a:t>1</a:t>
            </a:r>
            <a:r>
              <a:rPr lang="en-US" b="1" dirty="0"/>
              <a:t>: </a:t>
            </a:r>
            <a:r>
              <a:rPr lang="el-GR" b="1" dirty="0">
                <a:cs typeface="Arial" charset="0"/>
              </a:rPr>
              <a:t>μ</a:t>
            </a:r>
            <a:r>
              <a:rPr lang="en-US" b="1" dirty="0">
                <a:latin typeface="Symbol" pitchFamily="18" charset="2"/>
              </a:rPr>
              <a:t> ¹</a:t>
            </a:r>
            <a:r>
              <a:rPr lang="en-US" b="1" dirty="0"/>
              <a:t> 168</a:t>
            </a:r>
          </a:p>
        </p:txBody>
      </p:sp>
      <p:sp>
        <p:nvSpPr>
          <p:cNvPr id="9225" name="Rectangle 7"/>
          <p:cNvSpPr>
            <a:spLocks noGrp="1" noChangeArrowheads="1"/>
          </p:cNvSpPr>
          <p:nvPr>
            <p:ph type="body" sz="half" idx="4294967295"/>
          </p:nvPr>
        </p:nvSpPr>
        <p:spPr>
          <a:xfrm>
            <a:off x="228600" y="3124200"/>
            <a:ext cx="2819400" cy="3200400"/>
          </a:xfrm>
        </p:spPr>
        <p:txBody>
          <a:bodyPr lIns="90488" tIns="44450" rIns="90488" bIns="44450"/>
          <a:lstStyle/>
          <a:p>
            <a:pPr marL="342900" indent="-342900" eaLnBrk="1" hangingPunct="1">
              <a:lnSpc>
                <a:spcPct val="120000"/>
              </a:lnSpc>
              <a:spcBef>
                <a:spcPct val="40000"/>
              </a:spcBef>
              <a:buSzPct val="100000"/>
              <a:buNone/>
            </a:pPr>
            <a:r>
              <a:rPr lang="id-ID" sz="1800" b="1" dirty="0" smtClean="0">
                <a:latin typeface="Symbol" pitchFamily="18" charset="2"/>
              </a:rPr>
              <a:t>2. </a:t>
            </a:r>
            <a:r>
              <a:rPr lang="en-US" sz="1800" b="1" dirty="0" smtClean="0">
                <a:latin typeface="Symbol" pitchFamily="18" charset="2"/>
              </a:rPr>
              <a:t>a </a:t>
            </a:r>
            <a:r>
              <a:rPr lang="en-US" sz="1800" dirty="0" smtClean="0"/>
              <a:t>= </a:t>
            </a:r>
            <a:r>
              <a:rPr lang="en-US" sz="1800" b="1" dirty="0" smtClean="0"/>
              <a:t>0.05</a:t>
            </a:r>
            <a:r>
              <a:rPr lang="id-ID" sz="1800" b="1" dirty="0" smtClean="0"/>
              <a:t> </a:t>
            </a:r>
            <a:r>
              <a:rPr lang="en-US" sz="1800" b="1" dirty="0" smtClean="0"/>
              <a:t>n</a:t>
            </a:r>
            <a:r>
              <a:rPr lang="en-US" sz="1800" b="1" i="1" dirty="0" smtClean="0"/>
              <a:t> </a:t>
            </a:r>
            <a:r>
              <a:rPr lang="en-US" sz="1800" b="1" dirty="0" smtClean="0"/>
              <a:t>= </a:t>
            </a:r>
            <a:r>
              <a:rPr lang="id-ID" sz="1800" b="1" dirty="0" smtClean="0"/>
              <a:t>36 (&gt;30)</a:t>
            </a:r>
            <a:endParaRPr lang="en-US" sz="1800" b="1" dirty="0" smtClean="0"/>
          </a:p>
          <a:p>
            <a:pPr marL="342900" indent="-342900" eaLnBrk="1" hangingPunct="1">
              <a:spcBef>
                <a:spcPct val="40000"/>
              </a:spcBef>
              <a:buSzPct val="100000"/>
              <a:buNone/>
            </a:pPr>
            <a:r>
              <a:rPr lang="id-ID" sz="1800" b="1" dirty="0" smtClean="0">
                <a:sym typeface="Symbol" pitchFamily="18" charset="2"/>
              </a:rPr>
              <a:t>3. </a:t>
            </a:r>
            <a:r>
              <a:rPr lang="en-US" sz="1800" b="1" dirty="0" smtClean="0">
                <a:sym typeface="Symbol" pitchFamily="18" charset="2"/>
              </a:rPr>
              <a:t> </a:t>
            </a:r>
            <a:r>
              <a:rPr lang="id-ID" sz="1800" b="1" dirty="0" smtClean="0">
                <a:sym typeface="Symbol" pitchFamily="18" charset="2"/>
              </a:rPr>
              <a:t> tidak diketahui</a:t>
            </a:r>
            <a:r>
              <a:rPr lang="en-US" sz="1800" b="1" dirty="0" smtClean="0">
                <a:sym typeface="Symbol" pitchFamily="18" charset="2"/>
              </a:rPr>
              <a:t>, </a:t>
            </a:r>
            <a:r>
              <a:rPr lang="id-ID" sz="1800" b="1" dirty="0" smtClean="0">
                <a:sym typeface="Symbol" pitchFamily="18" charset="2"/>
              </a:rPr>
              <a:t>n&gt;30 : Dist. Z</a:t>
            </a:r>
            <a:endParaRPr lang="en-US" sz="1800" b="1" dirty="0" smtClean="0">
              <a:solidFill>
                <a:schemeClr val="hlink"/>
              </a:solidFill>
              <a:sym typeface="Symbol" pitchFamily="18" charset="2"/>
            </a:endParaRPr>
          </a:p>
          <a:p>
            <a:pPr marL="342900" indent="-342900" eaLnBrk="1" hangingPunct="1">
              <a:spcBef>
                <a:spcPct val="40000"/>
              </a:spcBef>
              <a:buSzPct val="100000"/>
              <a:buNone/>
            </a:pPr>
            <a:r>
              <a:rPr lang="id-ID" sz="1800" b="1" dirty="0" smtClean="0"/>
              <a:t>4. Titik kritis (Z tabel)</a:t>
            </a:r>
            <a:r>
              <a:rPr lang="en-US" sz="1800" b="1" dirty="0" smtClean="0"/>
              <a:t>: </a:t>
            </a:r>
          </a:p>
          <a:p>
            <a:pPr eaLnBrk="1" hangingPunct="1">
              <a:lnSpc>
                <a:spcPct val="120000"/>
              </a:lnSpc>
              <a:spcBef>
                <a:spcPct val="40000"/>
              </a:spcBef>
              <a:buFont typeface="Wingdings" pitchFamily="2" charset="2"/>
              <a:buNone/>
            </a:pPr>
            <a:r>
              <a:rPr lang="en-US" sz="1800" b="1" dirty="0" smtClean="0"/>
              <a:t>     </a:t>
            </a:r>
            <a:r>
              <a:rPr lang="en-US" sz="1800" b="1" dirty="0" smtClean="0">
                <a:cs typeface="Arial" charset="0"/>
              </a:rPr>
              <a:t>±</a:t>
            </a:r>
            <a:r>
              <a:rPr lang="id-ID" sz="1800" b="1" dirty="0" smtClean="0">
                <a:cs typeface="Arial" charset="0"/>
              </a:rPr>
              <a:t>Z</a:t>
            </a:r>
            <a:r>
              <a:rPr lang="en-US" sz="1800" b="1" baseline="-25000" dirty="0" smtClean="0"/>
              <a:t>0.025 </a:t>
            </a:r>
            <a:r>
              <a:rPr lang="en-US" sz="1800" b="1" dirty="0" smtClean="0"/>
              <a:t>= ± </a:t>
            </a:r>
            <a:r>
              <a:rPr lang="id-ID" sz="1800" b="1" dirty="0" smtClean="0"/>
              <a:t>1.96</a:t>
            </a:r>
          </a:p>
          <a:p>
            <a:pPr eaLnBrk="1" hangingPunct="1">
              <a:lnSpc>
                <a:spcPct val="120000"/>
              </a:lnSpc>
              <a:spcBef>
                <a:spcPct val="40000"/>
              </a:spcBef>
              <a:buFont typeface="Wingdings" pitchFamily="2" charset="2"/>
              <a:buNone/>
            </a:pPr>
            <a:endParaRPr lang="id-ID" sz="1800" b="1" dirty="0" smtClean="0"/>
          </a:p>
          <a:p>
            <a:pPr eaLnBrk="1" hangingPunct="1">
              <a:lnSpc>
                <a:spcPct val="120000"/>
              </a:lnSpc>
              <a:spcBef>
                <a:spcPct val="40000"/>
              </a:spcBef>
              <a:buFont typeface="Wingdings" pitchFamily="2" charset="2"/>
              <a:buNone/>
            </a:pPr>
            <a:r>
              <a:rPr lang="id-ID" sz="1800" b="1" dirty="0" smtClean="0"/>
              <a:t>6. Hitung stat. Uji :</a:t>
            </a:r>
            <a:endParaRPr lang="en-US" sz="1800" dirty="0" smtClean="0"/>
          </a:p>
        </p:txBody>
      </p:sp>
      <p:cxnSp>
        <p:nvCxnSpPr>
          <p:cNvPr id="35" name="Straight Connector 34"/>
          <p:cNvCxnSpPr/>
          <p:nvPr/>
        </p:nvCxnSpPr>
        <p:spPr bwMode="auto">
          <a:xfrm>
            <a:off x="4800600" y="2286000"/>
            <a:ext cx="0" cy="914400"/>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36" name="Straight Connector 35"/>
          <p:cNvCxnSpPr/>
          <p:nvPr/>
        </p:nvCxnSpPr>
        <p:spPr bwMode="auto">
          <a:xfrm>
            <a:off x="7848600" y="2362200"/>
            <a:ext cx="0" cy="914400"/>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37" name="Straight Connector 36"/>
          <p:cNvCxnSpPr/>
          <p:nvPr/>
        </p:nvCxnSpPr>
        <p:spPr bwMode="auto">
          <a:xfrm>
            <a:off x="5181600" y="2362200"/>
            <a:ext cx="0" cy="914400"/>
          </a:xfrm>
          <a:prstGeom prst="line">
            <a:avLst/>
          </a:prstGeom>
          <a:solidFill>
            <a:schemeClr val="accent1"/>
          </a:solidFill>
          <a:ln w="9525" cap="flat" cmpd="sng" algn="ctr">
            <a:solidFill>
              <a:srgbClr val="FF0000"/>
            </a:solidFill>
            <a:prstDash val="solid"/>
            <a:miter lim="800000"/>
            <a:headEnd type="none" w="med" len="med"/>
            <a:tailEnd type="none" w="med" len="med"/>
          </a:ln>
          <a:effectLst/>
        </p:spPr>
      </p:cxn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5"/>
          <p:cNvSpPr>
            <a:spLocks noGrp="1" noChangeArrowheads="1"/>
          </p:cNvSpPr>
          <p:nvPr>
            <p:ph type="sldNum" sz="quarter" idx="10"/>
          </p:nvPr>
        </p:nvSpPr>
        <p:spPr>
          <a:ln/>
        </p:spPr>
        <p:txBody>
          <a:bodyPr/>
          <a:lstStyle/>
          <a:p>
            <a:pPr>
              <a:defRPr/>
            </a:pPr>
            <a:r>
              <a:rPr lang="en-US"/>
              <a:t>Chap 9-</a:t>
            </a:r>
            <a:fld id="{F55FC207-730B-4FD5-AAB8-37CB0275DE8F}" type="slidenum">
              <a:rPr lang="en-US"/>
              <a:pPr>
                <a:defRPr/>
              </a:pPr>
              <a:t>20</a:t>
            </a:fld>
            <a:endParaRPr lang="en-US"/>
          </a:p>
        </p:txBody>
      </p:sp>
      <p:sp>
        <p:nvSpPr>
          <p:cNvPr id="13"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88065"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57062943-354D-4C98-B72B-C8CED6144F04}" type="slidenum">
              <a:rPr lang="en-US" sz="1000"/>
              <a:pPr algn="r" defTabSz="852488"/>
              <a:t>20</a:t>
            </a:fld>
            <a:endParaRPr lang="en-US" sz="1000"/>
          </a:p>
        </p:txBody>
      </p:sp>
      <p:sp>
        <p:nvSpPr>
          <p:cNvPr id="88066" name="Rectangle 2"/>
          <p:cNvSpPr>
            <a:spLocks noGrp="1" noChangeArrowheads="1"/>
          </p:cNvSpPr>
          <p:nvPr>
            <p:ph type="title" idx="4294967295"/>
          </p:nvPr>
        </p:nvSpPr>
        <p:spPr/>
        <p:txBody>
          <a:bodyPr/>
          <a:lstStyle/>
          <a:p>
            <a:pPr eaLnBrk="1" hangingPunct="1"/>
            <a:r>
              <a:rPr lang="id-ID" dirty="0" smtClean="0"/>
              <a:t>Uji Satu Arah</a:t>
            </a:r>
            <a:endParaRPr lang="en-US" dirty="0" smtClean="0"/>
          </a:p>
        </p:txBody>
      </p:sp>
      <p:sp>
        <p:nvSpPr>
          <p:cNvPr id="88067" name="Rectangle 3"/>
          <p:cNvSpPr>
            <a:spLocks noGrp="1" noChangeArrowheads="1"/>
          </p:cNvSpPr>
          <p:nvPr>
            <p:ph type="body" idx="4294967295"/>
          </p:nvPr>
        </p:nvSpPr>
        <p:spPr>
          <a:xfrm>
            <a:off x="609600" y="1828800"/>
            <a:ext cx="7543800" cy="1103313"/>
          </a:xfrm>
        </p:spPr>
        <p:txBody>
          <a:bodyPr/>
          <a:lstStyle/>
          <a:p>
            <a:pPr eaLnBrk="1" hangingPunct="1"/>
            <a:r>
              <a:rPr lang="id-ID" dirty="0" smtClean="0"/>
              <a:t>Dalam banyak kasus, hipotesis alternatif (H</a:t>
            </a:r>
            <a:r>
              <a:rPr lang="id-ID" baseline="-25000" dirty="0" smtClean="0"/>
              <a:t>1</a:t>
            </a:r>
            <a:r>
              <a:rPr lang="id-ID" dirty="0" smtClean="0"/>
              <a:t>) berfokus pada arah tertentu</a:t>
            </a:r>
            <a:endParaRPr lang="en-US" dirty="0" smtClean="0"/>
          </a:p>
        </p:txBody>
      </p:sp>
      <p:sp>
        <p:nvSpPr>
          <p:cNvPr id="88068" name="Rectangle 4"/>
          <p:cNvSpPr>
            <a:spLocks noChangeArrowheads="1"/>
          </p:cNvSpPr>
          <p:nvPr/>
        </p:nvSpPr>
        <p:spPr bwMode="auto">
          <a:xfrm>
            <a:off x="1066800" y="3352800"/>
            <a:ext cx="1524000" cy="938213"/>
          </a:xfrm>
          <a:prstGeom prst="rect">
            <a:avLst/>
          </a:prstGeom>
          <a:noFill/>
          <a:ln w="9525">
            <a:solidFill>
              <a:srgbClr val="008000"/>
            </a:solidFill>
            <a:miter lim="800000"/>
            <a:headEnd/>
            <a:tailEnd/>
          </a:ln>
        </p:spPr>
        <p:txBody>
          <a:bodyPr lIns="90488" tIns="44450" rIns="90488" bIns="44450">
            <a:spAutoFit/>
          </a:bodyPr>
          <a:lstStyle/>
          <a:p>
            <a:pPr eaLnBrk="0" hangingPunct="0">
              <a:lnSpc>
                <a:spcPct val="110000"/>
              </a:lnSpc>
              <a:spcBef>
                <a:spcPct val="50000"/>
              </a:spcBef>
            </a:pPr>
            <a:r>
              <a:rPr lang="en-US" sz="2400" b="1">
                <a:solidFill>
                  <a:srgbClr val="008000"/>
                </a:solidFill>
              </a:rPr>
              <a:t>H</a:t>
            </a:r>
            <a:r>
              <a:rPr lang="en-US" sz="2400" b="1" baseline="-25000">
                <a:solidFill>
                  <a:srgbClr val="008000"/>
                </a:solidFill>
              </a:rPr>
              <a:t>0</a:t>
            </a:r>
            <a:r>
              <a:rPr lang="en-US" sz="2400" b="1">
                <a:solidFill>
                  <a:srgbClr val="008000"/>
                </a:solidFill>
              </a:rPr>
              <a:t>: </a:t>
            </a:r>
            <a:r>
              <a:rPr lang="el-GR" sz="2400" b="1">
                <a:solidFill>
                  <a:srgbClr val="008000"/>
                </a:solidFill>
                <a:cs typeface="Arial" charset="0"/>
              </a:rPr>
              <a:t>μ</a:t>
            </a:r>
            <a:r>
              <a:rPr lang="en-US" sz="2400" b="1">
                <a:solidFill>
                  <a:srgbClr val="008000"/>
                </a:solidFill>
              </a:rPr>
              <a:t> </a:t>
            </a:r>
            <a:r>
              <a:rPr lang="en-US" sz="2400" b="1">
                <a:solidFill>
                  <a:srgbClr val="008000"/>
                </a:solidFill>
                <a:cs typeface="Arial" charset="0"/>
              </a:rPr>
              <a:t>≥</a:t>
            </a:r>
            <a:r>
              <a:rPr lang="en-US" sz="2400" b="1">
                <a:solidFill>
                  <a:srgbClr val="008000"/>
                </a:solidFill>
              </a:rPr>
              <a:t> 3   </a:t>
            </a:r>
          </a:p>
          <a:p>
            <a:pPr eaLnBrk="0" hangingPunct="0">
              <a:lnSpc>
                <a:spcPct val="70000"/>
              </a:lnSpc>
              <a:spcBef>
                <a:spcPct val="50000"/>
              </a:spcBef>
            </a:pPr>
            <a:r>
              <a:rPr lang="en-US" sz="2400" b="1">
                <a:solidFill>
                  <a:srgbClr val="008000"/>
                </a:solidFill>
              </a:rPr>
              <a:t>H</a:t>
            </a:r>
            <a:r>
              <a:rPr lang="en-US" sz="2400" b="1" baseline="-25000">
                <a:solidFill>
                  <a:srgbClr val="008000"/>
                </a:solidFill>
              </a:rPr>
              <a:t>1</a:t>
            </a:r>
            <a:r>
              <a:rPr lang="en-US" sz="2400" b="1">
                <a:solidFill>
                  <a:srgbClr val="008000"/>
                </a:solidFill>
              </a:rPr>
              <a:t>: </a:t>
            </a:r>
            <a:r>
              <a:rPr lang="el-GR" sz="2400" b="1">
                <a:solidFill>
                  <a:srgbClr val="008000"/>
                </a:solidFill>
                <a:cs typeface="Arial" charset="0"/>
              </a:rPr>
              <a:t>μ</a:t>
            </a:r>
            <a:r>
              <a:rPr lang="en-US" sz="2400" b="1">
                <a:solidFill>
                  <a:srgbClr val="008000"/>
                </a:solidFill>
              </a:rPr>
              <a:t> &lt; 3</a:t>
            </a:r>
          </a:p>
        </p:txBody>
      </p:sp>
      <p:sp>
        <p:nvSpPr>
          <p:cNvPr id="88069" name="Rectangle 5"/>
          <p:cNvSpPr>
            <a:spLocks noChangeArrowheads="1"/>
          </p:cNvSpPr>
          <p:nvPr/>
        </p:nvSpPr>
        <p:spPr bwMode="auto">
          <a:xfrm>
            <a:off x="1066800" y="4800600"/>
            <a:ext cx="1600200" cy="938213"/>
          </a:xfrm>
          <a:prstGeom prst="rect">
            <a:avLst/>
          </a:prstGeom>
          <a:noFill/>
          <a:ln w="9525">
            <a:solidFill>
              <a:srgbClr val="008000"/>
            </a:solidFill>
            <a:miter lim="800000"/>
            <a:headEnd/>
            <a:tailEnd/>
          </a:ln>
        </p:spPr>
        <p:txBody>
          <a:bodyPr lIns="90488" tIns="44450" rIns="90488" bIns="44450">
            <a:spAutoFit/>
          </a:bodyPr>
          <a:lstStyle/>
          <a:p>
            <a:pPr eaLnBrk="0" hangingPunct="0">
              <a:lnSpc>
                <a:spcPct val="110000"/>
              </a:lnSpc>
              <a:spcBef>
                <a:spcPct val="50000"/>
              </a:spcBef>
            </a:pPr>
            <a:r>
              <a:rPr lang="en-US" sz="2400" b="1">
                <a:solidFill>
                  <a:srgbClr val="008000"/>
                </a:solidFill>
              </a:rPr>
              <a:t>H</a:t>
            </a:r>
            <a:r>
              <a:rPr lang="en-US" sz="2400" b="1" baseline="-25000">
                <a:solidFill>
                  <a:srgbClr val="008000"/>
                </a:solidFill>
              </a:rPr>
              <a:t>0</a:t>
            </a:r>
            <a:r>
              <a:rPr lang="en-US" sz="2400" b="1">
                <a:solidFill>
                  <a:srgbClr val="008000"/>
                </a:solidFill>
              </a:rPr>
              <a:t>: </a:t>
            </a:r>
            <a:r>
              <a:rPr lang="el-GR" sz="2400" b="1">
                <a:solidFill>
                  <a:srgbClr val="008000"/>
                </a:solidFill>
              </a:rPr>
              <a:t>μ</a:t>
            </a:r>
            <a:r>
              <a:rPr lang="en-US" sz="2400" b="1">
                <a:solidFill>
                  <a:srgbClr val="008000"/>
                </a:solidFill>
              </a:rPr>
              <a:t> </a:t>
            </a:r>
            <a:r>
              <a:rPr lang="en-US" sz="2400" b="1">
                <a:solidFill>
                  <a:srgbClr val="008000"/>
                </a:solidFill>
                <a:cs typeface="Arial" charset="0"/>
              </a:rPr>
              <a:t>≤</a:t>
            </a:r>
            <a:r>
              <a:rPr lang="en-US" sz="2400" b="1">
                <a:solidFill>
                  <a:srgbClr val="008000"/>
                </a:solidFill>
              </a:rPr>
              <a:t> 3  </a:t>
            </a:r>
          </a:p>
          <a:p>
            <a:pPr eaLnBrk="0" hangingPunct="0">
              <a:lnSpc>
                <a:spcPct val="70000"/>
              </a:lnSpc>
              <a:spcBef>
                <a:spcPct val="50000"/>
              </a:spcBef>
            </a:pPr>
            <a:r>
              <a:rPr lang="en-US" sz="2400" b="1">
                <a:solidFill>
                  <a:srgbClr val="008000"/>
                </a:solidFill>
              </a:rPr>
              <a:t>H</a:t>
            </a:r>
            <a:r>
              <a:rPr lang="en-US" sz="2400" b="1" baseline="-25000">
                <a:solidFill>
                  <a:srgbClr val="008000"/>
                </a:solidFill>
              </a:rPr>
              <a:t>1</a:t>
            </a:r>
            <a:r>
              <a:rPr lang="en-US" sz="2400" b="1">
                <a:solidFill>
                  <a:srgbClr val="008000"/>
                </a:solidFill>
              </a:rPr>
              <a:t>: </a:t>
            </a:r>
            <a:r>
              <a:rPr lang="el-GR" sz="2400" b="1">
                <a:solidFill>
                  <a:srgbClr val="008000"/>
                </a:solidFill>
                <a:cs typeface="Arial" charset="0"/>
              </a:rPr>
              <a:t>μ</a:t>
            </a:r>
            <a:r>
              <a:rPr lang="en-US" sz="2400" b="1">
                <a:solidFill>
                  <a:srgbClr val="008000"/>
                </a:solidFill>
              </a:rPr>
              <a:t> &gt; 3</a:t>
            </a:r>
          </a:p>
        </p:txBody>
      </p:sp>
      <p:sp>
        <p:nvSpPr>
          <p:cNvPr id="88070" name="Text Box 6"/>
          <p:cNvSpPr txBox="1">
            <a:spLocks noChangeArrowheads="1"/>
          </p:cNvSpPr>
          <p:nvPr/>
        </p:nvSpPr>
        <p:spPr bwMode="auto">
          <a:xfrm>
            <a:off x="3429000" y="3200400"/>
            <a:ext cx="5181600" cy="1200329"/>
          </a:xfrm>
          <a:prstGeom prst="rect">
            <a:avLst/>
          </a:prstGeom>
          <a:noFill/>
          <a:ln w="9525">
            <a:noFill/>
            <a:miter lim="800000"/>
            <a:headEnd/>
            <a:tailEnd/>
          </a:ln>
        </p:spPr>
        <p:txBody>
          <a:bodyPr>
            <a:spAutoFit/>
          </a:bodyPr>
          <a:lstStyle/>
          <a:p>
            <a:pPr>
              <a:spcBef>
                <a:spcPct val="50000"/>
              </a:spcBef>
            </a:pPr>
            <a:r>
              <a:rPr lang="id-ID" sz="2400" dirty="0" smtClean="0"/>
              <a:t>Disebut uji </a:t>
            </a:r>
            <a:r>
              <a:rPr lang="en-US" sz="2400" dirty="0" smtClean="0">
                <a:solidFill>
                  <a:srgbClr val="FF3300"/>
                </a:solidFill>
              </a:rPr>
              <a:t>lower</a:t>
            </a:r>
            <a:r>
              <a:rPr lang="en-US" sz="2400" dirty="0" smtClean="0"/>
              <a:t>-tail </a:t>
            </a:r>
            <a:r>
              <a:rPr lang="id-ID" sz="2400" dirty="0" smtClean="0"/>
              <a:t>karena H</a:t>
            </a:r>
            <a:r>
              <a:rPr lang="id-ID" sz="2400" baseline="-25000" dirty="0" smtClean="0"/>
              <a:t>1</a:t>
            </a:r>
            <a:r>
              <a:rPr lang="id-ID" sz="2400" dirty="0" smtClean="0"/>
              <a:t> berfokus pada nilai yg kurang dari mean=3</a:t>
            </a:r>
            <a:endParaRPr lang="en-US" sz="2400" dirty="0"/>
          </a:p>
        </p:txBody>
      </p:sp>
      <p:sp>
        <p:nvSpPr>
          <p:cNvPr id="88071" name="Text Box 7"/>
          <p:cNvSpPr txBox="1">
            <a:spLocks noChangeArrowheads="1"/>
          </p:cNvSpPr>
          <p:nvPr/>
        </p:nvSpPr>
        <p:spPr bwMode="auto">
          <a:xfrm>
            <a:off x="3429000" y="4724400"/>
            <a:ext cx="5257800" cy="1200329"/>
          </a:xfrm>
          <a:prstGeom prst="rect">
            <a:avLst/>
          </a:prstGeom>
          <a:noFill/>
          <a:ln w="9525">
            <a:noFill/>
            <a:miter lim="800000"/>
            <a:headEnd/>
            <a:tailEnd/>
          </a:ln>
        </p:spPr>
        <p:txBody>
          <a:bodyPr>
            <a:spAutoFit/>
          </a:bodyPr>
          <a:lstStyle/>
          <a:p>
            <a:pPr>
              <a:spcBef>
                <a:spcPct val="50000"/>
              </a:spcBef>
            </a:pPr>
            <a:r>
              <a:rPr lang="id-ID" sz="2400" dirty="0" smtClean="0"/>
              <a:t>Disebut uji </a:t>
            </a:r>
            <a:r>
              <a:rPr lang="id-ID" sz="2400" dirty="0" smtClean="0">
                <a:solidFill>
                  <a:srgbClr val="FF3300"/>
                </a:solidFill>
              </a:rPr>
              <a:t>uppe</a:t>
            </a:r>
            <a:r>
              <a:rPr lang="en-US" sz="2400" dirty="0" smtClean="0">
                <a:solidFill>
                  <a:srgbClr val="FF3300"/>
                </a:solidFill>
              </a:rPr>
              <a:t>r</a:t>
            </a:r>
            <a:r>
              <a:rPr lang="en-US" sz="2400" dirty="0" smtClean="0"/>
              <a:t>-tail </a:t>
            </a:r>
            <a:r>
              <a:rPr lang="id-ID" sz="2400" dirty="0" smtClean="0"/>
              <a:t>karena H</a:t>
            </a:r>
            <a:r>
              <a:rPr lang="id-ID" sz="2400" baseline="-25000" dirty="0" smtClean="0"/>
              <a:t>1</a:t>
            </a:r>
            <a:r>
              <a:rPr lang="id-ID" sz="2400" dirty="0" smtClean="0"/>
              <a:t> berfokus pada nilai yg lebih dari mean=3</a:t>
            </a:r>
            <a:endParaRPr lang="en-US" sz="2400" dirty="0"/>
          </a:p>
        </p:txBody>
      </p:sp>
      <p:sp>
        <p:nvSpPr>
          <p:cNvPr id="88072" name="AutoShape 8"/>
          <p:cNvSpPr>
            <a:spLocks noChangeArrowheads="1"/>
          </p:cNvSpPr>
          <p:nvPr/>
        </p:nvSpPr>
        <p:spPr bwMode="auto">
          <a:xfrm>
            <a:off x="2819400" y="3733800"/>
            <a:ext cx="533400" cy="152400"/>
          </a:xfrm>
          <a:prstGeom prst="rightArrow">
            <a:avLst>
              <a:gd name="adj1" fmla="val 50000"/>
              <a:gd name="adj2" fmla="val 87500"/>
            </a:avLst>
          </a:prstGeom>
          <a:solidFill>
            <a:schemeClr val="accent1"/>
          </a:solidFill>
          <a:ln w="9525">
            <a:solidFill>
              <a:schemeClr val="tx1"/>
            </a:solidFill>
            <a:miter lim="800000"/>
            <a:headEnd/>
            <a:tailEnd/>
          </a:ln>
        </p:spPr>
        <p:txBody>
          <a:bodyPr wrap="none" anchor="ctr"/>
          <a:lstStyle/>
          <a:p>
            <a:endParaRPr lang="en-US"/>
          </a:p>
        </p:txBody>
      </p:sp>
      <p:sp>
        <p:nvSpPr>
          <p:cNvPr id="88073" name="AutoShape 9"/>
          <p:cNvSpPr>
            <a:spLocks noChangeArrowheads="1"/>
          </p:cNvSpPr>
          <p:nvPr/>
        </p:nvSpPr>
        <p:spPr bwMode="auto">
          <a:xfrm>
            <a:off x="2819400" y="5181600"/>
            <a:ext cx="533400" cy="152400"/>
          </a:xfrm>
          <a:prstGeom prst="rightArrow">
            <a:avLst>
              <a:gd name="adj1" fmla="val 50000"/>
              <a:gd name="adj2" fmla="val 87500"/>
            </a:avLst>
          </a:prstGeom>
          <a:solidFill>
            <a:schemeClr val="accent1"/>
          </a:solidFill>
          <a:ln w="9525">
            <a:solidFill>
              <a:schemeClr val="tx1"/>
            </a:solidFill>
            <a:miter lim="800000"/>
            <a:headEnd/>
            <a:tailEnd/>
          </a:ln>
        </p:spPr>
        <p:txBody>
          <a:bodyPr wrap="none" anchor="ctr"/>
          <a:lstStyle/>
          <a:p>
            <a:endParaRPr lang="en-US"/>
          </a:p>
        </p:txBody>
      </p:sp>
      <p:sp>
        <p:nvSpPr>
          <p:cNvPr id="88075" name="Rectangle 12"/>
          <p:cNvSpPr>
            <a:spLocks noChangeArrowheads="1"/>
          </p:cNvSpPr>
          <p:nvPr/>
        </p:nvSpPr>
        <p:spPr bwMode="auto">
          <a:xfrm>
            <a:off x="7772400" y="1143000"/>
            <a:ext cx="1257300" cy="461963"/>
          </a:xfrm>
          <a:prstGeom prst="rect">
            <a:avLst/>
          </a:prstGeom>
          <a:noFill/>
          <a:ln w="9525">
            <a:noFill/>
            <a:miter lim="800000"/>
            <a:headEnd/>
            <a:tailEnd/>
          </a:ln>
        </p:spPr>
        <p:txBody>
          <a:bodyPr wrap="none">
            <a:spAutoFit/>
          </a:bodyPr>
          <a:lstStyle/>
          <a:p>
            <a:r>
              <a:rPr lang="en-US"/>
              <a:t>DCOV</a:t>
            </a:r>
            <a:r>
              <a:rPr lang="en-US" u="sng">
                <a:solidFill>
                  <a:srgbClr val="FF0000"/>
                </a:solidFill>
              </a:rPr>
              <a:t>A</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5"/>
          <p:cNvSpPr>
            <a:spLocks noGrp="1" noChangeArrowheads="1"/>
          </p:cNvSpPr>
          <p:nvPr>
            <p:ph type="sldNum" sz="quarter" idx="10"/>
          </p:nvPr>
        </p:nvSpPr>
        <p:spPr>
          <a:ln/>
        </p:spPr>
        <p:txBody>
          <a:bodyPr/>
          <a:lstStyle/>
          <a:p>
            <a:pPr>
              <a:defRPr/>
            </a:pPr>
            <a:r>
              <a:rPr lang="en-US"/>
              <a:t>Chap 9-</a:t>
            </a:r>
            <a:fld id="{68E541A8-DD12-47CC-86F2-7A4F3C04D11C}" type="slidenum">
              <a:rPr lang="en-US"/>
              <a:pPr>
                <a:defRPr/>
              </a:pPr>
              <a:t>21</a:t>
            </a:fld>
            <a:endParaRPr lang="en-US"/>
          </a:p>
        </p:txBody>
      </p:sp>
      <p:sp>
        <p:nvSpPr>
          <p:cNvPr id="28"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89089"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DB12B5CD-062A-4616-8BD4-259A6726C52C}" type="slidenum">
              <a:rPr lang="en-US" sz="1000"/>
              <a:pPr algn="r" defTabSz="852488"/>
              <a:t>21</a:t>
            </a:fld>
            <a:endParaRPr lang="en-US" sz="1000"/>
          </a:p>
        </p:txBody>
      </p:sp>
      <p:sp>
        <p:nvSpPr>
          <p:cNvPr id="89090" name="Text Box 2"/>
          <p:cNvSpPr txBox="1">
            <a:spLocks noChangeArrowheads="1"/>
          </p:cNvSpPr>
          <p:nvPr/>
        </p:nvSpPr>
        <p:spPr bwMode="auto">
          <a:xfrm>
            <a:off x="3657600" y="4191000"/>
            <a:ext cx="990600" cy="304800"/>
          </a:xfrm>
          <a:prstGeom prst="rect">
            <a:avLst/>
          </a:prstGeom>
          <a:solidFill>
            <a:srgbClr val="FFFFA7"/>
          </a:solidFill>
          <a:ln w="19050" algn="ctr">
            <a:noFill/>
            <a:miter lim="800000"/>
            <a:headEnd/>
            <a:tailEnd/>
          </a:ln>
        </p:spPr>
        <p:txBody>
          <a:bodyPr>
            <a:spAutoFit/>
          </a:bodyPr>
          <a:lstStyle/>
          <a:p>
            <a:pPr algn="ctr">
              <a:spcBef>
                <a:spcPct val="50000"/>
              </a:spcBef>
            </a:pPr>
            <a:r>
              <a:rPr lang="id-ID" sz="1400" dirty="0" smtClean="0"/>
              <a:t>Tolak</a:t>
            </a:r>
            <a:r>
              <a:rPr lang="en-US" sz="1400" dirty="0" smtClean="0"/>
              <a:t> H</a:t>
            </a:r>
            <a:r>
              <a:rPr lang="id-ID" sz="1400" dirty="0" smtClean="0"/>
              <a:t>o</a:t>
            </a:r>
            <a:endParaRPr lang="en-US" sz="1400" baseline="-25000" dirty="0"/>
          </a:p>
        </p:txBody>
      </p:sp>
      <p:sp>
        <p:nvSpPr>
          <p:cNvPr id="89091" name="Text Box 3"/>
          <p:cNvSpPr txBox="1">
            <a:spLocks noChangeArrowheads="1"/>
          </p:cNvSpPr>
          <p:nvPr/>
        </p:nvSpPr>
        <p:spPr bwMode="auto">
          <a:xfrm>
            <a:off x="5562600" y="4191000"/>
            <a:ext cx="1524000" cy="304800"/>
          </a:xfrm>
          <a:prstGeom prst="rect">
            <a:avLst/>
          </a:prstGeom>
          <a:solidFill>
            <a:srgbClr val="FFFFA7"/>
          </a:solidFill>
          <a:ln w="19050" algn="ctr">
            <a:noFill/>
            <a:miter lim="800000"/>
            <a:headEnd/>
            <a:tailEnd/>
          </a:ln>
        </p:spPr>
        <p:txBody>
          <a:bodyPr>
            <a:spAutoFit/>
          </a:bodyPr>
          <a:lstStyle/>
          <a:p>
            <a:pPr algn="ctr">
              <a:spcBef>
                <a:spcPct val="50000"/>
              </a:spcBef>
            </a:pPr>
            <a:r>
              <a:rPr lang="id-ID" sz="1400" dirty="0" smtClean="0"/>
              <a:t>Gagal tolak </a:t>
            </a:r>
            <a:r>
              <a:rPr lang="en-US" sz="1400" dirty="0" smtClean="0"/>
              <a:t>H</a:t>
            </a:r>
            <a:r>
              <a:rPr lang="id-ID" sz="1400" dirty="0" smtClean="0"/>
              <a:t>o</a:t>
            </a:r>
            <a:endParaRPr lang="en-US" sz="1400" baseline="-25000" dirty="0"/>
          </a:p>
        </p:txBody>
      </p:sp>
      <p:sp>
        <p:nvSpPr>
          <p:cNvPr id="89092" name="Rectangle 4"/>
          <p:cNvSpPr>
            <a:spLocks noChangeArrowheads="1"/>
          </p:cNvSpPr>
          <p:nvPr/>
        </p:nvSpPr>
        <p:spPr bwMode="auto">
          <a:xfrm>
            <a:off x="304800" y="1905000"/>
            <a:ext cx="3352800" cy="2209800"/>
          </a:xfrm>
          <a:prstGeom prst="rect">
            <a:avLst/>
          </a:prstGeom>
          <a:noFill/>
          <a:ln w="9525">
            <a:noFill/>
            <a:miter lim="800000"/>
            <a:headEnd/>
            <a:tailEnd/>
          </a:ln>
        </p:spPr>
        <p:txBody>
          <a:bodyPr lIns="85342" tIns="42672" rIns="85342" bIns="42672"/>
          <a:lstStyle/>
          <a:p>
            <a:pPr marL="320675" indent="-320675" defTabSz="852488">
              <a:lnSpc>
                <a:spcPct val="120000"/>
              </a:lnSpc>
              <a:spcBef>
                <a:spcPct val="30000"/>
              </a:spcBef>
              <a:buClr>
                <a:schemeClr val="folHlink"/>
              </a:buClr>
              <a:buSzPct val="60000"/>
              <a:buFont typeface="Wingdings" pitchFamily="2" charset="2"/>
              <a:buChar char="n"/>
            </a:pPr>
            <a:r>
              <a:rPr lang="id-ID" sz="2400" dirty="0" smtClean="0"/>
              <a:t>Hanya terdapat satu titik kritis, karena area penolakan hanya ada di satu sisi</a:t>
            </a:r>
            <a:endParaRPr lang="en-US" sz="2400" dirty="0"/>
          </a:p>
        </p:txBody>
      </p:sp>
      <p:sp>
        <p:nvSpPr>
          <p:cNvPr id="89093" name="Rectangle 5"/>
          <p:cNvSpPr>
            <a:spLocks noGrp="1" noChangeArrowheads="1"/>
          </p:cNvSpPr>
          <p:nvPr>
            <p:ph type="title" idx="4294967295"/>
          </p:nvPr>
        </p:nvSpPr>
        <p:spPr/>
        <p:txBody>
          <a:bodyPr/>
          <a:lstStyle/>
          <a:p>
            <a:pPr eaLnBrk="1" hangingPunct="1"/>
            <a:r>
              <a:rPr lang="id-ID" dirty="0" smtClean="0"/>
              <a:t>Uji </a:t>
            </a:r>
            <a:r>
              <a:rPr lang="en-US" dirty="0" smtClean="0"/>
              <a:t>Lower-Tail</a:t>
            </a:r>
          </a:p>
        </p:txBody>
      </p:sp>
      <p:sp>
        <p:nvSpPr>
          <p:cNvPr id="89094" name="Freeform 6"/>
          <p:cNvSpPr>
            <a:spLocks/>
          </p:cNvSpPr>
          <p:nvPr/>
        </p:nvSpPr>
        <p:spPr bwMode="auto">
          <a:xfrm>
            <a:off x="3886200" y="3733800"/>
            <a:ext cx="833438" cy="228600"/>
          </a:xfrm>
          <a:custGeom>
            <a:avLst/>
            <a:gdLst>
              <a:gd name="T0" fmla="*/ 2147483647 w 582"/>
              <a:gd name="T1" fmla="*/ 2147483647 h 183"/>
              <a:gd name="T2" fmla="*/ 0 w 582"/>
              <a:gd name="T3" fmla="*/ 2147483647 h 183"/>
              <a:gd name="T4" fmla="*/ 2147483647 w 582"/>
              <a:gd name="T5" fmla="*/ 2147483647 h 183"/>
              <a:gd name="T6" fmla="*/ 2147483647 w 582"/>
              <a:gd name="T7" fmla="*/ 2147483647 h 183"/>
              <a:gd name="T8" fmla="*/ 2147483647 w 582"/>
              <a:gd name="T9" fmla="*/ 2147483647 h 183"/>
              <a:gd name="T10" fmla="*/ 2147483647 w 582"/>
              <a:gd name="T11" fmla="*/ 0 h 183"/>
              <a:gd name="T12" fmla="*/ 2147483647 w 582"/>
              <a:gd name="T13" fmla="*/ 2147483647 h 183"/>
              <a:gd name="T14" fmla="*/ 2147483647 w 582"/>
              <a:gd name="T15" fmla="*/ 2147483647 h 183"/>
              <a:gd name="T16" fmla="*/ 2147483647 w 582"/>
              <a:gd name="T17" fmla="*/ 2147483647 h 1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2"/>
              <a:gd name="T28" fmla="*/ 0 h 183"/>
              <a:gd name="T29" fmla="*/ 582 w 582"/>
              <a:gd name="T30" fmla="*/ 183 h 1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2" h="183">
                <a:moveTo>
                  <a:pt x="9" y="177"/>
                </a:moveTo>
                <a:lnTo>
                  <a:pt x="0" y="132"/>
                </a:lnTo>
                <a:lnTo>
                  <a:pt x="258" y="114"/>
                </a:lnTo>
                <a:lnTo>
                  <a:pt x="423" y="66"/>
                </a:lnTo>
                <a:lnTo>
                  <a:pt x="504" y="48"/>
                </a:lnTo>
                <a:lnTo>
                  <a:pt x="582" y="0"/>
                </a:lnTo>
                <a:lnTo>
                  <a:pt x="582" y="183"/>
                </a:lnTo>
                <a:lnTo>
                  <a:pt x="9" y="182"/>
                </a:lnTo>
                <a:lnTo>
                  <a:pt x="9" y="177"/>
                </a:lnTo>
              </a:path>
            </a:pathLst>
          </a:custGeom>
          <a:solidFill>
            <a:srgbClr val="C3DBFF"/>
          </a:solidFill>
          <a:ln w="12700" cap="rnd">
            <a:noFill/>
            <a:round/>
            <a:headEnd type="none" w="sm" len="sm"/>
            <a:tailEnd type="none" w="sm" len="sm"/>
          </a:ln>
        </p:spPr>
        <p:txBody>
          <a:bodyPr/>
          <a:lstStyle/>
          <a:p>
            <a:endParaRPr lang="en-US"/>
          </a:p>
        </p:txBody>
      </p:sp>
      <p:sp>
        <p:nvSpPr>
          <p:cNvPr id="89095" name="Freeform 7"/>
          <p:cNvSpPr>
            <a:spLocks/>
          </p:cNvSpPr>
          <p:nvPr/>
        </p:nvSpPr>
        <p:spPr bwMode="auto">
          <a:xfrm>
            <a:off x="3962400" y="2590800"/>
            <a:ext cx="2362200" cy="1295400"/>
          </a:xfrm>
          <a:custGeom>
            <a:avLst/>
            <a:gdLst>
              <a:gd name="T0" fmla="*/ 0 w 600"/>
              <a:gd name="T1" fmla="*/ 2147483647 h 576"/>
              <a:gd name="T2" fmla="*/ 2147483647 w 600"/>
              <a:gd name="T3" fmla="*/ 2147483647 h 576"/>
              <a:gd name="T4" fmla="*/ 2147483647 w 600"/>
              <a:gd name="T5" fmla="*/ 2147483647 h 576"/>
              <a:gd name="T6" fmla="*/ 2147483647 w 600"/>
              <a:gd name="T7" fmla="*/ 2147483647 h 576"/>
              <a:gd name="T8" fmla="*/ 2147483647 w 600"/>
              <a:gd name="T9" fmla="*/ 2147483647 h 576"/>
              <a:gd name="T10" fmla="*/ 2147483647 w 600"/>
              <a:gd name="T11" fmla="*/ 2147483647 h 576"/>
              <a:gd name="T12" fmla="*/ 2147483647 w 600"/>
              <a:gd name="T13" fmla="*/ 2147483647 h 576"/>
              <a:gd name="T14" fmla="*/ 2147483647 w 600"/>
              <a:gd name="T15" fmla="*/ 2147483647 h 576"/>
              <a:gd name="T16" fmla="*/ 2147483647 w 600"/>
              <a:gd name="T17" fmla="*/ 2147483647 h 576"/>
              <a:gd name="T18" fmla="*/ 2147483647 w 600"/>
              <a:gd name="T19" fmla="*/ 2147483647 h 576"/>
              <a:gd name="T20" fmla="*/ 2147483647 w 600"/>
              <a:gd name="T21" fmla="*/ 2147483647 h 576"/>
              <a:gd name="T22" fmla="*/ 2147483647 w 600"/>
              <a:gd name="T23" fmla="*/ 2147483647 h 576"/>
              <a:gd name="T24" fmla="*/ 2147483647 w 600"/>
              <a:gd name="T25" fmla="*/ 2147483647 h 576"/>
              <a:gd name="T26" fmla="*/ 2147483647 w 600"/>
              <a:gd name="T27" fmla="*/ 2147483647 h 576"/>
              <a:gd name="T28" fmla="*/ 2147483647 w 600"/>
              <a:gd name="T29" fmla="*/ 2147483647 h 576"/>
              <a:gd name="T30" fmla="*/ 2147483647 w 600"/>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0"/>
              <a:gd name="T49" fmla="*/ 0 h 576"/>
              <a:gd name="T50" fmla="*/ 600 w 600"/>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0" h="576">
                <a:moveTo>
                  <a:pt x="0" y="575"/>
                </a:moveTo>
                <a:lnTo>
                  <a:pt x="63" y="570"/>
                </a:lnTo>
                <a:lnTo>
                  <a:pt x="95" y="562"/>
                </a:lnTo>
                <a:lnTo>
                  <a:pt x="127" y="553"/>
                </a:lnTo>
                <a:lnTo>
                  <a:pt x="158" y="540"/>
                </a:lnTo>
                <a:lnTo>
                  <a:pt x="190" y="521"/>
                </a:lnTo>
                <a:lnTo>
                  <a:pt x="222" y="498"/>
                </a:lnTo>
                <a:lnTo>
                  <a:pt x="284" y="432"/>
                </a:lnTo>
                <a:lnTo>
                  <a:pt x="347" y="338"/>
                </a:lnTo>
                <a:lnTo>
                  <a:pt x="410" y="224"/>
                </a:lnTo>
                <a:lnTo>
                  <a:pt x="441" y="167"/>
                </a:lnTo>
                <a:lnTo>
                  <a:pt x="473" y="114"/>
                </a:lnTo>
                <a:lnTo>
                  <a:pt x="505" y="67"/>
                </a:lnTo>
                <a:lnTo>
                  <a:pt x="535" y="31"/>
                </a:lnTo>
                <a:lnTo>
                  <a:pt x="567" y="8"/>
                </a:lnTo>
                <a:lnTo>
                  <a:pt x="599" y="0"/>
                </a:lnTo>
              </a:path>
            </a:pathLst>
          </a:custGeom>
          <a:noFill/>
          <a:ln w="50800" cap="rnd">
            <a:solidFill>
              <a:srgbClr val="FF0000"/>
            </a:solidFill>
            <a:round/>
            <a:headEnd type="none" w="sm" len="sm"/>
            <a:tailEnd type="none" w="sm" len="sm"/>
          </a:ln>
        </p:spPr>
        <p:txBody>
          <a:bodyPr/>
          <a:lstStyle/>
          <a:p>
            <a:endParaRPr lang="en-US"/>
          </a:p>
        </p:txBody>
      </p:sp>
      <p:sp>
        <p:nvSpPr>
          <p:cNvPr id="89096" name="Freeform 8"/>
          <p:cNvSpPr>
            <a:spLocks/>
          </p:cNvSpPr>
          <p:nvPr/>
        </p:nvSpPr>
        <p:spPr bwMode="auto">
          <a:xfrm>
            <a:off x="6324600" y="2590800"/>
            <a:ext cx="2209800" cy="1295400"/>
          </a:xfrm>
          <a:custGeom>
            <a:avLst/>
            <a:gdLst>
              <a:gd name="T0" fmla="*/ 2147483647 w 576"/>
              <a:gd name="T1" fmla="*/ 2147483647 h 576"/>
              <a:gd name="T2" fmla="*/ 2147483647 w 576"/>
              <a:gd name="T3" fmla="*/ 2147483647 h 576"/>
              <a:gd name="T4" fmla="*/ 2147483647 w 576"/>
              <a:gd name="T5" fmla="*/ 2147483647 h 576"/>
              <a:gd name="T6" fmla="*/ 2147483647 w 576"/>
              <a:gd name="T7" fmla="*/ 2147483647 h 576"/>
              <a:gd name="T8" fmla="*/ 2147483647 w 576"/>
              <a:gd name="T9" fmla="*/ 2147483647 h 576"/>
              <a:gd name="T10" fmla="*/ 2147483647 w 576"/>
              <a:gd name="T11" fmla="*/ 2147483647 h 576"/>
              <a:gd name="T12" fmla="*/ 2147483647 w 576"/>
              <a:gd name="T13" fmla="*/ 2147483647 h 576"/>
              <a:gd name="T14" fmla="*/ 2147483647 w 576"/>
              <a:gd name="T15" fmla="*/ 2147483647 h 576"/>
              <a:gd name="T16" fmla="*/ 2147483647 w 576"/>
              <a:gd name="T17" fmla="*/ 2147483647 h 576"/>
              <a:gd name="T18" fmla="*/ 2147483647 w 576"/>
              <a:gd name="T19" fmla="*/ 2147483647 h 576"/>
              <a:gd name="T20" fmla="*/ 2147483647 w 576"/>
              <a:gd name="T21" fmla="*/ 2147483647 h 576"/>
              <a:gd name="T22" fmla="*/ 2147483647 w 576"/>
              <a:gd name="T23" fmla="*/ 2147483647 h 576"/>
              <a:gd name="T24" fmla="*/ 2147483647 w 576"/>
              <a:gd name="T25" fmla="*/ 2147483647 h 576"/>
              <a:gd name="T26" fmla="*/ 2147483647 w 576"/>
              <a:gd name="T27" fmla="*/ 2147483647 h 576"/>
              <a:gd name="T28" fmla="*/ 2147483647 w 576"/>
              <a:gd name="T29" fmla="*/ 2147483647 h 576"/>
              <a:gd name="T30" fmla="*/ 0 w 576"/>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6"/>
              <a:gd name="T49" fmla="*/ 0 h 576"/>
              <a:gd name="T50" fmla="*/ 576 w 576"/>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6" h="576">
                <a:moveTo>
                  <a:pt x="575" y="575"/>
                </a:moveTo>
                <a:lnTo>
                  <a:pt x="515" y="570"/>
                </a:lnTo>
                <a:lnTo>
                  <a:pt x="484" y="562"/>
                </a:lnTo>
                <a:lnTo>
                  <a:pt x="455" y="553"/>
                </a:lnTo>
                <a:lnTo>
                  <a:pt x="424" y="540"/>
                </a:lnTo>
                <a:lnTo>
                  <a:pt x="393" y="521"/>
                </a:lnTo>
                <a:lnTo>
                  <a:pt x="364" y="498"/>
                </a:lnTo>
                <a:lnTo>
                  <a:pt x="303" y="432"/>
                </a:lnTo>
                <a:lnTo>
                  <a:pt x="242" y="338"/>
                </a:lnTo>
                <a:lnTo>
                  <a:pt x="182" y="224"/>
                </a:lnTo>
                <a:lnTo>
                  <a:pt x="151" y="167"/>
                </a:lnTo>
                <a:lnTo>
                  <a:pt x="120" y="114"/>
                </a:lnTo>
                <a:lnTo>
                  <a:pt x="91" y="67"/>
                </a:lnTo>
                <a:lnTo>
                  <a:pt x="60" y="31"/>
                </a:lnTo>
                <a:lnTo>
                  <a:pt x="30" y="8"/>
                </a:lnTo>
                <a:lnTo>
                  <a:pt x="0" y="0"/>
                </a:lnTo>
              </a:path>
            </a:pathLst>
          </a:custGeom>
          <a:noFill/>
          <a:ln w="50800" cap="rnd">
            <a:solidFill>
              <a:srgbClr val="FF0000"/>
            </a:solidFill>
            <a:round/>
            <a:headEnd type="none" w="sm" len="sm"/>
            <a:tailEnd type="none" w="sm" len="sm"/>
          </a:ln>
        </p:spPr>
        <p:txBody>
          <a:bodyPr/>
          <a:lstStyle/>
          <a:p>
            <a:endParaRPr lang="en-US"/>
          </a:p>
        </p:txBody>
      </p:sp>
      <p:sp>
        <p:nvSpPr>
          <p:cNvPr id="89097" name="Line 9"/>
          <p:cNvSpPr>
            <a:spLocks noChangeShapeType="1"/>
          </p:cNvSpPr>
          <p:nvPr/>
        </p:nvSpPr>
        <p:spPr bwMode="auto">
          <a:xfrm>
            <a:off x="3733800" y="3962400"/>
            <a:ext cx="5105400" cy="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89098" name="Line 10"/>
          <p:cNvSpPr>
            <a:spLocks noChangeShapeType="1"/>
          </p:cNvSpPr>
          <p:nvPr/>
        </p:nvSpPr>
        <p:spPr bwMode="auto">
          <a:xfrm>
            <a:off x="4191000" y="3505200"/>
            <a:ext cx="228600" cy="381000"/>
          </a:xfrm>
          <a:prstGeom prst="line">
            <a:avLst/>
          </a:prstGeom>
          <a:noFill/>
          <a:ln w="12700">
            <a:solidFill>
              <a:schemeClr val="tx1"/>
            </a:solidFill>
            <a:round/>
            <a:headEnd type="none" w="sm" len="sm"/>
            <a:tailEnd type="stealth" w="med" len="med"/>
          </a:ln>
        </p:spPr>
        <p:txBody>
          <a:bodyPr wrap="none" anchor="ctr"/>
          <a:lstStyle/>
          <a:p>
            <a:endParaRPr lang="en-US"/>
          </a:p>
        </p:txBody>
      </p:sp>
      <p:sp>
        <p:nvSpPr>
          <p:cNvPr id="89099" name="Rectangle 11"/>
          <p:cNvSpPr>
            <a:spLocks noChangeArrowheads="1"/>
          </p:cNvSpPr>
          <p:nvPr/>
        </p:nvSpPr>
        <p:spPr bwMode="auto">
          <a:xfrm flipH="1">
            <a:off x="3886200" y="3048000"/>
            <a:ext cx="530225" cy="515938"/>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b="1">
                <a:latin typeface="Symbol" pitchFamily="18" charset="2"/>
              </a:rPr>
              <a:t>a</a:t>
            </a:r>
          </a:p>
        </p:txBody>
      </p:sp>
      <p:sp>
        <p:nvSpPr>
          <p:cNvPr id="89100" name="Line 12"/>
          <p:cNvSpPr>
            <a:spLocks noChangeShapeType="1"/>
          </p:cNvSpPr>
          <p:nvPr/>
        </p:nvSpPr>
        <p:spPr bwMode="auto">
          <a:xfrm>
            <a:off x="6324600" y="2590800"/>
            <a:ext cx="0" cy="1371600"/>
          </a:xfrm>
          <a:prstGeom prst="line">
            <a:avLst/>
          </a:prstGeom>
          <a:noFill/>
          <a:ln w="9525" cap="rnd">
            <a:solidFill>
              <a:schemeClr val="tx1"/>
            </a:solidFill>
            <a:prstDash val="sysDot"/>
            <a:miter lim="800000"/>
            <a:headEnd/>
            <a:tailEnd/>
          </a:ln>
        </p:spPr>
        <p:txBody>
          <a:bodyPr wrap="none"/>
          <a:lstStyle/>
          <a:p>
            <a:endParaRPr lang="en-US"/>
          </a:p>
        </p:txBody>
      </p:sp>
      <p:sp>
        <p:nvSpPr>
          <p:cNvPr id="89101" name="Line 13"/>
          <p:cNvSpPr>
            <a:spLocks noChangeShapeType="1"/>
          </p:cNvSpPr>
          <p:nvPr/>
        </p:nvSpPr>
        <p:spPr bwMode="auto">
          <a:xfrm>
            <a:off x="4724400" y="4038600"/>
            <a:ext cx="0" cy="304800"/>
          </a:xfrm>
          <a:prstGeom prst="line">
            <a:avLst/>
          </a:prstGeom>
          <a:noFill/>
          <a:ln w="19050">
            <a:solidFill>
              <a:schemeClr val="tx1"/>
            </a:solidFill>
            <a:round/>
            <a:headEnd/>
            <a:tailEnd/>
          </a:ln>
        </p:spPr>
        <p:txBody>
          <a:bodyPr wrap="none" anchor="ctr"/>
          <a:lstStyle/>
          <a:p>
            <a:endParaRPr lang="en-US"/>
          </a:p>
        </p:txBody>
      </p:sp>
      <p:sp>
        <p:nvSpPr>
          <p:cNvPr id="89102" name="Text Box 14"/>
          <p:cNvSpPr txBox="1">
            <a:spLocks noChangeArrowheads="1"/>
          </p:cNvSpPr>
          <p:nvPr/>
        </p:nvSpPr>
        <p:spPr bwMode="auto">
          <a:xfrm>
            <a:off x="3962400" y="4419600"/>
            <a:ext cx="1447800" cy="400110"/>
          </a:xfrm>
          <a:prstGeom prst="rect">
            <a:avLst/>
          </a:prstGeom>
          <a:noFill/>
          <a:ln w="19050" algn="ctr">
            <a:noFill/>
            <a:miter lim="800000"/>
            <a:headEnd/>
            <a:tailEnd/>
          </a:ln>
        </p:spPr>
        <p:txBody>
          <a:bodyPr wrap="square">
            <a:spAutoFit/>
          </a:bodyPr>
          <a:lstStyle/>
          <a:p>
            <a:pPr algn="ctr">
              <a:spcBef>
                <a:spcPct val="50000"/>
              </a:spcBef>
            </a:pPr>
            <a:r>
              <a:rPr lang="en-US" sz="2000" dirty="0"/>
              <a:t>-Z</a:t>
            </a:r>
            <a:r>
              <a:rPr lang="el-GR" sz="2000" baseline="-20000" dirty="0">
                <a:cs typeface="Arial" charset="0"/>
              </a:rPr>
              <a:t>α</a:t>
            </a:r>
            <a:r>
              <a:rPr lang="en-US" sz="2000" dirty="0">
                <a:cs typeface="Arial" charset="0"/>
              </a:rPr>
              <a:t> </a:t>
            </a:r>
            <a:r>
              <a:rPr lang="id-ID" sz="2000" dirty="0" smtClean="0">
                <a:cs typeface="Arial" charset="0"/>
              </a:rPr>
              <a:t>atau</a:t>
            </a:r>
            <a:r>
              <a:rPr lang="en-US" sz="2000" dirty="0" smtClean="0">
                <a:cs typeface="Arial" charset="0"/>
              </a:rPr>
              <a:t> </a:t>
            </a:r>
            <a:r>
              <a:rPr lang="en-US" sz="2000" dirty="0">
                <a:cs typeface="Arial" charset="0"/>
              </a:rPr>
              <a:t>-t</a:t>
            </a:r>
            <a:r>
              <a:rPr lang="el-GR" sz="2000" baseline="-20000" dirty="0">
                <a:cs typeface="Arial" charset="0"/>
              </a:rPr>
              <a:t>α</a:t>
            </a:r>
            <a:endParaRPr lang="el-GR" sz="2000" baseline="-25000" dirty="0">
              <a:cs typeface="Arial" charset="0"/>
            </a:endParaRPr>
          </a:p>
        </p:txBody>
      </p:sp>
      <p:sp>
        <p:nvSpPr>
          <p:cNvPr id="89103" name="Line 15"/>
          <p:cNvSpPr>
            <a:spLocks noChangeShapeType="1"/>
          </p:cNvSpPr>
          <p:nvPr/>
        </p:nvSpPr>
        <p:spPr bwMode="auto">
          <a:xfrm>
            <a:off x="4724400" y="4191000"/>
            <a:ext cx="39624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89104" name="Line 18"/>
          <p:cNvSpPr>
            <a:spLocks noChangeShapeType="1"/>
          </p:cNvSpPr>
          <p:nvPr/>
        </p:nvSpPr>
        <p:spPr bwMode="auto">
          <a:xfrm>
            <a:off x="3581400" y="4191000"/>
            <a:ext cx="11430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89105" name="Text Box 22"/>
          <p:cNvSpPr txBox="1">
            <a:spLocks noChangeArrowheads="1"/>
          </p:cNvSpPr>
          <p:nvPr/>
        </p:nvSpPr>
        <p:spPr bwMode="auto">
          <a:xfrm>
            <a:off x="6096000" y="4419600"/>
            <a:ext cx="457200" cy="366713"/>
          </a:xfrm>
          <a:prstGeom prst="rect">
            <a:avLst/>
          </a:prstGeom>
          <a:noFill/>
          <a:ln w="19050" algn="ctr">
            <a:noFill/>
            <a:miter lim="800000"/>
            <a:headEnd/>
            <a:tailEnd/>
          </a:ln>
        </p:spPr>
        <p:txBody>
          <a:bodyPr>
            <a:spAutoFit/>
          </a:bodyPr>
          <a:lstStyle/>
          <a:p>
            <a:pPr algn="ctr">
              <a:spcBef>
                <a:spcPct val="50000"/>
              </a:spcBef>
            </a:pPr>
            <a:r>
              <a:rPr lang="en-US" sz="1800"/>
              <a:t>0</a:t>
            </a:r>
            <a:endParaRPr lang="el-GR" sz="1800" baseline="-25000">
              <a:cs typeface="Arial" charset="0"/>
            </a:endParaRPr>
          </a:p>
        </p:txBody>
      </p:sp>
      <p:sp>
        <p:nvSpPr>
          <p:cNvPr id="89106" name="Text Box 23"/>
          <p:cNvSpPr txBox="1">
            <a:spLocks noChangeArrowheads="1"/>
          </p:cNvSpPr>
          <p:nvPr/>
        </p:nvSpPr>
        <p:spPr bwMode="auto">
          <a:xfrm>
            <a:off x="6096000" y="4860925"/>
            <a:ext cx="533400" cy="396875"/>
          </a:xfrm>
          <a:prstGeom prst="rect">
            <a:avLst/>
          </a:prstGeom>
          <a:noFill/>
          <a:ln w="19050" algn="ctr">
            <a:noFill/>
            <a:miter lim="800000"/>
            <a:headEnd/>
            <a:tailEnd/>
          </a:ln>
        </p:spPr>
        <p:txBody>
          <a:bodyPr>
            <a:spAutoFit/>
          </a:bodyPr>
          <a:lstStyle/>
          <a:p>
            <a:pPr algn="ctr">
              <a:spcBef>
                <a:spcPct val="50000"/>
              </a:spcBef>
            </a:pPr>
            <a:r>
              <a:rPr lang="el-GR" sz="2000">
                <a:cs typeface="Arial" charset="0"/>
                <a:sym typeface="Symbol" pitchFamily="18" charset="2"/>
              </a:rPr>
              <a:t>μ</a:t>
            </a:r>
            <a:endParaRPr lang="el-GR" sz="2000" baseline="-25000">
              <a:cs typeface="Arial" charset="0"/>
            </a:endParaRPr>
          </a:p>
        </p:txBody>
      </p:sp>
      <p:sp>
        <p:nvSpPr>
          <p:cNvPr id="89107" name="Rectangle 24"/>
          <p:cNvSpPr>
            <a:spLocks noChangeArrowheads="1"/>
          </p:cNvSpPr>
          <p:nvPr/>
        </p:nvSpPr>
        <p:spPr bwMode="auto">
          <a:xfrm>
            <a:off x="5562600" y="1524000"/>
            <a:ext cx="1524000" cy="938213"/>
          </a:xfrm>
          <a:prstGeom prst="rect">
            <a:avLst/>
          </a:prstGeom>
          <a:noFill/>
          <a:ln w="9525">
            <a:solidFill>
              <a:srgbClr val="008000"/>
            </a:solidFill>
            <a:miter lim="800000"/>
            <a:headEnd/>
            <a:tailEnd/>
          </a:ln>
        </p:spPr>
        <p:txBody>
          <a:bodyPr lIns="90488" tIns="44450" rIns="90488" bIns="44450">
            <a:spAutoFit/>
          </a:bodyPr>
          <a:lstStyle/>
          <a:p>
            <a:pPr eaLnBrk="0" hangingPunct="0">
              <a:lnSpc>
                <a:spcPct val="110000"/>
              </a:lnSpc>
              <a:spcBef>
                <a:spcPct val="50000"/>
              </a:spcBef>
            </a:pPr>
            <a:r>
              <a:rPr lang="en-US" sz="2400" b="1">
                <a:solidFill>
                  <a:srgbClr val="008000"/>
                </a:solidFill>
              </a:rPr>
              <a:t>H</a:t>
            </a:r>
            <a:r>
              <a:rPr lang="en-US" sz="2400" b="1" baseline="-25000">
                <a:solidFill>
                  <a:srgbClr val="008000"/>
                </a:solidFill>
              </a:rPr>
              <a:t>0</a:t>
            </a:r>
            <a:r>
              <a:rPr lang="en-US" sz="2400" b="1">
                <a:solidFill>
                  <a:srgbClr val="008000"/>
                </a:solidFill>
              </a:rPr>
              <a:t>: </a:t>
            </a:r>
            <a:r>
              <a:rPr lang="el-GR" sz="2400" b="1">
                <a:solidFill>
                  <a:srgbClr val="008000"/>
                </a:solidFill>
                <a:cs typeface="Arial" charset="0"/>
              </a:rPr>
              <a:t>μ</a:t>
            </a:r>
            <a:r>
              <a:rPr lang="en-US" sz="2400" b="1">
                <a:solidFill>
                  <a:srgbClr val="008000"/>
                </a:solidFill>
              </a:rPr>
              <a:t> </a:t>
            </a:r>
            <a:r>
              <a:rPr lang="en-US" sz="2400" b="1">
                <a:solidFill>
                  <a:srgbClr val="008000"/>
                </a:solidFill>
                <a:cs typeface="Arial" charset="0"/>
              </a:rPr>
              <a:t>≥</a:t>
            </a:r>
            <a:r>
              <a:rPr lang="en-US" sz="2400" b="1">
                <a:solidFill>
                  <a:srgbClr val="008000"/>
                </a:solidFill>
              </a:rPr>
              <a:t> 3   </a:t>
            </a:r>
          </a:p>
          <a:p>
            <a:pPr eaLnBrk="0" hangingPunct="0">
              <a:lnSpc>
                <a:spcPct val="70000"/>
              </a:lnSpc>
              <a:spcBef>
                <a:spcPct val="50000"/>
              </a:spcBef>
            </a:pPr>
            <a:r>
              <a:rPr lang="en-US" sz="2400" b="1">
                <a:solidFill>
                  <a:srgbClr val="008000"/>
                </a:solidFill>
              </a:rPr>
              <a:t>H</a:t>
            </a:r>
            <a:r>
              <a:rPr lang="en-US" sz="2400" b="1" baseline="-25000">
                <a:solidFill>
                  <a:srgbClr val="008000"/>
                </a:solidFill>
              </a:rPr>
              <a:t>1</a:t>
            </a:r>
            <a:r>
              <a:rPr lang="en-US" sz="2400" b="1">
                <a:solidFill>
                  <a:srgbClr val="008000"/>
                </a:solidFill>
              </a:rPr>
              <a:t>: </a:t>
            </a:r>
            <a:r>
              <a:rPr lang="el-GR" sz="2400" b="1">
                <a:solidFill>
                  <a:srgbClr val="008000"/>
                </a:solidFill>
                <a:cs typeface="Arial" charset="0"/>
              </a:rPr>
              <a:t>μ</a:t>
            </a:r>
            <a:r>
              <a:rPr lang="en-US" sz="2400" b="1">
                <a:solidFill>
                  <a:srgbClr val="008000"/>
                </a:solidFill>
              </a:rPr>
              <a:t> &lt; 3</a:t>
            </a:r>
          </a:p>
        </p:txBody>
      </p:sp>
      <p:sp>
        <p:nvSpPr>
          <p:cNvPr id="89108" name="Text Box 27"/>
          <p:cNvSpPr txBox="1">
            <a:spLocks noChangeArrowheads="1"/>
          </p:cNvSpPr>
          <p:nvPr/>
        </p:nvSpPr>
        <p:spPr bwMode="auto">
          <a:xfrm>
            <a:off x="7848600" y="4267200"/>
            <a:ext cx="1219200" cy="400110"/>
          </a:xfrm>
          <a:prstGeom prst="rect">
            <a:avLst/>
          </a:prstGeom>
          <a:noFill/>
          <a:ln w="19050" algn="ctr">
            <a:noFill/>
            <a:miter lim="800000"/>
            <a:headEnd/>
            <a:tailEnd/>
          </a:ln>
        </p:spPr>
        <p:txBody>
          <a:bodyPr wrap="square">
            <a:spAutoFit/>
          </a:bodyPr>
          <a:lstStyle/>
          <a:p>
            <a:pPr algn="ctr">
              <a:spcBef>
                <a:spcPct val="50000"/>
              </a:spcBef>
            </a:pPr>
            <a:r>
              <a:rPr lang="en-US" sz="2000" b="1" dirty="0"/>
              <a:t>Z </a:t>
            </a:r>
            <a:r>
              <a:rPr lang="id-ID" sz="2000" b="1" dirty="0" smtClean="0"/>
              <a:t>atau</a:t>
            </a:r>
            <a:r>
              <a:rPr lang="en-US" sz="2000" b="1" dirty="0" smtClean="0"/>
              <a:t> </a:t>
            </a:r>
            <a:r>
              <a:rPr lang="en-US" sz="2000" b="1" dirty="0"/>
              <a:t>t</a:t>
            </a:r>
            <a:endParaRPr lang="el-GR" sz="2000" b="1" baseline="-25000" dirty="0">
              <a:cs typeface="Arial" charset="0"/>
            </a:endParaRPr>
          </a:p>
        </p:txBody>
      </p:sp>
      <p:sp>
        <p:nvSpPr>
          <p:cNvPr id="89109" name="Text Box 28"/>
          <p:cNvSpPr txBox="1">
            <a:spLocks noChangeArrowheads="1"/>
          </p:cNvSpPr>
          <p:nvPr/>
        </p:nvSpPr>
        <p:spPr bwMode="auto">
          <a:xfrm>
            <a:off x="8534400" y="4860925"/>
            <a:ext cx="533400" cy="396875"/>
          </a:xfrm>
          <a:prstGeom prst="rect">
            <a:avLst/>
          </a:prstGeom>
          <a:noFill/>
          <a:ln w="19050" algn="ctr">
            <a:noFill/>
            <a:miter lim="800000"/>
            <a:headEnd/>
            <a:tailEnd/>
          </a:ln>
        </p:spPr>
        <p:txBody>
          <a:bodyPr>
            <a:spAutoFit/>
          </a:bodyPr>
          <a:lstStyle/>
          <a:p>
            <a:pPr algn="ctr">
              <a:spcBef>
                <a:spcPct val="50000"/>
              </a:spcBef>
            </a:pPr>
            <a:r>
              <a:rPr lang="en-US" sz="2000" b="1"/>
              <a:t>X</a:t>
            </a:r>
            <a:endParaRPr lang="el-GR" sz="2000" b="1" baseline="-25000">
              <a:cs typeface="Arial" charset="0"/>
            </a:endParaRPr>
          </a:p>
        </p:txBody>
      </p:sp>
      <p:sp>
        <p:nvSpPr>
          <p:cNvPr id="89110" name="Line 29"/>
          <p:cNvSpPr>
            <a:spLocks noChangeShapeType="1"/>
          </p:cNvSpPr>
          <p:nvPr/>
        </p:nvSpPr>
        <p:spPr bwMode="auto">
          <a:xfrm>
            <a:off x="8686800" y="4876800"/>
            <a:ext cx="228600" cy="0"/>
          </a:xfrm>
          <a:prstGeom prst="line">
            <a:avLst/>
          </a:prstGeom>
          <a:noFill/>
          <a:ln w="19050">
            <a:solidFill>
              <a:schemeClr val="tx1"/>
            </a:solidFill>
            <a:miter lim="800000"/>
            <a:headEnd/>
            <a:tailEnd/>
          </a:ln>
        </p:spPr>
        <p:txBody>
          <a:bodyPr wrap="none"/>
          <a:lstStyle/>
          <a:p>
            <a:endParaRPr lang="en-US"/>
          </a:p>
        </p:txBody>
      </p:sp>
      <p:sp>
        <p:nvSpPr>
          <p:cNvPr id="89111" name="Text Box 30"/>
          <p:cNvSpPr txBox="1">
            <a:spLocks noChangeArrowheads="1"/>
          </p:cNvSpPr>
          <p:nvPr/>
        </p:nvSpPr>
        <p:spPr bwMode="auto">
          <a:xfrm>
            <a:off x="3962400" y="5486400"/>
            <a:ext cx="1981200" cy="457200"/>
          </a:xfrm>
          <a:prstGeom prst="rect">
            <a:avLst/>
          </a:prstGeom>
          <a:noFill/>
          <a:ln w="9525">
            <a:noFill/>
            <a:miter lim="800000"/>
            <a:headEnd/>
            <a:tailEnd/>
          </a:ln>
        </p:spPr>
        <p:txBody>
          <a:bodyPr>
            <a:spAutoFit/>
          </a:bodyPr>
          <a:lstStyle/>
          <a:p>
            <a:pPr>
              <a:spcBef>
                <a:spcPct val="50000"/>
              </a:spcBef>
            </a:pPr>
            <a:r>
              <a:rPr lang="id-ID" sz="2400" dirty="0" smtClean="0">
                <a:solidFill>
                  <a:schemeClr val="folHlink"/>
                </a:solidFill>
              </a:rPr>
              <a:t>Titik kritis</a:t>
            </a:r>
            <a:endParaRPr lang="en-US" sz="2400" dirty="0">
              <a:solidFill>
                <a:schemeClr val="folHlink"/>
              </a:solidFill>
            </a:endParaRPr>
          </a:p>
        </p:txBody>
      </p:sp>
      <p:sp>
        <p:nvSpPr>
          <p:cNvPr id="89112" name="Line 31"/>
          <p:cNvSpPr>
            <a:spLocks noChangeShapeType="1"/>
          </p:cNvSpPr>
          <p:nvPr/>
        </p:nvSpPr>
        <p:spPr bwMode="auto">
          <a:xfrm flipV="1">
            <a:off x="4800600" y="4800600"/>
            <a:ext cx="0" cy="533400"/>
          </a:xfrm>
          <a:prstGeom prst="line">
            <a:avLst/>
          </a:prstGeom>
          <a:noFill/>
          <a:ln w="28575">
            <a:solidFill>
              <a:schemeClr val="folHlink"/>
            </a:solidFill>
            <a:miter lim="800000"/>
            <a:headEnd/>
            <a:tailEnd type="triangle" w="lg" len="med"/>
          </a:ln>
        </p:spPr>
        <p:txBody>
          <a:bodyPr wrap="none"/>
          <a:lstStyle/>
          <a:p>
            <a:endParaRPr lang="en-US"/>
          </a:p>
        </p:txBody>
      </p:sp>
      <p:sp>
        <p:nvSpPr>
          <p:cNvPr id="89114" name="Rectangle 27"/>
          <p:cNvSpPr>
            <a:spLocks noChangeArrowheads="1"/>
          </p:cNvSpPr>
          <p:nvPr/>
        </p:nvSpPr>
        <p:spPr bwMode="auto">
          <a:xfrm>
            <a:off x="7772400" y="1143000"/>
            <a:ext cx="1257300" cy="461963"/>
          </a:xfrm>
          <a:prstGeom prst="rect">
            <a:avLst/>
          </a:prstGeom>
          <a:noFill/>
          <a:ln w="9525">
            <a:noFill/>
            <a:miter lim="800000"/>
            <a:headEnd/>
            <a:tailEnd/>
          </a:ln>
        </p:spPr>
        <p:txBody>
          <a:bodyPr wrap="none">
            <a:spAutoFit/>
          </a:bodyPr>
          <a:lstStyle/>
          <a:p>
            <a:r>
              <a:rPr lang="en-US"/>
              <a:t>DCOV</a:t>
            </a:r>
            <a:r>
              <a:rPr lang="en-US" u="sng">
                <a:solidFill>
                  <a:srgbClr val="FF0000"/>
                </a:solidFill>
              </a:rPr>
              <a:t>A</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5"/>
          <p:cNvSpPr>
            <a:spLocks noGrp="1" noChangeArrowheads="1"/>
          </p:cNvSpPr>
          <p:nvPr>
            <p:ph type="sldNum" sz="quarter" idx="10"/>
          </p:nvPr>
        </p:nvSpPr>
        <p:spPr>
          <a:ln/>
        </p:spPr>
        <p:txBody>
          <a:bodyPr/>
          <a:lstStyle/>
          <a:p>
            <a:pPr>
              <a:defRPr/>
            </a:pPr>
            <a:r>
              <a:rPr lang="en-US"/>
              <a:t>Chap 9-</a:t>
            </a:r>
            <a:fld id="{1A8E479C-E0FC-41A7-90B4-A08767DD21F3}" type="slidenum">
              <a:rPr lang="en-US"/>
              <a:pPr>
                <a:defRPr/>
              </a:pPr>
              <a:t>22</a:t>
            </a:fld>
            <a:endParaRPr lang="en-US"/>
          </a:p>
        </p:txBody>
      </p:sp>
      <p:sp>
        <p:nvSpPr>
          <p:cNvPr id="28"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90113"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A0D7F800-6144-4237-957B-D86068933F7A}" type="slidenum">
              <a:rPr lang="en-US" sz="1000"/>
              <a:pPr algn="r" defTabSz="852488"/>
              <a:t>22</a:t>
            </a:fld>
            <a:endParaRPr lang="en-US" sz="1000"/>
          </a:p>
        </p:txBody>
      </p:sp>
      <p:sp>
        <p:nvSpPr>
          <p:cNvPr id="90114" name="Text Box 2"/>
          <p:cNvSpPr txBox="1">
            <a:spLocks noChangeArrowheads="1"/>
          </p:cNvSpPr>
          <p:nvPr/>
        </p:nvSpPr>
        <p:spPr bwMode="auto">
          <a:xfrm>
            <a:off x="7010400" y="4419600"/>
            <a:ext cx="990600" cy="304800"/>
          </a:xfrm>
          <a:prstGeom prst="rect">
            <a:avLst/>
          </a:prstGeom>
          <a:solidFill>
            <a:srgbClr val="FFFFA7"/>
          </a:solidFill>
          <a:ln w="19050" algn="ctr">
            <a:noFill/>
            <a:miter lim="800000"/>
            <a:headEnd/>
            <a:tailEnd/>
          </a:ln>
        </p:spPr>
        <p:txBody>
          <a:bodyPr>
            <a:spAutoFit/>
          </a:bodyPr>
          <a:lstStyle/>
          <a:p>
            <a:pPr algn="ctr">
              <a:spcBef>
                <a:spcPct val="50000"/>
              </a:spcBef>
            </a:pPr>
            <a:r>
              <a:rPr lang="id-ID" sz="1400" dirty="0" smtClean="0"/>
              <a:t>Tolak</a:t>
            </a:r>
            <a:r>
              <a:rPr lang="en-US" sz="1400" dirty="0" smtClean="0"/>
              <a:t> H</a:t>
            </a:r>
            <a:r>
              <a:rPr lang="id-ID" sz="1400" dirty="0" smtClean="0"/>
              <a:t>o</a:t>
            </a:r>
            <a:endParaRPr lang="en-US" sz="1400" baseline="-25000" dirty="0"/>
          </a:p>
        </p:txBody>
      </p:sp>
      <p:sp>
        <p:nvSpPr>
          <p:cNvPr id="90115" name="Text Box 3"/>
          <p:cNvSpPr txBox="1">
            <a:spLocks noChangeArrowheads="1"/>
          </p:cNvSpPr>
          <p:nvPr/>
        </p:nvSpPr>
        <p:spPr bwMode="auto">
          <a:xfrm>
            <a:off x="4724400" y="4419600"/>
            <a:ext cx="1524000" cy="304800"/>
          </a:xfrm>
          <a:prstGeom prst="rect">
            <a:avLst/>
          </a:prstGeom>
          <a:solidFill>
            <a:srgbClr val="FFFFA7"/>
          </a:solidFill>
          <a:ln w="19050" algn="ctr">
            <a:noFill/>
            <a:miter lim="800000"/>
            <a:headEnd/>
            <a:tailEnd/>
          </a:ln>
        </p:spPr>
        <p:txBody>
          <a:bodyPr>
            <a:spAutoFit/>
          </a:bodyPr>
          <a:lstStyle/>
          <a:p>
            <a:pPr algn="ctr">
              <a:spcBef>
                <a:spcPct val="50000"/>
              </a:spcBef>
            </a:pPr>
            <a:r>
              <a:rPr lang="id-ID" sz="1400" dirty="0" smtClean="0"/>
              <a:t>Gagal tolak </a:t>
            </a:r>
            <a:r>
              <a:rPr lang="en-US" sz="1400" dirty="0" smtClean="0"/>
              <a:t> H</a:t>
            </a:r>
            <a:r>
              <a:rPr lang="id-ID" sz="1400" dirty="0" smtClean="0"/>
              <a:t>o</a:t>
            </a:r>
            <a:endParaRPr lang="en-US" sz="1400" baseline="-25000" dirty="0"/>
          </a:p>
        </p:txBody>
      </p:sp>
      <p:sp>
        <p:nvSpPr>
          <p:cNvPr id="90116" name="Freeform 5"/>
          <p:cNvSpPr>
            <a:spLocks/>
          </p:cNvSpPr>
          <p:nvPr/>
        </p:nvSpPr>
        <p:spPr bwMode="auto">
          <a:xfrm flipH="1">
            <a:off x="6934200" y="3962400"/>
            <a:ext cx="842963" cy="228600"/>
          </a:xfrm>
          <a:custGeom>
            <a:avLst/>
            <a:gdLst>
              <a:gd name="T0" fmla="*/ 2147483647 w 582"/>
              <a:gd name="T1" fmla="*/ 2147483647 h 183"/>
              <a:gd name="T2" fmla="*/ 0 w 582"/>
              <a:gd name="T3" fmla="*/ 2147483647 h 183"/>
              <a:gd name="T4" fmla="*/ 2147483647 w 582"/>
              <a:gd name="T5" fmla="*/ 2147483647 h 183"/>
              <a:gd name="T6" fmla="*/ 2147483647 w 582"/>
              <a:gd name="T7" fmla="*/ 2147483647 h 183"/>
              <a:gd name="T8" fmla="*/ 2147483647 w 582"/>
              <a:gd name="T9" fmla="*/ 2147483647 h 183"/>
              <a:gd name="T10" fmla="*/ 2147483647 w 582"/>
              <a:gd name="T11" fmla="*/ 0 h 183"/>
              <a:gd name="T12" fmla="*/ 2147483647 w 582"/>
              <a:gd name="T13" fmla="*/ 2147483647 h 183"/>
              <a:gd name="T14" fmla="*/ 2147483647 w 582"/>
              <a:gd name="T15" fmla="*/ 2147483647 h 183"/>
              <a:gd name="T16" fmla="*/ 2147483647 w 582"/>
              <a:gd name="T17" fmla="*/ 2147483647 h 1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2"/>
              <a:gd name="T28" fmla="*/ 0 h 183"/>
              <a:gd name="T29" fmla="*/ 582 w 582"/>
              <a:gd name="T30" fmla="*/ 183 h 1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2" h="183">
                <a:moveTo>
                  <a:pt x="9" y="177"/>
                </a:moveTo>
                <a:lnTo>
                  <a:pt x="0" y="132"/>
                </a:lnTo>
                <a:lnTo>
                  <a:pt x="258" y="114"/>
                </a:lnTo>
                <a:lnTo>
                  <a:pt x="423" y="66"/>
                </a:lnTo>
                <a:lnTo>
                  <a:pt x="504" y="48"/>
                </a:lnTo>
                <a:lnTo>
                  <a:pt x="582" y="0"/>
                </a:lnTo>
                <a:lnTo>
                  <a:pt x="582" y="183"/>
                </a:lnTo>
                <a:lnTo>
                  <a:pt x="9" y="182"/>
                </a:lnTo>
                <a:lnTo>
                  <a:pt x="9" y="177"/>
                </a:lnTo>
              </a:path>
            </a:pathLst>
          </a:custGeom>
          <a:solidFill>
            <a:srgbClr val="C3DBFF"/>
          </a:solidFill>
          <a:ln w="12700" cap="rnd">
            <a:noFill/>
            <a:round/>
            <a:headEnd type="none" w="sm" len="sm"/>
            <a:tailEnd type="none" w="sm" len="sm"/>
          </a:ln>
        </p:spPr>
        <p:txBody>
          <a:bodyPr/>
          <a:lstStyle/>
          <a:p>
            <a:endParaRPr lang="en-US"/>
          </a:p>
        </p:txBody>
      </p:sp>
      <p:sp>
        <p:nvSpPr>
          <p:cNvPr id="90117" name="Rectangle 6"/>
          <p:cNvSpPr>
            <a:spLocks noGrp="1" noChangeArrowheads="1"/>
          </p:cNvSpPr>
          <p:nvPr>
            <p:ph type="title" idx="4294967295"/>
          </p:nvPr>
        </p:nvSpPr>
        <p:spPr/>
        <p:txBody>
          <a:bodyPr/>
          <a:lstStyle/>
          <a:p>
            <a:pPr eaLnBrk="1" hangingPunct="1"/>
            <a:r>
              <a:rPr lang="id-ID" dirty="0" smtClean="0"/>
              <a:t>Uji </a:t>
            </a:r>
            <a:r>
              <a:rPr lang="en-US" dirty="0" smtClean="0"/>
              <a:t>Upper-Tail</a:t>
            </a:r>
          </a:p>
        </p:txBody>
      </p:sp>
      <p:sp>
        <p:nvSpPr>
          <p:cNvPr id="90118" name="Freeform 7"/>
          <p:cNvSpPr>
            <a:spLocks/>
          </p:cNvSpPr>
          <p:nvPr/>
        </p:nvSpPr>
        <p:spPr bwMode="auto">
          <a:xfrm>
            <a:off x="3124200" y="2819400"/>
            <a:ext cx="2362200" cy="1295400"/>
          </a:xfrm>
          <a:custGeom>
            <a:avLst/>
            <a:gdLst>
              <a:gd name="T0" fmla="*/ 0 w 600"/>
              <a:gd name="T1" fmla="*/ 2147483647 h 576"/>
              <a:gd name="T2" fmla="*/ 2147483647 w 600"/>
              <a:gd name="T3" fmla="*/ 2147483647 h 576"/>
              <a:gd name="T4" fmla="*/ 2147483647 w 600"/>
              <a:gd name="T5" fmla="*/ 2147483647 h 576"/>
              <a:gd name="T6" fmla="*/ 2147483647 w 600"/>
              <a:gd name="T7" fmla="*/ 2147483647 h 576"/>
              <a:gd name="T8" fmla="*/ 2147483647 w 600"/>
              <a:gd name="T9" fmla="*/ 2147483647 h 576"/>
              <a:gd name="T10" fmla="*/ 2147483647 w 600"/>
              <a:gd name="T11" fmla="*/ 2147483647 h 576"/>
              <a:gd name="T12" fmla="*/ 2147483647 w 600"/>
              <a:gd name="T13" fmla="*/ 2147483647 h 576"/>
              <a:gd name="T14" fmla="*/ 2147483647 w 600"/>
              <a:gd name="T15" fmla="*/ 2147483647 h 576"/>
              <a:gd name="T16" fmla="*/ 2147483647 w 600"/>
              <a:gd name="T17" fmla="*/ 2147483647 h 576"/>
              <a:gd name="T18" fmla="*/ 2147483647 w 600"/>
              <a:gd name="T19" fmla="*/ 2147483647 h 576"/>
              <a:gd name="T20" fmla="*/ 2147483647 w 600"/>
              <a:gd name="T21" fmla="*/ 2147483647 h 576"/>
              <a:gd name="T22" fmla="*/ 2147483647 w 600"/>
              <a:gd name="T23" fmla="*/ 2147483647 h 576"/>
              <a:gd name="T24" fmla="*/ 2147483647 w 600"/>
              <a:gd name="T25" fmla="*/ 2147483647 h 576"/>
              <a:gd name="T26" fmla="*/ 2147483647 w 600"/>
              <a:gd name="T27" fmla="*/ 2147483647 h 576"/>
              <a:gd name="T28" fmla="*/ 2147483647 w 600"/>
              <a:gd name="T29" fmla="*/ 2147483647 h 576"/>
              <a:gd name="T30" fmla="*/ 2147483647 w 600"/>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0"/>
              <a:gd name="T49" fmla="*/ 0 h 576"/>
              <a:gd name="T50" fmla="*/ 600 w 600"/>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0" h="576">
                <a:moveTo>
                  <a:pt x="0" y="575"/>
                </a:moveTo>
                <a:lnTo>
                  <a:pt x="63" y="570"/>
                </a:lnTo>
                <a:lnTo>
                  <a:pt x="95" y="562"/>
                </a:lnTo>
                <a:lnTo>
                  <a:pt x="127" y="553"/>
                </a:lnTo>
                <a:lnTo>
                  <a:pt x="158" y="540"/>
                </a:lnTo>
                <a:lnTo>
                  <a:pt x="190" y="521"/>
                </a:lnTo>
                <a:lnTo>
                  <a:pt x="222" y="498"/>
                </a:lnTo>
                <a:lnTo>
                  <a:pt x="284" y="432"/>
                </a:lnTo>
                <a:lnTo>
                  <a:pt x="347" y="338"/>
                </a:lnTo>
                <a:lnTo>
                  <a:pt x="410" y="224"/>
                </a:lnTo>
                <a:lnTo>
                  <a:pt x="441" y="167"/>
                </a:lnTo>
                <a:lnTo>
                  <a:pt x="473" y="114"/>
                </a:lnTo>
                <a:lnTo>
                  <a:pt x="505" y="67"/>
                </a:lnTo>
                <a:lnTo>
                  <a:pt x="535" y="31"/>
                </a:lnTo>
                <a:lnTo>
                  <a:pt x="567" y="8"/>
                </a:lnTo>
                <a:lnTo>
                  <a:pt x="599" y="0"/>
                </a:lnTo>
              </a:path>
            </a:pathLst>
          </a:custGeom>
          <a:noFill/>
          <a:ln w="50800" cap="rnd">
            <a:solidFill>
              <a:srgbClr val="FF0000"/>
            </a:solidFill>
            <a:round/>
            <a:headEnd type="none" w="sm" len="sm"/>
            <a:tailEnd type="none" w="sm" len="sm"/>
          </a:ln>
        </p:spPr>
        <p:txBody>
          <a:bodyPr/>
          <a:lstStyle/>
          <a:p>
            <a:endParaRPr lang="en-US"/>
          </a:p>
        </p:txBody>
      </p:sp>
      <p:sp>
        <p:nvSpPr>
          <p:cNvPr id="90119" name="Freeform 8"/>
          <p:cNvSpPr>
            <a:spLocks/>
          </p:cNvSpPr>
          <p:nvPr/>
        </p:nvSpPr>
        <p:spPr bwMode="auto">
          <a:xfrm>
            <a:off x="5486400" y="2819400"/>
            <a:ext cx="2209800" cy="1295400"/>
          </a:xfrm>
          <a:custGeom>
            <a:avLst/>
            <a:gdLst>
              <a:gd name="T0" fmla="*/ 2147483647 w 576"/>
              <a:gd name="T1" fmla="*/ 2147483647 h 576"/>
              <a:gd name="T2" fmla="*/ 2147483647 w 576"/>
              <a:gd name="T3" fmla="*/ 2147483647 h 576"/>
              <a:gd name="T4" fmla="*/ 2147483647 w 576"/>
              <a:gd name="T5" fmla="*/ 2147483647 h 576"/>
              <a:gd name="T6" fmla="*/ 2147483647 w 576"/>
              <a:gd name="T7" fmla="*/ 2147483647 h 576"/>
              <a:gd name="T8" fmla="*/ 2147483647 w 576"/>
              <a:gd name="T9" fmla="*/ 2147483647 h 576"/>
              <a:gd name="T10" fmla="*/ 2147483647 w 576"/>
              <a:gd name="T11" fmla="*/ 2147483647 h 576"/>
              <a:gd name="T12" fmla="*/ 2147483647 w 576"/>
              <a:gd name="T13" fmla="*/ 2147483647 h 576"/>
              <a:gd name="T14" fmla="*/ 2147483647 w 576"/>
              <a:gd name="T15" fmla="*/ 2147483647 h 576"/>
              <a:gd name="T16" fmla="*/ 2147483647 w 576"/>
              <a:gd name="T17" fmla="*/ 2147483647 h 576"/>
              <a:gd name="T18" fmla="*/ 2147483647 w 576"/>
              <a:gd name="T19" fmla="*/ 2147483647 h 576"/>
              <a:gd name="T20" fmla="*/ 2147483647 w 576"/>
              <a:gd name="T21" fmla="*/ 2147483647 h 576"/>
              <a:gd name="T22" fmla="*/ 2147483647 w 576"/>
              <a:gd name="T23" fmla="*/ 2147483647 h 576"/>
              <a:gd name="T24" fmla="*/ 2147483647 w 576"/>
              <a:gd name="T25" fmla="*/ 2147483647 h 576"/>
              <a:gd name="T26" fmla="*/ 2147483647 w 576"/>
              <a:gd name="T27" fmla="*/ 2147483647 h 576"/>
              <a:gd name="T28" fmla="*/ 2147483647 w 576"/>
              <a:gd name="T29" fmla="*/ 2147483647 h 576"/>
              <a:gd name="T30" fmla="*/ 0 w 576"/>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6"/>
              <a:gd name="T49" fmla="*/ 0 h 576"/>
              <a:gd name="T50" fmla="*/ 576 w 576"/>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6" h="576">
                <a:moveTo>
                  <a:pt x="575" y="575"/>
                </a:moveTo>
                <a:lnTo>
                  <a:pt x="515" y="570"/>
                </a:lnTo>
                <a:lnTo>
                  <a:pt x="484" y="562"/>
                </a:lnTo>
                <a:lnTo>
                  <a:pt x="455" y="553"/>
                </a:lnTo>
                <a:lnTo>
                  <a:pt x="424" y="540"/>
                </a:lnTo>
                <a:lnTo>
                  <a:pt x="393" y="521"/>
                </a:lnTo>
                <a:lnTo>
                  <a:pt x="364" y="498"/>
                </a:lnTo>
                <a:lnTo>
                  <a:pt x="303" y="432"/>
                </a:lnTo>
                <a:lnTo>
                  <a:pt x="242" y="338"/>
                </a:lnTo>
                <a:lnTo>
                  <a:pt x="182" y="224"/>
                </a:lnTo>
                <a:lnTo>
                  <a:pt x="151" y="167"/>
                </a:lnTo>
                <a:lnTo>
                  <a:pt x="120" y="114"/>
                </a:lnTo>
                <a:lnTo>
                  <a:pt x="91" y="67"/>
                </a:lnTo>
                <a:lnTo>
                  <a:pt x="60" y="31"/>
                </a:lnTo>
                <a:lnTo>
                  <a:pt x="30" y="8"/>
                </a:lnTo>
                <a:lnTo>
                  <a:pt x="0" y="0"/>
                </a:lnTo>
              </a:path>
            </a:pathLst>
          </a:custGeom>
          <a:noFill/>
          <a:ln w="50800" cap="rnd">
            <a:solidFill>
              <a:srgbClr val="FF0000"/>
            </a:solidFill>
            <a:round/>
            <a:headEnd type="none" w="sm" len="sm"/>
            <a:tailEnd type="none" w="sm" len="sm"/>
          </a:ln>
        </p:spPr>
        <p:txBody>
          <a:bodyPr/>
          <a:lstStyle/>
          <a:p>
            <a:endParaRPr lang="en-US"/>
          </a:p>
        </p:txBody>
      </p:sp>
      <p:sp>
        <p:nvSpPr>
          <p:cNvPr id="90120" name="Line 9"/>
          <p:cNvSpPr>
            <a:spLocks noChangeShapeType="1"/>
          </p:cNvSpPr>
          <p:nvPr/>
        </p:nvSpPr>
        <p:spPr bwMode="auto">
          <a:xfrm>
            <a:off x="2895600" y="4191000"/>
            <a:ext cx="5105400" cy="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90121" name="Line 10"/>
          <p:cNvSpPr>
            <a:spLocks noChangeShapeType="1"/>
          </p:cNvSpPr>
          <p:nvPr/>
        </p:nvSpPr>
        <p:spPr bwMode="auto">
          <a:xfrm flipH="1">
            <a:off x="7086600" y="3581400"/>
            <a:ext cx="457200" cy="533400"/>
          </a:xfrm>
          <a:prstGeom prst="line">
            <a:avLst/>
          </a:prstGeom>
          <a:noFill/>
          <a:ln w="12700">
            <a:solidFill>
              <a:schemeClr val="tx1"/>
            </a:solidFill>
            <a:round/>
            <a:headEnd type="none" w="sm" len="sm"/>
            <a:tailEnd type="stealth" w="med" len="med"/>
          </a:ln>
        </p:spPr>
        <p:txBody>
          <a:bodyPr wrap="none" anchor="ctr"/>
          <a:lstStyle/>
          <a:p>
            <a:endParaRPr lang="en-US"/>
          </a:p>
        </p:txBody>
      </p:sp>
      <p:sp>
        <p:nvSpPr>
          <p:cNvPr id="90122" name="Rectangle 11"/>
          <p:cNvSpPr>
            <a:spLocks noChangeArrowheads="1"/>
          </p:cNvSpPr>
          <p:nvPr/>
        </p:nvSpPr>
        <p:spPr bwMode="auto">
          <a:xfrm flipH="1">
            <a:off x="7467600" y="3200400"/>
            <a:ext cx="530225" cy="515938"/>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b="1">
                <a:latin typeface="Symbol" pitchFamily="18" charset="2"/>
              </a:rPr>
              <a:t>a</a:t>
            </a:r>
          </a:p>
        </p:txBody>
      </p:sp>
      <p:sp>
        <p:nvSpPr>
          <p:cNvPr id="90123" name="Line 12"/>
          <p:cNvSpPr>
            <a:spLocks noChangeShapeType="1"/>
          </p:cNvSpPr>
          <p:nvPr/>
        </p:nvSpPr>
        <p:spPr bwMode="auto">
          <a:xfrm>
            <a:off x="5486400" y="2819400"/>
            <a:ext cx="0" cy="1371600"/>
          </a:xfrm>
          <a:prstGeom prst="line">
            <a:avLst/>
          </a:prstGeom>
          <a:noFill/>
          <a:ln w="9525" cap="rnd">
            <a:solidFill>
              <a:schemeClr val="tx1"/>
            </a:solidFill>
            <a:prstDash val="sysDot"/>
            <a:miter lim="800000"/>
            <a:headEnd/>
            <a:tailEnd/>
          </a:ln>
        </p:spPr>
        <p:txBody>
          <a:bodyPr wrap="none"/>
          <a:lstStyle/>
          <a:p>
            <a:endParaRPr lang="en-US"/>
          </a:p>
        </p:txBody>
      </p:sp>
      <p:sp>
        <p:nvSpPr>
          <p:cNvPr id="90124" name="Line 13"/>
          <p:cNvSpPr>
            <a:spLocks noChangeShapeType="1"/>
          </p:cNvSpPr>
          <p:nvPr/>
        </p:nvSpPr>
        <p:spPr bwMode="auto">
          <a:xfrm>
            <a:off x="6934200" y="4267200"/>
            <a:ext cx="0" cy="304800"/>
          </a:xfrm>
          <a:prstGeom prst="line">
            <a:avLst/>
          </a:prstGeom>
          <a:noFill/>
          <a:ln w="19050">
            <a:solidFill>
              <a:schemeClr val="tx1"/>
            </a:solidFill>
            <a:round/>
            <a:headEnd/>
            <a:tailEnd/>
          </a:ln>
        </p:spPr>
        <p:txBody>
          <a:bodyPr wrap="none" anchor="ctr"/>
          <a:lstStyle/>
          <a:p>
            <a:endParaRPr lang="en-US"/>
          </a:p>
        </p:txBody>
      </p:sp>
      <p:sp>
        <p:nvSpPr>
          <p:cNvPr id="90125" name="Line 14"/>
          <p:cNvSpPr>
            <a:spLocks noChangeShapeType="1"/>
          </p:cNvSpPr>
          <p:nvPr/>
        </p:nvSpPr>
        <p:spPr bwMode="auto">
          <a:xfrm>
            <a:off x="6934200" y="4419600"/>
            <a:ext cx="11430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90126" name="Text Box 15"/>
          <p:cNvSpPr txBox="1">
            <a:spLocks noChangeArrowheads="1"/>
          </p:cNvSpPr>
          <p:nvPr/>
        </p:nvSpPr>
        <p:spPr bwMode="auto">
          <a:xfrm>
            <a:off x="6324600" y="4572000"/>
            <a:ext cx="1143000" cy="396875"/>
          </a:xfrm>
          <a:prstGeom prst="rect">
            <a:avLst/>
          </a:prstGeom>
          <a:noFill/>
          <a:ln w="19050" algn="ctr">
            <a:noFill/>
            <a:miter lim="800000"/>
            <a:headEnd/>
            <a:tailEnd/>
          </a:ln>
        </p:spPr>
        <p:txBody>
          <a:bodyPr>
            <a:spAutoFit/>
          </a:bodyPr>
          <a:lstStyle/>
          <a:p>
            <a:pPr algn="ctr">
              <a:spcBef>
                <a:spcPct val="50000"/>
              </a:spcBef>
            </a:pPr>
            <a:r>
              <a:rPr lang="en-US" sz="2000"/>
              <a:t>Z</a:t>
            </a:r>
            <a:r>
              <a:rPr lang="el-GR" sz="2000" baseline="-25000">
                <a:cs typeface="Arial" charset="0"/>
              </a:rPr>
              <a:t>α</a:t>
            </a:r>
            <a:r>
              <a:rPr lang="en-US" sz="2000" baseline="-25000">
                <a:cs typeface="Arial" charset="0"/>
              </a:rPr>
              <a:t> </a:t>
            </a:r>
            <a:r>
              <a:rPr lang="en-US" sz="2000">
                <a:cs typeface="Arial" charset="0"/>
              </a:rPr>
              <a:t>or t</a:t>
            </a:r>
            <a:r>
              <a:rPr lang="el-GR" sz="2000" baseline="-25000">
                <a:cs typeface="Arial" charset="0"/>
              </a:rPr>
              <a:t>α</a:t>
            </a:r>
          </a:p>
        </p:txBody>
      </p:sp>
      <p:sp>
        <p:nvSpPr>
          <p:cNvPr id="90127" name="Line 18"/>
          <p:cNvSpPr>
            <a:spLocks noChangeShapeType="1"/>
          </p:cNvSpPr>
          <p:nvPr/>
        </p:nvSpPr>
        <p:spPr bwMode="auto">
          <a:xfrm>
            <a:off x="3048000" y="4419600"/>
            <a:ext cx="38862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90128" name="Text Box 22"/>
          <p:cNvSpPr txBox="1">
            <a:spLocks noChangeArrowheads="1"/>
          </p:cNvSpPr>
          <p:nvPr/>
        </p:nvSpPr>
        <p:spPr bwMode="auto">
          <a:xfrm>
            <a:off x="5257800" y="4648200"/>
            <a:ext cx="457200" cy="366713"/>
          </a:xfrm>
          <a:prstGeom prst="rect">
            <a:avLst/>
          </a:prstGeom>
          <a:noFill/>
          <a:ln w="19050" algn="ctr">
            <a:noFill/>
            <a:miter lim="800000"/>
            <a:headEnd/>
            <a:tailEnd/>
          </a:ln>
        </p:spPr>
        <p:txBody>
          <a:bodyPr>
            <a:spAutoFit/>
          </a:bodyPr>
          <a:lstStyle/>
          <a:p>
            <a:pPr algn="ctr">
              <a:spcBef>
                <a:spcPct val="50000"/>
              </a:spcBef>
            </a:pPr>
            <a:r>
              <a:rPr lang="en-US" sz="1800"/>
              <a:t>0</a:t>
            </a:r>
            <a:endParaRPr lang="el-GR" sz="1800" baseline="-25000">
              <a:cs typeface="Arial" charset="0"/>
            </a:endParaRPr>
          </a:p>
        </p:txBody>
      </p:sp>
      <p:sp>
        <p:nvSpPr>
          <p:cNvPr id="90129" name="Text Box 23"/>
          <p:cNvSpPr txBox="1">
            <a:spLocks noChangeArrowheads="1"/>
          </p:cNvSpPr>
          <p:nvPr/>
        </p:nvSpPr>
        <p:spPr bwMode="auto">
          <a:xfrm>
            <a:off x="5257800" y="5013325"/>
            <a:ext cx="533400" cy="396875"/>
          </a:xfrm>
          <a:prstGeom prst="rect">
            <a:avLst/>
          </a:prstGeom>
          <a:noFill/>
          <a:ln w="19050" algn="ctr">
            <a:noFill/>
            <a:miter lim="800000"/>
            <a:headEnd/>
            <a:tailEnd/>
          </a:ln>
        </p:spPr>
        <p:txBody>
          <a:bodyPr>
            <a:spAutoFit/>
          </a:bodyPr>
          <a:lstStyle/>
          <a:p>
            <a:pPr algn="ctr">
              <a:spcBef>
                <a:spcPct val="50000"/>
              </a:spcBef>
            </a:pPr>
            <a:r>
              <a:rPr lang="el-GR" sz="2000">
                <a:cs typeface="Arial" charset="0"/>
                <a:sym typeface="Symbol" pitchFamily="18" charset="2"/>
              </a:rPr>
              <a:t>μ</a:t>
            </a:r>
            <a:endParaRPr lang="el-GR" sz="2000" baseline="-25000">
              <a:cs typeface="Arial" charset="0"/>
            </a:endParaRPr>
          </a:p>
        </p:txBody>
      </p:sp>
      <p:sp>
        <p:nvSpPr>
          <p:cNvPr id="90130" name="Rectangle 24"/>
          <p:cNvSpPr>
            <a:spLocks noChangeArrowheads="1"/>
          </p:cNvSpPr>
          <p:nvPr/>
        </p:nvSpPr>
        <p:spPr bwMode="auto">
          <a:xfrm>
            <a:off x="4724400" y="1752600"/>
            <a:ext cx="1600200" cy="938213"/>
          </a:xfrm>
          <a:prstGeom prst="rect">
            <a:avLst/>
          </a:prstGeom>
          <a:noFill/>
          <a:ln w="9525">
            <a:solidFill>
              <a:srgbClr val="008000"/>
            </a:solidFill>
            <a:miter lim="800000"/>
            <a:headEnd/>
            <a:tailEnd/>
          </a:ln>
        </p:spPr>
        <p:txBody>
          <a:bodyPr lIns="90488" tIns="44450" rIns="90488" bIns="44450">
            <a:spAutoFit/>
          </a:bodyPr>
          <a:lstStyle/>
          <a:p>
            <a:pPr eaLnBrk="0" hangingPunct="0">
              <a:lnSpc>
                <a:spcPct val="110000"/>
              </a:lnSpc>
              <a:spcBef>
                <a:spcPct val="50000"/>
              </a:spcBef>
            </a:pPr>
            <a:r>
              <a:rPr lang="en-US" sz="2400" b="1">
                <a:solidFill>
                  <a:srgbClr val="008000"/>
                </a:solidFill>
              </a:rPr>
              <a:t>H</a:t>
            </a:r>
            <a:r>
              <a:rPr lang="en-US" sz="2400" b="1" baseline="-25000">
                <a:solidFill>
                  <a:srgbClr val="008000"/>
                </a:solidFill>
              </a:rPr>
              <a:t>0</a:t>
            </a:r>
            <a:r>
              <a:rPr lang="en-US" sz="2400" b="1">
                <a:solidFill>
                  <a:srgbClr val="008000"/>
                </a:solidFill>
              </a:rPr>
              <a:t>: </a:t>
            </a:r>
            <a:r>
              <a:rPr lang="el-GR" sz="2400" b="1">
                <a:solidFill>
                  <a:srgbClr val="008000"/>
                </a:solidFill>
              </a:rPr>
              <a:t>μ</a:t>
            </a:r>
            <a:r>
              <a:rPr lang="en-US" sz="2400" b="1">
                <a:solidFill>
                  <a:srgbClr val="008000"/>
                </a:solidFill>
              </a:rPr>
              <a:t> </a:t>
            </a:r>
            <a:r>
              <a:rPr lang="en-US" sz="2400" b="1">
                <a:solidFill>
                  <a:srgbClr val="008000"/>
                </a:solidFill>
                <a:cs typeface="Arial" charset="0"/>
              </a:rPr>
              <a:t>≤</a:t>
            </a:r>
            <a:r>
              <a:rPr lang="en-US" sz="2400" b="1">
                <a:solidFill>
                  <a:srgbClr val="008000"/>
                </a:solidFill>
              </a:rPr>
              <a:t> 3  </a:t>
            </a:r>
          </a:p>
          <a:p>
            <a:pPr eaLnBrk="0" hangingPunct="0">
              <a:lnSpc>
                <a:spcPct val="70000"/>
              </a:lnSpc>
              <a:spcBef>
                <a:spcPct val="50000"/>
              </a:spcBef>
            </a:pPr>
            <a:r>
              <a:rPr lang="en-US" sz="2400" b="1">
                <a:solidFill>
                  <a:srgbClr val="008000"/>
                </a:solidFill>
              </a:rPr>
              <a:t>H</a:t>
            </a:r>
            <a:r>
              <a:rPr lang="en-US" sz="2400" b="1" baseline="-25000">
                <a:solidFill>
                  <a:srgbClr val="008000"/>
                </a:solidFill>
              </a:rPr>
              <a:t>1</a:t>
            </a:r>
            <a:r>
              <a:rPr lang="en-US" sz="2400" b="1">
                <a:solidFill>
                  <a:srgbClr val="008000"/>
                </a:solidFill>
              </a:rPr>
              <a:t>: </a:t>
            </a:r>
            <a:r>
              <a:rPr lang="el-GR" sz="2400" b="1">
                <a:solidFill>
                  <a:srgbClr val="008000"/>
                </a:solidFill>
                <a:cs typeface="Arial" charset="0"/>
              </a:rPr>
              <a:t>μ</a:t>
            </a:r>
            <a:r>
              <a:rPr lang="en-US" sz="2400" b="1">
                <a:solidFill>
                  <a:srgbClr val="008000"/>
                </a:solidFill>
              </a:rPr>
              <a:t> &gt; 3</a:t>
            </a:r>
          </a:p>
        </p:txBody>
      </p:sp>
      <p:sp>
        <p:nvSpPr>
          <p:cNvPr id="90131" name="Rectangle 27"/>
          <p:cNvSpPr>
            <a:spLocks noChangeArrowheads="1"/>
          </p:cNvSpPr>
          <p:nvPr/>
        </p:nvSpPr>
        <p:spPr bwMode="auto">
          <a:xfrm>
            <a:off x="304800" y="1905000"/>
            <a:ext cx="3352800" cy="2209800"/>
          </a:xfrm>
          <a:prstGeom prst="rect">
            <a:avLst/>
          </a:prstGeom>
          <a:noFill/>
          <a:ln w="9525">
            <a:noFill/>
            <a:miter lim="800000"/>
            <a:headEnd/>
            <a:tailEnd/>
          </a:ln>
        </p:spPr>
        <p:txBody>
          <a:bodyPr lIns="85342" tIns="42672" rIns="85342" bIns="42672"/>
          <a:lstStyle/>
          <a:p>
            <a:pPr marL="320675" indent="-320675" defTabSz="852488">
              <a:lnSpc>
                <a:spcPct val="120000"/>
              </a:lnSpc>
              <a:spcBef>
                <a:spcPct val="30000"/>
              </a:spcBef>
              <a:buClr>
                <a:schemeClr val="folHlink"/>
              </a:buClr>
              <a:buSzPct val="60000"/>
              <a:buFont typeface="Wingdings" pitchFamily="2" charset="2"/>
              <a:buChar char="n"/>
            </a:pPr>
            <a:r>
              <a:rPr lang="id-ID" sz="2400" dirty="0" smtClean="0"/>
              <a:t>Hanya terdapat satu titik kritis, karena area penolakan hanya ada di satu sisi</a:t>
            </a:r>
            <a:endParaRPr lang="en-US" sz="2400" dirty="0"/>
          </a:p>
        </p:txBody>
      </p:sp>
      <p:sp>
        <p:nvSpPr>
          <p:cNvPr id="90132" name="Text Box 28"/>
          <p:cNvSpPr txBox="1">
            <a:spLocks noChangeArrowheads="1"/>
          </p:cNvSpPr>
          <p:nvPr/>
        </p:nvSpPr>
        <p:spPr bwMode="auto">
          <a:xfrm>
            <a:off x="6096000" y="5638800"/>
            <a:ext cx="1981200" cy="457200"/>
          </a:xfrm>
          <a:prstGeom prst="rect">
            <a:avLst/>
          </a:prstGeom>
          <a:noFill/>
          <a:ln w="9525">
            <a:noFill/>
            <a:miter lim="800000"/>
            <a:headEnd/>
            <a:tailEnd/>
          </a:ln>
        </p:spPr>
        <p:txBody>
          <a:bodyPr>
            <a:spAutoFit/>
          </a:bodyPr>
          <a:lstStyle/>
          <a:p>
            <a:pPr>
              <a:spcBef>
                <a:spcPct val="50000"/>
              </a:spcBef>
            </a:pPr>
            <a:r>
              <a:rPr lang="id-ID" sz="2400" dirty="0" smtClean="0">
                <a:solidFill>
                  <a:schemeClr val="folHlink"/>
                </a:solidFill>
              </a:rPr>
              <a:t>Titik kritis</a:t>
            </a:r>
            <a:endParaRPr lang="en-US" sz="2400" dirty="0">
              <a:solidFill>
                <a:schemeClr val="folHlink"/>
              </a:solidFill>
            </a:endParaRPr>
          </a:p>
        </p:txBody>
      </p:sp>
      <p:sp>
        <p:nvSpPr>
          <p:cNvPr id="90133" name="Line 29"/>
          <p:cNvSpPr>
            <a:spLocks noChangeShapeType="1"/>
          </p:cNvSpPr>
          <p:nvPr/>
        </p:nvSpPr>
        <p:spPr bwMode="auto">
          <a:xfrm flipV="1">
            <a:off x="6934200" y="5105400"/>
            <a:ext cx="0" cy="533400"/>
          </a:xfrm>
          <a:prstGeom prst="line">
            <a:avLst/>
          </a:prstGeom>
          <a:noFill/>
          <a:ln w="28575">
            <a:solidFill>
              <a:schemeClr val="folHlink"/>
            </a:solidFill>
            <a:miter lim="800000"/>
            <a:headEnd/>
            <a:tailEnd type="triangle" w="lg" len="med"/>
          </a:ln>
        </p:spPr>
        <p:txBody>
          <a:bodyPr wrap="none"/>
          <a:lstStyle/>
          <a:p>
            <a:endParaRPr lang="en-US"/>
          </a:p>
        </p:txBody>
      </p:sp>
      <p:sp>
        <p:nvSpPr>
          <p:cNvPr id="90134" name="Text Box 30"/>
          <p:cNvSpPr txBox="1">
            <a:spLocks noChangeArrowheads="1"/>
          </p:cNvSpPr>
          <p:nvPr/>
        </p:nvSpPr>
        <p:spPr bwMode="auto">
          <a:xfrm>
            <a:off x="2362200" y="4495800"/>
            <a:ext cx="1143000" cy="396875"/>
          </a:xfrm>
          <a:prstGeom prst="rect">
            <a:avLst/>
          </a:prstGeom>
          <a:noFill/>
          <a:ln w="19050" algn="ctr">
            <a:noFill/>
            <a:miter lim="800000"/>
            <a:headEnd/>
            <a:tailEnd/>
          </a:ln>
        </p:spPr>
        <p:txBody>
          <a:bodyPr>
            <a:spAutoFit/>
          </a:bodyPr>
          <a:lstStyle/>
          <a:p>
            <a:pPr algn="ctr">
              <a:spcBef>
                <a:spcPct val="50000"/>
              </a:spcBef>
            </a:pPr>
            <a:r>
              <a:rPr lang="en-US" sz="2000" b="1"/>
              <a:t>Z or t</a:t>
            </a:r>
            <a:endParaRPr lang="el-GR" sz="2000" b="1" baseline="-25000">
              <a:cs typeface="Arial" charset="0"/>
            </a:endParaRPr>
          </a:p>
        </p:txBody>
      </p:sp>
      <p:sp>
        <p:nvSpPr>
          <p:cNvPr id="90135" name="Text Box 31"/>
          <p:cNvSpPr txBox="1">
            <a:spLocks noChangeArrowheads="1"/>
          </p:cNvSpPr>
          <p:nvPr/>
        </p:nvSpPr>
        <p:spPr bwMode="auto">
          <a:xfrm>
            <a:off x="2590800" y="5089525"/>
            <a:ext cx="533400" cy="396875"/>
          </a:xfrm>
          <a:prstGeom prst="rect">
            <a:avLst/>
          </a:prstGeom>
          <a:noFill/>
          <a:ln w="19050" algn="ctr">
            <a:noFill/>
            <a:miter lim="800000"/>
            <a:headEnd/>
            <a:tailEnd/>
          </a:ln>
        </p:spPr>
        <p:txBody>
          <a:bodyPr>
            <a:spAutoFit/>
          </a:bodyPr>
          <a:lstStyle/>
          <a:p>
            <a:pPr algn="ctr">
              <a:spcBef>
                <a:spcPct val="50000"/>
              </a:spcBef>
            </a:pPr>
            <a:r>
              <a:rPr lang="en-US" sz="2000" b="1"/>
              <a:t>X</a:t>
            </a:r>
            <a:endParaRPr lang="el-GR" sz="2000" b="1" baseline="-25000">
              <a:cs typeface="Arial" charset="0"/>
            </a:endParaRPr>
          </a:p>
        </p:txBody>
      </p:sp>
      <p:sp>
        <p:nvSpPr>
          <p:cNvPr id="90136" name="Text Box 32"/>
          <p:cNvSpPr txBox="1">
            <a:spLocks noChangeArrowheads="1"/>
          </p:cNvSpPr>
          <p:nvPr/>
        </p:nvSpPr>
        <p:spPr bwMode="auto">
          <a:xfrm>
            <a:off x="2590800" y="4800600"/>
            <a:ext cx="533400" cy="396875"/>
          </a:xfrm>
          <a:prstGeom prst="rect">
            <a:avLst/>
          </a:prstGeom>
          <a:noFill/>
          <a:ln w="19050" algn="ctr">
            <a:noFill/>
            <a:miter lim="800000"/>
            <a:headEnd/>
            <a:tailEnd/>
          </a:ln>
        </p:spPr>
        <p:txBody>
          <a:bodyPr>
            <a:spAutoFit/>
          </a:bodyPr>
          <a:lstStyle/>
          <a:p>
            <a:pPr algn="ctr">
              <a:spcBef>
                <a:spcPct val="50000"/>
              </a:spcBef>
            </a:pPr>
            <a:r>
              <a:rPr lang="en-US" sz="2000" b="1"/>
              <a:t>_</a:t>
            </a:r>
            <a:endParaRPr lang="el-GR" sz="2000" b="1" baseline="-25000">
              <a:cs typeface="Arial" charset="0"/>
            </a:endParaRPr>
          </a:p>
        </p:txBody>
      </p:sp>
      <p:sp>
        <p:nvSpPr>
          <p:cNvPr id="90138" name="Rectangle 27"/>
          <p:cNvSpPr>
            <a:spLocks noChangeArrowheads="1"/>
          </p:cNvSpPr>
          <p:nvPr/>
        </p:nvSpPr>
        <p:spPr bwMode="auto">
          <a:xfrm>
            <a:off x="7772400" y="1143000"/>
            <a:ext cx="1257300" cy="461963"/>
          </a:xfrm>
          <a:prstGeom prst="rect">
            <a:avLst/>
          </a:prstGeom>
          <a:noFill/>
          <a:ln w="9525">
            <a:noFill/>
            <a:miter lim="800000"/>
            <a:headEnd/>
            <a:tailEnd/>
          </a:ln>
        </p:spPr>
        <p:txBody>
          <a:bodyPr wrap="none">
            <a:spAutoFit/>
          </a:bodyPr>
          <a:lstStyle/>
          <a:p>
            <a:r>
              <a:rPr lang="en-US"/>
              <a:t>DCOV</a:t>
            </a:r>
            <a:r>
              <a:rPr lang="en-US" u="sng">
                <a:solidFill>
                  <a:srgbClr val="FF0000"/>
                </a:solidFill>
              </a:rPr>
              <a:t>A</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5"/>
          <p:cNvSpPr>
            <a:spLocks noGrp="1" noChangeArrowheads="1"/>
          </p:cNvSpPr>
          <p:nvPr>
            <p:ph type="sldNum" sz="quarter" idx="10"/>
          </p:nvPr>
        </p:nvSpPr>
        <p:spPr>
          <a:ln/>
        </p:spPr>
        <p:txBody>
          <a:bodyPr/>
          <a:lstStyle/>
          <a:p>
            <a:pPr>
              <a:defRPr/>
            </a:pPr>
            <a:r>
              <a:rPr lang="en-US"/>
              <a:t>Chap 9-</a:t>
            </a:r>
            <a:fld id="{E9039D04-333E-45F3-9D9A-170AC2F97402}" type="slidenum">
              <a:rPr lang="en-US"/>
              <a:pPr>
                <a:defRPr/>
              </a:pPr>
              <a:t>23</a:t>
            </a:fld>
            <a:endParaRPr lang="en-US"/>
          </a:p>
        </p:txBody>
      </p:sp>
      <p:sp>
        <p:nvSpPr>
          <p:cNvPr id="11"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91137"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4E6455A3-B968-445D-A173-652ADA8259EC}" type="slidenum">
              <a:rPr lang="en-US" sz="1000"/>
              <a:pPr algn="r" defTabSz="852488"/>
              <a:t>23</a:t>
            </a:fld>
            <a:endParaRPr lang="en-US" sz="1000"/>
          </a:p>
        </p:txBody>
      </p:sp>
      <p:sp>
        <p:nvSpPr>
          <p:cNvPr id="91138" name="Rectangle 2"/>
          <p:cNvSpPr>
            <a:spLocks noChangeArrowheads="1"/>
          </p:cNvSpPr>
          <p:nvPr/>
        </p:nvSpPr>
        <p:spPr bwMode="auto">
          <a:xfrm>
            <a:off x="1143000" y="1600200"/>
            <a:ext cx="7086600" cy="2286000"/>
          </a:xfrm>
          <a:prstGeom prst="rect">
            <a:avLst/>
          </a:prstGeom>
          <a:solidFill>
            <a:srgbClr val="FDE0BD"/>
          </a:solidFill>
          <a:ln w="19050" algn="ctr">
            <a:solidFill>
              <a:schemeClr val="tx1"/>
            </a:solidFill>
            <a:miter lim="800000"/>
            <a:headEnd/>
            <a:tailEnd/>
          </a:ln>
        </p:spPr>
        <p:txBody>
          <a:bodyPr wrap="none" anchor="ctr"/>
          <a:lstStyle/>
          <a:p>
            <a:endParaRPr lang="en-US"/>
          </a:p>
        </p:txBody>
      </p:sp>
      <p:sp>
        <p:nvSpPr>
          <p:cNvPr id="91139" name="Rectangle 3"/>
          <p:cNvSpPr>
            <a:spLocks noGrp="1" noChangeArrowheads="1"/>
          </p:cNvSpPr>
          <p:nvPr>
            <p:ph type="title" idx="4294967295"/>
          </p:nvPr>
        </p:nvSpPr>
        <p:spPr>
          <a:xfrm>
            <a:off x="1143000" y="228600"/>
            <a:ext cx="7793038" cy="1066800"/>
          </a:xfrm>
        </p:spPr>
        <p:txBody>
          <a:bodyPr/>
          <a:lstStyle/>
          <a:p>
            <a:pPr eaLnBrk="1" hangingPunct="1">
              <a:lnSpc>
                <a:spcPct val="80000"/>
              </a:lnSpc>
            </a:pPr>
            <a:r>
              <a:rPr lang="id-ID" dirty="0" smtClean="0"/>
              <a:t>Contoh</a:t>
            </a:r>
            <a:r>
              <a:rPr lang="en-US" dirty="0" smtClean="0"/>
              <a:t>: </a:t>
            </a:r>
            <a:r>
              <a:rPr lang="id-ID" dirty="0" smtClean="0"/>
              <a:t>Uji satu arah</a:t>
            </a:r>
            <a:r>
              <a:rPr lang="en-US" dirty="0" smtClean="0"/>
              <a:t>  (</a:t>
            </a:r>
            <a:r>
              <a:rPr lang="en-US" dirty="0" smtClean="0">
                <a:sym typeface="Symbol" pitchFamily="18" charset="2"/>
              </a:rPr>
              <a:t></a:t>
            </a:r>
            <a:r>
              <a:rPr lang="en-US" dirty="0" smtClean="0"/>
              <a:t> </a:t>
            </a:r>
            <a:r>
              <a:rPr lang="id-ID" dirty="0" smtClean="0"/>
              <a:t>tidak diketahui</a:t>
            </a:r>
            <a:r>
              <a:rPr lang="en-US" dirty="0" smtClean="0"/>
              <a:t>)</a:t>
            </a:r>
          </a:p>
        </p:txBody>
      </p:sp>
      <p:sp>
        <p:nvSpPr>
          <p:cNvPr id="91140" name="Rectangle 4"/>
          <p:cNvSpPr>
            <a:spLocks noGrp="1" noChangeArrowheads="1"/>
          </p:cNvSpPr>
          <p:nvPr>
            <p:ph type="body" idx="4294967295"/>
          </p:nvPr>
        </p:nvSpPr>
        <p:spPr>
          <a:xfrm>
            <a:off x="914400" y="1600200"/>
            <a:ext cx="7696200" cy="2517775"/>
          </a:xfrm>
        </p:spPr>
        <p:txBody>
          <a:bodyPr/>
          <a:lstStyle/>
          <a:p>
            <a:pPr eaLnBrk="1" hangingPunct="1">
              <a:buFont typeface="Wingdings" pitchFamily="2" charset="2"/>
              <a:buNone/>
            </a:pPr>
            <a:r>
              <a:rPr lang="en-US" sz="2000" dirty="0" smtClean="0"/>
              <a:t>  </a:t>
            </a:r>
            <a:r>
              <a:rPr lang="id-ID" sz="2000" dirty="0" smtClean="0"/>
              <a:t>  </a:t>
            </a:r>
            <a:r>
              <a:rPr lang="en-US" sz="2000" dirty="0" smtClean="0"/>
              <a:t> </a:t>
            </a:r>
            <a:r>
              <a:rPr lang="id-ID" sz="2000" dirty="0" smtClean="0"/>
              <a:t>Misalkan diketahui bahwa rata2 panjang ikan tongkol secara umum adalah 52 cm.</a:t>
            </a:r>
            <a:r>
              <a:rPr lang="en-US" sz="2000" dirty="0" smtClean="0"/>
              <a:t> </a:t>
            </a:r>
            <a:r>
              <a:rPr lang="id-ID" sz="2000" dirty="0" smtClean="0"/>
              <a:t>Suatu spot penangkapan ikan tongkol diklaim memiliki populasi ikan tongkol yang memiliki panjang diatas rata-rata. Seorang peneliti ingin membuktikan aklaim tersebut sehingga diambil sampel 25 ekor ikan dengan rata2 sebesar 53.1 cm dan standar deviasi sampel sebesar 10cm (gunakan </a:t>
            </a:r>
            <a:r>
              <a:rPr lang="el-GR" sz="2000" dirty="0" smtClean="0"/>
              <a:t>α</a:t>
            </a:r>
            <a:r>
              <a:rPr lang="id-ID" sz="2000" dirty="0" smtClean="0"/>
              <a:t>=0.05)</a:t>
            </a:r>
            <a:endParaRPr lang="en-US" sz="2000" dirty="0" smtClean="0">
              <a:sym typeface="Symbol" pitchFamily="18" charset="2"/>
            </a:endParaRPr>
          </a:p>
        </p:txBody>
      </p:sp>
      <p:sp>
        <p:nvSpPr>
          <p:cNvPr id="91141" name="Text Box 5"/>
          <p:cNvSpPr txBox="1">
            <a:spLocks noChangeArrowheads="1"/>
          </p:cNvSpPr>
          <p:nvPr/>
        </p:nvSpPr>
        <p:spPr bwMode="auto">
          <a:xfrm>
            <a:off x="914400" y="4572000"/>
            <a:ext cx="7772400" cy="1046440"/>
          </a:xfrm>
          <a:prstGeom prst="rect">
            <a:avLst/>
          </a:prstGeom>
          <a:solidFill>
            <a:srgbClr val="C7DAF7"/>
          </a:solidFill>
          <a:ln w="9525" algn="ctr">
            <a:solidFill>
              <a:schemeClr val="tx1"/>
            </a:solidFill>
            <a:miter lim="800000"/>
            <a:headEnd/>
            <a:tailEnd/>
          </a:ln>
        </p:spPr>
        <p:txBody>
          <a:bodyPr>
            <a:spAutoFit/>
          </a:bodyPr>
          <a:lstStyle/>
          <a:p>
            <a:pPr>
              <a:spcBef>
                <a:spcPct val="50000"/>
              </a:spcBef>
            </a:pPr>
            <a:r>
              <a:rPr lang="id-ID" sz="2000" dirty="0" smtClean="0"/>
              <a:t>1. </a:t>
            </a:r>
            <a:r>
              <a:rPr lang="en-US" sz="2000" dirty="0" smtClean="0"/>
              <a:t>H</a:t>
            </a:r>
            <a:r>
              <a:rPr lang="en-US" sz="2000" baseline="-25000" dirty="0" smtClean="0"/>
              <a:t>0</a:t>
            </a:r>
            <a:r>
              <a:rPr lang="en-US" sz="2000" dirty="0"/>
              <a:t>: </a:t>
            </a:r>
            <a:r>
              <a:rPr lang="el-GR" sz="2000" dirty="0">
                <a:cs typeface="Arial" charset="0"/>
                <a:sym typeface="Symbol" pitchFamily="18" charset="2"/>
              </a:rPr>
              <a:t>μ</a:t>
            </a:r>
            <a:r>
              <a:rPr lang="en-US" sz="2000" dirty="0">
                <a:sym typeface="Symbol" pitchFamily="18" charset="2"/>
              </a:rPr>
              <a:t> </a:t>
            </a:r>
            <a:r>
              <a:rPr lang="en-US" sz="2000" dirty="0">
                <a:cs typeface="Arial" charset="0"/>
                <a:sym typeface="Symbol" pitchFamily="18" charset="2"/>
              </a:rPr>
              <a:t>≤ 52     </a:t>
            </a:r>
            <a:r>
              <a:rPr lang="id-ID" sz="2000" dirty="0" smtClean="0">
                <a:cs typeface="Arial" charset="0"/>
                <a:sym typeface="Symbol" pitchFamily="18" charset="2"/>
              </a:rPr>
              <a:t>rata2 panjang ikan tidak lebih dari </a:t>
            </a:r>
            <a:r>
              <a:rPr lang="en-US" sz="2000" dirty="0" smtClean="0">
                <a:cs typeface="Arial" charset="0"/>
                <a:sym typeface="Symbol" pitchFamily="18" charset="2"/>
              </a:rPr>
              <a:t>5</a:t>
            </a:r>
            <a:r>
              <a:rPr lang="id-ID" sz="2000" dirty="0" smtClean="0">
                <a:cs typeface="Arial" charset="0"/>
                <a:sym typeface="Symbol" pitchFamily="18" charset="2"/>
              </a:rPr>
              <a:t>2 cm</a:t>
            </a:r>
            <a:endParaRPr lang="en-US" sz="2000" dirty="0">
              <a:cs typeface="Arial" charset="0"/>
              <a:sym typeface="Symbol" pitchFamily="18" charset="2"/>
            </a:endParaRPr>
          </a:p>
          <a:p>
            <a:pPr>
              <a:lnSpc>
                <a:spcPct val="90000"/>
              </a:lnSpc>
              <a:spcBef>
                <a:spcPct val="50000"/>
              </a:spcBef>
            </a:pPr>
            <a:r>
              <a:rPr lang="id-ID" sz="2000" dirty="0" smtClean="0"/>
              <a:t>    </a:t>
            </a:r>
            <a:r>
              <a:rPr lang="en-US" sz="2000" dirty="0" smtClean="0"/>
              <a:t>H</a:t>
            </a:r>
            <a:r>
              <a:rPr lang="en-US" sz="2000" baseline="-25000" dirty="0" smtClean="0"/>
              <a:t>1</a:t>
            </a:r>
            <a:r>
              <a:rPr lang="en-US" sz="2000" dirty="0"/>
              <a:t>: </a:t>
            </a:r>
            <a:r>
              <a:rPr lang="el-GR" sz="2000" dirty="0">
                <a:cs typeface="Arial" charset="0"/>
                <a:sym typeface="Symbol" pitchFamily="18" charset="2"/>
              </a:rPr>
              <a:t>μ</a:t>
            </a:r>
            <a:r>
              <a:rPr lang="en-US" sz="2000" dirty="0">
                <a:sym typeface="Symbol" pitchFamily="18" charset="2"/>
              </a:rPr>
              <a:t> &gt; 52     </a:t>
            </a:r>
            <a:r>
              <a:rPr lang="id-ID" sz="2000" dirty="0" smtClean="0">
                <a:sym typeface="Symbol" pitchFamily="18" charset="2"/>
              </a:rPr>
              <a:t>rata2 panjang ikan lebih dari </a:t>
            </a:r>
            <a:r>
              <a:rPr lang="en-US" sz="2000" dirty="0" smtClean="0">
                <a:sym typeface="Symbol" pitchFamily="18" charset="2"/>
              </a:rPr>
              <a:t>52</a:t>
            </a:r>
            <a:r>
              <a:rPr lang="id-ID" sz="2000" dirty="0" smtClean="0">
                <a:sym typeface="Symbol" pitchFamily="18" charset="2"/>
              </a:rPr>
              <a:t> cm</a:t>
            </a:r>
            <a:endParaRPr lang="en-US" sz="2000" dirty="0">
              <a:sym typeface="Symbol" pitchFamily="18" charset="2"/>
            </a:endParaRPr>
          </a:p>
          <a:p>
            <a:pPr>
              <a:lnSpc>
                <a:spcPct val="20000"/>
              </a:lnSpc>
              <a:spcBef>
                <a:spcPct val="50000"/>
              </a:spcBef>
            </a:pPr>
            <a:r>
              <a:rPr lang="en-US" sz="2000" dirty="0">
                <a:sym typeface="Symbol" pitchFamily="18" charset="2"/>
              </a:rPr>
              <a:t>		</a:t>
            </a:r>
            <a:endParaRPr lang="en-US" dirty="0">
              <a:cs typeface="Arial" charset="0"/>
              <a:sym typeface="Symbol" pitchFamily="18" charset="2"/>
            </a:endParaRPr>
          </a:p>
        </p:txBody>
      </p:sp>
      <p:sp>
        <p:nvSpPr>
          <p:cNvPr id="91142" name="Rectangle 6"/>
          <p:cNvSpPr>
            <a:spLocks noChangeArrowheads="1"/>
          </p:cNvSpPr>
          <p:nvPr/>
        </p:nvSpPr>
        <p:spPr bwMode="auto">
          <a:xfrm>
            <a:off x="762000" y="4114800"/>
            <a:ext cx="2598788" cy="461665"/>
          </a:xfrm>
          <a:prstGeom prst="rect">
            <a:avLst/>
          </a:prstGeom>
          <a:noFill/>
          <a:ln w="19050" algn="ctr">
            <a:noFill/>
            <a:miter lim="800000"/>
            <a:headEnd/>
            <a:tailEnd/>
          </a:ln>
        </p:spPr>
        <p:txBody>
          <a:bodyPr wrap="none">
            <a:spAutoFit/>
          </a:bodyPr>
          <a:lstStyle/>
          <a:p>
            <a:pPr algn="ctr">
              <a:spcBef>
                <a:spcPct val="20000"/>
              </a:spcBef>
              <a:buClr>
                <a:schemeClr val="folHlink"/>
              </a:buClr>
              <a:buSzPct val="60000"/>
              <a:buFont typeface="Wingdings" pitchFamily="2" charset="2"/>
              <a:buNone/>
            </a:pPr>
            <a:r>
              <a:rPr lang="id-ID" sz="2400" dirty="0" smtClean="0">
                <a:solidFill>
                  <a:schemeClr val="folHlink"/>
                </a:solidFill>
              </a:rPr>
              <a:t>Buat hipotesis uji</a:t>
            </a:r>
            <a:r>
              <a:rPr lang="en-US" sz="2400" dirty="0" smtClean="0">
                <a:solidFill>
                  <a:schemeClr val="folHlink"/>
                </a:solidFill>
              </a:rPr>
              <a:t>:</a:t>
            </a:r>
            <a:endParaRPr lang="en-US" sz="2400" dirty="0">
              <a:solidFill>
                <a:schemeClr val="folHlink"/>
              </a:solidFill>
            </a:endParaRPr>
          </a:p>
        </p:txBody>
      </p:sp>
      <p:pic>
        <p:nvPicPr>
          <p:cNvPr id="91143" name="Picture 7" descr="j0174123"/>
          <p:cNvPicPr>
            <a:picLocks noChangeAspect="1" noChangeArrowheads="1"/>
          </p:cNvPicPr>
          <p:nvPr/>
        </p:nvPicPr>
        <p:blipFill>
          <a:blip r:embed="rId2" cstate="print"/>
          <a:srcRect/>
          <a:stretch>
            <a:fillRect/>
          </a:stretch>
        </p:blipFill>
        <p:spPr bwMode="auto">
          <a:xfrm>
            <a:off x="7848600" y="3352800"/>
            <a:ext cx="1193800" cy="11858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6"/>
          <p:cNvSpPr>
            <a:spLocks noChangeArrowheads="1"/>
          </p:cNvSpPr>
          <p:nvPr/>
        </p:nvSpPr>
        <p:spPr bwMode="auto">
          <a:xfrm>
            <a:off x="838200" y="2133600"/>
            <a:ext cx="4800600" cy="457200"/>
          </a:xfrm>
          <a:prstGeom prst="rect">
            <a:avLst/>
          </a:prstGeom>
          <a:solidFill>
            <a:schemeClr val="accent1"/>
          </a:solidFill>
          <a:ln w="9525">
            <a:solidFill>
              <a:schemeClr val="tx1"/>
            </a:solidFill>
            <a:miter lim="800000"/>
            <a:headEnd/>
            <a:tailEnd/>
          </a:ln>
        </p:spPr>
        <p:txBody>
          <a:bodyPr wrap="none" anchor="ctr"/>
          <a:lstStyle/>
          <a:p>
            <a:endParaRPr lang="en-US"/>
          </a:p>
        </p:txBody>
      </p:sp>
      <p:sp>
        <p:nvSpPr>
          <p:cNvPr id="28" name="Rectangle 5"/>
          <p:cNvSpPr>
            <a:spLocks noGrp="1" noChangeArrowheads="1"/>
          </p:cNvSpPr>
          <p:nvPr>
            <p:ph type="sldNum" sz="quarter" idx="10"/>
          </p:nvPr>
        </p:nvSpPr>
        <p:spPr>
          <a:ln/>
        </p:spPr>
        <p:txBody>
          <a:bodyPr/>
          <a:lstStyle/>
          <a:p>
            <a:pPr>
              <a:defRPr/>
            </a:pPr>
            <a:r>
              <a:rPr lang="en-US"/>
              <a:t>Chap 9-</a:t>
            </a:r>
            <a:fld id="{3FE9E423-F07B-4F8D-8078-32CEEFE53FF0}" type="slidenum">
              <a:rPr lang="en-US"/>
              <a:pPr>
                <a:defRPr/>
              </a:pPr>
              <a:t>24</a:t>
            </a:fld>
            <a:endParaRPr lang="en-US"/>
          </a:p>
        </p:txBody>
      </p:sp>
      <p:sp>
        <p:nvSpPr>
          <p:cNvPr id="29"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92161"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8F0340E2-67BA-46D9-8130-E884598E35C3}" type="slidenum">
              <a:rPr lang="en-US" sz="1000"/>
              <a:pPr algn="r" defTabSz="852488"/>
              <a:t>24</a:t>
            </a:fld>
            <a:endParaRPr lang="en-US" sz="1000"/>
          </a:p>
        </p:txBody>
      </p:sp>
      <p:sp>
        <p:nvSpPr>
          <p:cNvPr id="92163" name="Text Box 2"/>
          <p:cNvSpPr txBox="1">
            <a:spLocks noChangeArrowheads="1"/>
          </p:cNvSpPr>
          <p:nvPr/>
        </p:nvSpPr>
        <p:spPr bwMode="auto">
          <a:xfrm>
            <a:off x="6400800" y="4648200"/>
            <a:ext cx="990600" cy="304800"/>
          </a:xfrm>
          <a:prstGeom prst="rect">
            <a:avLst/>
          </a:prstGeom>
          <a:solidFill>
            <a:srgbClr val="FFFFA7"/>
          </a:solidFill>
          <a:ln w="19050" algn="ctr">
            <a:noFill/>
            <a:miter lim="800000"/>
            <a:headEnd/>
            <a:tailEnd/>
          </a:ln>
        </p:spPr>
        <p:txBody>
          <a:bodyPr>
            <a:spAutoFit/>
          </a:bodyPr>
          <a:lstStyle/>
          <a:p>
            <a:pPr algn="ctr">
              <a:spcBef>
                <a:spcPct val="50000"/>
              </a:spcBef>
            </a:pPr>
            <a:r>
              <a:rPr lang="id-ID" sz="1400" dirty="0" smtClean="0"/>
              <a:t>Tolak</a:t>
            </a:r>
            <a:r>
              <a:rPr lang="en-US" sz="1400" dirty="0" smtClean="0"/>
              <a:t> </a:t>
            </a:r>
            <a:r>
              <a:rPr lang="en-US" sz="1400" dirty="0"/>
              <a:t>H</a:t>
            </a:r>
            <a:r>
              <a:rPr lang="en-US" sz="1400" baseline="-25000" dirty="0"/>
              <a:t>0</a:t>
            </a:r>
          </a:p>
        </p:txBody>
      </p:sp>
      <p:sp>
        <p:nvSpPr>
          <p:cNvPr id="92164" name="Text Box 3"/>
          <p:cNvSpPr txBox="1">
            <a:spLocks noChangeArrowheads="1"/>
          </p:cNvSpPr>
          <p:nvPr/>
        </p:nvSpPr>
        <p:spPr bwMode="auto">
          <a:xfrm>
            <a:off x="4038600" y="4648200"/>
            <a:ext cx="1524000" cy="304800"/>
          </a:xfrm>
          <a:prstGeom prst="rect">
            <a:avLst/>
          </a:prstGeom>
          <a:solidFill>
            <a:srgbClr val="FFFFA7"/>
          </a:solidFill>
          <a:ln w="19050" algn="ctr">
            <a:noFill/>
            <a:miter lim="800000"/>
            <a:headEnd/>
            <a:tailEnd/>
          </a:ln>
        </p:spPr>
        <p:txBody>
          <a:bodyPr>
            <a:spAutoFit/>
          </a:bodyPr>
          <a:lstStyle/>
          <a:p>
            <a:pPr algn="ctr">
              <a:spcBef>
                <a:spcPct val="50000"/>
              </a:spcBef>
            </a:pPr>
            <a:r>
              <a:rPr lang="id-ID" sz="1400" dirty="0" smtClean="0"/>
              <a:t>Gagal tolak </a:t>
            </a:r>
            <a:r>
              <a:rPr lang="en-US" sz="1400" dirty="0" smtClean="0"/>
              <a:t>H</a:t>
            </a:r>
            <a:r>
              <a:rPr lang="id-ID" sz="1400" dirty="0" smtClean="0"/>
              <a:t>o</a:t>
            </a:r>
            <a:endParaRPr lang="en-US" sz="1400" baseline="-25000" dirty="0"/>
          </a:p>
        </p:txBody>
      </p:sp>
      <p:sp>
        <p:nvSpPr>
          <p:cNvPr id="92165" name="Rectangle 5"/>
          <p:cNvSpPr>
            <a:spLocks noGrp="1" noChangeArrowheads="1"/>
          </p:cNvSpPr>
          <p:nvPr>
            <p:ph type="body" idx="4294967295"/>
          </p:nvPr>
        </p:nvSpPr>
        <p:spPr>
          <a:xfrm>
            <a:off x="838200" y="1600200"/>
            <a:ext cx="8077200" cy="1930400"/>
          </a:xfrm>
        </p:spPr>
        <p:txBody>
          <a:bodyPr/>
          <a:lstStyle/>
          <a:p>
            <a:pPr eaLnBrk="1" hangingPunct="1">
              <a:buNone/>
            </a:pPr>
            <a:r>
              <a:rPr lang="id-ID" sz="2700" dirty="0" smtClean="0"/>
              <a:t>2. Misal digunakan </a:t>
            </a:r>
            <a:r>
              <a:rPr lang="en-US" sz="2700" dirty="0" smtClean="0">
                <a:sym typeface="Symbol" pitchFamily="18" charset="2"/>
              </a:rPr>
              <a:t> = 0.0</a:t>
            </a:r>
            <a:r>
              <a:rPr lang="id-ID" sz="2700" dirty="0" smtClean="0">
                <a:sym typeface="Symbol" pitchFamily="18" charset="2"/>
              </a:rPr>
              <a:t>5</a:t>
            </a:r>
            <a:r>
              <a:rPr lang="en-US" sz="2700" dirty="0" smtClean="0">
                <a:sym typeface="Symbol" pitchFamily="18" charset="2"/>
              </a:rPr>
              <a:t> </a:t>
            </a:r>
            <a:r>
              <a:rPr lang="id-ID" sz="2700" dirty="0" smtClean="0">
                <a:sym typeface="Symbol" pitchFamily="18" charset="2"/>
              </a:rPr>
              <a:t>dan </a:t>
            </a:r>
            <a:r>
              <a:rPr lang="en-US" sz="2700" dirty="0" smtClean="0">
                <a:sym typeface="Symbol" pitchFamily="18" charset="2"/>
              </a:rPr>
              <a:t> n = 25</a:t>
            </a:r>
            <a:r>
              <a:rPr lang="id-ID" sz="2700" dirty="0" smtClean="0">
                <a:sym typeface="Symbol" pitchFamily="18" charset="2"/>
              </a:rPr>
              <a:t> (n&lt;30)</a:t>
            </a:r>
            <a:r>
              <a:rPr lang="en-US" sz="2700" dirty="0" smtClean="0">
                <a:sym typeface="Symbol" pitchFamily="18" charset="2"/>
              </a:rPr>
              <a:t>.</a:t>
            </a:r>
          </a:p>
          <a:p>
            <a:pPr eaLnBrk="1" hangingPunct="1">
              <a:buFont typeface="Wingdings" pitchFamily="2" charset="2"/>
              <a:buNone/>
            </a:pPr>
            <a:r>
              <a:rPr lang="id-ID" sz="2700" dirty="0" smtClean="0">
                <a:sym typeface="Symbol" pitchFamily="18" charset="2"/>
              </a:rPr>
              <a:t>Tentukan daerah penolakan</a:t>
            </a:r>
            <a:r>
              <a:rPr lang="en-US" sz="2700" dirty="0" smtClean="0">
                <a:sym typeface="Symbol" pitchFamily="18" charset="2"/>
              </a:rPr>
              <a:t>:</a:t>
            </a:r>
          </a:p>
        </p:txBody>
      </p:sp>
      <p:sp>
        <p:nvSpPr>
          <p:cNvPr id="92166" name="Freeform 6"/>
          <p:cNvSpPr>
            <a:spLocks/>
          </p:cNvSpPr>
          <p:nvPr/>
        </p:nvSpPr>
        <p:spPr bwMode="auto">
          <a:xfrm>
            <a:off x="5942013" y="4003675"/>
            <a:ext cx="1150937" cy="414338"/>
          </a:xfrm>
          <a:custGeom>
            <a:avLst/>
            <a:gdLst>
              <a:gd name="T0" fmla="*/ 2147483647 w 725"/>
              <a:gd name="T1" fmla="*/ 2147483647 h 261"/>
              <a:gd name="T2" fmla="*/ 2147483647 w 725"/>
              <a:gd name="T3" fmla="*/ 2147483647 h 261"/>
              <a:gd name="T4" fmla="*/ 2147483647 w 725"/>
              <a:gd name="T5" fmla="*/ 2147483647 h 261"/>
              <a:gd name="T6" fmla="*/ 2147483647 w 725"/>
              <a:gd name="T7" fmla="*/ 2147483647 h 261"/>
              <a:gd name="T8" fmla="*/ 2147483647 w 725"/>
              <a:gd name="T9" fmla="*/ 2147483647 h 261"/>
              <a:gd name="T10" fmla="*/ 0 w 725"/>
              <a:gd name="T11" fmla="*/ 0 h 261"/>
              <a:gd name="T12" fmla="*/ 0 w 725"/>
              <a:gd name="T13" fmla="*/ 2147483647 h 261"/>
              <a:gd name="T14" fmla="*/ 2147483647 w 725"/>
              <a:gd name="T15" fmla="*/ 2147483647 h 261"/>
              <a:gd name="T16" fmla="*/ 2147483647 w 725"/>
              <a:gd name="T17" fmla="*/ 2147483647 h 26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5"/>
              <a:gd name="T28" fmla="*/ 0 h 261"/>
              <a:gd name="T29" fmla="*/ 725 w 725"/>
              <a:gd name="T30" fmla="*/ 261 h 26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5" h="261">
                <a:moveTo>
                  <a:pt x="717" y="257"/>
                </a:moveTo>
                <a:lnTo>
                  <a:pt x="725" y="222"/>
                </a:lnTo>
                <a:lnTo>
                  <a:pt x="490" y="208"/>
                </a:lnTo>
                <a:lnTo>
                  <a:pt x="339" y="170"/>
                </a:lnTo>
                <a:lnTo>
                  <a:pt x="192" y="120"/>
                </a:lnTo>
                <a:lnTo>
                  <a:pt x="0" y="0"/>
                </a:lnTo>
                <a:lnTo>
                  <a:pt x="0" y="261"/>
                </a:lnTo>
                <a:lnTo>
                  <a:pt x="717" y="261"/>
                </a:lnTo>
                <a:lnTo>
                  <a:pt x="717" y="257"/>
                </a:lnTo>
              </a:path>
            </a:pathLst>
          </a:custGeom>
          <a:solidFill>
            <a:srgbClr val="C3DBFF"/>
          </a:solidFill>
          <a:ln w="12700" cap="rnd">
            <a:noFill/>
            <a:round/>
            <a:headEnd type="none" w="sm" len="sm"/>
            <a:tailEnd type="none" w="sm" len="sm"/>
          </a:ln>
        </p:spPr>
        <p:txBody>
          <a:bodyPr/>
          <a:lstStyle/>
          <a:p>
            <a:endParaRPr lang="en-US"/>
          </a:p>
        </p:txBody>
      </p:sp>
      <p:sp>
        <p:nvSpPr>
          <p:cNvPr id="92167" name="Freeform 7"/>
          <p:cNvSpPr>
            <a:spLocks/>
          </p:cNvSpPr>
          <p:nvPr/>
        </p:nvSpPr>
        <p:spPr bwMode="auto">
          <a:xfrm>
            <a:off x="2438400" y="3048000"/>
            <a:ext cx="2362200" cy="1295400"/>
          </a:xfrm>
          <a:custGeom>
            <a:avLst/>
            <a:gdLst>
              <a:gd name="T0" fmla="*/ 0 w 600"/>
              <a:gd name="T1" fmla="*/ 2147483647 h 576"/>
              <a:gd name="T2" fmla="*/ 2147483647 w 600"/>
              <a:gd name="T3" fmla="*/ 2147483647 h 576"/>
              <a:gd name="T4" fmla="*/ 2147483647 w 600"/>
              <a:gd name="T5" fmla="*/ 2147483647 h 576"/>
              <a:gd name="T6" fmla="*/ 2147483647 w 600"/>
              <a:gd name="T7" fmla="*/ 2147483647 h 576"/>
              <a:gd name="T8" fmla="*/ 2147483647 w 600"/>
              <a:gd name="T9" fmla="*/ 2147483647 h 576"/>
              <a:gd name="T10" fmla="*/ 2147483647 w 600"/>
              <a:gd name="T11" fmla="*/ 2147483647 h 576"/>
              <a:gd name="T12" fmla="*/ 2147483647 w 600"/>
              <a:gd name="T13" fmla="*/ 2147483647 h 576"/>
              <a:gd name="T14" fmla="*/ 2147483647 w 600"/>
              <a:gd name="T15" fmla="*/ 2147483647 h 576"/>
              <a:gd name="T16" fmla="*/ 2147483647 w 600"/>
              <a:gd name="T17" fmla="*/ 2147483647 h 576"/>
              <a:gd name="T18" fmla="*/ 2147483647 w 600"/>
              <a:gd name="T19" fmla="*/ 2147483647 h 576"/>
              <a:gd name="T20" fmla="*/ 2147483647 w 600"/>
              <a:gd name="T21" fmla="*/ 2147483647 h 576"/>
              <a:gd name="T22" fmla="*/ 2147483647 w 600"/>
              <a:gd name="T23" fmla="*/ 2147483647 h 576"/>
              <a:gd name="T24" fmla="*/ 2147483647 w 600"/>
              <a:gd name="T25" fmla="*/ 2147483647 h 576"/>
              <a:gd name="T26" fmla="*/ 2147483647 w 600"/>
              <a:gd name="T27" fmla="*/ 2147483647 h 576"/>
              <a:gd name="T28" fmla="*/ 2147483647 w 600"/>
              <a:gd name="T29" fmla="*/ 2147483647 h 576"/>
              <a:gd name="T30" fmla="*/ 2147483647 w 600"/>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0"/>
              <a:gd name="T49" fmla="*/ 0 h 576"/>
              <a:gd name="T50" fmla="*/ 600 w 600"/>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0" h="576">
                <a:moveTo>
                  <a:pt x="0" y="575"/>
                </a:moveTo>
                <a:lnTo>
                  <a:pt x="63" y="570"/>
                </a:lnTo>
                <a:lnTo>
                  <a:pt x="95" y="562"/>
                </a:lnTo>
                <a:lnTo>
                  <a:pt x="127" y="553"/>
                </a:lnTo>
                <a:lnTo>
                  <a:pt x="158" y="540"/>
                </a:lnTo>
                <a:lnTo>
                  <a:pt x="190" y="521"/>
                </a:lnTo>
                <a:lnTo>
                  <a:pt x="222" y="498"/>
                </a:lnTo>
                <a:lnTo>
                  <a:pt x="284" y="432"/>
                </a:lnTo>
                <a:lnTo>
                  <a:pt x="347" y="338"/>
                </a:lnTo>
                <a:lnTo>
                  <a:pt x="410" y="224"/>
                </a:lnTo>
                <a:lnTo>
                  <a:pt x="441" y="167"/>
                </a:lnTo>
                <a:lnTo>
                  <a:pt x="473" y="114"/>
                </a:lnTo>
                <a:lnTo>
                  <a:pt x="505" y="67"/>
                </a:lnTo>
                <a:lnTo>
                  <a:pt x="535" y="31"/>
                </a:lnTo>
                <a:lnTo>
                  <a:pt x="567" y="8"/>
                </a:lnTo>
                <a:lnTo>
                  <a:pt x="599" y="0"/>
                </a:lnTo>
              </a:path>
            </a:pathLst>
          </a:custGeom>
          <a:noFill/>
          <a:ln w="50800" cap="rnd">
            <a:solidFill>
              <a:srgbClr val="FF0000"/>
            </a:solidFill>
            <a:round/>
            <a:headEnd type="none" w="sm" len="sm"/>
            <a:tailEnd type="none" w="sm" len="sm"/>
          </a:ln>
        </p:spPr>
        <p:txBody>
          <a:bodyPr/>
          <a:lstStyle/>
          <a:p>
            <a:endParaRPr lang="en-US"/>
          </a:p>
        </p:txBody>
      </p:sp>
      <p:sp>
        <p:nvSpPr>
          <p:cNvPr id="92168" name="Freeform 8"/>
          <p:cNvSpPr>
            <a:spLocks/>
          </p:cNvSpPr>
          <p:nvPr/>
        </p:nvSpPr>
        <p:spPr bwMode="auto">
          <a:xfrm>
            <a:off x="4800600" y="3048000"/>
            <a:ext cx="2209800" cy="1295400"/>
          </a:xfrm>
          <a:custGeom>
            <a:avLst/>
            <a:gdLst>
              <a:gd name="T0" fmla="*/ 2147483647 w 576"/>
              <a:gd name="T1" fmla="*/ 2147483647 h 576"/>
              <a:gd name="T2" fmla="*/ 2147483647 w 576"/>
              <a:gd name="T3" fmla="*/ 2147483647 h 576"/>
              <a:gd name="T4" fmla="*/ 2147483647 w 576"/>
              <a:gd name="T5" fmla="*/ 2147483647 h 576"/>
              <a:gd name="T6" fmla="*/ 2147483647 w 576"/>
              <a:gd name="T7" fmla="*/ 2147483647 h 576"/>
              <a:gd name="T8" fmla="*/ 2147483647 w 576"/>
              <a:gd name="T9" fmla="*/ 2147483647 h 576"/>
              <a:gd name="T10" fmla="*/ 2147483647 w 576"/>
              <a:gd name="T11" fmla="*/ 2147483647 h 576"/>
              <a:gd name="T12" fmla="*/ 2147483647 w 576"/>
              <a:gd name="T13" fmla="*/ 2147483647 h 576"/>
              <a:gd name="T14" fmla="*/ 2147483647 w 576"/>
              <a:gd name="T15" fmla="*/ 2147483647 h 576"/>
              <a:gd name="T16" fmla="*/ 2147483647 w 576"/>
              <a:gd name="T17" fmla="*/ 2147483647 h 576"/>
              <a:gd name="T18" fmla="*/ 2147483647 w 576"/>
              <a:gd name="T19" fmla="*/ 2147483647 h 576"/>
              <a:gd name="T20" fmla="*/ 2147483647 w 576"/>
              <a:gd name="T21" fmla="*/ 2147483647 h 576"/>
              <a:gd name="T22" fmla="*/ 2147483647 w 576"/>
              <a:gd name="T23" fmla="*/ 2147483647 h 576"/>
              <a:gd name="T24" fmla="*/ 2147483647 w 576"/>
              <a:gd name="T25" fmla="*/ 2147483647 h 576"/>
              <a:gd name="T26" fmla="*/ 2147483647 w 576"/>
              <a:gd name="T27" fmla="*/ 2147483647 h 576"/>
              <a:gd name="T28" fmla="*/ 2147483647 w 576"/>
              <a:gd name="T29" fmla="*/ 2147483647 h 576"/>
              <a:gd name="T30" fmla="*/ 0 w 576"/>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6"/>
              <a:gd name="T49" fmla="*/ 0 h 576"/>
              <a:gd name="T50" fmla="*/ 576 w 576"/>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6" h="576">
                <a:moveTo>
                  <a:pt x="575" y="575"/>
                </a:moveTo>
                <a:lnTo>
                  <a:pt x="515" y="570"/>
                </a:lnTo>
                <a:lnTo>
                  <a:pt x="484" y="562"/>
                </a:lnTo>
                <a:lnTo>
                  <a:pt x="455" y="553"/>
                </a:lnTo>
                <a:lnTo>
                  <a:pt x="424" y="540"/>
                </a:lnTo>
                <a:lnTo>
                  <a:pt x="393" y="521"/>
                </a:lnTo>
                <a:lnTo>
                  <a:pt x="364" y="498"/>
                </a:lnTo>
                <a:lnTo>
                  <a:pt x="303" y="432"/>
                </a:lnTo>
                <a:lnTo>
                  <a:pt x="242" y="338"/>
                </a:lnTo>
                <a:lnTo>
                  <a:pt x="182" y="224"/>
                </a:lnTo>
                <a:lnTo>
                  <a:pt x="151" y="167"/>
                </a:lnTo>
                <a:lnTo>
                  <a:pt x="120" y="114"/>
                </a:lnTo>
                <a:lnTo>
                  <a:pt x="91" y="67"/>
                </a:lnTo>
                <a:lnTo>
                  <a:pt x="60" y="31"/>
                </a:lnTo>
                <a:lnTo>
                  <a:pt x="30" y="8"/>
                </a:lnTo>
                <a:lnTo>
                  <a:pt x="0" y="0"/>
                </a:lnTo>
              </a:path>
            </a:pathLst>
          </a:custGeom>
          <a:noFill/>
          <a:ln w="50800" cap="rnd">
            <a:solidFill>
              <a:srgbClr val="FF0000"/>
            </a:solidFill>
            <a:round/>
            <a:headEnd type="none" w="sm" len="sm"/>
            <a:tailEnd type="none" w="sm" len="sm"/>
          </a:ln>
        </p:spPr>
        <p:txBody>
          <a:bodyPr/>
          <a:lstStyle/>
          <a:p>
            <a:endParaRPr lang="en-US"/>
          </a:p>
        </p:txBody>
      </p:sp>
      <p:sp>
        <p:nvSpPr>
          <p:cNvPr id="92169" name="Line 9"/>
          <p:cNvSpPr>
            <a:spLocks noChangeShapeType="1"/>
          </p:cNvSpPr>
          <p:nvPr/>
        </p:nvSpPr>
        <p:spPr bwMode="auto">
          <a:xfrm>
            <a:off x="2209800" y="4419600"/>
            <a:ext cx="5105400" cy="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92170" name="Line 10"/>
          <p:cNvSpPr>
            <a:spLocks noChangeShapeType="1"/>
          </p:cNvSpPr>
          <p:nvPr/>
        </p:nvSpPr>
        <p:spPr bwMode="auto">
          <a:xfrm flipH="1">
            <a:off x="6400800" y="3810000"/>
            <a:ext cx="457200" cy="533400"/>
          </a:xfrm>
          <a:prstGeom prst="line">
            <a:avLst/>
          </a:prstGeom>
          <a:noFill/>
          <a:ln w="12700">
            <a:solidFill>
              <a:schemeClr val="tx1"/>
            </a:solidFill>
            <a:round/>
            <a:headEnd type="none" w="sm" len="sm"/>
            <a:tailEnd type="stealth" w="med" len="med"/>
          </a:ln>
        </p:spPr>
        <p:txBody>
          <a:bodyPr wrap="none" anchor="ctr"/>
          <a:lstStyle/>
          <a:p>
            <a:endParaRPr lang="en-US"/>
          </a:p>
        </p:txBody>
      </p:sp>
      <p:sp>
        <p:nvSpPr>
          <p:cNvPr id="92171" name="Rectangle 11"/>
          <p:cNvSpPr>
            <a:spLocks noChangeArrowheads="1"/>
          </p:cNvSpPr>
          <p:nvPr/>
        </p:nvSpPr>
        <p:spPr bwMode="auto">
          <a:xfrm flipH="1">
            <a:off x="6781800" y="3429000"/>
            <a:ext cx="1371600" cy="45910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400" b="1" i="1" dirty="0">
                <a:latin typeface="Symbol" pitchFamily="18" charset="2"/>
                <a:sym typeface="Symbol" pitchFamily="18" charset="2"/>
              </a:rPr>
              <a:t> </a:t>
            </a:r>
            <a:r>
              <a:rPr lang="en-US" sz="2400" b="1" dirty="0"/>
              <a:t>= </a:t>
            </a:r>
            <a:r>
              <a:rPr lang="en-US" sz="2400" b="1" dirty="0" smtClean="0"/>
              <a:t>0.0</a:t>
            </a:r>
            <a:r>
              <a:rPr lang="id-ID" sz="2400" b="1" dirty="0" smtClean="0"/>
              <a:t>5</a:t>
            </a:r>
            <a:endParaRPr lang="en-US" sz="2400" b="1" dirty="0"/>
          </a:p>
        </p:txBody>
      </p:sp>
      <p:sp>
        <p:nvSpPr>
          <p:cNvPr id="92172" name="Line 12"/>
          <p:cNvSpPr>
            <a:spLocks noChangeShapeType="1"/>
          </p:cNvSpPr>
          <p:nvPr/>
        </p:nvSpPr>
        <p:spPr bwMode="auto">
          <a:xfrm>
            <a:off x="4800600" y="3048000"/>
            <a:ext cx="0" cy="1371600"/>
          </a:xfrm>
          <a:prstGeom prst="line">
            <a:avLst/>
          </a:prstGeom>
          <a:noFill/>
          <a:ln w="9525" cap="rnd">
            <a:solidFill>
              <a:schemeClr val="tx1"/>
            </a:solidFill>
            <a:prstDash val="sysDot"/>
            <a:miter lim="800000"/>
            <a:headEnd/>
            <a:tailEnd/>
          </a:ln>
        </p:spPr>
        <p:txBody>
          <a:bodyPr wrap="none"/>
          <a:lstStyle/>
          <a:p>
            <a:endParaRPr lang="en-US"/>
          </a:p>
        </p:txBody>
      </p:sp>
      <p:sp>
        <p:nvSpPr>
          <p:cNvPr id="92173" name="Line 13"/>
          <p:cNvSpPr>
            <a:spLocks noChangeShapeType="1"/>
          </p:cNvSpPr>
          <p:nvPr/>
        </p:nvSpPr>
        <p:spPr bwMode="auto">
          <a:xfrm>
            <a:off x="5943600" y="4495800"/>
            <a:ext cx="0" cy="304800"/>
          </a:xfrm>
          <a:prstGeom prst="line">
            <a:avLst/>
          </a:prstGeom>
          <a:noFill/>
          <a:ln w="19050">
            <a:solidFill>
              <a:schemeClr val="tx1"/>
            </a:solidFill>
            <a:round/>
            <a:headEnd/>
            <a:tailEnd/>
          </a:ln>
        </p:spPr>
        <p:txBody>
          <a:bodyPr wrap="none" anchor="ctr"/>
          <a:lstStyle/>
          <a:p>
            <a:endParaRPr lang="en-US"/>
          </a:p>
        </p:txBody>
      </p:sp>
      <p:sp>
        <p:nvSpPr>
          <p:cNvPr id="92174" name="Line 14"/>
          <p:cNvSpPr>
            <a:spLocks noChangeShapeType="1"/>
          </p:cNvSpPr>
          <p:nvPr/>
        </p:nvSpPr>
        <p:spPr bwMode="auto">
          <a:xfrm>
            <a:off x="5943600" y="4648200"/>
            <a:ext cx="16002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92175" name="Text Box 15"/>
          <p:cNvSpPr txBox="1">
            <a:spLocks noChangeArrowheads="1"/>
          </p:cNvSpPr>
          <p:nvPr/>
        </p:nvSpPr>
        <p:spPr bwMode="auto">
          <a:xfrm>
            <a:off x="5410200" y="4800600"/>
            <a:ext cx="1143000" cy="396875"/>
          </a:xfrm>
          <a:prstGeom prst="rect">
            <a:avLst/>
          </a:prstGeom>
          <a:noFill/>
          <a:ln w="19050" algn="ctr">
            <a:noFill/>
            <a:miter lim="800000"/>
            <a:headEnd/>
            <a:tailEnd/>
          </a:ln>
        </p:spPr>
        <p:txBody>
          <a:bodyPr>
            <a:spAutoFit/>
          </a:bodyPr>
          <a:lstStyle/>
          <a:p>
            <a:pPr algn="ctr">
              <a:spcBef>
                <a:spcPct val="50000"/>
              </a:spcBef>
            </a:pPr>
            <a:r>
              <a:rPr lang="en-US" sz="2000" b="1" dirty="0" smtClean="0">
                <a:solidFill>
                  <a:schemeClr val="folHlink"/>
                </a:solidFill>
                <a:cs typeface="Arial" charset="0"/>
              </a:rPr>
              <a:t>1.</a:t>
            </a:r>
            <a:r>
              <a:rPr lang="id-ID" sz="2000" b="1" dirty="0" smtClean="0">
                <a:solidFill>
                  <a:schemeClr val="folHlink"/>
                </a:solidFill>
                <a:cs typeface="Arial" charset="0"/>
              </a:rPr>
              <a:t>711</a:t>
            </a:r>
            <a:endParaRPr lang="el-GR" sz="2000" b="1" dirty="0">
              <a:solidFill>
                <a:schemeClr val="folHlink"/>
              </a:solidFill>
              <a:cs typeface="Arial" charset="0"/>
            </a:endParaRPr>
          </a:p>
        </p:txBody>
      </p:sp>
      <p:sp>
        <p:nvSpPr>
          <p:cNvPr id="92176" name="Line 16"/>
          <p:cNvSpPr>
            <a:spLocks noChangeShapeType="1"/>
          </p:cNvSpPr>
          <p:nvPr/>
        </p:nvSpPr>
        <p:spPr bwMode="auto">
          <a:xfrm>
            <a:off x="2057400" y="4648200"/>
            <a:ext cx="38862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92177" name="Text Box 17"/>
          <p:cNvSpPr txBox="1">
            <a:spLocks noChangeArrowheads="1"/>
          </p:cNvSpPr>
          <p:nvPr/>
        </p:nvSpPr>
        <p:spPr bwMode="auto">
          <a:xfrm>
            <a:off x="4572000" y="4876800"/>
            <a:ext cx="457200" cy="366713"/>
          </a:xfrm>
          <a:prstGeom prst="rect">
            <a:avLst/>
          </a:prstGeom>
          <a:noFill/>
          <a:ln w="19050" algn="ctr">
            <a:noFill/>
            <a:miter lim="800000"/>
            <a:headEnd/>
            <a:tailEnd/>
          </a:ln>
        </p:spPr>
        <p:txBody>
          <a:bodyPr>
            <a:spAutoFit/>
          </a:bodyPr>
          <a:lstStyle/>
          <a:p>
            <a:pPr algn="ctr">
              <a:spcBef>
                <a:spcPct val="50000"/>
              </a:spcBef>
            </a:pPr>
            <a:r>
              <a:rPr lang="en-US" sz="1800"/>
              <a:t>0</a:t>
            </a:r>
            <a:endParaRPr lang="el-GR" sz="1800" baseline="-25000">
              <a:cs typeface="Arial" charset="0"/>
            </a:endParaRPr>
          </a:p>
        </p:txBody>
      </p:sp>
      <p:sp>
        <p:nvSpPr>
          <p:cNvPr id="92178" name="Line 18"/>
          <p:cNvSpPr>
            <a:spLocks noChangeShapeType="1"/>
          </p:cNvSpPr>
          <p:nvPr/>
        </p:nvSpPr>
        <p:spPr bwMode="auto">
          <a:xfrm flipV="1">
            <a:off x="5943600" y="2743200"/>
            <a:ext cx="0" cy="1676400"/>
          </a:xfrm>
          <a:prstGeom prst="line">
            <a:avLst/>
          </a:prstGeom>
          <a:noFill/>
          <a:ln w="19050">
            <a:solidFill>
              <a:schemeClr val="tx1"/>
            </a:solidFill>
            <a:prstDash val="sysDot"/>
            <a:round/>
            <a:headEnd/>
            <a:tailEnd/>
          </a:ln>
        </p:spPr>
        <p:txBody>
          <a:bodyPr wrap="none" anchor="ctr"/>
          <a:lstStyle/>
          <a:p>
            <a:endParaRPr lang="en-US"/>
          </a:p>
        </p:txBody>
      </p:sp>
      <p:sp>
        <p:nvSpPr>
          <p:cNvPr id="92179" name="Line 19"/>
          <p:cNvSpPr>
            <a:spLocks noChangeShapeType="1"/>
          </p:cNvSpPr>
          <p:nvPr/>
        </p:nvSpPr>
        <p:spPr bwMode="auto">
          <a:xfrm>
            <a:off x="5943600" y="2895600"/>
            <a:ext cx="1676400" cy="0"/>
          </a:xfrm>
          <a:prstGeom prst="line">
            <a:avLst/>
          </a:prstGeom>
          <a:noFill/>
          <a:ln w="28575">
            <a:solidFill>
              <a:schemeClr val="folHlink"/>
            </a:solidFill>
            <a:round/>
            <a:headEnd/>
            <a:tailEnd type="triangle" w="med" len="med"/>
          </a:ln>
        </p:spPr>
        <p:txBody>
          <a:bodyPr wrap="none" anchor="ctr"/>
          <a:lstStyle/>
          <a:p>
            <a:endParaRPr lang="en-US"/>
          </a:p>
        </p:txBody>
      </p:sp>
      <p:sp>
        <p:nvSpPr>
          <p:cNvPr id="92180" name="Text Box 20"/>
          <p:cNvSpPr txBox="1">
            <a:spLocks noChangeArrowheads="1"/>
          </p:cNvSpPr>
          <p:nvPr/>
        </p:nvSpPr>
        <p:spPr bwMode="auto">
          <a:xfrm>
            <a:off x="6019800" y="2514600"/>
            <a:ext cx="1524000" cy="396875"/>
          </a:xfrm>
          <a:prstGeom prst="rect">
            <a:avLst/>
          </a:prstGeom>
          <a:noFill/>
          <a:ln w="19050" algn="ctr">
            <a:noFill/>
            <a:miter lim="800000"/>
            <a:headEnd/>
            <a:tailEnd/>
          </a:ln>
        </p:spPr>
        <p:txBody>
          <a:bodyPr>
            <a:spAutoFit/>
          </a:bodyPr>
          <a:lstStyle/>
          <a:p>
            <a:pPr algn="ctr">
              <a:spcBef>
                <a:spcPct val="50000"/>
              </a:spcBef>
            </a:pPr>
            <a:r>
              <a:rPr lang="id-ID" sz="2000" b="1" dirty="0" smtClean="0">
                <a:solidFill>
                  <a:schemeClr val="folHlink"/>
                </a:solidFill>
              </a:rPr>
              <a:t>Tolak</a:t>
            </a:r>
            <a:r>
              <a:rPr lang="en-US" sz="2000" b="1" dirty="0" smtClean="0">
                <a:solidFill>
                  <a:schemeClr val="folHlink"/>
                </a:solidFill>
              </a:rPr>
              <a:t> H</a:t>
            </a:r>
            <a:r>
              <a:rPr lang="id-ID" sz="2000" b="1" dirty="0" smtClean="0">
                <a:solidFill>
                  <a:schemeClr val="folHlink"/>
                </a:solidFill>
              </a:rPr>
              <a:t>o</a:t>
            </a:r>
            <a:endParaRPr lang="en-US" sz="2000" b="1" baseline="-25000" dirty="0">
              <a:solidFill>
                <a:schemeClr val="folHlink"/>
              </a:solidFill>
            </a:endParaRPr>
          </a:p>
        </p:txBody>
      </p:sp>
      <p:sp>
        <p:nvSpPr>
          <p:cNvPr id="92181" name="Text Box 21"/>
          <p:cNvSpPr txBox="1">
            <a:spLocks noChangeArrowheads="1"/>
          </p:cNvSpPr>
          <p:nvPr/>
        </p:nvSpPr>
        <p:spPr bwMode="auto">
          <a:xfrm>
            <a:off x="4800600" y="5715000"/>
            <a:ext cx="3886200" cy="461665"/>
          </a:xfrm>
          <a:prstGeom prst="rect">
            <a:avLst/>
          </a:prstGeom>
          <a:solidFill>
            <a:srgbClr val="FDE0BD"/>
          </a:solidFill>
          <a:ln w="9525" algn="ctr">
            <a:solidFill>
              <a:schemeClr val="tx1"/>
            </a:solidFill>
            <a:miter lim="800000"/>
            <a:headEnd/>
            <a:tailEnd/>
          </a:ln>
        </p:spPr>
        <p:txBody>
          <a:bodyPr wrap="square">
            <a:spAutoFit/>
          </a:bodyPr>
          <a:lstStyle/>
          <a:p>
            <a:pPr>
              <a:spcBef>
                <a:spcPct val="50000"/>
              </a:spcBef>
            </a:pPr>
            <a:r>
              <a:rPr lang="id-ID" sz="2400" dirty="0" smtClean="0"/>
              <a:t>Tolak </a:t>
            </a:r>
            <a:r>
              <a:rPr lang="en-US" sz="2400" dirty="0" smtClean="0"/>
              <a:t> H</a:t>
            </a:r>
            <a:r>
              <a:rPr lang="id-ID" sz="2400" dirty="0" smtClean="0"/>
              <a:t>o</a:t>
            </a:r>
            <a:r>
              <a:rPr lang="en-US" sz="2400" dirty="0" smtClean="0"/>
              <a:t> </a:t>
            </a:r>
            <a:r>
              <a:rPr lang="id-ID" sz="2400" dirty="0" smtClean="0"/>
              <a:t>jika</a:t>
            </a:r>
            <a:r>
              <a:rPr lang="en-US" sz="2400" dirty="0" smtClean="0"/>
              <a:t> t</a:t>
            </a:r>
            <a:r>
              <a:rPr lang="id-ID" sz="2400" baseline="-20000" dirty="0" smtClean="0"/>
              <a:t>hitung</a:t>
            </a:r>
            <a:r>
              <a:rPr lang="en-US" sz="2400" dirty="0" smtClean="0"/>
              <a:t> </a:t>
            </a:r>
            <a:r>
              <a:rPr lang="en-US" sz="2400" dirty="0"/>
              <a:t>&gt; </a:t>
            </a:r>
            <a:r>
              <a:rPr lang="en-US" sz="2400" dirty="0" smtClean="0"/>
              <a:t>1.</a:t>
            </a:r>
            <a:r>
              <a:rPr lang="id-ID" sz="2400" dirty="0" smtClean="0"/>
              <a:t>711</a:t>
            </a:r>
            <a:endParaRPr lang="en-US" sz="2400" dirty="0"/>
          </a:p>
        </p:txBody>
      </p:sp>
      <p:sp>
        <p:nvSpPr>
          <p:cNvPr id="92182" name="Rectangle 22"/>
          <p:cNvSpPr>
            <a:spLocks noChangeArrowheads="1"/>
          </p:cNvSpPr>
          <p:nvPr/>
        </p:nvSpPr>
        <p:spPr bwMode="auto">
          <a:xfrm>
            <a:off x="1143000" y="0"/>
            <a:ext cx="7793038" cy="838200"/>
          </a:xfrm>
          <a:prstGeom prst="rect">
            <a:avLst/>
          </a:prstGeom>
          <a:noFill/>
          <a:ln w="9525">
            <a:noFill/>
            <a:miter lim="800000"/>
            <a:headEnd/>
            <a:tailEnd/>
          </a:ln>
        </p:spPr>
        <p:txBody>
          <a:bodyPr lIns="85342" tIns="42672" rIns="85342" bIns="42672" anchor="b"/>
          <a:lstStyle/>
          <a:p>
            <a:pPr algn="ctr" defTabSz="852488">
              <a:lnSpc>
                <a:spcPct val="80000"/>
              </a:lnSpc>
            </a:pPr>
            <a:r>
              <a:rPr lang="id-ID" sz="4000" dirty="0" smtClean="0">
                <a:solidFill>
                  <a:schemeClr val="tx2"/>
                </a:solidFill>
              </a:rPr>
              <a:t>Contoh: Pengujian Hipotesis</a:t>
            </a:r>
            <a:endParaRPr lang="en-US" sz="4000" dirty="0">
              <a:solidFill>
                <a:schemeClr val="tx2"/>
              </a:solidFill>
            </a:endParaRPr>
          </a:p>
        </p:txBody>
      </p:sp>
      <p:sp>
        <p:nvSpPr>
          <p:cNvPr id="92183" name="Line 23"/>
          <p:cNvSpPr>
            <a:spLocks noChangeShapeType="1"/>
          </p:cNvSpPr>
          <p:nvPr/>
        </p:nvSpPr>
        <p:spPr bwMode="auto">
          <a:xfrm flipV="1">
            <a:off x="5943600" y="5257800"/>
            <a:ext cx="0" cy="457200"/>
          </a:xfrm>
          <a:prstGeom prst="line">
            <a:avLst/>
          </a:prstGeom>
          <a:noFill/>
          <a:ln w="19050">
            <a:solidFill>
              <a:schemeClr val="tx1"/>
            </a:solidFill>
            <a:round/>
            <a:headEnd/>
            <a:tailEnd type="triangle" w="med" len="med"/>
          </a:ln>
        </p:spPr>
        <p:txBody>
          <a:bodyPr wrap="none" anchor="ctr"/>
          <a:lstStyle/>
          <a:p>
            <a:endParaRPr lang="en-US"/>
          </a:p>
        </p:txBody>
      </p:sp>
      <p:sp>
        <p:nvSpPr>
          <p:cNvPr id="92184" name="Text Box 24"/>
          <p:cNvSpPr txBox="1">
            <a:spLocks noChangeArrowheads="1"/>
          </p:cNvSpPr>
          <p:nvPr/>
        </p:nvSpPr>
        <p:spPr bwMode="auto">
          <a:xfrm>
            <a:off x="7543800" y="1223963"/>
            <a:ext cx="1454150" cy="396875"/>
          </a:xfrm>
          <a:prstGeom prst="rect">
            <a:avLst/>
          </a:prstGeom>
          <a:noFill/>
          <a:ln w="9525">
            <a:noFill/>
            <a:miter lim="800000"/>
            <a:headEnd/>
            <a:tailEnd/>
          </a:ln>
        </p:spPr>
        <p:txBody>
          <a:bodyPr wrap="none">
            <a:spAutoFit/>
          </a:bodyPr>
          <a:lstStyle/>
          <a:p>
            <a:r>
              <a:rPr lang="en-US" sz="2000" i="1">
                <a:solidFill>
                  <a:schemeClr val="tx2"/>
                </a:solidFill>
              </a:rPr>
              <a:t>(continued)</a:t>
            </a:r>
          </a:p>
        </p:txBody>
      </p:sp>
      <p:sp>
        <p:nvSpPr>
          <p:cNvPr id="92187" name="Rectangle 28"/>
          <p:cNvSpPr>
            <a:spLocks noChangeArrowheads="1"/>
          </p:cNvSpPr>
          <p:nvPr/>
        </p:nvSpPr>
        <p:spPr bwMode="auto">
          <a:xfrm>
            <a:off x="7772400" y="762000"/>
            <a:ext cx="1257300" cy="461963"/>
          </a:xfrm>
          <a:prstGeom prst="rect">
            <a:avLst/>
          </a:prstGeom>
          <a:noFill/>
          <a:ln w="9525">
            <a:noFill/>
            <a:miter lim="800000"/>
            <a:headEnd/>
            <a:tailEnd/>
          </a:ln>
        </p:spPr>
        <p:txBody>
          <a:bodyPr wrap="none">
            <a:spAutoFit/>
          </a:bodyPr>
          <a:lstStyle/>
          <a:p>
            <a:r>
              <a:rPr lang="en-US"/>
              <a:t>DCOV</a:t>
            </a:r>
            <a:r>
              <a:rPr lang="en-US" u="sng">
                <a:solidFill>
                  <a:srgbClr val="FF0000"/>
                </a:solidFill>
              </a:rPr>
              <a:t>A</a:t>
            </a:r>
          </a:p>
        </p:txBody>
      </p:sp>
      <p:sp>
        <p:nvSpPr>
          <p:cNvPr id="30" name="Text Box 21"/>
          <p:cNvSpPr txBox="1">
            <a:spLocks noChangeArrowheads="1"/>
          </p:cNvSpPr>
          <p:nvPr/>
        </p:nvSpPr>
        <p:spPr bwMode="auto">
          <a:xfrm>
            <a:off x="76200" y="4999672"/>
            <a:ext cx="4648200" cy="1477328"/>
          </a:xfrm>
          <a:prstGeom prst="rect">
            <a:avLst/>
          </a:prstGeom>
          <a:solidFill>
            <a:srgbClr val="FDE0BD"/>
          </a:solidFill>
          <a:ln w="9525" algn="ctr">
            <a:solidFill>
              <a:schemeClr val="tx1"/>
            </a:solidFill>
            <a:miter lim="800000"/>
            <a:headEnd/>
            <a:tailEnd/>
          </a:ln>
        </p:spPr>
        <p:txBody>
          <a:bodyPr wrap="square">
            <a:spAutoFit/>
          </a:bodyPr>
          <a:lstStyle/>
          <a:p>
            <a:pPr>
              <a:spcBef>
                <a:spcPct val="50000"/>
              </a:spcBef>
            </a:pPr>
            <a:r>
              <a:rPr lang="id-ID" b="1" dirty="0" smtClean="0"/>
              <a:t>3</a:t>
            </a:r>
            <a:r>
              <a:rPr lang="id-ID" dirty="0" smtClean="0"/>
              <a:t>. Distribusi sampling: karena </a:t>
            </a:r>
            <a:r>
              <a:rPr lang="el-GR" dirty="0" smtClean="0"/>
              <a:t>σ</a:t>
            </a:r>
            <a:r>
              <a:rPr lang="id-ID" dirty="0" smtClean="0"/>
              <a:t> tdk diketahui dan n&lt;30 maka digunakan uji t </a:t>
            </a:r>
          </a:p>
          <a:p>
            <a:pPr>
              <a:spcBef>
                <a:spcPct val="50000"/>
              </a:spcBef>
            </a:pPr>
            <a:r>
              <a:rPr lang="id-ID" b="1" dirty="0" smtClean="0"/>
              <a:t>4</a:t>
            </a:r>
            <a:r>
              <a:rPr lang="id-ID" dirty="0" smtClean="0"/>
              <a:t>. Titik kritis:</a:t>
            </a:r>
          </a:p>
          <a:p>
            <a:pPr>
              <a:spcBef>
                <a:spcPct val="50000"/>
              </a:spcBef>
            </a:pPr>
            <a:r>
              <a:rPr lang="id-ID" dirty="0" smtClean="0"/>
              <a:t>t</a:t>
            </a:r>
            <a:r>
              <a:rPr lang="el-GR" baseline="-25000" dirty="0" smtClean="0"/>
              <a:t>α</a:t>
            </a:r>
            <a:r>
              <a:rPr lang="id-ID" baseline="-25000" dirty="0" smtClean="0"/>
              <a:t>,n-1</a:t>
            </a:r>
            <a:r>
              <a:rPr lang="id-ID" dirty="0" smtClean="0"/>
              <a:t>=t</a:t>
            </a:r>
            <a:r>
              <a:rPr lang="id-ID" baseline="-25000" dirty="0" smtClean="0"/>
              <a:t>0.05,24</a:t>
            </a:r>
            <a:r>
              <a:rPr lang="id-ID" dirty="0" smtClean="0"/>
              <a:t>= 1.711 </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5"/>
          <p:cNvSpPr>
            <a:spLocks noGrp="1" noChangeArrowheads="1"/>
          </p:cNvSpPr>
          <p:nvPr>
            <p:ph type="sldNum" sz="quarter" idx="10"/>
          </p:nvPr>
        </p:nvSpPr>
        <p:spPr>
          <a:ln/>
        </p:spPr>
        <p:txBody>
          <a:bodyPr/>
          <a:lstStyle/>
          <a:p>
            <a:pPr>
              <a:defRPr/>
            </a:pPr>
            <a:r>
              <a:rPr lang="en-US"/>
              <a:t>Chap 9-</a:t>
            </a:r>
            <a:fld id="{495FB5E0-7359-428A-A41A-E03A167ED95F}" type="slidenum">
              <a:rPr lang="en-US"/>
              <a:pPr>
                <a:defRPr/>
              </a:pPr>
              <a:t>25</a:t>
            </a:fld>
            <a:endParaRPr lang="en-US"/>
          </a:p>
        </p:txBody>
      </p:sp>
      <p:sp>
        <p:nvSpPr>
          <p:cNvPr id="13"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12291"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C63DA47E-46F0-404C-876A-990C65830A9A}" type="slidenum">
              <a:rPr lang="en-US" sz="1000"/>
              <a:pPr algn="r" defTabSz="852488"/>
              <a:t>25</a:t>
            </a:fld>
            <a:endParaRPr lang="en-US" sz="1000"/>
          </a:p>
        </p:txBody>
      </p:sp>
      <p:sp>
        <p:nvSpPr>
          <p:cNvPr id="12292" name="Rectangle 2"/>
          <p:cNvSpPr>
            <a:spLocks noChangeArrowheads="1"/>
          </p:cNvSpPr>
          <p:nvPr/>
        </p:nvSpPr>
        <p:spPr bwMode="auto">
          <a:xfrm>
            <a:off x="7315200" y="4800600"/>
            <a:ext cx="838200" cy="533400"/>
          </a:xfrm>
          <a:prstGeom prst="rect">
            <a:avLst/>
          </a:prstGeom>
          <a:solidFill>
            <a:srgbClr val="C7DAF7"/>
          </a:solidFill>
          <a:ln w="19050" algn="ctr">
            <a:noFill/>
            <a:miter lim="800000"/>
            <a:headEnd/>
            <a:tailEnd/>
          </a:ln>
        </p:spPr>
        <p:txBody>
          <a:bodyPr wrap="none" anchor="ctr"/>
          <a:lstStyle/>
          <a:p>
            <a:endParaRPr lang="en-US"/>
          </a:p>
        </p:txBody>
      </p:sp>
      <p:sp>
        <p:nvSpPr>
          <p:cNvPr id="12293" name="Rectangle 3"/>
          <p:cNvSpPr>
            <a:spLocks noChangeArrowheads="1"/>
          </p:cNvSpPr>
          <p:nvPr/>
        </p:nvSpPr>
        <p:spPr bwMode="auto">
          <a:xfrm>
            <a:off x="685800" y="2667000"/>
            <a:ext cx="7924800" cy="990600"/>
          </a:xfrm>
          <a:prstGeom prst="rect">
            <a:avLst/>
          </a:prstGeom>
          <a:solidFill>
            <a:srgbClr val="FDE0BD"/>
          </a:solidFill>
          <a:ln w="19050" algn="ctr">
            <a:solidFill>
              <a:schemeClr val="tx1"/>
            </a:solidFill>
            <a:miter lim="800000"/>
            <a:headEnd/>
            <a:tailEnd/>
          </a:ln>
        </p:spPr>
        <p:txBody>
          <a:bodyPr wrap="none" anchor="ctr"/>
          <a:lstStyle/>
          <a:p>
            <a:endParaRPr lang="en-US"/>
          </a:p>
        </p:txBody>
      </p:sp>
      <p:sp>
        <p:nvSpPr>
          <p:cNvPr id="12294" name="Rectangle 4"/>
          <p:cNvSpPr>
            <a:spLocks noGrp="1" noChangeArrowheads="1"/>
          </p:cNvSpPr>
          <p:nvPr>
            <p:ph type="body" idx="4294967295"/>
          </p:nvPr>
        </p:nvSpPr>
        <p:spPr>
          <a:xfrm>
            <a:off x="685800" y="1676400"/>
            <a:ext cx="8153400" cy="2930033"/>
          </a:xfrm>
        </p:spPr>
        <p:txBody>
          <a:bodyPr>
            <a:spAutoFit/>
          </a:bodyPr>
          <a:lstStyle/>
          <a:p>
            <a:pPr>
              <a:spcBef>
                <a:spcPct val="40000"/>
              </a:spcBef>
              <a:buNone/>
            </a:pPr>
            <a:r>
              <a:rPr lang="id-ID" dirty="0" smtClean="0"/>
              <a:t>Misal digunakan </a:t>
            </a:r>
            <a:r>
              <a:rPr lang="en-US" dirty="0" smtClean="0">
                <a:sym typeface="Symbol" pitchFamily="18" charset="2"/>
              </a:rPr>
              <a:t> = 0.10 </a:t>
            </a:r>
            <a:r>
              <a:rPr lang="id-ID" dirty="0" smtClean="0">
                <a:sym typeface="Symbol" pitchFamily="18" charset="2"/>
              </a:rPr>
              <a:t>dan </a:t>
            </a:r>
            <a:r>
              <a:rPr lang="en-US" dirty="0" smtClean="0">
                <a:sym typeface="Symbol" pitchFamily="18" charset="2"/>
              </a:rPr>
              <a:t> n = 25.</a:t>
            </a:r>
            <a:endParaRPr lang="id-ID" dirty="0" smtClean="0">
              <a:sym typeface="Symbol" pitchFamily="18" charset="2"/>
            </a:endParaRPr>
          </a:p>
          <a:p>
            <a:pPr>
              <a:spcBef>
                <a:spcPct val="40000"/>
              </a:spcBef>
              <a:buNone/>
            </a:pPr>
            <a:endParaRPr lang="en-US" sz="1600" dirty="0" smtClean="0">
              <a:solidFill>
                <a:schemeClr val="folHlink"/>
              </a:solidFill>
            </a:endParaRPr>
          </a:p>
          <a:p>
            <a:pPr eaLnBrk="1" hangingPunct="1">
              <a:spcBef>
                <a:spcPct val="40000"/>
              </a:spcBef>
              <a:buFont typeface="Wingdings" pitchFamily="2" charset="2"/>
              <a:buNone/>
            </a:pPr>
            <a:r>
              <a:rPr lang="en-US" dirty="0" smtClean="0">
                <a:solidFill>
                  <a:schemeClr val="folHlink"/>
                </a:solidFill>
              </a:rPr>
              <a:t>n = 25,  X = 53.1, and S = 10</a:t>
            </a:r>
            <a:r>
              <a:rPr lang="en-US" sz="3200" dirty="0" smtClean="0"/>
              <a:t> </a:t>
            </a:r>
            <a:endParaRPr lang="id-ID" sz="3200" dirty="0" smtClean="0"/>
          </a:p>
          <a:p>
            <a:pPr eaLnBrk="1" hangingPunct="1">
              <a:spcBef>
                <a:spcPct val="40000"/>
              </a:spcBef>
              <a:buFont typeface="Wingdings" pitchFamily="2" charset="2"/>
              <a:buNone/>
            </a:pPr>
            <a:endParaRPr lang="en-US" sz="3200" dirty="0" smtClean="0"/>
          </a:p>
          <a:p>
            <a:pPr lvl="1" eaLnBrk="1" hangingPunct="1">
              <a:lnSpc>
                <a:spcPct val="120000"/>
              </a:lnSpc>
              <a:spcBef>
                <a:spcPct val="40000"/>
              </a:spcBef>
              <a:buNone/>
            </a:pPr>
            <a:r>
              <a:rPr lang="id-ID" sz="2800" dirty="0" smtClean="0"/>
              <a:t>5. Statistik uji</a:t>
            </a:r>
            <a:r>
              <a:rPr lang="en-US" sz="2800" dirty="0" smtClean="0"/>
              <a:t>:</a:t>
            </a:r>
          </a:p>
        </p:txBody>
      </p:sp>
      <p:graphicFrame>
        <p:nvGraphicFramePr>
          <p:cNvPr id="12290" name="Object 5">
            <a:hlinkClick r:id="" action="ppaction://ole?verb=0"/>
          </p:cNvPr>
          <p:cNvGraphicFramePr>
            <a:graphicFrameLocks/>
          </p:cNvGraphicFramePr>
          <p:nvPr/>
        </p:nvGraphicFramePr>
        <p:xfrm>
          <a:off x="1797050" y="4437063"/>
          <a:ext cx="6264275" cy="1830387"/>
        </p:xfrm>
        <a:graphic>
          <a:graphicData uri="http://schemas.openxmlformats.org/presentationml/2006/ole">
            <mc:AlternateContent xmlns:mc="http://schemas.openxmlformats.org/markup-compatibility/2006">
              <mc:Choice xmlns:v="urn:schemas-microsoft-com:vml" Requires="v">
                <p:oleObj spid="_x0000_s396297" name="Equation" r:id="rId4" imgW="2336760" imgH="634680" progId="Equation.DSMT4">
                  <p:embed/>
                </p:oleObj>
              </mc:Choice>
              <mc:Fallback>
                <p:oleObj name="Equation" r:id="rId4" imgW="2336760" imgH="634680" progId="Equation.DSMT4">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7050" y="4437063"/>
                        <a:ext cx="6264275" cy="183038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5" name="Line 6"/>
          <p:cNvSpPr>
            <a:spLocks noChangeShapeType="1"/>
          </p:cNvSpPr>
          <p:nvPr/>
        </p:nvSpPr>
        <p:spPr bwMode="auto">
          <a:xfrm>
            <a:off x="3810000" y="3124200"/>
            <a:ext cx="304800" cy="0"/>
          </a:xfrm>
          <a:prstGeom prst="line">
            <a:avLst/>
          </a:prstGeom>
          <a:noFill/>
          <a:ln w="19050">
            <a:solidFill>
              <a:schemeClr val="folHlink"/>
            </a:solidFill>
            <a:round/>
            <a:headEnd/>
            <a:tailEnd/>
          </a:ln>
        </p:spPr>
        <p:txBody>
          <a:bodyPr wrap="none" anchor="ctr"/>
          <a:lstStyle/>
          <a:p>
            <a:endParaRPr lang="en-US"/>
          </a:p>
        </p:txBody>
      </p:sp>
      <p:sp>
        <p:nvSpPr>
          <p:cNvPr id="12296" name="Rectangle 7"/>
          <p:cNvSpPr>
            <a:spLocks noGrp="1" noChangeArrowheads="1"/>
          </p:cNvSpPr>
          <p:nvPr>
            <p:ph type="title" idx="4294967295"/>
          </p:nvPr>
        </p:nvSpPr>
        <p:spPr>
          <a:xfrm>
            <a:off x="685800" y="228600"/>
            <a:ext cx="7383463" cy="990600"/>
          </a:xfrm>
        </p:spPr>
        <p:txBody>
          <a:bodyPr/>
          <a:lstStyle/>
          <a:p>
            <a:pPr eaLnBrk="1" hangingPunct="1"/>
            <a:r>
              <a:rPr lang="id-ID" dirty="0" smtClean="0"/>
              <a:t>Contoh: Pengujian Hipotesis </a:t>
            </a:r>
            <a:endParaRPr lang="en-US" dirty="0" smtClean="0"/>
          </a:p>
        </p:txBody>
      </p:sp>
      <p:sp>
        <p:nvSpPr>
          <p:cNvPr id="12297" name="Text Box 8"/>
          <p:cNvSpPr txBox="1">
            <a:spLocks noChangeArrowheads="1"/>
          </p:cNvSpPr>
          <p:nvPr/>
        </p:nvSpPr>
        <p:spPr bwMode="auto">
          <a:xfrm>
            <a:off x="7543800" y="1223963"/>
            <a:ext cx="1454150" cy="396875"/>
          </a:xfrm>
          <a:prstGeom prst="rect">
            <a:avLst/>
          </a:prstGeom>
          <a:noFill/>
          <a:ln w="9525">
            <a:noFill/>
            <a:miter lim="800000"/>
            <a:headEnd/>
            <a:tailEnd/>
          </a:ln>
        </p:spPr>
        <p:txBody>
          <a:bodyPr wrap="none">
            <a:spAutoFit/>
          </a:bodyPr>
          <a:lstStyle/>
          <a:p>
            <a:r>
              <a:rPr lang="en-US" sz="2000" i="1">
                <a:solidFill>
                  <a:schemeClr val="tx2"/>
                </a:solidFill>
              </a:rPr>
              <a:t>(continued)</a:t>
            </a:r>
          </a:p>
        </p:txBody>
      </p:sp>
      <p:pic>
        <p:nvPicPr>
          <p:cNvPr id="12298" name="Picture 9" descr="j0174123"/>
          <p:cNvPicPr>
            <a:picLocks noChangeAspect="1" noChangeArrowheads="1"/>
          </p:cNvPicPr>
          <p:nvPr/>
        </p:nvPicPr>
        <p:blipFill>
          <a:blip r:embed="rId6" cstate="print"/>
          <a:srcRect/>
          <a:stretch>
            <a:fillRect/>
          </a:stretch>
        </p:blipFill>
        <p:spPr bwMode="auto">
          <a:xfrm>
            <a:off x="152400" y="5029200"/>
            <a:ext cx="1193800" cy="1185863"/>
          </a:xfrm>
          <a:prstGeom prst="rect">
            <a:avLst/>
          </a:prstGeom>
          <a:noFill/>
          <a:ln w="9525">
            <a:noFill/>
            <a:miter lim="800000"/>
            <a:headEnd/>
            <a:tailEnd/>
          </a:ln>
        </p:spPr>
      </p:pic>
      <p:sp>
        <p:nvSpPr>
          <p:cNvPr id="12300" name="Rectangle 12"/>
          <p:cNvSpPr>
            <a:spLocks noChangeArrowheads="1"/>
          </p:cNvSpPr>
          <p:nvPr/>
        </p:nvSpPr>
        <p:spPr bwMode="auto">
          <a:xfrm>
            <a:off x="7772400" y="762000"/>
            <a:ext cx="1257300" cy="461963"/>
          </a:xfrm>
          <a:prstGeom prst="rect">
            <a:avLst/>
          </a:prstGeom>
          <a:noFill/>
          <a:ln w="9525">
            <a:noFill/>
            <a:miter lim="800000"/>
            <a:headEnd/>
            <a:tailEnd/>
          </a:ln>
        </p:spPr>
        <p:txBody>
          <a:bodyPr wrap="none">
            <a:spAutoFit/>
          </a:bodyPr>
          <a:lstStyle/>
          <a:p>
            <a:r>
              <a:rPr lang="en-US"/>
              <a:t>DCOV</a:t>
            </a:r>
            <a:r>
              <a:rPr lang="en-US" u="sng">
                <a:solidFill>
                  <a:srgbClr val="FF0000"/>
                </a:solidFill>
              </a:rPr>
              <a:t>A</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5"/>
          <p:cNvSpPr>
            <a:spLocks noGrp="1" noChangeArrowheads="1"/>
          </p:cNvSpPr>
          <p:nvPr>
            <p:ph type="sldNum" sz="quarter" idx="10"/>
          </p:nvPr>
        </p:nvSpPr>
        <p:spPr>
          <a:ln/>
        </p:spPr>
        <p:txBody>
          <a:bodyPr/>
          <a:lstStyle/>
          <a:p>
            <a:pPr>
              <a:defRPr/>
            </a:pPr>
            <a:r>
              <a:rPr lang="en-US"/>
              <a:t>Chap 9-</a:t>
            </a:r>
            <a:fld id="{45E92A02-0FF1-4A4C-A3E5-6FC1E9604FFE}" type="slidenum">
              <a:rPr lang="en-US"/>
              <a:pPr>
                <a:defRPr/>
              </a:pPr>
              <a:t>26</a:t>
            </a:fld>
            <a:endParaRPr lang="en-US"/>
          </a:p>
        </p:txBody>
      </p:sp>
      <p:sp>
        <p:nvSpPr>
          <p:cNvPr id="30"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96257"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77874F5E-365D-4EE8-AB52-195BFAF331B4}" type="slidenum">
              <a:rPr lang="en-US" sz="1000"/>
              <a:pPr algn="r" defTabSz="852488"/>
              <a:t>26</a:t>
            </a:fld>
            <a:endParaRPr lang="en-US" sz="1000"/>
          </a:p>
        </p:txBody>
      </p:sp>
      <p:sp>
        <p:nvSpPr>
          <p:cNvPr id="96258" name="Text Box 2"/>
          <p:cNvSpPr txBox="1">
            <a:spLocks noChangeArrowheads="1"/>
          </p:cNvSpPr>
          <p:nvPr/>
        </p:nvSpPr>
        <p:spPr bwMode="auto">
          <a:xfrm>
            <a:off x="6324600" y="4343400"/>
            <a:ext cx="990600" cy="304800"/>
          </a:xfrm>
          <a:prstGeom prst="rect">
            <a:avLst/>
          </a:prstGeom>
          <a:solidFill>
            <a:srgbClr val="FFFFA7"/>
          </a:solidFill>
          <a:ln w="19050" algn="ctr">
            <a:noFill/>
            <a:miter lim="800000"/>
            <a:headEnd/>
            <a:tailEnd/>
          </a:ln>
        </p:spPr>
        <p:txBody>
          <a:bodyPr>
            <a:spAutoFit/>
          </a:bodyPr>
          <a:lstStyle/>
          <a:p>
            <a:pPr algn="ctr">
              <a:spcBef>
                <a:spcPct val="50000"/>
              </a:spcBef>
            </a:pPr>
            <a:r>
              <a:rPr lang="id-ID" sz="1400" dirty="0" smtClean="0"/>
              <a:t>Tolak</a:t>
            </a:r>
            <a:r>
              <a:rPr lang="en-US" sz="1400" dirty="0" smtClean="0"/>
              <a:t> </a:t>
            </a:r>
            <a:r>
              <a:rPr lang="en-US" sz="1400" dirty="0"/>
              <a:t>H</a:t>
            </a:r>
            <a:r>
              <a:rPr lang="en-US" sz="1400" baseline="-25000" dirty="0"/>
              <a:t>0</a:t>
            </a:r>
          </a:p>
        </p:txBody>
      </p:sp>
      <p:sp>
        <p:nvSpPr>
          <p:cNvPr id="96259" name="Text Box 3"/>
          <p:cNvSpPr txBox="1">
            <a:spLocks noChangeArrowheads="1"/>
          </p:cNvSpPr>
          <p:nvPr/>
        </p:nvSpPr>
        <p:spPr bwMode="auto">
          <a:xfrm>
            <a:off x="3505200" y="4343400"/>
            <a:ext cx="1524000" cy="304800"/>
          </a:xfrm>
          <a:prstGeom prst="rect">
            <a:avLst/>
          </a:prstGeom>
          <a:solidFill>
            <a:srgbClr val="FFFFA7"/>
          </a:solidFill>
          <a:ln w="19050" algn="ctr">
            <a:noFill/>
            <a:miter lim="800000"/>
            <a:headEnd/>
            <a:tailEnd/>
          </a:ln>
        </p:spPr>
        <p:txBody>
          <a:bodyPr>
            <a:spAutoFit/>
          </a:bodyPr>
          <a:lstStyle/>
          <a:p>
            <a:pPr algn="ctr">
              <a:spcBef>
                <a:spcPct val="50000"/>
              </a:spcBef>
            </a:pPr>
            <a:r>
              <a:rPr lang="id-ID" sz="1400" dirty="0" smtClean="0"/>
              <a:t>Gagal tolak </a:t>
            </a:r>
            <a:r>
              <a:rPr lang="en-US" sz="1400" dirty="0" smtClean="0"/>
              <a:t>H</a:t>
            </a:r>
            <a:r>
              <a:rPr lang="en-US" sz="1400" baseline="-25000" dirty="0" smtClean="0"/>
              <a:t>0</a:t>
            </a:r>
            <a:endParaRPr lang="en-US" sz="1400" baseline="-25000" dirty="0"/>
          </a:p>
        </p:txBody>
      </p:sp>
      <p:sp>
        <p:nvSpPr>
          <p:cNvPr id="96260" name="Rectangle 4"/>
          <p:cNvSpPr>
            <a:spLocks noChangeArrowheads="1"/>
          </p:cNvSpPr>
          <p:nvPr/>
        </p:nvSpPr>
        <p:spPr bwMode="auto">
          <a:xfrm>
            <a:off x="4876800" y="4800600"/>
            <a:ext cx="1447800" cy="381000"/>
          </a:xfrm>
          <a:prstGeom prst="rect">
            <a:avLst/>
          </a:prstGeom>
          <a:solidFill>
            <a:srgbClr val="C7DAF7"/>
          </a:solidFill>
          <a:ln w="9525" algn="ctr">
            <a:solidFill>
              <a:schemeClr val="tx1"/>
            </a:solidFill>
            <a:miter lim="800000"/>
            <a:headEnd/>
            <a:tailEnd/>
          </a:ln>
        </p:spPr>
        <p:txBody>
          <a:bodyPr wrap="none" anchor="ctr"/>
          <a:lstStyle/>
          <a:p>
            <a:endParaRPr lang="en-US"/>
          </a:p>
        </p:txBody>
      </p:sp>
      <p:sp>
        <p:nvSpPr>
          <p:cNvPr id="96261" name="Rectangle 5"/>
          <p:cNvSpPr>
            <a:spLocks noGrp="1" noChangeArrowheads="1"/>
          </p:cNvSpPr>
          <p:nvPr>
            <p:ph type="title" idx="4294967295"/>
          </p:nvPr>
        </p:nvSpPr>
        <p:spPr/>
        <p:txBody>
          <a:bodyPr/>
          <a:lstStyle/>
          <a:p>
            <a:pPr eaLnBrk="1" hangingPunct="1"/>
            <a:r>
              <a:rPr lang="id-ID" dirty="0" smtClean="0"/>
              <a:t>Contoh: Pengujian Hipotesis</a:t>
            </a:r>
            <a:endParaRPr lang="en-US" dirty="0" smtClean="0"/>
          </a:p>
        </p:txBody>
      </p:sp>
      <p:sp>
        <p:nvSpPr>
          <p:cNvPr id="96262" name="Freeform 6"/>
          <p:cNvSpPr>
            <a:spLocks/>
          </p:cNvSpPr>
          <p:nvPr/>
        </p:nvSpPr>
        <p:spPr bwMode="auto">
          <a:xfrm>
            <a:off x="5865813" y="3698875"/>
            <a:ext cx="1150937" cy="414338"/>
          </a:xfrm>
          <a:custGeom>
            <a:avLst/>
            <a:gdLst>
              <a:gd name="T0" fmla="*/ 2147483647 w 725"/>
              <a:gd name="T1" fmla="*/ 2147483647 h 261"/>
              <a:gd name="T2" fmla="*/ 2147483647 w 725"/>
              <a:gd name="T3" fmla="*/ 2147483647 h 261"/>
              <a:gd name="T4" fmla="*/ 2147483647 w 725"/>
              <a:gd name="T5" fmla="*/ 2147483647 h 261"/>
              <a:gd name="T6" fmla="*/ 2147483647 w 725"/>
              <a:gd name="T7" fmla="*/ 2147483647 h 261"/>
              <a:gd name="T8" fmla="*/ 2147483647 w 725"/>
              <a:gd name="T9" fmla="*/ 2147483647 h 261"/>
              <a:gd name="T10" fmla="*/ 0 w 725"/>
              <a:gd name="T11" fmla="*/ 0 h 261"/>
              <a:gd name="T12" fmla="*/ 0 w 725"/>
              <a:gd name="T13" fmla="*/ 2147483647 h 261"/>
              <a:gd name="T14" fmla="*/ 2147483647 w 725"/>
              <a:gd name="T15" fmla="*/ 2147483647 h 261"/>
              <a:gd name="T16" fmla="*/ 2147483647 w 725"/>
              <a:gd name="T17" fmla="*/ 2147483647 h 26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725"/>
              <a:gd name="T28" fmla="*/ 0 h 261"/>
              <a:gd name="T29" fmla="*/ 725 w 725"/>
              <a:gd name="T30" fmla="*/ 261 h 26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725" h="261">
                <a:moveTo>
                  <a:pt x="717" y="257"/>
                </a:moveTo>
                <a:lnTo>
                  <a:pt x="725" y="222"/>
                </a:lnTo>
                <a:lnTo>
                  <a:pt x="490" y="208"/>
                </a:lnTo>
                <a:lnTo>
                  <a:pt x="339" y="170"/>
                </a:lnTo>
                <a:lnTo>
                  <a:pt x="192" y="120"/>
                </a:lnTo>
                <a:lnTo>
                  <a:pt x="0" y="0"/>
                </a:lnTo>
                <a:lnTo>
                  <a:pt x="0" y="261"/>
                </a:lnTo>
                <a:lnTo>
                  <a:pt x="717" y="261"/>
                </a:lnTo>
                <a:lnTo>
                  <a:pt x="717" y="257"/>
                </a:lnTo>
              </a:path>
            </a:pathLst>
          </a:custGeom>
          <a:solidFill>
            <a:srgbClr val="C3DBFF"/>
          </a:solidFill>
          <a:ln w="12700" cap="rnd">
            <a:noFill/>
            <a:round/>
            <a:headEnd type="none" w="sm" len="sm"/>
            <a:tailEnd type="none" w="sm" len="sm"/>
          </a:ln>
        </p:spPr>
        <p:txBody>
          <a:bodyPr/>
          <a:lstStyle/>
          <a:p>
            <a:endParaRPr lang="en-US"/>
          </a:p>
        </p:txBody>
      </p:sp>
      <p:sp>
        <p:nvSpPr>
          <p:cNvPr id="96263" name="Freeform 7"/>
          <p:cNvSpPr>
            <a:spLocks/>
          </p:cNvSpPr>
          <p:nvPr/>
        </p:nvSpPr>
        <p:spPr bwMode="auto">
          <a:xfrm>
            <a:off x="2362200" y="2743200"/>
            <a:ext cx="2362200" cy="1295400"/>
          </a:xfrm>
          <a:custGeom>
            <a:avLst/>
            <a:gdLst>
              <a:gd name="T0" fmla="*/ 0 w 600"/>
              <a:gd name="T1" fmla="*/ 2147483647 h 576"/>
              <a:gd name="T2" fmla="*/ 2147483647 w 600"/>
              <a:gd name="T3" fmla="*/ 2147483647 h 576"/>
              <a:gd name="T4" fmla="*/ 2147483647 w 600"/>
              <a:gd name="T5" fmla="*/ 2147483647 h 576"/>
              <a:gd name="T6" fmla="*/ 2147483647 w 600"/>
              <a:gd name="T7" fmla="*/ 2147483647 h 576"/>
              <a:gd name="T8" fmla="*/ 2147483647 w 600"/>
              <a:gd name="T9" fmla="*/ 2147483647 h 576"/>
              <a:gd name="T10" fmla="*/ 2147483647 w 600"/>
              <a:gd name="T11" fmla="*/ 2147483647 h 576"/>
              <a:gd name="T12" fmla="*/ 2147483647 w 600"/>
              <a:gd name="T13" fmla="*/ 2147483647 h 576"/>
              <a:gd name="T14" fmla="*/ 2147483647 w 600"/>
              <a:gd name="T15" fmla="*/ 2147483647 h 576"/>
              <a:gd name="T16" fmla="*/ 2147483647 w 600"/>
              <a:gd name="T17" fmla="*/ 2147483647 h 576"/>
              <a:gd name="T18" fmla="*/ 2147483647 w 600"/>
              <a:gd name="T19" fmla="*/ 2147483647 h 576"/>
              <a:gd name="T20" fmla="*/ 2147483647 w 600"/>
              <a:gd name="T21" fmla="*/ 2147483647 h 576"/>
              <a:gd name="T22" fmla="*/ 2147483647 w 600"/>
              <a:gd name="T23" fmla="*/ 2147483647 h 576"/>
              <a:gd name="T24" fmla="*/ 2147483647 w 600"/>
              <a:gd name="T25" fmla="*/ 2147483647 h 576"/>
              <a:gd name="T26" fmla="*/ 2147483647 w 600"/>
              <a:gd name="T27" fmla="*/ 2147483647 h 576"/>
              <a:gd name="T28" fmla="*/ 2147483647 w 600"/>
              <a:gd name="T29" fmla="*/ 2147483647 h 576"/>
              <a:gd name="T30" fmla="*/ 2147483647 w 600"/>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0"/>
              <a:gd name="T49" fmla="*/ 0 h 576"/>
              <a:gd name="T50" fmla="*/ 600 w 600"/>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0" h="576">
                <a:moveTo>
                  <a:pt x="0" y="575"/>
                </a:moveTo>
                <a:lnTo>
                  <a:pt x="63" y="570"/>
                </a:lnTo>
                <a:lnTo>
                  <a:pt x="95" y="562"/>
                </a:lnTo>
                <a:lnTo>
                  <a:pt x="127" y="553"/>
                </a:lnTo>
                <a:lnTo>
                  <a:pt x="158" y="540"/>
                </a:lnTo>
                <a:lnTo>
                  <a:pt x="190" y="521"/>
                </a:lnTo>
                <a:lnTo>
                  <a:pt x="222" y="498"/>
                </a:lnTo>
                <a:lnTo>
                  <a:pt x="284" y="432"/>
                </a:lnTo>
                <a:lnTo>
                  <a:pt x="347" y="338"/>
                </a:lnTo>
                <a:lnTo>
                  <a:pt x="410" y="224"/>
                </a:lnTo>
                <a:lnTo>
                  <a:pt x="441" y="167"/>
                </a:lnTo>
                <a:lnTo>
                  <a:pt x="473" y="114"/>
                </a:lnTo>
                <a:lnTo>
                  <a:pt x="505" y="67"/>
                </a:lnTo>
                <a:lnTo>
                  <a:pt x="535" y="31"/>
                </a:lnTo>
                <a:lnTo>
                  <a:pt x="567" y="8"/>
                </a:lnTo>
                <a:lnTo>
                  <a:pt x="599" y="0"/>
                </a:lnTo>
              </a:path>
            </a:pathLst>
          </a:custGeom>
          <a:noFill/>
          <a:ln w="50800" cap="rnd">
            <a:solidFill>
              <a:srgbClr val="FF0000"/>
            </a:solidFill>
            <a:round/>
            <a:headEnd type="none" w="sm" len="sm"/>
            <a:tailEnd type="none" w="sm" len="sm"/>
          </a:ln>
        </p:spPr>
        <p:txBody>
          <a:bodyPr/>
          <a:lstStyle/>
          <a:p>
            <a:endParaRPr lang="en-US"/>
          </a:p>
        </p:txBody>
      </p:sp>
      <p:sp>
        <p:nvSpPr>
          <p:cNvPr id="96264" name="Freeform 8"/>
          <p:cNvSpPr>
            <a:spLocks/>
          </p:cNvSpPr>
          <p:nvPr/>
        </p:nvSpPr>
        <p:spPr bwMode="auto">
          <a:xfrm>
            <a:off x="4724400" y="2743200"/>
            <a:ext cx="2209800" cy="1295400"/>
          </a:xfrm>
          <a:custGeom>
            <a:avLst/>
            <a:gdLst>
              <a:gd name="T0" fmla="*/ 2147483647 w 576"/>
              <a:gd name="T1" fmla="*/ 2147483647 h 576"/>
              <a:gd name="T2" fmla="*/ 2147483647 w 576"/>
              <a:gd name="T3" fmla="*/ 2147483647 h 576"/>
              <a:gd name="T4" fmla="*/ 2147483647 w 576"/>
              <a:gd name="T5" fmla="*/ 2147483647 h 576"/>
              <a:gd name="T6" fmla="*/ 2147483647 w 576"/>
              <a:gd name="T7" fmla="*/ 2147483647 h 576"/>
              <a:gd name="T8" fmla="*/ 2147483647 w 576"/>
              <a:gd name="T9" fmla="*/ 2147483647 h 576"/>
              <a:gd name="T10" fmla="*/ 2147483647 w 576"/>
              <a:gd name="T11" fmla="*/ 2147483647 h 576"/>
              <a:gd name="T12" fmla="*/ 2147483647 w 576"/>
              <a:gd name="T13" fmla="*/ 2147483647 h 576"/>
              <a:gd name="T14" fmla="*/ 2147483647 w 576"/>
              <a:gd name="T15" fmla="*/ 2147483647 h 576"/>
              <a:gd name="T16" fmla="*/ 2147483647 w 576"/>
              <a:gd name="T17" fmla="*/ 2147483647 h 576"/>
              <a:gd name="T18" fmla="*/ 2147483647 w 576"/>
              <a:gd name="T19" fmla="*/ 2147483647 h 576"/>
              <a:gd name="T20" fmla="*/ 2147483647 w 576"/>
              <a:gd name="T21" fmla="*/ 2147483647 h 576"/>
              <a:gd name="T22" fmla="*/ 2147483647 w 576"/>
              <a:gd name="T23" fmla="*/ 2147483647 h 576"/>
              <a:gd name="T24" fmla="*/ 2147483647 w 576"/>
              <a:gd name="T25" fmla="*/ 2147483647 h 576"/>
              <a:gd name="T26" fmla="*/ 2147483647 w 576"/>
              <a:gd name="T27" fmla="*/ 2147483647 h 576"/>
              <a:gd name="T28" fmla="*/ 2147483647 w 576"/>
              <a:gd name="T29" fmla="*/ 2147483647 h 576"/>
              <a:gd name="T30" fmla="*/ 0 w 576"/>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6"/>
              <a:gd name="T49" fmla="*/ 0 h 576"/>
              <a:gd name="T50" fmla="*/ 576 w 576"/>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6" h="576">
                <a:moveTo>
                  <a:pt x="575" y="575"/>
                </a:moveTo>
                <a:lnTo>
                  <a:pt x="515" y="570"/>
                </a:lnTo>
                <a:lnTo>
                  <a:pt x="484" y="562"/>
                </a:lnTo>
                <a:lnTo>
                  <a:pt x="455" y="553"/>
                </a:lnTo>
                <a:lnTo>
                  <a:pt x="424" y="540"/>
                </a:lnTo>
                <a:lnTo>
                  <a:pt x="393" y="521"/>
                </a:lnTo>
                <a:lnTo>
                  <a:pt x="364" y="498"/>
                </a:lnTo>
                <a:lnTo>
                  <a:pt x="303" y="432"/>
                </a:lnTo>
                <a:lnTo>
                  <a:pt x="242" y="338"/>
                </a:lnTo>
                <a:lnTo>
                  <a:pt x="182" y="224"/>
                </a:lnTo>
                <a:lnTo>
                  <a:pt x="151" y="167"/>
                </a:lnTo>
                <a:lnTo>
                  <a:pt x="120" y="114"/>
                </a:lnTo>
                <a:lnTo>
                  <a:pt x="91" y="67"/>
                </a:lnTo>
                <a:lnTo>
                  <a:pt x="60" y="31"/>
                </a:lnTo>
                <a:lnTo>
                  <a:pt x="30" y="8"/>
                </a:lnTo>
                <a:lnTo>
                  <a:pt x="0" y="0"/>
                </a:lnTo>
              </a:path>
            </a:pathLst>
          </a:custGeom>
          <a:noFill/>
          <a:ln w="50800" cap="rnd">
            <a:solidFill>
              <a:srgbClr val="FF0000"/>
            </a:solidFill>
            <a:round/>
            <a:headEnd type="none" w="sm" len="sm"/>
            <a:tailEnd type="none" w="sm" len="sm"/>
          </a:ln>
        </p:spPr>
        <p:txBody>
          <a:bodyPr/>
          <a:lstStyle/>
          <a:p>
            <a:endParaRPr lang="en-US"/>
          </a:p>
        </p:txBody>
      </p:sp>
      <p:sp>
        <p:nvSpPr>
          <p:cNvPr id="96265" name="Line 9"/>
          <p:cNvSpPr>
            <a:spLocks noChangeShapeType="1"/>
          </p:cNvSpPr>
          <p:nvPr/>
        </p:nvSpPr>
        <p:spPr bwMode="auto">
          <a:xfrm>
            <a:off x="2133600" y="4114800"/>
            <a:ext cx="5105400" cy="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96266" name="Line 10"/>
          <p:cNvSpPr>
            <a:spLocks noChangeShapeType="1"/>
          </p:cNvSpPr>
          <p:nvPr/>
        </p:nvSpPr>
        <p:spPr bwMode="auto">
          <a:xfrm flipH="1">
            <a:off x="6324600" y="3505200"/>
            <a:ext cx="457200" cy="533400"/>
          </a:xfrm>
          <a:prstGeom prst="line">
            <a:avLst/>
          </a:prstGeom>
          <a:noFill/>
          <a:ln w="12700">
            <a:solidFill>
              <a:schemeClr val="tx1"/>
            </a:solidFill>
            <a:round/>
            <a:headEnd type="none" w="sm" len="sm"/>
            <a:tailEnd type="stealth" w="med" len="med"/>
          </a:ln>
        </p:spPr>
        <p:txBody>
          <a:bodyPr wrap="none" anchor="ctr"/>
          <a:lstStyle/>
          <a:p>
            <a:endParaRPr lang="en-US"/>
          </a:p>
        </p:txBody>
      </p:sp>
      <p:sp>
        <p:nvSpPr>
          <p:cNvPr id="96267" name="Rectangle 11"/>
          <p:cNvSpPr>
            <a:spLocks noChangeArrowheads="1"/>
          </p:cNvSpPr>
          <p:nvPr/>
        </p:nvSpPr>
        <p:spPr bwMode="auto">
          <a:xfrm flipH="1">
            <a:off x="6705600" y="3124200"/>
            <a:ext cx="1371600" cy="45910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400" b="1" dirty="0">
                <a:latin typeface="Symbol" pitchFamily="18" charset="2"/>
                <a:sym typeface="Symbol" pitchFamily="18" charset="2"/>
              </a:rPr>
              <a:t></a:t>
            </a:r>
            <a:r>
              <a:rPr lang="en-US" sz="2400" b="1" i="1" dirty="0">
                <a:latin typeface="Symbol" pitchFamily="18" charset="2"/>
                <a:sym typeface="Symbol" pitchFamily="18" charset="2"/>
              </a:rPr>
              <a:t> </a:t>
            </a:r>
            <a:r>
              <a:rPr lang="en-US" sz="2400" b="1" dirty="0"/>
              <a:t>= </a:t>
            </a:r>
            <a:r>
              <a:rPr lang="en-US" sz="2400" b="1" dirty="0" smtClean="0"/>
              <a:t>0.0</a:t>
            </a:r>
            <a:r>
              <a:rPr lang="id-ID" sz="2400" b="1" smtClean="0"/>
              <a:t>5</a:t>
            </a:r>
            <a:endParaRPr lang="en-US" sz="2400" b="1"/>
          </a:p>
        </p:txBody>
      </p:sp>
      <p:sp>
        <p:nvSpPr>
          <p:cNvPr id="96268" name="Line 12"/>
          <p:cNvSpPr>
            <a:spLocks noChangeShapeType="1"/>
          </p:cNvSpPr>
          <p:nvPr/>
        </p:nvSpPr>
        <p:spPr bwMode="auto">
          <a:xfrm>
            <a:off x="4724400" y="2743200"/>
            <a:ext cx="0" cy="1371600"/>
          </a:xfrm>
          <a:prstGeom prst="line">
            <a:avLst/>
          </a:prstGeom>
          <a:noFill/>
          <a:ln w="9525" cap="rnd">
            <a:solidFill>
              <a:schemeClr val="tx1"/>
            </a:solidFill>
            <a:prstDash val="sysDot"/>
            <a:miter lim="800000"/>
            <a:headEnd/>
            <a:tailEnd/>
          </a:ln>
        </p:spPr>
        <p:txBody>
          <a:bodyPr wrap="none"/>
          <a:lstStyle/>
          <a:p>
            <a:endParaRPr lang="en-US"/>
          </a:p>
        </p:txBody>
      </p:sp>
      <p:sp>
        <p:nvSpPr>
          <p:cNvPr id="96269" name="Line 13"/>
          <p:cNvSpPr>
            <a:spLocks noChangeShapeType="1"/>
          </p:cNvSpPr>
          <p:nvPr/>
        </p:nvSpPr>
        <p:spPr bwMode="auto">
          <a:xfrm>
            <a:off x="5867400" y="4191000"/>
            <a:ext cx="0" cy="304800"/>
          </a:xfrm>
          <a:prstGeom prst="line">
            <a:avLst/>
          </a:prstGeom>
          <a:noFill/>
          <a:ln w="19050">
            <a:solidFill>
              <a:schemeClr val="tx1"/>
            </a:solidFill>
            <a:round/>
            <a:headEnd/>
            <a:tailEnd/>
          </a:ln>
        </p:spPr>
        <p:txBody>
          <a:bodyPr wrap="none" anchor="ctr"/>
          <a:lstStyle/>
          <a:p>
            <a:endParaRPr lang="en-US"/>
          </a:p>
        </p:txBody>
      </p:sp>
      <p:sp>
        <p:nvSpPr>
          <p:cNvPr id="96270" name="Line 14"/>
          <p:cNvSpPr>
            <a:spLocks noChangeShapeType="1"/>
          </p:cNvSpPr>
          <p:nvPr/>
        </p:nvSpPr>
        <p:spPr bwMode="auto">
          <a:xfrm>
            <a:off x="5867400" y="4343400"/>
            <a:ext cx="16002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96271" name="Text Box 15"/>
          <p:cNvSpPr txBox="1">
            <a:spLocks noChangeArrowheads="1"/>
          </p:cNvSpPr>
          <p:nvPr/>
        </p:nvSpPr>
        <p:spPr bwMode="auto">
          <a:xfrm>
            <a:off x="5410200" y="4419600"/>
            <a:ext cx="1066800" cy="396875"/>
          </a:xfrm>
          <a:prstGeom prst="rect">
            <a:avLst/>
          </a:prstGeom>
          <a:noFill/>
          <a:ln w="19050" algn="ctr">
            <a:noFill/>
            <a:miter lim="800000"/>
            <a:headEnd/>
            <a:tailEnd/>
          </a:ln>
        </p:spPr>
        <p:txBody>
          <a:bodyPr>
            <a:spAutoFit/>
          </a:bodyPr>
          <a:lstStyle/>
          <a:p>
            <a:pPr algn="ctr">
              <a:spcBef>
                <a:spcPct val="50000"/>
              </a:spcBef>
            </a:pPr>
            <a:r>
              <a:rPr lang="en-US" sz="2000" b="1" dirty="0" smtClean="0">
                <a:solidFill>
                  <a:schemeClr val="folHlink"/>
                </a:solidFill>
                <a:cs typeface="Arial" charset="0"/>
              </a:rPr>
              <a:t>1.</a:t>
            </a:r>
            <a:r>
              <a:rPr lang="id-ID" sz="2000" b="1" dirty="0" smtClean="0">
                <a:solidFill>
                  <a:schemeClr val="folHlink"/>
                </a:solidFill>
                <a:cs typeface="Arial" charset="0"/>
              </a:rPr>
              <a:t>711</a:t>
            </a:r>
            <a:endParaRPr lang="el-GR" sz="2000" b="1" dirty="0">
              <a:solidFill>
                <a:schemeClr val="folHlink"/>
              </a:solidFill>
              <a:cs typeface="Arial" charset="0"/>
            </a:endParaRPr>
          </a:p>
        </p:txBody>
      </p:sp>
      <p:sp>
        <p:nvSpPr>
          <p:cNvPr id="96272" name="Line 16"/>
          <p:cNvSpPr>
            <a:spLocks noChangeShapeType="1"/>
          </p:cNvSpPr>
          <p:nvPr/>
        </p:nvSpPr>
        <p:spPr bwMode="auto">
          <a:xfrm>
            <a:off x="1981200" y="4343400"/>
            <a:ext cx="38862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96273" name="Text Box 17"/>
          <p:cNvSpPr txBox="1">
            <a:spLocks noChangeArrowheads="1"/>
          </p:cNvSpPr>
          <p:nvPr/>
        </p:nvSpPr>
        <p:spPr bwMode="auto">
          <a:xfrm>
            <a:off x="4495800" y="4572000"/>
            <a:ext cx="457200" cy="366713"/>
          </a:xfrm>
          <a:prstGeom prst="rect">
            <a:avLst/>
          </a:prstGeom>
          <a:noFill/>
          <a:ln w="19050" algn="ctr">
            <a:noFill/>
            <a:miter lim="800000"/>
            <a:headEnd/>
            <a:tailEnd/>
          </a:ln>
        </p:spPr>
        <p:txBody>
          <a:bodyPr>
            <a:spAutoFit/>
          </a:bodyPr>
          <a:lstStyle/>
          <a:p>
            <a:pPr algn="ctr">
              <a:spcBef>
                <a:spcPct val="50000"/>
              </a:spcBef>
            </a:pPr>
            <a:r>
              <a:rPr lang="en-US" sz="1800"/>
              <a:t>0</a:t>
            </a:r>
            <a:endParaRPr lang="el-GR" sz="1800" baseline="-25000">
              <a:cs typeface="Arial" charset="0"/>
            </a:endParaRPr>
          </a:p>
        </p:txBody>
      </p:sp>
      <p:sp>
        <p:nvSpPr>
          <p:cNvPr id="96274" name="Line 18"/>
          <p:cNvSpPr>
            <a:spLocks noChangeShapeType="1"/>
          </p:cNvSpPr>
          <p:nvPr/>
        </p:nvSpPr>
        <p:spPr bwMode="auto">
          <a:xfrm flipV="1">
            <a:off x="5867400" y="2438400"/>
            <a:ext cx="0" cy="1676400"/>
          </a:xfrm>
          <a:prstGeom prst="line">
            <a:avLst/>
          </a:prstGeom>
          <a:noFill/>
          <a:ln w="19050">
            <a:solidFill>
              <a:schemeClr val="tx1"/>
            </a:solidFill>
            <a:prstDash val="sysDot"/>
            <a:round/>
            <a:headEnd/>
            <a:tailEnd/>
          </a:ln>
        </p:spPr>
        <p:txBody>
          <a:bodyPr wrap="none" anchor="ctr"/>
          <a:lstStyle/>
          <a:p>
            <a:endParaRPr lang="en-US"/>
          </a:p>
        </p:txBody>
      </p:sp>
      <p:sp>
        <p:nvSpPr>
          <p:cNvPr id="96275" name="Line 19"/>
          <p:cNvSpPr>
            <a:spLocks noChangeShapeType="1"/>
          </p:cNvSpPr>
          <p:nvPr/>
        </p:nvSpPr>
        <p:spPr bwMode="auto">
          <a:xfrm>
            <a:off x="5867400" y="2590800"/>
            <a:ext cx="1676400" cy="0"/>
          </a:xfrm>
          <a:prstGeom prst="line">
            <a:avLst/>
          </a:prstGeom>
          <a:noFill/>
          <a:ln w="28575">
            <a:solidFill>
              <a:schemeClr val="folHlink"/>
            </a:solidFill>
            <a:round/>
            <a:headEnd/>
            <a:tailEnd type="triangle" w="med" len="med"/>
          </a:ln>
        </p:spPr>
        <p:txBody>
          <a:bodyPr wrap="none" anchor="ctr"/>
          <a:lstStyle/>
          <a:p>
            <a:endParaRPr lang="en-US"/>
          </a:p>
        </p:txBody>
      </p:sp>
      <p:sp>
        <p:nvSpPr>
          <p:cNvPr id="96276" name="Text Box 20"/>
          <p:cNvSpPr txBox="1">
            <a:spLocks noChangeArrowheads="1"/>
          </p:cNvSpPr>
          <p:nvPr/>
        </p:nvSpPr>
        <p:spPr bwMode="auto">
          <a:xfrm>
            <a:off x="5943600" y="2209800"/>
            <a:ext cx="1524000" cy="396875"/>
          </a:xfrm>
          <a:prstGeom prst="rect">
            <a:avLst/>
          </a:prstGeom>
          <a:noFill/>
          <a:ln w="19050" algn="ctr">
            <a:noFill/>
            <a:miter lim="800000"/>
            <a:headEnd/>
            <a:tailEnd/>
          </a:ln>
        </p:spPr>
        <p:txBody>
          <a:bodyPr>
            <a:spAutoFit/>
          </a:bodyPr>
          <a:lstStyle/>
          <a:p>
            <a:pPr algn="ctr">
              <a:spcBef>
                <a:spcPct val="50000"/>
              </a:spcBef>
            </a:pPr>
            <a:r>
              <a:rPr lang="id-ID" sz="2000" b="1" dirty="0" smtClean="0">
                <a:solidFill>
                  <a:schemeClr val="folHlink"/>
                </a:solidFill>
              </a:rPr>
              <a:t>Tolak</a:t>
            </a:r>
            <a:r>
              <a:rPr lang="en-US" sz="2000" b="1" dirty="0" smtClean="0">
                <a:solidFill>
                  <a:schemeClr val="folHlink"/>
                </a:solidFill>
              </a:rPr>
              <a:t> </a:t>
            </a:r>
            <a:r>
              <a:rPr lang="en-US" sz="2000" b="1" dirty="0">
                <a:solidFill>
                  <a:schemeClr val="folHlink"/>
                </a:solidFill>
              </a:rPr>
              <a:t>H</a:t>
            </a:r>
            <a:r>
              <a:rPr lang="en-US" sz="2000" b="1" baseline="-25000" dirty="0">
                <a:solidFill>
                  <a:schemeClr val="folHlink"/>
                </a:solidFill>
              </a:rPr>
              <a:t>0</a:t>
            </a:r>
          </a:p>
        </p:txBody>
      </p:sp>
      <p:sp>
        <p:nvSpPr>
          <p:cNvPr id="96277" name="Text Box 21"/>
          <p:cNvSpPr txBox="1">
            <a:spLocks noChangeArrowheads="1"/>
          </p:cNvSpPr>
          <p:nvPr/>
        </p:nvSpPr>
        <p:spPr bwMode="auto">
          <a:xfrm>
            <a:off x="1676400" y="5270500"/>
            <a:ext cx="7467600" cy="1532727"/>
          </a:xfrm>
          <a:prstGeom prst="rect">
            <a:avLst/>
          </a:prstGeom>
          <a:solidFill>
            <a:srgbClr val="FDE0BD"/>
          </a:solidFill>
          <a:ln w="19050" algn="ctr">
            <a:solidFill>
              <a:schemeClr val="tx1"/>
            </a:solidFill>
            <a:miter lim="800000"/>
            <a:headEnd/>
            <a:tailEnd/>
          </a:ln>
        </p:spPr>
        <p:txBody>
          <a:bodyPr wrap="square">
            <a:spAutoFit/>
          </a:bodyPr>
          <a:lstStyle/>
          <a:p>
            <a:pPr>
              <a:spcBef>
                <a:spcPct val="50000"/>
              </a:spcBef>
            </a:pPr>
            <a:r>
              <a:rPr lang="id-ID" sz="2400" b="1" dirty="0" smtClean="0">
                <a:solidFill>
                  <a:schemeClr val="folHlink"/>
                </a:solidFill>
              </a:rPr>
              <a:t>Keputusan: gagal tolak Ho krn </a:t>
            </a:r>
            <a:r>
              <a:rPr lang="en-US" sz="2400" b="1" dirty="0" err="1" smtClean="0">
                <a:solidFill>
                  <a:schemeClr val="folHlink"/>
                </a:solidFill>
              </a:rPr>
              <a:t>t</a:t>
            </a:r>
            <a:r>
              <a:rPr lang="en-US" sz="2400" b="1" baseline="-20000" dirty="0" err="1" smtClean="0">
                <a:solidFill>
                  <a:schemeClr val="folHlink"/>
                </a:solidFill>
              </a:rPr>
              <a:t>STAT</a:t>
            </a:r>
            <a:r>
              <a:rPr lang="en-US" sz="2400" b="1" dirty="0" smtClean="0">
                <a:solidFill>
                  <a:schemeClr val="folHlink"/>
                </a:solidFill>
              </a:rPr>
              <a:t> </a:t>
            </a:r>
            <a:r>
              <a:rPr lang="en-US" sz="2400" b="1" dirty="0">
                <a:solidFill>
                  <a:schemeClr val="folHlink"/>
                </a:solidFill>
              </a:rPr>
              <a:t>= 0.55 </a:t>
            </a:r>
            <a:r>
              <a:rPr lang="en-US" sz="2400" b="1" dirty="0">
                <a:solidFill>
                  <a:schemeClr val="folHlink"/>
                </a:solidFill>
                <a:cs typeface="Arial" charset="0"/>
              </a:rPr>
              <a:t>≤</a:t>
            </a:r>
            <a:r>
              <a:rPr lang="en-US" sz="2400" b="1" dirty="0">
                <a:solidFill>
                  <a:schemeClr val="folHlink"/>
                </a:solidFill>
              </a:rPr>
              <a:t> </a:t>
            </a:r>
            <a:r>
              <a:rPr lang="en-US" sz="2400" b="1" dirty="0" smtClean="0">
                <a:solidFill>
                  <a:schemeClr val="folHlink"/>
                </a:solidFill>
              </a:rPr>
              <a:t>1.</a:t>
            </a:r>
            <a:r>
              <a:rPr lang="id-ID" sz="2400" b="1" dirty="0" smtClean="0">
                <a:solidFill>
                  <a:schemeClr val="folHlink"/>
                </a:solidFill>
              </a:rPr>
              <a:t>711</a:t>
            </a:r>
            <a:endParaRPr lang="en-US" sz="2400" b="1" dirty="0">
              <a:solidFill>
                <a:schemeClr val="folHlink"/>
              </a:solidFill>
            </a:endParaRPr>
          </a:p>
          <a:p>
            <a:pPr>
              <a:lnSpc>
                <a:spcPct val="80000"/>
              </a:lnSpc>
              <a:spcBef>
                <a:spcPct val="50000"/>
              </a:spcBef>
            </a:pPr>
            <a:r>
              <a:rPr lang="id-ID" sz="2400" dirty="0" smtClean="0"/>
              <a:t>Dengan demikian, belum ada cukup bukti untuk menyatakan bahwa rata2 panjang ikan tongkol di spot yg dimaksud lebih dari 52 cm</a:t>
            </a:r>
            <a:endParaRPr lang="en-US" sz="2400" dirty="0"/>
          </a:p>
        </p:txBody>
      </p:sp>
      <p:sp>
        <p:nvSpPr>
          <p:cNvPr id="96278" name="Line 22"/>
          <p:cNvSpPr>
            <a:spLocks noChangeShapeType="1"/>
          </p:cNvSpPr>
          <p:nvPr/>
        </p:nvSpPr>
        <p:spPr bwMode="auto">
          <a:xfrm flipV="1">
            <a:off x="5334000" y="4114800"/>
            <a:ext cx="0" cy="685800"/>
          </a:xfrm>
          <a:prstGeom prst="line">
            <a:avLst/>
          </a:prstGeom>
          <a:noFill/>
          <a:ln w="57150">
            <a:solidFill>
              <a:schemeClr val="folHlink"/>
            </a:solidFill>
            <a:round/>
            <a:headEnd/>
            <a:tailEnd type="triangle" w="med" len="med"/>
          </a:ln>
        </p:spPr>
        <p:txBody>
          <a:bodyPr wrap="none" anchor="ctr"/>
          <a:lstStyle/>
          <a:p>
            <a:endParaRPr lang="en-US"/>
          </a:p>
        </p:txBody>
      </p:sp>
      <p:sp>
        <p:nvSpPr>
          <p:cNvPr id="96279" name="Text Box 23"/>
          <p:cNvSpPr txBox="1">
            <a:spLocks noChangeArrowheads="1"/>
          </p:cNvSpPr>
          <p:nvPr/>
        </p:nvSpPr>
        <p:spPr bwMode="auto">
          <a:xfrm>
            <a:off x="4724400" y="4800600"/>
            <a:ext cx="1752600" cy="396875"/>
          </a:xfrm>
          <a:prstGeom prst="rect">
            <a:avLst/>
          </a:prstGeom>
          <a:noFill/>
          <a:ln w="19050" algn="ctr">
            <a:noFill/>
            <a:miter lim="800000"/>
            <a:headEnd/>
            <a:tailEnd/>
          </a:ln>
        </p:spPr>
        <p:txBody>
          <a:bodyPr>
            <a:spAutoFit/>
          </a:bodyPr>
          <a:lstStyle/>
          <a:p>
            <a:pPr algn="ctr">
              <a:spcBef>
                <a:spcPct val="50000"/>
              </a:spcBef>
            </a:pPr>
            <a:r>
              <a:rPr lang="en-US" sz="2000" b="1">
                <a:solidFill>
                  <a:schemeClr val="folHlink"/>
                </a:solidFill>
              </a:rPr>
              <a:t>t</a:t>
            </a:r>
            <a:r>
              <a:rPr lang="en-US" sz="2000" b="1" baseline="-20000">
                <a:solidFill>
                  <a:schemeClr val="folHlink"/>
                </a:solidFill>
              </a:rPr>
              <a:t>STAT</a:t>
            </a:r>
            <a:r>
              <a:rPr lang="en-US" sz="2000" b="1">
                <a:solidFill>
                  <a:schemeClr val="folHlink"/>
                </a:solidFill>
              </a:rPr>
              <a:t> </a:t>
            </a:r>
            <a:r>
              <a:rPr lang="en-US" sz="2000" b="1">
                <a:solidFill>
                  <a:schemeClr val="folHlink"/>
                </a:solidFill>
                <a:cs typeface="Arial" charset="0"/>
              </a:rPr>
              <a:t>= 0.55</a:t>
            </a:r>
            <a:endParaRPr lang="el-GR" sz="2000" b="1">
              <a:solidFill>
                <a:schemeClr val="folHlink"/>
              </a:solidFill>
              <a:cs typeface="Arial" charset="0"/>
            </a:endParaRPr>
          </a:p>
        </p:txBody>
      </p:sp>
      <p:sp>
        <p:nvSpPr>
          <p:cNvPr id="96280" name="Text Box 24"/>
          <p:cNvSpPr>
            <a:spLocks noGrp="1" noChangeArrowheads="1"/>
          </p:cNvSpPr>
          <p:nvPr>
            <p:ph type="body" idx="4294967295"/>
          </p:nvPr>
        </p:nvSpPr>
        <p:spPr>
          <a:xfrm>
            <a:off x="1295400" y="1600200"/>
            <a:ext cx="7315200" cy="671513"/>
          </a:xfrm>
        </p:spPr>
        <p:txBody>
          <a:bodyPr/>
          <a:lstStyle/>
          <a:p>
            <a:pPr marL="0" indent="0" defTabSz="914400" eaLnBrk="1" hangingPunct="1">
              <a:spcBef>
                <a:spcPct val="40000"/>
              </a:spcBef>
              <a:buFont typeface="Wingdings" pitchFamily="2" charset="2"/>
              <a:buNone/>
            </a:pPr>
            <a:r>
              <a:rPr lang="id-ID" dirty="0" smtClean="0">
                <a:solidFill>
                  <a:schemeClr val="folHlink"/>
                </a:solidFill>
              </a:rPr>
              <a:t>6. Keputusan dan interpretasi</a:t>
            </a:r>
            <a:r>
              <a:rPr lang="en-US" dirty="0" smtClean="0">
                <a:solidFill>
                  <a:schemeClr val="folHlink"/>
                </a:solidFill>
              </a:rPr>
              <a:t>:</a:t>
            </a:r>
          </a:p>
        </p:txBody>
      </p:sp>
      <p:sp>
        <p:nvSpPr>
          <p:cNvPr id="96281" name="Text Box 25"/>
          <p:cNvSpPr txBox="1">
            <a:spLocks noChangeArrowheads="1"/>
          </p:cNvSpPr>
          <p:nvPr/>
        </p:nvSpPr>
        <p:spPr bwMode="auto">
          <a:xfrm>
            <a:off x="7543800" y="1223963"/>
            <a:ext cx="1454150" cy="396875"/>
          </a:xfrm>
          <a:prstGeom prst="rect">
            <a:avLst/>
          </a:prstGeom>
          <a:noFill/>
          <a:ln w="9525">
            <a:noFill/>
            <a:miter lim="800000"/>
            <a:headEnd/>
            <a:tailEnd/>
          </a:ln>
        </p:spPr>
        <p:txBody>
          <a:bodyPr wrap="none">
            <a:spAutoFit/>
          </a:bodyPr>
          <a:lstStyle/>
          <a:p>
            <a:r>
              <a:rPr lang="en-US" sz="2000" i="1">
                <a:solidFill>
                  <a:schemeClr val="tx2"/>
                </a:solidFill>
              </a:rPr>
              <a:t>(continued)</a:t>
            </a:r>
          </a:p>
        </p:txBody>
      </p:sp>
      <p:pic>
        <p:nvPicPr>
          <p:cNvPr id="96282" name="Picture 26" descr="j0174123"/>
          <p:cNvPicPr>
            <a:picLocks noChangeAspect="1" noChangeArrowheads="1"/>
          </p:cNvPicPr>
          <p:nvPr/>
        </p:nvPicPr>
        <p:blipFill>
          <a:blip r:embed="rId3" cstate="print"/>
          <a:srcRect/>
          <a:stretch>
            <a:fillRect/>
          </a:stretch>
        </p:blipFill>
        <p:spPr bwMode="auto">
          <a:xfrm>
            <a:off x="152400" y="5029200"/>
            <a:ext cx="1193800" cy="1185863"/>
          </a:xfrm>
          <a:prstGeom prst="rect">
            <a:avLst/>
          </a:prstGeom>
          <a:noFill/>
          <a:ln w="9525">
            <a:noFill/>
            <a:miter lim="800000"/>
            <a:headEnd/>
            <a:tailEnd/>
          </a:ln>
        </p:spPr>
      </p:pic>
      <p:sp>
        <p:nvSpPr>
          <p:cNvPr id="96284" name="Rectangle 29"/>
          <p:cNvSpPr>
            <a:spLocks noChangeArrowheads="1"/>
          </p:cNvSpPr>
          <p:nvPr/>
        </p:nvSpPr>
        <p:spPr bwMode="auto">
          <a:xfrm>
            <a:off x="7772400" y="685800"/>
            <a:ext cx="1257300" cy="461963"/>
          </a:xfrm>
          <a:prstGeom prst="rect">
            <a:avLst/>
          </a:prstGeom>
          <a:noFill/>
          <a:ln w="9525">
            <a:noFill/>
            <a:miter lim="800000"/>
            <a:headEnd/>
            <a:tailEnd/>
          </a:ln>
        </p:spPr>
        <p:txBody>
          <a:bodyPr wrap="none">
            <a:spAutoFit/>
          </a:bodyPr>
          <a:lstStyle/>
          <a:p>
            <a:r>
              <a:rPr lang="en-US"/>
              <a:t>DCOV</a:t>
            </a:r>
            <a:r>
              <a:rPr lang="en-US" u="sng">
                <a:solidFill>
                  <a:srgbClr val="FF0000"/>
                </a:solidFill>
              </a:rPr>
              <a:t>A</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Pengujian Hipotesis Proporsi</a:t>
            </a:r>
            <a:endParaRPr lang="id-ID" dirty="0"/>
          </a:p>
        </p:txBody>
      </p:sp>
      <p:sp>
        <p:nvSpPr>
          <p:cNvPr id="3" name="Content Placeholder 2"/>
          <p:cNvSpPr>
            <a:spLocks noGrp="1"/>
          </p:cNvSpPr>
          <p:nvPr>
            <p:ph idx="1"/>
          </p:nvPr>
        </p:nvSpPr>
        <p:spPr/>
        <p:txBody>
          <a:bodyPr/>
          <a:lstStyle/>
          <a:p>
            <a:r>
              <a:rPr lang="id-ID" dirty="0" smtClean="0"/>
              <a:t>Hipotesis yang diuji </a:t>
            </a:r>
          </a:p>
          <a:p>
            <a:pPr>
              <a:buNone/>
            </a:pPr>
            <a:r>
              <a:rPr lang="id-ID" b="1" dirty="0" smtClean="0"/>
              <a:t>	</a:t>
            </a:r>
            <a:r>
              <a:rPr lang="en-US" b="1" dirty="0" smtClean="0"/>
              <a:t>H</a:t>
            </a:r>
            <a:r>
              <a:rPr lang="en-US" b="1" baseline="-25000" dirty="0" smtClean="0"/>
              <a:t>0</a:t>
            </a:r>
            <a:r>
              <a:rPr lang="en-US" b="1" dirty="0" smtClean="0"/>
              <a:t>: </a:t>
            </a:r>
            <a:r>
              <a:rPr lang="el-GR" b="1" dirty="0" smtClean="0">
                <a:cs typeface="Arial" charset="0"/>
              </a:rPr>
              <a:t>π</a:t>
            </a:r>
            <a:r>
              <a:rPr lang="en-US" b="1" baseline="-25000" dirty="0" smtClean="0"/>
              <a:t> </a:t>
            </a:r>
            <a:r>
              <a:rPr lang="en-US" b="1" dirty="0" smtClean="0"/>
              <a:t>=</a:t>
            </a:r>
            <a:r>
              <a:rPr lang="id-ID" b="1" dirty="0" smtClean="0"/>
              <a:t> </a:t>
            </a:r>
            <a:r>
              <a:rPr lang="el-GR" b="1" dirty="0" smtClean="0"/>
              <a:t>π</a:t>
            </a:r>
            <a:r>
              <a:rPr lang="id-ID" b="1" baseline="-25000" dirty="0" smtClean="0"/>
              <a:t>0</a:t>
            </a:r>
            <a:endParaRPr lang="en-US" b="1" baseline="-25000" dirty="0" smtClean="0"/>
          </a:p>
          <a:p>
            <a:pPr>
              <a:buNone/>
            </a:pPr>
            <a:r>
              <a:rPr lang="id-ID" b="1" dirty="0" smtClean="0"/>
              <a:t>	</a:t>
            </a:r>
            <a:r>
              <a:rPr lang="en-US" b="1" dirty="0" smtClean="0"/>
              <a:t>H</a:t>
            </a:r>
            <a:r>
              <a:rPr lang="en-US" b="1" baseline="-25000" dirty="0" smtClean="0"/>
              <a:t>1</a:t>
            </a:r>
            <a:r>
              <a:rPr lang="en-US" b="1" dirty="0" smtClean="0"/>
              <a:t>: </a:t>
            </a:r>
            <a:r>
              <a:rPr lang="el-GR" b="1" dirty="0" smtClean="0">
                <a:cs typeface="Arial" charset="0"/>
              </a:rPr>
              <a:t>π</a:t>
            </a:r>
            <a:r>
              <a:rPr lang="en-US" b="1" baseline="-25000" dirty="0" smtClean="0"/>
              <a:t>  </a:t>
            </a:r>
            <a:r>
              <a:rPr lang="en-US" b="1" dirty="0" smtClean="0">
                <a:cs typeface="Arial" charset="0"/>
              </a:rPr>
              <a:t>≠</a:t>
            </a:r>
            <a:r>
              <a:rPr lang="id-ID" b="1" dirty="0" smtClean="0">
                <a:cs typeface="Arial" charset="0"/>
              </a:rPr>
              <a:t> </a:t>
            </a:r>
            <a:r>
              <a:rPr lang="el-GR" b="1" dirty="0" smtClean="0"/>
              <a:t>π</a:t>
            </a:r>
            <a:r>
              <a:rPr lang="id-ID" b="1" baseline="-25000" dirty="0" smtClean="0"/>
              <a:t>0</a:t>
            </a:r>
            <a:endParaRPr lang="id-ID" dirty="0" smtClean="0"/>
          </a:p>
          <a:p>
            <a:r>
              <a:rPr lang="id-ID" dirty="0" smtClean="0"/>
              <a:t>Statistik uji</a:t>
            </a:r>
          </a:p>
          <a:p>
            <a:endParaRPr lang="id-ID" dirty="0" smtClean="0"/>
          </a:p>
          <a:p>
            <a:pPr>
              <a:buNone/>
            </a:pPr>
            <a:endParaRPr lang="id-ID" dirty="0" smtClean="0"/>
          </a:p>
          <a:p>
            <a:endParaRPr lang="id-ID" dirty="0"/>
          </a:p>
        </p:txBody>
      </p:sp>
      <p:graphicFrame>
        <p:nvGraphicFramePr>
          <p:cNvPr id="4" name="Object 3"/>
          <p:cNvGraphicFramePr>
            <a:graphicFrameLocks noChangeAspect="1"/>
          </p:cNvGraphicFramePr>
          <p:nvPr/>
        </p:nvGraphicFramePr>
        <p:xfrm>
          <a:off x="1649413" y="4038600"/>
          <a:ext cx="2798762" cy="1371600"/>
        </p:xfrm>
        <a:graphic>
          <a:graphicData uri="http://schemas.openxmlformats.org/presentationml/2006/ole">
            <mc:AlternateContent xmlns:mc="http://schemas.openxmlformats.org/markup-compatibility/2006">
              <mc:Choice xmlns:v="urn:schemas-microsoft-com:vml" Requires="v">
                <p:oleObj spid="_x0000_s360457" name="Equation" r:id="rId3" imgW="1295280" imgH="634680" progId="Equation.DSMT4">
                  <p:embed/>
                </p:oleObj>
              </mc:Choice>
              <mc:Fallback>
                <p:oleObj name="Equation" r:id="rId3" imgW="1295280" imgH="63468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9413" y="4038600"/>
                        <a:ext cx="2798762" cy="137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Contoh</a:t>
            </a:r>
            <a:endParaRPr lang="id-ID" dirty="0"/>
          </a:p>
        </p:txBody>
      </p:sp>
      <p:sp>
        <p:nvSpPr>
          <p:cNvPr id="3" name="Content Placeholder 2"/>
          <p:cNvSpPr>
            <a:spLocks noGrp="1"/>
          </p:cNvSpPr>
          <p:nvPr>
            <p:ph idx="1"/>
          </p:nvPr>
        </p:nvSpPr>
        <p:spPr>
          <a:xfrm>
            <a:off x="838200" y="1524000"/>
            <a:ext cx="7010400" cy="4532312"/>
          </a:xfrm>
        </p:spPr>
        <p:txBody>
          <a:bodyPr/>
          <a:lstStyle/>
          <a:p>
            <a:pPr>
              <a:buNone/>
            </a:pPr>
            <a:r>
              <a:rPr lang="id-ID" dirty="0" smtClean="0"/>
              <a:t>	Pernyataan umum menyatakan bahwa perbandingan ikan kuniran yang berjenis kelamin betina dan jantan adalah 50:50. bila  diambil sampel sebanyak 100 ekor ikan kuniran, dan 40 diantaranya adalah betina. Lakukan uji hipotesis apakah data sampel tersebut mendukung pernyataan umum yg disampaikan. gunakan </a:t>
            </a:r>
            <a:r>
              <a:rPr lang="el-GR" dirty="0" smtClean="0"/>
              <a:t>α</a:t>
            </a:r>
            <a:r>
              <a:rPr lang="id-ID" dirty="0" smtClean="0"/>
              <a:t>=0.05).</a:t>
            </a:r>
          </a:p>
          <a:p>
            <a:endParaRPr lang="id-ID"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Pembahasan</a:t>
            </a:r>
            <a:endParaRPr lang="id-ID" dirty="0"/>
          </a:p>
        </p:txBody>
      </p:sp>
      <p:sp>
        <p:nvSpPr>
          <p:cNvPr id="3" name="Content Placeholder 2"/>
          <p:cNvSpPr>
            <a:spLocks noGrp="1"/>
          </p:cNvSpPr>
          <p:nvPr>
            <p:ph idx="1"/>
          </p:nvPr>
        </p:nvSpPr>
        <p:spPr/>
        <p:txBody>
          <a:bodyPr/>
          <a:lstStyle/>
          <a:p>
            <a:pPr>
              <a:buNone/>
            </a:pPr>
            <a:r>
              <a:rPr lang="id-ID" dirty="0" smtClean="0"/>
              <a:t>1. Hipotesis uji</a:t>
            </a:r>
          </a:p>
          <a:p>
            <a:pPr lvl="1"/>
            <a:r>
              <a:rPr lang="id-ID" dirty="0" smtClean="0"/>
              <a:t>Ho : </a:t>
            </a:r>
            <a:r>
              <a:rPr lang="el-GR" dirty="0" smtClean="0"/>
              <a:t>π</a:t>
            </a:r>
            <a:r>
              <a:rPr lang="id-ID" dirty="0" smtClean="0"/>
              <a:t> = 0.50</a:t>
            </a:r>
          </a:p>
          <a:p>
            <a:pPr lvl="1"/>
            <a:r>
              <a:rPr lang="id-ID" dirty="0" smtClean="0"/>
              <a:t>H</a:t>
            </a:r>
            <a:r>
              <a:rPr lang="id-ID" baseline="-25000" dirty="0" smtClean="0"/>
              <a:t>1</a:t>
            </a:r>
            <a:r>
              <a:rPr lang="id-ID" dirty="0" smtClean="0"/>
              <a:t> : </a:t>
            </a:r>
            <a:r>
              <a:rPr lang="el-GR" dirty="0" smtClean="0"/>
              <a:t>π≠</a:t>
            </a:r>
            <a:r>
              <a:rPr lang="id-ID" dirty="0" smtClean="0"/>
              <a:t> 0.50</a:t>
            </a:r>
          </a:p>
          <a:p>
            <a:pPr>
              <a:buNone/>
            </a:pPr>
            <a:r>
              <a:rPr lang="id-ID" dirty="0" smtClean="0"/>
              <a:t>2. n=100, x=40, </a:t>
            </a:r>
            <a:r>
              <a:rPr lang="el-GR" dirty="0" smtClean="0"/>
              <a:t>α</a:t>
            </a:r>
            <a:r>
              <a:rPr lang="id-ID" dirty="0" smtClean="0"/>
              <a:t>=0.05</a:t>
            </a:r>
          </a:p>
          <a:p>
            <a:pPr>
              <a:buNone/>
            </a:pPr>
            <a:r>
              <a:rPr lang="id-ID" dirty="0" smtClean="0"/>
              <a:t>3. Distribusi sampling: Distribusi Z</a:t>
            </a:r>
          </a:p>
          <a:p>
            <a:pPr marL="342900" indent="-342900" eaLnBrk="1" hangingPunct="1">
              <a:spcBef>
                <a:spcPct val="40000"/>
              </a:spcBef>
              <a:buSzPct val="100000"/>
              <a:buNone/>
            </a:pPr>
            <a:r>
              <a:rPr lang="id-ID" dirty="0" smtClean="0"/>
              <a:t>4. Titik kritis: </a:t>
            </a:r>
            <a:r>
              <a:rPr lang="id-ID" b="1" dirty="0" smtClean="0"/>
              <a:t>(Z tabel)</a:t>
            </a:r>
            <a:r>
              <a:rPr lang="en-US" b="1" dirty="0" smtClean="0"/>
              <a:t>: </a:t>
            </a:r>
          </a:p>
          <a:p>
            <a:pPr>
              <a:lnSpc>
                <a:spcPct val="120000"/>
              </a:lnSpc>
              <a:spcBef>
                <a:spcPct val="40000"/>
              </a:spcBef>
              <a:buNone/>
            </a:pPr>
            <a:r>
              <a:rPr lang="en-US" b="1" dirty="0" smtClean="0"/>
              <a:t>     </a:t>
            </a:r>
            <a:r>
              <a:rPr lang="en-US" b="1" dirty="0" smtClean="0">
                <a:cs typeface="Arial" charset="0"/>
              </a:rPr>
              <a:t>±</a:t>
            </a:r>
            <a:r>
              <a:rPr lang="id-ID" b="1" dirty="0" smtClean="0">
                <a:cs typeface="Arial" charset="0"/>
              </a:rPr>
              <a:t>Z</a:t>
            </a:r>
            <a:r>
              <a:rPr lang="en-US" b="1" baseline="-25000" dirty="0" smtClean="0"/>
              <a:t>0.025 </a:t>
            </a:r>
            <a:r>
              <a:rPr lang="en-US" b="1" dirty="0" smtClean="0"/>
              <a:t>= ± </a:t>
            </a:r>
            <a:r>
              <a:rPr lang="id-ID" b="1" dirty="0" smtClean="0"/>
              <a:t>1.96</a:t>
            </a:r>
          </a:p>
          <a:p>
            <a:pPr>
              <a:buNone/>
            </a:pPr>
            <a:r>
              <a:rPr lang="id-ID" dirty="0" smtClean="0"/>
              <a:t> </a:t>
            </a:r>
            <a:endParaRPr lang="id-ID"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id-ID"/>
          </a:p>
        </p:txBody>
      </p:sp>
      <p:sp>
        <p:nvSpPr>
          <p:cNvPr id="3" name="Content Placeholder 2"/>
          <p:cNvSpPr>
            <a:spLocks noGrp="1"/>
          </p:cNvSpPr>
          <p:nvPr>
            <p:ph idx="1"/>
          </p:nvPr>
        </p:nvSpPr>
        <p:spPr/>
        <p:txBody>
          <a:bodyPr/>
          <a:lstStyle/>
          <a:p>
            <a:pPr>
              <a:buNone/>
            </a:pPr>
            <a:endParaRPr lang="id-ID" dirty="0" smtClean="0"/>
          </a:p>
          <a:p>
            <a:pPr>
              <a:buNone/>
            </a:pPr>
            <a:endParaRPr lang="id-ID" dirty="0" smtClean="0"/>
          </a:p>
          <a:p>
            <a:pPr>
              <a:buNone/>
            </a:pPr>
            <a:endParaRPr lang="id-ID" dirty="0" smtClean="0"/>
          </a:p>
          <a:p>
            <a:pPr>
              <a:buNone/>
            </a:pPr>
            <a:r>
              <a:rPr lang="id-ID" dirty="0" smtClean="0"/>
              <a:t>5. Statistik uji</a:t>
            </a:r>
            <a:endParaRPr lang="id-ID" dirty="0"/>
          </a:p>
        </p:txBody>
      </p:sp>
      <p:graphicFrame>
        <p:nvGraphicFramePr>
          <p:cNvPr id="4" name="Object 3"/>
          <p:cNvGraphicFramePr>
            <a:graphicFrameLocks noChangeAspect="1"/>
          </p:cNvGraphicFramePr>
          <p:nvPr/>
        </p:nvGraphicFramePr>
        <p:xfrm>
          <a:off x="381000" y="2286000"/>
          <a:ext cx="2568677" cy="838200"/>
        </p:xfrm>
        <a:graphic>
          <a:graphicData uri="http://schemas.openxmlformats.org/presentationml/2006/ole">
            <mc:AlternateContent xmlns:mc="http://schemas.openxmlformats.org/markup-compatibility/2006">
              <mc:Choice xmlns:v="urn:schemas-microsoft-com:vml" Requires="v">
                <p:oleObj spid="_x0000_s397328" name="Equation" r:id="rId3" imgW="1206360" imgH="393480" progId="Equation.DSMT4">
                  <p:embed/>
                </p:oleObj>
              </mc:Choice>
              <mc:Fallback>
                <p:oleObj name="Equation" r:id="rId3" imgW="1206360" imgH="39348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286000"/>
                        <a:ext cx="2568677"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7315" name="Object 3"/>
          <p:cNvGraphicFramePr>
            <a:graphicFrameLocks noChangeAspect="1"/>
          </p:cNvGraphicFramePr>
          <p:nvPr/>
        </p:nvGraphicFramePr>
        <p:xfrm>
          <a:off x="1219200" y="4060396"/>
          <a:ext cx="2146300" cy="2797604"/>
        </p:xfrm>
        <a:graphic>
          <a:graphicData uri="http://schemas.openxmlformats.org/presentationml/2006/ole">
            <mc:AlternateContent xmlns:mc="http://schemas.openxmlformats.org/markup-compatibility/2006">
              <mc:Choice xmlns:v="urn:schemas-microsoft-com:vml" Requires="v">
                <p:oleObj spid="_x0000_s397329" name="Equation" r:id="rId5" imgW="1295280" imgH="1688760" progId="Equation.DSMT4">
                  <p:embed/>
                </p:oleObj>
              </mc:Choice>
              <mc:Fallback>
                <p:oleObj name="Equation" r:id="rId5" imgW="1295280" imgH="168876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4060396"/>
                        <a:ext cx="2146300" cy="2797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2"/>
          <p:cNvSpPr>
            <a:spLocks noChangeArrowheads="1"/>
          </p:cNvSpPr>
          <p:nvPr/>
        </p:nvSpPr>
        <p:spPr bwMode="auto">
          <a:xfrm>
            <a:off x="7467600" y="4495800"/>
            <a:ext cx="609600" cy="381000"/>
          </a:xfrm>
          <a:prstGeom prst="rect">
            <a:avLst/>
          </a:prstGeom>
          <a:solidFill>
            <a:srgbClr val="B5D7F9"/>
          </a:solidFill>
          <a:ln w="19050" algn="ctr">
            <a:noFill/>
            <a:miter lim="800000"/>
            <a:headEnd/>
            <a:tailEnd/>
          </a:ln>
        </p:spPr>
        <p:txBody>
          <a:bodyPr wrap="none" anchor="ctr"/>
          <a:lstStyle/>
          <a:p>
            <a:endParaRPr lang="en-US"/>
          </a:p>
        </p:txBody>
      </p:sp>
      <p:sp>
        <p:nvSpPr>
          <p:cNvPr id="7" name="Rectangle 3"/>
          <p:cNvSpPr>
            <a:spLocks noChangeArrowheads="1"/>
          </p:cNvSpPr>
          <p:nvPr/>
        </p:nvSpPr>
        <p:spPr bwMode="auto">
          <a:xfrm>
            <a:off x="7467600" y="3810000"/>
            <a:ext cx="990600" cy="228600"/>
          </a:xfrm>
          <a:prstGeom prst="rect">
            <a:avLst/>
          </a:prstGeom>
          <a:solidFill>
            <a:srgbClr val="FDDBE4"/>
          </a:solidFill>
          <a:ln w="9525">
            <a:noFill/>
            <a:miter lim="800000"/>
            <a:headEnd/>
            <a:tailEnd/>
          </a:ln>
        </p:spPr>
        <p:txBody>
          <a:bodyPr wrap="none" anchor="ctr"/>
          <a:lstStyle/>
          <a:p>
            <a:endParaRPr lang="en-US"/>
          </a:p>
        </p:txBody>
      </p:sp>
      <p:sp>
        <p:nvSpPr>
          <p:cNvPr id="8" name="Rectangle 4"/>
          <p:cNvSpPr>
            <a:spLocks noChangeArrowheads="1"/>
          </p:cNvSpPr>
          <p:nvPr/>
        </p:nvSpPr>
        <p:spPr bwMode="auto">
          <a:xfrm>
            <a:off x="4343400" y="3886200"/>
            <a:ext cx="1066800" cy="228600"/>
          </a:xfrm>
          <a:prstGeom prst="rect">
            <a:avLst/>
          </a:prstGeom>
          <a:solidFill>
            <a:srgbClr val="FDDBE4"/>
          </a:solidFill>
          <a:ln w="9525">
            <a:noFill/>
            <a:miter lim="800000"/>
            <a:headEnd/>
            <a:tailEnd/>
          </a:ln>
        </p:spPr>
        <p:txBody>
          <a:bodyPr wrap="none" anchor="ctr"/>
          <a:lstStyle/>
          <a:p>
            <a:endParaRPr lang="en-US"/>
          </a:p>
        </p:txBody>
      </p:sp>
      <p:sp>
        <p:nvSpPr>
          <p:cNvPr id="9" name="Rectangle 9"/>
          <p:cNvSpPr>
            <a:spLocks noChangeArrowheads="1"/>
          </p:cNvSpPr>
          <p:nvPr/>
        </p:nvSpPr>
        <p:spPr bwMode="auto">
          <a:xfrm>
            <a:off x="3581400" y="4495800"/>
            <a:ext cx="5562600" cy="1320874"/>
          </a:xfrm>
          <a:prstGeom prst="rect">
            <a:avLst/>
          </a:prstGeom>
          <a:solidFill>
            <a:srgbClr val="FDE0BD"/>
          </a:solidFill>
          <a:ln w="9525">
            <a:solidFill>
              <a:schemeClr val="tx1"/>
            </a:solidFill>
            <a:miter lim="800000"/>
            <a:headEnd/>
            <a:tailEnd/>
          </a:ln>
        </p:spPr>
        <p:txBody>
          <a:bodyPr lIns="90488" tIns="44450" rIns="90488" bIns="44450">
            <a:spAutoFit/>
          </a:bodyPr>
          <a:lstStyle/>
          <a:p>
            <a:pPr algn="ctr" eaLnBrk="0" hangingPunct="0">
              <a:spcBef>
                <a:spcPct val="50000"/>
              </a:spcBef>
            </a:pPr>
            <a:r>
              <a:rPr lang="id-ID" sz="2000" b="1" dirty="0" smtClean="0"/>
              <a:t>6. Keputusan: Tolak </a:t>
            </a:r>
            <a:r>
              <a:rPr lang="en-US" sz="2000" b="1" dirty="0" smtClean="0"/>
              <a:t>H</a:t>
            </a:r>
            <a:r>
              <a:rPr lang="id-ID" sz="2000" b="1" dirty="0" smtClean="0"/>
              <a:t>o. </a:t>
            </a:r>
            <a:r>
              <a:rPr lang="id-ID" sz="2000" dirty="0" smtClean="0"/>
              <a:t>Artinya, sudah ada cukup bukti bahwa persentase ikan kuniran berjenis kelamin betina tidak sama dengan 50%</a:t>
            </a:r>
            <a:endParaRPr lang="en-US" sz="2000" dirty="0"/>
          </a:p>
        </p:txBody>
      </p:sp>
      <p:sp>
        <p:nvSpPr>
          <p:cNvPr id="10" name="Text Box 10"/>
          <p:cNvSpPr txBox="1">
            <a:spLocks noChangeArrowheads="1"/>
          </p:cNvSpPr>
          <p:nvPr/>
        </p:nvSpPr>
        <p:spPr bwMode="auto">
          <a:xfrm>
            <a:off x="7924800" y="3276600"/>
            <a:ext cx="990600" cy="304800"/>
          </a:xfrm>
          <a:prstGeom prst="rect">
            <a:avLst/>
          </a:prstGeom>
          <a:solidFill>
            <a:srgbClr val="FAFEB4"/>
          </a:solidFill>
          <a:ln w="19050" algn="ctr">
            <a:noFill/>
            <a:miter lim="800000"/>
            <a:headEnd/>
            <a:tailEnd/>
          </a:ln>
        </p:spPr>
        <p:txBody>
          <a:bodyPr>
            <a:spAutoFit/>
          </a:bodyPr>
          <a:lstStyle/>
          <a:p>
            <a:pPr algn="ctr">
              <a:spcBef>
                <a:spcPct val="50000"/>
              </a:spcBef>
            </a:pPr>
            <a:r>
              <a:rPr lang="id-ID" sz="1400" dirty="0" smtClean="0"/>
              <a:t>Tolak </a:t>
            </a:r>
            <a:r>
              <a:rPr lang="en-US" sz="1400" dirty="0" smtClean="0"/>
              <a:t>H</a:t>
            </a:r>
            <a:r>
              <a:rPr lang="id-ID" sz="1400" dirty="0" smtClean="0"/>
              <a:t>o</a:t>
            </a:r>
            <a:endParaRPr lang="en-US" sz="1400" baseline="-25000" dirty="0"/>
          </a:p>
        </p:txBody>
      </p:sp>
      <p:sp>
        <p:nvSpPr>
          <p:cNvPr id="11" name="Text Box 11"/>
          <p:cNvSpPr txBox="1">
            <a:spLocks noChangeArrowheads="1"/>
          </p:cNvSpPr>
          <p:nvPr/>
        </p:nvSpPr>
        <p:spPr bwMode="auto">
          <a:xfrm>
            <a:off x="3733800" y="3276600"/>
            <a:ext cx="990600" cy="304800"/>
          </a:xfrm>
          <a:prstGeom prst="rect">
            <a:avLst/>
          </a:prstGeom>
          <a:solidFill>
            <a:srgbClr val="FAFEB4"/>
          </a:solidFill>
          <a:ln w="19050" algn="ctr">
            <a:noFill/>
            <a:miter lim="800000"/>
            <a:headEnd/>
            <a:tailEnd/>
          </a:ln>
        </p:spPr>
        <p:txBody>
          <a:bodyPr>
            <a:spAutoFit/>
          </a:bodyPr>
          <a:lstStyle/>
          <a:p>
            <a:pPr algn="ctr">
              <a:spcBef>
                <a:spcPct val="50000"/>
              </a:spcBef>
            </a:pPr>
            <a:r>
              <a:rPr lang="id-ID" sz="1400" dirty="0" smtClean="0"/>
              <a:t>Tolak </a:t>
            </a:r>
            <a:r>
              <a:rPr lang="en-US" sz="1400" dirty="0" smtClean="0"/>
              <a:t>H</a:t>
            </a:r>
            <a:r>
              <a:rPr lang="id-ID" sz="1400" dirty="0" smtClean="0"/>
              <a:t>o</a:t>
            </a:r>
            <a:endParaRPr lang="en-US" sz="1400" baseline="-25000" dirty="0"/>
          </a:p>
        </p:txBody>
      </p:sp>
      <p:sp>
        <p:nvSpPr>
          <p:cNvPr id="12" name="Freeform 12"/>
          <p:cNvSpPr>
            <a:spLocks/>
          </p:cNvSpPr>
          <p:nvPr/>
        </p:nvSpPr>
        <p:spPr bwMode="auto">
          <a:xfrm flipH="1">
            <a:off x="7848600" y="2819400"/>
            <a:ext cx="842963" cy="228600"/>
          </a:xfrm>
          <a:custGeom>
            <a:avLst/>
            <a:gdLst>
              <a:gd name="T0" fmla="*/ 2147483647 w 582"/>
              <a:gd name="T1" fmla="*/ 2147483647 h 183"/>
              <a:gd name="T2" fmla="*/ 0 w 582"/>
              <a:gd name="T3" fmla="*/ 2147483647 h 183"/>
              <a:gd name="T4" fmla="*/ 2147483647 w 582"/>
              <a:gd name="T5" fmla="*/ 2147483647 h 183"/>
              <a:gd name="T6" fmla="*/ 2147483647 w 582"/>
              <a:gd name="T7" fmla="*/ 2147483647 h 183"/>
              <a:gd name="T8" fmla="*/ 2147483647 w 582"/>
              <a:gd name="T9" fmla="*/ 2147483647 h 183"/>
              <a:gd name="T10" fmla="*/ 2147483647 w 582"/>
              <a:gd name="T11" fmla="*/ 0 h 183"/>
              <a:gd name="T12" fmla="*/ 2147483647 w 582"/>
              <a:gd name="T13" fmla="*/ 2147483647 h 183"/>
              <a:gd name="T14" fmla="*/ 2147483647 w 582"/>
              <a:gd name="T15" fmla="*/ 2147483647 h 183"/>
              <a:gd name="T16" fmla="*/ 2147483647 w 582"/>
              <a:gd name="T17" fmla="*/ 2147483647 h 1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2"/>
              <a:gd name="T28" fmla="*/ 0 h 183"/>
              <a:gd name="T29" fmla="*/ 582 w 582"/>
              <a:gd name="T30" fmla="*/ 183 h 1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2" h="183">
                <a:moveTo>
                  <a:pt x="9" y="177"/>
                </a:moveTo>
                <a:lnTo>
                  <a:pt x="0" y="132"/>
                </a:lnTo>
                <a:lnTo>
                  <a:pt x="258" y="114"/>
                </a:lnTo>
                <a:lnTo>
                  <a:pt x="423" y="66"/>
                </a:lnTo>
                <a:lnTo>
                  <a:pt x="504" y="48"/>
                </a:lnTo>
                <a:lnTo>
                  <a:pt x="582" y="0"/>
                </a:lnTo>
                <a:lnTo>
                  <a:pt x="582" y="183"/>
                </a:lnTo>
                <a:lnTo>
                  <a:pt x="9" y="182"/>
                </a:lnTo>
                <a:lnTo>
                  <a:pt x="9" y="177"/>
                </a:lnTo>
              </a:path>
            </a:pathLst>
          </a:custGeom>
          <a:solidFill>
            <a:srgbClr val="C3DBFF"/>
          </a:solidFill>
          <a:ln w="12700" cap="rnd">
            <a:noFill/>
            <a:round/>
            <a:headEnd type="none" w="sm" len="sm"/>
            <a:tailEnd type="none" w="sm" len="sm"/>
          </a:ln>
        </p:spPr>
        <p:txBody>
          <a:bodyPr/>
          <a:lstStyle/>
          <a:p>
            <a:endParaRPr lang="en-US"/>
          </a:p>
        </p:txBody>
      </p:sp>
      <p:sp>
        <p:nvSpPr>
          <p:cNvPr id="13" name="Freeform 13"/>
          <p:cNvSpPr>
            <a:spLocks/>
          </p:cNvSpPr>
          <p:nvPr/>
        </p:nvSpPr>
        <p:spPr bwMode="auto">
          <a:xfrm>
            <a:off x="3962400" y="2819400"/>
            <a:ext cx="833438" cy="228600"/>
          </a:xfrm>
          <a:custGeom>
            <a:avLst/>
            <a:gdLst>
              <a:gd name="T0" fmla="*/ 2147483647 w 582"/>
              <a:gd name="T1" fmla="*/ 2147483647 h 183"/>
              <a:gd name="T2" fmla="*/ 0 w 582"/>
              <a:gd name="T3" fmla="*/ 2147483647 h 183"/>
              <a:gd name="T4" fmla="*/ 2147483647 w 582"/>
              <a:gd name="T5" fmla="*/ 2147483647 h 183"/>
              <a:gd name="T6" fmla="*/ 2147483647 w 582"/>
              <a:gd name="T7" fmla="*/ 2147483647 h 183"/>
              <a:gd name="T8" fmla="*/ 2147483647 w 582"/>
              <a:gd name="T9" fmla="*/ 2147483647 h 183"/>
              <a:gd name="T10" fmla="*/ 2147483647 w 582"/>
              <a:gd name="T11" fmla="*/ 0 h 183"/>
              <a:gd name="T12" fmla="*/ 2147483647 w 582"/>
              <a:gd name="T13" fmla="*/ 2147483647 h 183"/>
              <a:gd name="T14" fmla="*/ 2147483647 w 582"/>
              <a:gd name="T15" fmla="*/ 2147483647 h 183"/>
              <a:gd name="T16" fmla="*/ 2147483647 w 582"/>
              <a:gd name="T17" fmla="*/ 2147483647 h 18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2"/>
              <a:gd name="T28" fmla="*/ 0 h 183"/>
              <a:gd name="T29" fmla="*/ 582 w 582"/>
              <a:gd name="T30" fmla="*/ 183 h 18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2" h="183">
                <a:moveTo>
                  <a:pt x="9" y="177"/>
                </a:moveTo>
                <a:lnTo>
                  <a:pt x="0" y="132"/>
                </a:lnTo>
                <a:lnTo>
                  <a:pt x="258" y="114"/>
                </a:lnTo>
                <a:lnTo>
                  <a:pt x="423" y="66"/>
                </a:lnTo>
                <a:lnTo>
                  <a:pt x="504" y="48"/>
                </a:lnTo>
                <a:lnTo>
                  <a:pt x="582" y="0"/>
                </a:lnTo>
                <a:lnTo>
                  <a:pt x="582" y="183"/>
                </a:lnTo>
                <a:lnTo>
                  <a:pt x="9" y="182"/>
                </a:lnTo>
                <a:lnTo>
                  <a:pt x="9" y="177"/>
                </a:lnTo>
              </a:path>
            </a:pathLst>
          </a:custGeom>
          <a:solidFill>
            <a:srgbClr val="C3DBFF"/>
          </a:solidFill>
          <a:ln w="12700" cap="rnd">
            <a:noFill/>
            <a:round/>
            <a:headEnd type="none" w="sm" len="sm"/>
            <a:tailEnd type="none" w="sm" len="sm"/>
          </a:ln>
        </p:spPr>
        <p:txBody>
          <a:bodyPr/>
          <a:lstStyle/>
          <a:p>
            <a:endParaRPr lang="en-US"/>
          </a:p>
        </p:txBody>
      </p:sp>
      <p:sp>
        <p:nvSpPr>
          <p:cNvPr id="14" name="Freeform 14"/>
          <p:cNvSpPr>
            <a:spLocks/>
          </p:cNvSpPr>
          <p:nvPr/>
        </p:nvSpPr>
        <p:spPr bwMode="auto">
          <a:xfrm>
            <a:off x="4038600" y="1676400"/>
            <a:ext cx="2362200" cy="1295400"/>
          </a:xfrm>
          <a:custGeom>
            <a:avLst/>
            <a:gdLst>
              <a:gd name="T0" fmla="*/ 0 w 600"/>
              <a:gd name="T1" fmla="*/ 2147483647 h 576"/>
              <a:gd name="T2" fmla="*/ 2147483647 w 600"/>
              <a:gd name="T3" fmla="*/ 2147483647 h 576"/>
              <a:gd name="T4" fmla="*/ 2147483647 w 600"/>
              <a:gd name="T5" fmla="*/ 2147483647 h 576"/>
              <a:gd name="T6" fmla="*/ 2147483647 w 600"/>
              <a:gd name="T7" fmla="*/ 2147483647 h 576"/>
              <a:gd name="T8" fmla="*/ 2147483647 w 600"/>
              <a:gd name="T9" fmla="*/ 2147483647 h 576"/>
              <a:gd name="T10" fmla="*/ 2147483647 w 600"/>
              <a:gd name="T11" fmla="*/ 2147483647 h 576"/>
              <a:gd name="T12" fmla="*/ 2147483647 w 600"/>
              <a:gd name="T13" fmla="*/ 2147483647 h 576"/>
              <a:gd name="T14" fmla="*/ 2147483647 w 600"/>
              <a:gd name="T15" fmla="*/ 2147483647 h 576"/>
              <a:gd name="T16" fmla="*/ 2147483647 w 600"/>
              <a:gd name="T17" fmla="*/ 2147483647 h 576"/>
              <a:gd name="T18" fmla="*/ 2147483647 w 600"/>
              <a:gd name="T19" fmla="*/ 2147483647 h 576"/>
              <a:gd name="T20" fmla="*/ 2147483647 w 600"/>
              <a:gd name="T21" fmla="*/ 2147483647 h 576"/>
              <a:gd name="T22" fmla="*/ 2147483647 w 600"/>
              <a:gd name="T23" fmla="*/ 2147483647 h 576"/>
              <a:gd name="T24" fmla="*/ 2147483647 w 600"/>
              <a:gd name="T25" fmla="*/ 2147483647 h 576"/>
              <a:gd name="T26" fmla="*/ 2147483647 w 600"/>
              <a:gd name="T27" fmla="*/ 2147483647 h 576"/>
              <a:gd name="T28" fmla="*/ 2147483647 w 600"/>
              <a:gd name="T29" fmla="*/ 2147483647 h 576"/>
              <a:gd name="T30" fmla="*/ 2147483647 w 600"/>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0"/>
              <a:gd name="T49" fmla="*/ 0 h 576"/>
              <a:gd name="T50" fmla="*/ 600 w 600"/>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0" h="576">
                <a:moveTo>
                  <a:pt x="0" y="575"/>
                </a:moveTo>
                <a:lnTo>
                  <a:pt x="63" y="570"/>
                </a:lnTo>
                <a:lnTo>
                  <a:pt x="95" y="562"/>
                </a:lnTo>
                <a:lnTo>
                  <a:pt x="127" y="553"/>
                </a:lnTo>
                <a:lnTo>
                  <a:pt x="158" y="540"/>
                </a:lnTo>
                <a:lnTo>
                  <a:pt x="190" y="521"/>
                </a:lnTo>
                <a:lnTo>
                  <a:pt x="222" y="498"/>
                </a:lnTo>
                <a:lnTo>
                  <a:pt x="284" y="432"/>
                </a:lnTo>
                <a:lnTo>
                  <a:pt x="347" y="338"/>
                </a:lnTo>
                <a:lnTo>
                  <a:pt x="410" y="224"/>
                </a:lnTo>
                <a:lnTo>
                  <a:pt x="441" y="167"/>
                </a:lnTo>
                <a:lnTo>
                  <a:pt x="473" y="114"/>
                </a:lnTo>
                <a:lnTo>
                  <a:pt x="505" y="67"/>
                </a:lnTo>
                <a:lnTo>
                  <a:pt x="535" y="31"/>
                </a:lnTo>
                <a:lnTo>
                  <a:pt x="567" y="8"/>
                </a:lnTo>
                <a:lnTo>
                  <a:pt x="599" y="0"/>
                </a:lnTo>
              </a:path>
            </a:pathLst>
          </a:custGeom>
          <a:noFill/>
          <a:ln w="50800" cap="rnd">
            <a:solidFill>
              <a:srgbClr val="FF0000"/>
            </a:solidFill>
            <a:round/>
            <a:headEnd type="none" w="sm" len="sm"/>
            <a:tailEnd type="none" w="sm" len="sm"/>
          </a:ln>
        </p:spPr>
        <p:txBody>
          <a:bodyPr/>
          <a:lstStyle/>
          <a:p>
            <a:endParaRPr lang="en-US"/>
          </a:p>
        </p:txBody>
      </p:sp>
      <p:sp>
        <p:nvSpPr>
          <p:cNvPr id="15" name="Freeform 15"/>
          <p:cNvSpPr>
            <a:spLocks/>
          </p:cNvSpPr>
          <p:nvPr/>
        </p:nvSpPr>
        <p:spPr bwMode="auto">
          <a:xfrm>
            <a:off x="6400800" y="1676400"/>
            <a:ext cx="2209800" cy="1295400"/>
          </a:xfrm>
          <a:custGeom>
            <a:avLst/>
            <a:gdLst>
              <a:gd name="T0" fmla="*/ 2147483647 w 576"/>
              <a:gd name="T1" fmla="*/ 2147483647 h 576"/>
              <a:gd name="T2" fmla="*/ 2147483647 w 576"/>
              <a:gd name="T3" fmla="*/ 2147483647 h 576"/>
              <a:gd name="T4" fmla="*/ 2147483647 w 576"/>
              <a:gd name="T5" fmla="*/ 2147483647 h 576"/>
              <a:gd name="T6" fmla="*/ 2147483647 w 576"/>
              <a:gd name="T7" fmla="*/ 2147483647 h 576"/>
              <a:gd name="T8" fmla="*/ 2147483647 w 576"/>
              <a:gd name="T9" fmla="*/ 2147483647 h 576"/>
              <a:gd name="T10" fmla="*/ 2147483647 w 576"/>
              <a:gd name="T11" fmla="*/ 2147483647 h 576"/>
              <a:gd name="T12" fmla="*/ 2147483647 w 576"/>
              <a:gd name="T13" fmla="*/ 2147483647 h 576"/>
              <a:gd name="T14" fmla="*/ 2147483647 w 576"/>
              <a:gd name="T15" fmla="*/ 2147483647 h 576"/>
              <a:gd name="T16" fmla="*/ 2147483647 w 576"/>
              <a:gd name="T17" fmla="*/ 2147483647 h 576"/>
              <a:gd name="T18" fmla="*/ 2147483647 w 576"/>
              <a:gd name="T19" fmla="*/ 2147483647 h 576"/>
              <a:gd name="T20" fmla="*/ 2147483647 w 576"/>
              <a:gd name="T21" fmla="*/ 2147483647 h 576"/>
              <a:gd name="T22" fmla="*/ 2147483647 w 576"/>
              <a:gd name="T23" fmla="*/ 2147483647 h 576"/>
              <a:gd name="T24" fmla="*/ 2147483647 w 576"/>
              <a:gd name="T25" fmla="*/ 2147483647 h 576"/>
              <a:gd name="T26" fmla="*/ 2147483647 w 576"/>
              <a:gd name="T27" fmla="*/ 2147483647 h 576"/>
              <a:gd name="T28" fmla="*/ 2147483647 w 576"/>
              <a:gd name="T29" fmla="*/ 2147483647 h 576"/>
              <a:gd name="T30" fmla="*/ 0 w 576"/>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6"/>
              <a:gd name="T49" fmla="*/ 0 h 576"/>
              <a:gd name="T50" fmla="*/ 576 w 576"/>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6" h="576">
                <a:moveTo>
                  <a:pt x="575" y="575"/>
                </a:moveTo>
                <a:lnTo>
                  <a:pt x="515" y="570"/>
                </a:lnTo>
                <a:lnTo>
                  <a:pt x="484" y="562"/>
                </a:lnTo>
                <a:lnTo>
                  <a:pt x="455" y="553"/>
                </a:lnTo>
                <a:lnTo>
                  <a:pt x="424" y="540"/>
                </a:lnTo>
                <a:lnTo>
                  <a:pt x="393" y="521"/>
                </a:lnTo>
                <a:lnTo>
                  <a:pt x="364" y="498"/>
                </a:lnTo>
                <a:lnTo>
                  <a:pt x="303" y="432"/>
                </a:lnTo>
                <a:lnTo>
                  <a:pt x="242" y="338"/>
                </a:lnTo>
                <a:lnTo>
                  <a:pt x="182" y="224"/>
                </a:lnTo>
                <a:lnTo>
                  <a:pt x="151" y="167"/>
                </a:lnTo>
                <a:lnTo>
                  <a:pt x="120" y="114"/>
                </a:lnTo>
                <a:lnTo>
                  <a:pt x="91" y="67"/>
                </a:lnTo>
                <a:lnTo>
                  <a:pt x="60" y="31"/>
                </a:lnTo>
                <a:lnTo>
                  <a:pt x="30" y="8"/>
                </a:lnTo>
                <a:lnTo>
                  <a:pt x="0" y="0"/>
                </a:lnTo>
              </a:path>
            </a:pathLst>
          </a:custGeom>
          <a:noFill/>
          <a:ln w="50800" cap="rnd">
            <a:solidFill>
              <a:srgbClr val="FF0000"/>
            </a:solidFill>
            <a:round/>
            <a:headEnd type="none" w="sm" len="sm"/>
            <a:tailEnd type="none" w="sm" len="sm"/>
          </a:ln>
        </p:spPr>
        <p:txBody>
          <a:bodyPr/>
          <a:lstStyle/>
          <a:p>
            <a:endParaRPr lang="en-US"/>
          </a:p>
        </p:txBody>
      </p:sp>
      <p:sp>
        <p:nvSpPr>
          <p:cNvPr id="16" name="Line 16"/>
          <p:cNvSpPr>
            <a:spLocks noChangeShapeType="1"/>
          </p:cNvSpPr>
          <p:nvPr/>
        </p:nvSpPr>
        <p:spPr bwMode="auto">
          <a:xfrm>
            <a:off x="3810000" y="3048000"/>
            <a:ext cx="5105400" cy="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17" name="Line 17"/>
          <p:cNvSpPr>
            <a:spLocks noChangeShapeType="1"/>
          </p:cNvSpPr>
          <p:nvPr/>
        </p:nvSpPr>
        <p:spPr bwMode="auto">
          <a:xfrm>
            <a:off x="4038600" y="2514600"/>
            <a:ext cx="457200" cy="457200"/>
          </a:xfrm>
          <a:prstGeom prst="line">
            <a:avLst/>
          </a:prstGeom>
          <a:noFill/>
          <a:ln w="12700">
            <a:solidFill>
              <a:schemeClr val="tx1"/>
            </a:solidFill>
            <a:round/>
            <a:headEnd type="none" w="sm" len="sm"/>
            <a:tailEnd type="stealth" w="med" len="med"/>
          </a:ln>
        </p:spPr>
        <p:txBody>
          <a:bodyPr wrap="none" anchor="ctr"/>
          <a:lstStyle/>
          <a:p>
            <a:endParaRPr lang="en-US"/>
          </a:p>
        </p:txBody>
      </p:sp>
      <p:sp>
        <p:nvSpPr>
          <p:cNvPr id="18" name="Rectangle 18"/>
          <p:cNvSpPr>
            <a:spLocks noChangeArrowheads="1"/>
          </p:cNvSpPr>
          <p:nvPr/>
        </p:nvSpPr>
        <p:spPr bwMode="auto">
          <a:xfrm flipH="1">
            <a:off x="3352800" y="2133600"/>
            <a:ext cx="1219200" cy="39370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000">
                <a:latin typeface="Symbol" pitchFamily="18" charset="2"/>
              </a:rPr>
              <a:t>a</a:t>
            </a:r>
            <a:r>
              <a:rPr lang="en-US" sz="2000"/>
              <a:t>/2=.025</a:t>
            </a:r>
          </a:p>
        </p:txBody>
      </p:sp>
      <p:sp>
        <p:nvSpPr>
          <p:cNvPr id="19" name="Line 19"/>
          <p:cNvSpPr>
            <a:spLocks noChangeShapeType="1"/>
          </p:cNvSpPr>
          <p:nvPr/>
        </p:nvSpPr>
        <p:spPr bwMode="auto">
          <a:xfrm>
            <a:off x="6400800" y="1676400"/>
            <a:ext cx="0" cy="1371600"/>
          </a:xfrm>
          <a:prstGeom prst="line">
            <a:avLst/>
          </a:prstGeom>
          <a:noFill/>
          <a:ln w="9525" cap="rnd">
            <a:solidFill>
              <a:schemeClr val="tx1"/>
            </a:solidFill>
            <a:prstDash val="sysDot"/>
            <a:miter lim="800000"/>
            <a:headEnd/>
            <a:tailEnd/>
          </a:ln>
        </p:spPr>
        <p:txBody>
          <a:bodyPr wrap="none"/>
          <a:lstStyle/>
          <a:p>
            <a:endParaRPr lang="en-US"/>
          </a:p>
        </p:txBody>
      </p:sp>
      <p:sp>
        <p:nvSpPr>
          <p:cNvPr id="20" name="Line 20"/>
          <p:cNvSpPr>
            <a:spLocks noChangeShapeType="1"/>
          </p:cNvSpPr>
          <p:nvPr/>
        </p:nvSpPr>
        <p:spPr bwMode="auto">
          <a:xfrm>
            <a:off x="4800600" y="3124200"/>
            <a:ext cx="0" cy="304800"/>
          </a:xfrm>
          <a:prstGeom prst="line">
            <a:avLst/>
          </a:prstGeom>
          <a:noFill/>
          <a:ln w="19050">
            <a:solidFill>
              <a:schemeClr val="tx1"/>
            </a:solidFill>
            <a:round/>
            <a:headEnd/>
            <a:tailEnd/>
          </a:ln>
        </p:spPr>
        <p:txBody>
          <a:bodyPr wrap="none" anchor="ctr"/>
          <a:lstStyle/>
          <a:p>
            <a:endParaRPr lang="en-US"/>
          </a:p>
        </p:txBody>
      </p:sp>
      <p:sp>
        <p:nvSpPr>
          <p:cNvPr id="21" name="Line 22"/>
          <p:cNvSpPr>
            <a:spLocks noChangeShapeType="1"/>
          </p:cNvSpPr>
          <p:nvPr/>
        </p:nvSpPr>
        <p:spPr bwMode="auto">
          <a:xfrm>
            <a:off x="4800600" y="3276600"/>
            <a:ext cx="30480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22" name="Text Box 23"/>
          <p:cNvSpPr txBox="1">
            <a:spLocks noChangeArrowheads="1"/>
          </p:cNvSpPr>
          <p:nvPr/>
        </p:nvSpPr>
        <p:spPr bwMode="auto">
          <a:xfrm>
            <a:off x="5562600" y="3276600"/>
            <a:ext cx="1524000" cy="304800"/>
          </a:xfrm>
          <a:prstGeom prst="rect">
            <a:avLst/>
          </a:prstGeom>
          <a:solidFill>
            <a:srgbClr val="FAFEB4"/>
          </a:solidFill>
          <a:ln w="19050" algn="ctr">
            <a:noFill/>
            <a:miter lim="800000"/>
            <a:headEnd/>
            <a:tailEnd/>
          </a:ln>
        </p:spPr>
        <p:txBody>
          <a:bodyPr>
            <a:spAutoFit/>
          </a:bodyPr>
          <a:lstStyle/>
          <a:p>
            <a:pPr algn="ctr">
              <a:spcBef>
                <a:spcPct val="50000"/>
              </a:spcBef>
            </a:pPr>
            <a:r>
              <a:rPr lang="id-ID" sz="1400" dirty="0" smtClean="0"/>
              <a:t>Gagal tolak </a:t>
            </a:r>
            <a:r>
              <a:rPr lang="en-US" sz="1400" dirty="0" smtClean="0"/>
              <a:t>H</a:t>
            </a:r>
            <a:r>
              <a:rPr lang="id-ID" sz="1400" dirty="0" smtClean="0"/>
              <a:t>o</a:t>
            </a:r>
            <a:endParaRPr lang="en-US" sz="1400" baseline="-25000" dirty="0"/>
          </a:p>
        </p:txBody>
      </p:sp>
      <p:sp>
        <p:nvSpPr>
          <p:cNvPr id="23" name="Line 24"/>
          <p:cNvSpPr>
            <a:spLocks noChangeShapeType="1"/>
          </p:cNvSpPr>
          <p:nvPr/>
        </p:nvSpPr>
        <p:spPr bwMode="auto">
          <a:xfrm>
            <a:off x="3657600" y="3276600"/>
            <a:ext cx="11430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24" name="Text Box 25"/>
          <p:cNvSpPr txBox="1">
            <a:spLocks noChangeArrowheads="1"/>
          </p:cNvSpPr>
          <p:nvPr/>
        </p:nvSpPr>
        <p:spPr bwMode="auto">
          <a:xfrm>
            <a:off x="6172200" y="3505200"/>
            <a:ext cx="457200" cy="366713"/>
          </a:xfrm>
          <a:prstGeom prst="rect">
            <a:avLst/>
          </a:prstGeom>
          <a:noFill/>
          <a:ln w="19050" algn="ctr">
            <a:noFill/>
            <a:miter lim="800000"/>
            <a:headEnd/>
            <a:tailEnd/>
          </a:ln>
        </p:spPr>
        <p:txBody>
          <a:bodyPr>
            <a:spAutoFit/>
          </a:bodyPr>
          <a:lstStyle/>
          <a:p>
            <a:pPr algn="ctr">
              <a:spcBef>
                <a:spcPct val="50000"/>
              </a:spcBef>
            </a:pPr>
            <a:r>
              <a:rPr lang="en-US" sz="1800"/>
              <a:t>0</a:t>
            </a:r>
            <a:endParaRPr lang="el-GR" sz="1800" baseline="-25000">
              <a:cs typeface="Arial" charset="0"/>
            </a:endParaRPr>
          </a:p>
        </p:txBody>
      </p:sp>
      <p:sp>
        <p:nvSpPr>
          <p:cNvPr id="25" name="Line 27"/>
          <p:cNvSpPr>
            <a:spLocks noChangeShapeType="1"/>
          </p:cNvSpPr>
          <p:nvPr/>
        </p:nvSpPr>
        <p:spPr bwMode="auto">
          <a:xfrm>
            <a:off x="7848600" y="3124200"/>
            <a:ext cx="0" cy="304800"/>
          </a:xfrm>
          <a:prstGeom prst="line">
            <a:avLst/>
          </a:prstGeom>
          <a:noFill/>
          <a:ln w="19050">
            <a:solidFill>
              <a:schemeClr val="tx1"/>
            </a:solidFill>
            <a:round/>
            <a:headEnd/>
            <a:tailEnd/>
          </a:ln>
        </p:spPr>
        <p:txBody>
          <a:bodyPr wrap="none" anchor="ctr"/>
          <a:lstStyle/>
          <a:p>
            <a:endParaRPr lang="en-US"/>
          </a:p>
        </p:txBody>
      </p:sp>
      <p:sp>
        <p:nvSpPr>
          <p:cNvPr id="26" name="Line 28"/>
          <p:cNvSpPr>
            <a:spLocks noChangeShapeType="1"/>
          </p:cNvSpPr>
          <p:nvPr/>
        </p:nvSpPr>
        <p:spPr bwMode="auto">
          <a:xfrm>
            <a:off x="7848600" y="3276600"/>
            <a:ext cx="1143000"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27" name="Line 29"/>
          <p:cNvSpPr>
            <a:spLocks noChangeShapeType="1"/>
          </p:cNvSpPr>
          <p:nvPr/>
        </p:nvSpPr>
        <p:spPr bwMode="auto">
          <a:xfrm flipH="1">
            <a:off x="8001000" y="2514600"/>
            <a:ext cx="304800" cy="457200"/>
          </a:xfrm>
          <a:prstGeom prst="line">
            <a:avLst/>
          </a:prstGeom>
          <a:noFill/>
          <a:ln w="12700">
            <a:solidFill>
              <a:schemeClr val="tx1"/>
            </a:solidFill>
            <a:round/>
            <a:headEnd type="none" w="sm" len="sm"/>
            <a:tailEnd type="stealth" w="med" len="med"/>
          </a:ln>
        </p:spPr>
        <p:txBody>
          <a:bodyPr wrap="none" anchor="ctr"/>
          <a:lstStyle/>
          <a:p>
            <a:endParaRPr lang="en-US"/>
          </a:p>
        </p:txBody>
      </p:sp>
      <p:sp>
        <p:nvSpPr>
          <p:cNvPr id="28" name="Rectangle 30"/>
          <p:cNvSpPr>
            <a:spLocks noChangeArrowheads="1"/>
          </p:cNvSpPr>
          <p:nvPr/>
        </p:nvSpPr>
        <p:spPr bwMode="auto">
          <a:xfrm flipH="1">
            <a:off x="7696200" y="2133600"/>
            <a:ext cx="1219200" cy="39370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000">
                <a:latin typeface="Symbol" pitchFamily="18" charset="2"/>
              </a:rPr>
              <a:t>a</a:t>
            </a:r>
            <a:r>
              <a:rPr lang="en-US" sz="2000"/>
              <a:t>/2=.025</a:t>
            </a:r>
          </a:p>
        </p:txBody>
      </p:sp>
      <p:sp>
        <p:nvSpPr>
          <p:cNvPr id="29" name="Rectangle 31"/>
          <p:cNvSpPr>
            <a:spLocks noChangeArrowheads="1"/>
          </p:cNvSpPr>
          <p:nvPr/>
        </p:nvSpPr>
        <p:spPr bwMode="auto">
          <a:xfrm flipH="1">
            <a:off x="4343400" y="3810000"/>
            <a:ext cx="1219200" cy="39370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000" b="1" dirty="0" smtClean="0"/>
              <a:t>-</a:t>
            </a:r>
            <a:r>
              <a:rPr lang="id-ID" sz="2000" b="1" dirty="0" smtClean="0"/>
              <a:t>1.96</a:t>
            </a:r>
            <a:endParaRPr lang="en-US" sz="2000" b="1" dirty="0"/>
          </a:p>
        </p:txBody>
      </p:sp>
      <p:sp>
        <p:nvSpPr>
          <p:cNvPr id="30" name="Rectangle 32"/>
          <p:cNvSpPr>
            <a:spLocks noChangeArrowheads="1"/>
          </p:cNvSpPr>
          <p:nvPr/>
        </p:nvSpPr>
        <p:spPr bwMode="auto">
          <a:xfrm flipH="1">
            <a:off x="7467600" y="3733800"/>
            <a:ext cx="1219200" cy="39370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id-ID" sz="2000" b="1" dirty="0" smtClean="0"/>
              <a:t>1.96</a:t>
            </a:r>
            <a:endParaRPr lang="en-US" sz="2000" b="1" dirty="0"/>
          </a:p>
        </p:txBody>
      </p:sp>
      <p:sp>
        <p:nvSpPr>
          <p:cNvPr id="31" name="Rectangle 34"/>
          <p:cNvSpPr>
            <a:spLocks noChangeArrowheads="1"/>
          </p:cNvSpPr>
          <p:nvPr/>
        </p:nvSpPr>
        <p:spPr bwMode="auto">
          <a:xfrm flipH="1">
            <a:off x="8077200" y="4038600"/>
            <a:ext cx="762000" cy="39370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id-ID" sz="2000" b="1" dirty="0" smtClean="0">
                <a:solidFill>
                  <a:schemeClr val="folHlink"/>
                </a:solidFill>
              </a:rPr>
              <a:t>2.00</a:t>
            </a:r>
            <a:endParaRPr lang="en-US" sz="2000" b="1" dirty="0">
              <a:solidFill>
                <a:schemeClr val="folHlink"/>
              </a:solidFill>
            </a:endParaRPr>
          </a:p>
        </p:txBody>
      </p:sp>
      <p:sp>
        <p:nvSpPr>
          <p:cNvPr id="32" name="Line 35"/>
          <p:cNvSpPr>
            <a:spLocks noChangeShapeType="1"/>
          </p:cNvSpPr>
          <p:nvPr/>
        </p:nvSpPr>
        <p:spPr bwMode="auto">
          <a:xfrm flipV="1">
            <a:off x="8382000" y="3124200"/>
            <a:ext cx="0" cy="990600"/>
          </a:xfrm>
          <a:prstGeom prst="line">
            <a:avLst/>
          </a:prstGeom>
          <a:noFill/>
          <a:ln w="57150">
            <a:solidFill>
              <a:schemeClr val="folHlink"/>
            </a:solidFill>
            <a:round/>
            <a:headEnd/>
            <a:tailEnd type="triangle" w="med" len="med"/>
          </a:ln>
        </p:spPr>
        <p:txBody>
          <a:bodyPr wrap="none" anchor="ctr"/>
          <a:lstStyle/>
          <a:p>
            <a:endParaRPr lang="en-US"/>
          </a:p>
        </p:txBody>
      </p:sp>
      <p:cxnSp>
        <p:nvCxnSpPr>
          <p:cNvPr id="33" name="Straight Connector 32"/>
          <p:cNvCxnSpPr/>
          <p:nvPr/>
        </p:nvCxnSpPr>
        <p:spPr bwMode="auto">
          <a:xfrm>
            <a:off x="4800600" y="2286000"/>
            <a:ext cx="0" cy="914400"/>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34" name="Straight Connector 33"/>
          <p:cNvCxnSpPr/>
          <p:nvPr/>
        </p:nvCxnSpPr>
        <p:spPr bwMode="auto">
          <a:xfrm>
            <a:off x="7848600" y="2362200"/>
            <a:ext cx="0" cy="914400"/>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p:cxnSp>
        <p:nvCxnSpPr>
          <p:cNvPr id="35" name="Straight Connector 34"/>
          <p:cNvCxnSpPr/>
          <p:nvPr/>
        </p:nvCxnSpPr>
        <p:spPr bwMode="auto">
          <a:xfrm>
            <a:off x="5181600" y="2362200"/>
            <a:ext cx="0" cy="914400"/>
          </a:xfrm>
          <a:prstGeom prst="line">
            <a:avLst/>
          </a:prstGeom>
          <a:solidFill>
            <a:schemeClr val="accent1"/>
          </a:solidFill>
          <a:ln w="9525" cap="flat" cmpd="sng" algn="ctr">
            <a:solidFill>
              <a:srgbClr val="FF0000"/>
            </a:solidFill>
            <a:prstDash val="solid"/>
            <a:miter lim="800000"/>
            <a:headEnd type="none" w="med" len="med"/>
            <a:tailEnd type="none" w="med" len="med"/>
          </a:ln>
          <a:effectLst/>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d-ID" dirty="0" smtClean="0"/>
              <a:t>Jenis Kesalahan</a:t>
            </a:r>
            <a:endParaRPr lang="id-ID" dirty="0"/>
          </a:p>
        </p:txBody>
      </p:sp>
      <p:graphicFrame>
        <p:nvGraphicFramePr>
          <p:cNvPr id="4" name="Content Placeholder 3"/>
          <p:cNvGraphicFramePr>
            <a:graphicFrameLocks noGrp="1"/>
          </p:cNvGraphicFramePr>
          <p:nvPr>
            <p:ph idx="1"/>
          </p:nvPr>
        </p:nvGraphicFramePr>
        <p:xfrm>
          <a:off x="838200" y="1868488"/>
          <a:ext cx="8077201" cy="1577340"/>
        </p:xfrm>
        <a:graphic>
          <a:graphicData uri="http://schemas.openxmlformats.org/drawingml/2006/table">
            <a:tbl>
              <a:tblPr/>
              <a:tblGrid>
                <a:gridCol w="2364973"/>
                <a:gridCol w="2945344"/>
                <a:gridCol w="2766884"/>
              </a:tblGrid>
              <a:tr h="0">
                <a:tc>
                  <a:txBody>
                    <a:bodyPr/>
                    <a:lstStyle/>
                    <a:p>
                      <a:pPr marL="457200" algn="just">
                        <a:lnSpc>
                          <a:spcPct val="115000"/>
                        </a:lnSpc>
                        <a:spcAft>
                          <a:spcPts val="0"/>
                        </a:spcAft>
                      </a:pPr>
                      <a:r>
                        <a:rPr lang="en-US" sz="1800" b="1" dirty="0" err="1">
                          <a:latin typeface="Times New Roman"/>
                          <a:ea typeface="Calibri"/>
                          <a:cs typeface="Times New Roman"/>
                        </a:rPr>
                        <a:t>Kesimpulan</a:t>
                      </a:r>
                      <a:endParaRPr lang="id-ID" sz="1600" dirty="0">
                        <a:latin typeface="Calibri"/>
                        <a:ea typeface="Calibri"/>
                        <a:cs typeface="Times New Roman"/>
                      </a:endParaRPr>
                    </a:p>
                  </a:txBody>
                  <a:tcPr marL="90869" marR="9086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800" b="1" dirty="0" smtClean="0">
                          <a:latin typeface="Times New Roman"/>
                          <a:ea typeface="Calibri"/>
                          <a:cs typeface="Times New Roman"/>
                        </a:rPr>
                        <a:t>H</a:t>
                      </a:r>
                      <a:r>
                        <a:rPr lang="id-ID" sz="1800" b="1" dirty="0" smtClean="0">
                          <a:latin typeface="Times New Roman"/>
                          <a:ea typeface="Calibri"/>
                          <a:cs typeface="Times New Roman"/>
                        </a:rPr>
                        <a:t>o</a:t>
                      </a:r>
                      <a:r>
                        <a:rPr lang="en-US" sz="1800" b="1" dirty="0" smtClean="0">
                          <a:latin typeface="Times New Roman"/>
                          <a:ea typeface="Calibri"/>
                          <a:cs typeface="Times New Roman"/>
                        </a:rPr>
                        <a:t> </a:t>
                      </a:r>
                      <a:r>
                        <a:rPr lang="en-US" sz="1800" b="1" dirty="0" err="1">
                          <a:latin typeface="Times New Roman"/>
                          <a:ea typeface="Calibri"/>
                          <a:cs typeface="Times New Roman"/>
                        </a:rPr>
                        <a:t>Benar</a:t>
                      </a:r>
                      <a:endParaRPr lang="id-ID" sz="1600" dirty="0">
                        <a:latin typeface="Calibri"/>
                        <a:ea typeface="Calibri"/>
                        <a:cs typeface="Times New Roman"/>
                      </a:endParaRPr>
                    </a:p>
                  </a:txBody>
                  <a:tcPr marL="90869" marR="9086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just">
                        <a:lnSpc>
                          <a:spcPct val="115000"/>
                        </a:lnSpc>
                        <a:spcAft>
                          <a:spcPts val="0"/>
                        </a:spcAft>
                      </a:pPr>
                      <a:r>
                        <a:rPr lang="en-US" sz="1800" b="1" dirty="0" smtClean="0">
                          <a:latin typeface="Times New Roman"/>
                          <a:ea typeface="Calibri"/>
                          <a:cs typeface="Times New Roman"/>
                        </a:rPr>
                        <a:t>H</a:t>
                      </a:r>
                      <a:r>
                        <a:rPr lang="id-ID" sz="1800" b="1" dirty="0" smtClean="0">
                          <a:latin typeface="Times New Roman"/>
                          <a:ea typeface="Calibri"/>
                          <a:cs typeface="Times New Roman"/>
                        </a:rPr>
                        <a:t>o</a:t>
                      </a:r>
                      <a:r>
                        <a:rPr lang="en-US" sz="1800" b="1" dirty="0" smtClean="0">
                          <a:latin typeface="Times New Roman"/>
                          <a:ea typeface="Calibri"/>
                          <a:cs typeface="Times New Roman"/>
                        </a:rPr>
                        <a:t> </a:t>
                      </a:r>
                      <a:r>
                        <a:rPr lang="en-US" sz="1800" b="1" dirty="0" err="1">
                          <a:latin typeface="Times New Roman"/>
                          <a:ea typeface="Calibri"/>
                          <a:cs typeface="Times New Roman"/>
                        </a:rPr>
                        <a:t>Salah</a:t>
                      </a:r>
                      <a:endParaRPr lang="id-ID" sz="1600" dirty="0">
                        <a:latin typeface="Calibri"/>
                        <a:ea typeface="Calibri"/>
                        <a:cs typeface="Times New Roman"/>
                      </a:endParaRPr>
                    </a:p>
                  </a:txBody>
                  <a:tcPr marL="90869" marR="9086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457200" algn="just">
                        <a:lnSpc>
                          <a:spcPct val="115000"/>
                        </a:lnSpc>
                        <a:spcAft>
                          <a:spcPts val="0"/>
                        </a:spcAft>
                      </a:pPr>
                      <a:r>
                        <a:rPr lang="en-US" sz="1800" dirty="0" err="1">
                          <a:latin typeface="Times New Roman"/>
                          <a:ea typeface="Calibri"/>
                          <a:cs typeface="Times New Roman"/>
                        </a:rPr>
                        <a:t>Terima</a:t>
                      </a:r>
                      <a:r>
                        <a:rPr lang="en-US" sz="1800" dirty="0">
                          <a:latin typeface="Times New Roman"/>
                          <a:ea typeface="Calibri"/>
                          <a:cs typeface="Times New Roman"/>
                        </a:rPr>
                        <a:t> </a:t>
                      </a:r>
                      <a:endParaRPr lang="id-ID" sz="1600" dirty="0">
                        <a:latin typeface="Calibri"/>
                        <a:ea typeface="Calibri"/>
                        <a:cs typeface="Times New Roman"/>
                      </a:endParaRPr>
                    </a:p>
                    <a:p>
                      <a:pPr marL="457200" algn="just">
                        <a:lnSpc>
                          <a:spcPct val="115000"/>
                        </a:lnSpc>
                        <a:spcAft>
                          <a:spcPts val="0"/>
                        </a:spcAft>
                      </a:pPr>
                      <a:r>
                        <a:rPr lang="en-US" sz="1800" dirty="0" err="1" smtClean="0">
                          <a:latin typeface="Times New Roman"/>
                          <a:ea typeface="Calibri"/>
                          <a:cs typeface="Times New Roman"/>
                        </a:rPr>
                        <a:t>Hipotesis</a:t>
                      </a:r>
                      <a:r>
                        <a:rPr lang="id-ID" sz="1800" dirty="0" smtClean="0">
                          <a:latin typeface="Times New Roman"/>
                          <a:ea typeface="Calibri"/>
                          <a:cs typeface="Times New Roman"/>
                        </a:rPr>
                        <a:t> nol (Ho)</a:t>
                      </a:r>
                      <a:endParaRPr lang="id-ID" sz="1600" dirty="0">
                        <a:latin typeface="Calibri"/>
                        <a:ea typeface="Calibri"/>
                        <a:cs typeface="Times New Roman"/>
                      </a:endParaRPr>
                    </a:p>
                  </a:txBody>
                  <a:tcPr marL="90869" marR="9086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1800" dirty="0" err="1" smtClean="0">
                          <a:latin typeface="Times New Roman"/>
                          <a:ea typeface="Calibri"/>
                          <a:cs typeface="Times New Roman"/>
                        </a:rPr>
                        <a:t>Benar</a:t>
                      </a:r>
                      <a:r>
                        <a:rPr lang="id-ID" sz="1800" dirty="0" smtClean="0">
                          <a:latin typeface="Times New Roman"/>
                          <a:ea typeface="Calibri"/>
                          <a:cs typeface="Times New Roman"/>
                        </a:rPr>
                        <a:t> (1-</a:t>
                      </a:r>
                      <a:r>
                        <a:rPr lang="el-GR" sz="1800" dirty="0" smtClean="0">
                          <a:latin typeface="Times New Roman"/>
                          <a:ea typeface="Calibri"/>
                          <a:cs typeface="Times New Roman"/>
                        </a:rPr>
                        <a:t>α</a:t>
                      </a:r>
                      <a:r>
                        <a:rPr lang="id-ID" sz="1800" dirty="0" smtClean="0">
                          <a:latin typeface="Times New Roman"/>
                          <a:ea typeface="Calibri"/>
                          <a:cs typeface="Times New Roman"/>
                        </a:rPr>
                        <a:t>)</a:t>
                      </a:r>
                      <a:endParaRPr lang="id-ID" sz="1600" dirty="0">
                        <a:latin typeface="Calibri"/>
                        <a:ea typeface="Calibri"/>
                        <a:cs typeface="Times New Roman"/>
                      </a:endParaRPr>
                    </a:p>
                  </a:txBody>
                  <a:tcPr marL="90869" marR="908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id-ID" sz="1800">
                          <a:latin typeface="Times New Roman"/>
                          <a:ea typeface="Calibri"/>
                          <a:cs typeface="Times New Roman"/>
                        </a:rPr>
                        <a:t>Kesalahan tipe</a:t>
                      </a:r>
                      <a:r>
                        <a:rPr lang="en-US" sz="1800">
                          <a:latin typeface="Times New Roman"/>
                          <a:ea typeface="Calibri"/>
                          <a:cs typeface="Times New Roman"/>
                        </a:rPr>
                        <a:t> II (β)</a:t>
                      </a:r>
                      <a:endParaRPr lang="id-ID" sz="1600">
                        <a:latin typeface="Calibri"/>
                        <a:ea typeface="Calibri"/>
                        <a:cs typeface="Times New Roman"/>
                      </a:endParaRPr>
                    </a:p>
                  </a:txBody>
                  <a:tcPr marL="90869" marR="908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457200" algn="just">
                        <a:lnSpc>
                          <a:spcPct val="115000"/>
                        </a:lnSpc>
                        <a:spcAft>
                          <a:spcPts val="0"/>
                        </a:spcAft>
                      </a:pPr>
                      <a:r>
                        <a:rPr lang="en-US" sz="1800" dirty="0" err="1">
                          <a:latin typeface="Times New Roman"/>
                          <a:ea typeface="Calibri"/>
                          <a:cs typeface="Times New Roman"/>
                        </a:rPr>
                        <a:t>Tolak</a:t>
                      </a:r>
                      <a:r>
                        <a:rPr lang="en-US" sz="1800" dirty="0">
                          <a:latin typeface="Times New Roman"/>
                          <a:ea typeface="Calibri"/>
                          <a:cs typeface="Times New Roman"/>
                        </a:rPr>
                        <a:t> </a:t>
                      </a:r>
                      <a:endParaRPr lang="id-ID" sz="1600" dirty="0">
                        <a:latin typeface="Calibri"/>
                        <a:ea typeface="Calibri"/>
                        <a:cs typeface="Times New Roman"/>
                      </a:endParaRPr>
                    </a:p>
                    <a:p>
                      <a:pPr marL="457200" algn="just">
                        <a:lnSpc>
                          <a:spcPct val="115000"/>
                        </a:lnSpc>
                        <a:spcAft>
                          <a:spcPts val="0"/>
                        </a:spcAft>
                      </a:pPr>
                      <a:r>
                        <a:rPr lang="en-US" sz="1800" dirty="0" err="1" smtClean="0">
                          <a:latin typeface="Times New Roman"/>
                          <a:ea typeface="Calibri"/>
                          <a:cs typeface="Times New Roman"/>
                        </a:rPr>
                        <a:t>Hipotesis</a:t>
                      </a:r>
                      <a:r>
                        <a:rPr lang="id-ID" sz="1800" dirty="0" smtClean="0">
                          <a:latin typeface="Times New Roman"/>
                          <a:ea typeface="Calibri"/>
                          <a:cs typeface="Times New Roman"/>
                        </a:rPr>
                        <a:t> nol (Ho)</a:t>
                      </a:r>
                      <a:endParaRPr lang="id-ID" sz="1600" dirty="0">
                        <a:latin typeface="Calibri"/>
                        <a:ea typeface="Calibri"/>
                        <a:cs typeface="Times New Roman"/>
                      </a:endParaRPr>
                    </a:p>
                  </a:txBody>
                  <a:tcPr marL="90869" marR="9086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id-ID" sz="1800">
                          <a:latin typeface="Times New Roman"/>
                          <a:ea typeface="Calibri"/>
                          <a:cs typeface="Times New Roman"/>
                        </a:rPr>
                        <a:t>Kesalahan tipe I </a:t>
                      </a:r>
                      <a:r>
                        <a:rPr lang="en-US" sz="1800">
                          <a:latin typeface="Times New Roman"/>
                          <a:ea typeface="Calibri"/>
                          <a:cs typeface="Times New Roman"/>
                        </a:rPr>
                        <a:t>(α)</a:t>
                      </a:r>
                      <a:endParaRPr lang="id-ID" sz="1600">
                        <a:latin typeface="Calibri"/>
                        <a:ea typeface="Calibri"/>
                        <a:cs typeface="Times New Roman"/>
                      </a:endParaRPr>
                    </a:p>
                  </a:txBody>
                  <a:tcPr marL="90869" marR="908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gn="ctr">
                        <a:lnSpc>
                          <a:spcPct val="115000"/>
                        </a:lnSpc>
                        <a:spcAft>
                          <a:spcPts val="0"/>
                        </a:spcAft>
                      </a:pPr>
                      <a:r>
                        <a:rPr lang="en-US" sz="1800" dirty="0" err="1" smtClean="0">
                          <a:latin typeface="Times New Roman"/>
                          <a:ea typeface="Calibri"/>
                          <a:cs typeface="Times New Roman"/>
                        </a:rPr>
                        <a:t>Benar</a:t>
                      </a:r>
                      <a:r>
                        <a:rPr lang="id-ID" sz="1800" dirty="0" smtClean="0">
                          <a:latin typeface="Times New Roman"/>
                          <a:ea typeface="Calibri"/>
                          <a:cs typeface="Times New Roman"/>
                        </a:rPr>
                        <a:t> (1-</a:t>
                      </a:r>
                      <a:r>
                        <a:rPr lang="el-GR" sz="1800" dirty="0" smtClean="0">
                          <a:latin typeface="Times New Roman"/>
                          <a:ea typeface="Calibri"/>
                          <a:cs typeface="Times New Roman"/>
                        </a:rPr>
                        <a:t>β</a:t>
                      </a:r>
                      <a:r>
                        <a:rPr lang="id-ID" sz="1800" dirty="0" smtClean="0">
                          <a:latin typeface="Times New Roman"/>
                          <a:ea typeface="Calibri"/>
                          <a:cs typeface="Times New Roman"/>
                        </a:rPr>
                        <a:t>) atau kuasa uji</a:t>
                      </a:r>
                      <a:endParaRPr lang="id-ID" sz="1600" dirty="0">
                        <a:latin typeface="Calibri"/>
                        <a:ea typeface="Calibri"/>
                        <a:cs typeface="Times New Roman"/>
                      </a:endParaRPr>
                    </a:p>
                  </a:txBody>
                  <a:tcPr marL="90869" marR="9086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5" name="Content Placeholder 2"/>
          <p:cNvSpPr txBox="1">
            <a:spLocks/>
          </p:cNvSpPr>
          <p:nvPr/>
        </p:nvSpPr>
        <p:spPr bwMode="auto">
          <a:xfrm>
            <a:off x="838200" y="3962400"/>
            <a:ext cx="8077200" cy="2438400"/>
          </a:xfrm>
          <a:prstGeom prst="rect">
            <a:avLst/>
          </a:prstGeom>
          <a:noFill/>
          <a:ln w="9525">
            <a:noFill/>
            <a:miter lim="800000"/>
            <a:headEnd/>
            <a:tailEnd/>
          </a:ln>
          <a:effectLst/>
        </p:spPr>
        <p:txBody>
          <a:bodyPr vert="horz" wrap="square" lIns="85342" tIns="42672" rIns="85342" bIns="42672" numCol="1" anchor="t" anchorCtr="0" compatLnSpc="1">
            <a:prstTxWarp prst="textNoShape">
              <a:avLst/>
            </a:prstTxWarp>
          </a:bodyPr>
          <a:lstStyle/>
          <a:p>
            <a:pPr marL="320675" marR="0" lvl="0" indent="-320675" algn="l" defTabSz="852488" rtl="0" eaLnBrk="1" fontAlgn="base" latinLnBrk="0" hangingPunct="1">
              <a:lnSpc>
                <a:spcPct val="100000"/>
              </a:lnSpc>
              <a:spcBef>
                <a:spcPct val="20000"/>
              </a:spcBef>
              <a:spcAft>
                <a:spcPct val="0"/>
              </a:spcAft>
              <a:buClr>
                <a:schemeClr val="folHlink"/>
              </a:buClr>
              <a:buSzPct val="60000"/>
              <a:buFont typeface="Wingdings" pitchFamily="2" charset="2"/>
              <a:buChar char="n"/>
              <a:tabLst/>
              <a:defRPr/>
            </a:pPr>
            <a:r>
              <a:rPr kumimoji="0" lang="id-ID" sz="2800" b="0" i="0" u="none" strike="noStrike" kern="0" cap="none" spc="0" normalizeH="0" baseline="0" noProof="0" dirty="0" smtClean="0">
                <a:ln>
                  <a:noFill/>
                </a:ln>
                <a:solidFill>
                  <a:schemeClr val="tx1"/>
                </a:solidFill>
                <a:effectLst/>
                <a:uLnTx/>
                <a:uFillTx/>
                <a:latin typeface="+mn-lt"/>
                <a:ea typeface="+mn-ea"/>
                <a:cs typeface="+mn-cs"/>
              </a:rPr>
              <a:t>Kesalahan tipe I (</a:t>
            </a:r>
            <a:r>
              <a:rPr kumimoji="0" lang="el-GR" sz="2800" b="0" i="0" u="none" strike="noStrike" kern="0" cap="none" spc="0" normalizeH="0" baseline="0" noProof="0" dirty="0" smtClean="0">
                <a:ln>
                  <a:noFill/>
                </a:ln>
                <a:solidFill>
                  <a:schemeClr val="tx1"/>
                </a:solidFill>
                <a:effectLst/>
                <a:uLnTx/>
                <a:uFillTx/>
                <a:latin typeface="+mn-lt"/>
                <a:ea typeface="+mn-ea"/>
                <a:cs typeface="+mn-cs"/>
              </a:rPr>
              <a:t>α</a:t>
            </a:r>
            <a:r>
              <a:rPr kumimoji="0" lang="id-ID" sz="2800" b="0" i="0" u="none" strike="noStrike" kern="0" cap="none" spc="0" normalizeH="0" baseline="0" noProof="0" dirty="0" smtClean="0">
                <a:ln>
                  <a:noFill/>
                </a:ln>
                <a:solidFill>
                  <a:schemeClr val="tx1"/>
                </a:solidFill>
                <a:effectLst/>
                <a:uLnTx/>
                <a:uFillTx/>
                <a:latin typeface="+mn-lt"/>
                <a:ea typeface="+mn-ea"/>
                <a:cs typeface="+mn-cs"/>
              </a:rPr>
              <a:t>) </a:t>
            </a:r>
            <a:r>
              <a:rPr kumimoji="0" lang="id-ID" sz="2800" b="0" i="0" u="none" strike="noStrike" kern="0" cap="none" spc="0" normalizeH="0" baseline="0" noProof="0" dirty="0" smtClean="0">
                <a:ln>
                  <a:noFill/>
                </a:ln>
                <a:solidFill>
                  <a:schemeClr val="tx1"/>
                </a:solidFill>
                <a:effectLst/>
                <a:uLnTx/>
                <a:uFillTx/>
                <a:latin typeface="+mn-lt"/>
                <a:ea typeface="+mn-ea"/>
                <a:cs typeface="+mn-cs"/>
                <a:sym typeface="Wingdings" pitchFamily="2" charset="2"/>
              </a:rPr>
              <a:t>keputusan menolak Ho padahal</a:t>
            </a:r>
            <a:r>
              <a:rPr kumimoji="0" lang="id-ID" sz="2800" b="0" i="0" u="none" strike="noStrike" kern="0" cap="none" spc="0" normalizeH="0" noProof="0" dirty="0" smtClean="0">
                <a:ln>
                  <a:noFill/>
                </a:ln>
                <a:solidFill>
                  <a:schemeClr val="tx1"/>
                </a:solidFill>
                <a:effectLst/>
                <a:uLnTx/>
                <a:uFillTx/>
                <a:latin typeface="+mn-lt"/>
                <a:ea typeface="+mn-ea"/>
                <a:cs typeface="+mn-cs"/>
                <a:sym typeface="Wingdings" pitchFamily="2" charset="2"/>
              </a:rPr>
              <a:t> Ho benar</a:t>
            </a:r>
            <a:endParaRPr kumimoji="0" lang="id-ID" sz="2800" b="0" i="0" u="none" strike="noStrike" kern="0" cap="none" spc="0" normalizeH="0" baseline="0" noProof="0" dirty="0" smtClean="0">
              <a:ln>
                <a:noFill/>
              </a:ln>
              <a:solidFill>
                <a:schemeClr val="tx1"/>
              </a:solidFill>
              <a:effectLst/>
              <a:uLnTx/>
              <a:uFillTx/>
              <a:latin typeface="+mn-lt"/>
              <a:ea typeface="+mn-ea"/>
              <a:cs typeface="+mn-cs"/>
              <a:sym typeface="Wingdings" pitchFamily="2" charset="2"/>
            </a:endParaRPr>
          </a:p>
          <a:p>
            <a:pPr marL="320675" marR="0" lvl="0" indent="-320675" algn="l" defTabSz="852488" rtl="0" eaLnBrk="1" fontAlgn="base" latinLnBrk="0" hangingPunct="1">
              <a:lnSpc>
                <a:spcPct val="100000"/>
              </a:lnSpc>
              <a:spcBef>
                <a:spcPct val="20000"/>
              </a:spcBef>
              <a:spcAft>
                <a:spcPct val="0"/>
              </a:spcAft>
              <a:buClr>
                <a:schemeClr val="folHlink"/>
              </a:buClr>
              <a:buSzPct val="60000"/>
              <a:buFont typeface="Wingdings" pitchFamily="2" charset="2"/>
              <a:buChar char="n"/>
              <a:tabLst/>
              <a:defRPr/>
            </a:pPr>
            <a:r>
              <a:rPr lang="id-ID" sz="2800" kern="0" dirty="0" smtClean="0">
                <a:sym typeface="Wingdings" pitchFamily="2" charset="2"/>
              </a:rPr>
              <a:t>Kesalahan tipe II (</a:t>
            </a:r>
            <a:r>
              <a:rPr lang="el-GR" sz="2800" kern="0" dirty="0" smtClean="0">
                <a:sym typeface="Wingdings" pitchFamily="2" charset="2"/>
              </a:rPr>
              <a:t>β</a:t>
            </a:r>
            <a:r>
              <a:rPr lang="id-ID" sz="2800" kern="0" dirty="0" smtClean="0">
                <a:sym typeface="Wingdings" pitchFamily="2" charset="2"/>
              </a:rPr>
              <a:t>)  keputusan menerima Ho padahal Ho salah</a:t>
            </a:r>
            <a:endParaRPr kumimoji="0" lang="id-ID" sz="2800" b="0" i="0" u="none" strike="noStrike" kern="0" cap="none" spc="0" normalizeH="0" baseline="0" noProof="0" dirty="0" smtClean="0">
              <a:ln>
                <a:noFill/>
              </a:ln>
              <a:solidFill>
                <a:schemeClr val="tx1"/>
              </a:solidFill>
              <a:effectLst/>
              <a:uLnTx/>
              <a:uFillTx/>
              <a:latin typeface="+mn-lt"/>
              <a:ea typeface="+mn-ea"/>
              <a:cs typeface="+mn-cs"/>
            </a:endParaRPr>
          </a:p>
          <a:p>
            <a:pPr marL="320675" marR="0" lvl="0" indent="-320675" algn="l" defTabSz="852488" rtl="0" eaLnBrk="1" fontAlgn="base" latinLnBrk="0" hangingPunct="1">
              <a:lnSpc>
                <a:spcPct val="100000"/>
              </a:lnSpc>
              <a:spcBef>
                <a:spcPct val="20000"/>
              </a:spcBef>
              <a:spcAft>
                <a:spcPct val="0"/>
              </a:spcAft>
              <a:buClr>
                <a:schemeClr val="folHlink"/>
              </a:buClr>
              <a:buSzPct val="60000"/>
              <a:buFont typeface="Wingdings" pitchFamily="2" charset="2"/>
              <a:buNone/>
              <a:tabLst/>
              <a:defRPr/>
            </a:pPr>
            <a:endParaRPr kumimoji="0" lang="id-ID" sz="28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5"/>
          <p:cNvSpPr>
            <a:spLocks noGrp="1" noChangeArrowheads="1"/>
          </p:cNvSpPr>
          <p:nvPr>
            <p:ph type="sldNum" sz="quarter" idx="10"/>
          </p:nvPr>
        </p:nvSpPr>
        <p:spPr>
          <a:ln/>
        </p:spPr>
        <p:txBody>
          <a:bodyPr/>
          <a:lstStyle/>
          <a:p>
            <a:pPr>
              <a:defRPr/>
            </a:pPr>
            <a:r>
              <a:rPr lang="en-US"/>
              <a:t>Chap 9-</a:t>
            </a:r>
            <a:fld id="{3B78E7BB-8799-454B-8343-86B534965424}" type="slidenum">
              <a:rPr lang="en-US"/>
              <a:pPr>
                <a:defRPr/>
              </a:pPr>
              <a:t>32</a:t>
            </a:fld>
            <a:endParaRPr lang="en-US"/>
          </a:p>
        </p:txBody>
      </p:sp>
      <p:sp>
        <p:nvSpPr>
          <p:cNvPr id="30" name="Rectangle 16"/>
          <p:cNvSpPr>
            <a:spLocks noGrp="1" noChangeArrowheads="1"/>
          </p:cNvSpPr>
          <p:nvPr>
            <p:ph type="ftr" sz="quarter" idx="11"/>
          </p:nvPr>
        </p:nvSpPr>
        <p:spPr>
          <a:ln/>
        </p:spPr>
        <p:txBody>
          <a:bodyPr/>
          <a:lstStyle/>
          <a:p>
            <a:r>
              <a:rPr lang="en-US"/>
              <a:t>Copyright ©2012 Pearson Education, Inc. publishing as Prentice Hall</a:t>
            </a:r>
          </a:p>
        </p:txBody>
      </p:sp>
      <p:sp>
        <p:nvSpPr>
          <p:cNvPr id="98305" name="Slide Number Placeholder 4"/>
          <p:cNvSpPr txBox="1">
            <a:spLocks noGrp="1"/>
          </p:cNvSpPr>
          <p:nvPr/>
        </p:nvSpPr>
        <p:spPr bwMode="auto">
          <a:xfrm>
            <a:off x="6858000" y="6534150"/>
            <a:ext cx="2133600" cy="320675"/>
          </a:xfrm>
          <a:prstGeom prst="rect">
            <a:avLst/>
          </a:prstGeom>
          <a:noFill/>
          <a:ln w="9525">
            <a:noFill/>
            <a:miter lim="800000"/>
            <a:headEnd/>
            <a:tailEnd/>
          </a:ln>
        </p:spPr>
        <p:txBody>
          <a:bodyPr lIns="85342" tIns="42672" rIns="85342" bIns="42672" anchor="b"/>
          <a:lstStyle/>
          <a:p>
            <a:pPr algn="r" defTabSz="852488"/>
            <a:r>
              <a:rPr lang="en-US" sz="1000"/>
              <a:t>Chap 9-</a:t>
            </a:r>
            <a:fld id="{7DB44467-5BC3-4021-8056-334B86CDC3A8}" type="slidenum">
              <a:rPr lang="en-US" sz="1000"/>
              <a:pPr algn="r" defTabSz="852488"/>
              <a:t>32</a:t>
            </a:fld>
            <a:endParaRPr lang="en-US" sz="1000"/>
          </a:p>
        </p:txBody>
      </p:sp>
      <p:sp>
        <p:nvSpPr>
          <p:cNvPr id="98306" name="Rectangle 2"/>
          <p:cNvSpPr>
            <a:spLocks noGrp="1" noChangeArrowheads="1"/>
          </p:cNvSpPr>
          <p:nvPr>
            <p:ph type="title" idx="4294967295"/>
          </p:nvPr>
        </p:nvSpPr>
        <p:spPr>
          <a:xfrm>
            <a:off x="990600" y="609600"/>
            <a:ext cx="7383463" cy="762000"/>
          </a:xfrm>
        </p:spPr>
        <p:txBody>
          <a:bodyPr/>
          <a:lstStyle/>
          <a:p>
            <a:pPr eaLnBrk="1" hangingPunct="1"/>
            <a:r>
              <a:rPr lang="en-US" smtClean="0"/>
              <a:t>Example:  Utilizing The p-value for The Test</a:t>
            </a:r>
            <a:endParaRPr lang="en-US" smtClean="0">
              <a:cs typeface="Arial" charset="0"/>
            </a:endParaRPr>
          </a:p>
        </p:txBody>
      </p:sp>
      <p:sp>
        <p:nvSpPr>
          <p:cNvPr id="98307" name="Text Box 3"/>
          <p:cNvSpPr>
            <a:spLocks noGrp="1" noChangeArrowheads="1"/>
          </p:cNvSpPr>
          <p:nvPr>
            <p:ph type="body" idx="4294967295"/>
          </p:nvPr>
        </p:nvSpPr>
        <p:spPr>
          <a:xfrm>
            <a:off x="685800" y="1600200"/>
            <a:ext cx="8077200" cy="839788"/>
          </a:xfrm>
        </p:spPr>
        <p:txBody>
          <a:bodyPr lIns="91440" tIns="45720" rIns="91440" bIns="45720"/>
          <a:lstStyle/>
          <a:p>
            <a:pPr marL="173038" indent="-173038" defTabSz="914400" eaLnBrk="1" hangingPunct="1"/>
            <a:r>
              <a:rPr lang="en-US" sz="2400" smtClean="0"/>
              <a:t>Calculate the p-value and compare to </a:t>
            </a:r>
            <a:r>
              <a:rPr lang="en-US" sz="2400" b="1" smtClean="0">
                <a:sym typeface="Symbol" pitchFamily="18" charset="2"/>
              </a:rPr>
              <a:t> </a:t>
            </a:r>
            <a:r>
              <a:rPr lang="en-US" sz="2400" smtClean="0">
                <a:sym typeface="Symbol" pitchFamily="18" charset="2"/>
              </a:rPr>
              <a:t>(p-value below calculated using Excel spreadsheet on next page)</a:t>
            </a:r>
            <a:r>
              <a:rPr lang="en-US" sz="2400" b="1" smtClean="0">
                <a:sym typeface="Symbol" pitchFamily="18" charset="2"/>
              </a:rPr>
              <a:t> </a:t>
            </a:r>
            <a:endParaRPr lang="el-GR" sz="2400" smtClean="0">
              <a:sym typeface="Symbol" pitchFamily="18" charset="2"/>
            </a:endParaRPr>
          </a:p>
        </p:txBody>
      </p:sp>
      <p:sp>
        <p:nvSpPr>
          <p:cNvPr id="98308" name="Text Box 4"/>
          <p:cNvSpPr txBox="1">
            <a:spLocks noChangeArrowheads="1"/>
          </p:cNvSpPr>
          <p:nvPr/>
        </p:nvSpPr>
        <p:spPr bwMode="auto">
          <a:xfrm>
            <a:off x="5310188" y="4400550"/>
            <a:ext cx="863600" cy="517525"/>
          </a:xfrm>
          <a:prstGeom prst="rect">
            <a:avLst/>
          </a:prstGeom>
          <a:solidFill>
            <a:schemeClr val="accent1"/>
          </a:solidFill>
          <a:ln w="19050" algn="ctr">
            <a:noFill/>
            <a:miter lim="800000"/>
            <a:headEnd/>
            <a:tailEnd/>
          </a:ln>
        </p:spPr>
        <p:txBody>
          <a:bodyPr>
            <a:spAutoFit/>
          </a:bodyPr>
          <a:lstStyle/>
          <a:p>
            <a:pPr algn="ctr">
              <a:spcBef>
                <a:spcPct val="50000"/>
              </a:spcBef>
            </a:pPr>
            <a:r>
              <a:rPr lang="en-US" sz="1400">
                <a:latin typeface="Times New Roman" pitchFamily="18" charset="0"/>
              </a:rPr>
              <a:t>Reject H</a:t>
            </a:r>
            <a:r>
              <a:rPr lang="en-US" sz="1400" baseline="-25000">
                <a:latin typeface="Times New Roman" pitchFamily="18" charset="0"/>
              </a:rPr>
              <a:t>0</a:t>
            </a:r>
          </a:p>
        </p:txBody>
      </p:sp>
      <p:sp>
        <p:nvSpPr>
          <p:cNvPr id="98309" name="Freeform 5"/>
          <p:cNvSpPr>
            <a:spLocks/>
          </p:cNvSpPr>
          <p:nvPr/>
        </p:nvSpPr>
        <p:spPr bwMode="auto">
          <a:xfrm>
            <a:off x="4443413" y="3341688"/>
            <a:ext cx="1470025" cy="855662"/>
          </a:xfrm>
          <a:custGeom>
            <a:avLst/>
            <a:gdLst>
              <a:gd name="T0" fmla="*/ 2147483647 w 1062"/>
              <a:gd name="T1" fmla="*/ 2147483647 h 609"/>
              <a:gd name="T2" fmla="*/ 2147483647 w 1062"/>
              <a:gd name="T3" fmla="*/ 2147483647 h 609"/>
              <a:gd name="T4" fmla="*/ 2147483647 w 1062"/>
              <a:gd name="T5" fmla="*/ 2147483647 h 609"/>
              <a:gd name="T6" fmla="*/ 2147483647 w 1062"/>
              <a:gd name="T7" fmla="*/ 2147483647 h 609"/>
              <a:gd name="T8" fmla="*/ 2147483647 w 1062"/>
              <a:gd name="T9" fmla="*/ 2147483647 h 609"/>
              <a:gd name="T10" fmla="*/ 2147483647 w 1062"/>
              <a:gd name="T11" fmla="*/ 0 h 609"/>
              <a:gd name="T12" fmla="*/ 0 w 1062"/>
              <a:gd name="T13" fmla="*/ 2147483647 h 609"/>
              <a:gd name="T14" fmla="*/ 2147483647 w 1062"/>
              <a:gd name="T15" fmla="*/ 2147483647 h 609"/>
              <a:gd name="T16" fmla="*/ 2147483647 w 1062"/>
              <a:gd name="T17" fmla="*/ 2147483647 h 60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62"/>
              <a:gd name="T28" fmla="*/ 0 h 609"/>
              <a:gd name="T29" fmla="*/ 1062 w 1062"/>
              <a:gd name="T30" fmla="*/ 609 h 60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62" h="609">
                <a:moveTo>
                  <a:pt x="1054" y="605"/>
                </a:moveTo>
                <a:lnTo>
                  <a:pt x="1062" y="570"/>
                </a:lnTo>
                <a:lnTo>
                  <a:pt x="658" y="522"/>
                </a:lnTo>
                <a:lnTo>
                  <a:pt x="430" y="414"/>
                </a:lnTo>
                <a:lnTo>
                  <a:pt x="266" y="280"/>
                </a:lnTo>
                <a:lnTo>
                  <a:pt x="4" y="0"/>
                </a:lnTo>
                <a:lnTo>
                  <a:pt x="0" y="604"/>
                </a:lnTo>
                <a:lnTo>
                  <a:pt x="1054" y="609"/>
                </a:lnTo>
                <a:lnTo>
                  <a:pt x="1054" y="605"/>
                </a:lnTo>
              </a:path>
            </a:pathLst>
          </a:custGeom>
          <a:solidFill>
            <a:schemeClr val="accent2"/>
          </a:solidFill>
          <a:ln w="12700" cap="rnd">
            <a:noFill/>
            <a:round/>
            <a:headEnd type="none" w="sm" len="sm"/>
            <a:tailEnd type="none" w="sm" len="sm"/>
          </a:ln>
        </p:spPr>
        <p:txBody>
          <a:bodyPr/>
          <a:lstStyle/>
          <a:p>
            <a:endParaRPr lang="en-US"/>
          </a:p>
        </p:txBody>
      </p:sp>
      <p:sp>
        <p:nvSpPr>
          <p:cNvPr id="98310" name="Freeform 6"/>
          <p:cNvSpPr>
            <a:spLocks/>
          </p:cNvSpPr>
          <p:nvPr/>
        </p:nvSpPr>
        <p:spPr bwMode="auto">
          <a:xfrm>
            <a:off x="1855788" y="2986088"/>
            <a:ext cx="2058987" cy="1144587"/>
          </a:xfrm>
          <a:custGeom>
            <a:avLst/>
            <a:gdLst>
              <a:gd name="T0" fmla="*/ 0 w 600"/>
              <a:gd name="T1" fmla="*/ 2147483647 h 576"/>
              <a:gd name="T2" fmla="*/ 2147483647 w 600"/>
              <a:gd name="T3" fmla="*/ 2147483647 h 576"/>
              <a:gd name="T4" fmla="*/ 2147483647 w 600"/>
              <a:gd name="T5" fmla="*/ 2147483647 h 576"/>
              <a:gd name="T6" fmla="*/ 2147483647 w 600"/>
              <a:gd name="T7" fmla="*/ 2147483647 h 576"/>
              <a:gd name="T8" fmla="*/ 2147483647 w 600"/>
              <a:gd name="T9" fmla="*/ 2147483647 h 576"/>
              <a:gd name="T10" fmla="*/ 2147483647 w 600"/>
              <a:gd name="T11" fmla="*/ 2147483647 h 576"/>
              <a:gd name="T12" fmla="*/ 2147483647 w 600"/>
              <a:gd name="T13" fmla="*/ 2147483647 h 576"/>
              <a:gd name="T14" fmla="*/ 2147483647 w 600"/>
              <a:gd name="T15" fmla="*/ 2147483647 h 576"/>
              <a:gd name="T16" fmla="*/ 2147483647 w 600"/>
              <a:gd name="T17" fmla="*/ 2147483647 h 576"/>
              <a:gd name="T18" fmla="*/ 2147483647 w 600"/>
              <a:gd name="T19" fmla="*/ 2147483647 h 576"/>
              <a:gd name="T20" fmla="*/ 2147483647 w 600"/>
              <a:gd name="T21" fmla="*/ 2147483647 h 576"/>
              <a:gd name="T22" fmla="*/ 2147483647 w 600"/>
              <a:gd name="T23" fmla="*/ 2147483647 h 576"/>
              <a:gd name="T24" fmla="*/ 2147483647 w 600"/>
              <a:gd name="T25" fmla="*/ 2147483647 h 576"/>
              <a:gd name="T26" fmla="*/ 2147483647 w 600"/>
              <a:gd name="T27" fmla="*/ 2147483647 h 576"/>
              <a:gd name="T28" fmla="*/ 2147483647 w 600"/>
              <a:gd name="T29" fmla="*/ 2147483647 h 576"/>
              <a:gd name="T30" fmla="*/ 2147483647 w 600"/>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0"/>
              <a:gd name="T49" fmla="*/ 0 h 576"/>
              <a:gd name="T50" fmla="*/ 600 w 600"/>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0" h="576">
                <a:moveTo>
                  <a:pt x="0" y="575"/>
                </a:moveTo>
                <a:lnTo>
                  <a:pt x="63" y="570"/>
                </a:lnTo>
                <a:lnTo>
                  <a:pt x="95" y="562"/>
                </a:lnTo>
                <a:lnTo>
                  <a:pt x="127" y="553"/>
                </a:lnTo>
                <a:lnTo>
                  <a:pt x="158" y="540"/>
                </a:lnTo>
                <a:lnTo>
                  <a:pt x="190" y="521"/>
                </a:lnTo>
                <a:lnTo>
                  <a:pt x="222" y="498"/>
                </a:lnTo>
                <a:lnTo>
                  <a:pt x="284" y="432"/>
                </a:lnTo>
                <a:lnTo>
                  <a:pt x="347" y="338"/>
                </a:lnTo>
                <a:lnTo>
                  <a:pt x="410" y="224"/>
                </a:lnTo>
                <a:lnTo>
                  <a:pt x="441" y="167"/>
                </a:lnTo>
                <a:lnTo>
                  <a:pt x="473" y="114"/>
                </a:lnTo>
                <a:lnTo>
                  <a:pt x="505" y="67"/>
                </a:lnTo>
                <a:lnTo>
                  <a:pt x="535" y="31"/>
                </a:lnTo>
                <a:lnTo>
                  <a:pt x="567" y="8"/>
                </a:lnTo>
                <a:lnTo>
                  <a:pt x="599" y="0"/>
                </a:lnTo>
              </a:path>
            </a:pathLst>
          </a:custGeom>
          <a:noFill/>
          <a:ln w="50800" cap="rnd">
            <a:solidFill>
              <a:schemeClr val="bg2"/>
            </a:solidFill>
            <a:round/>
            <a:headEnd type="none" w="sm" len="sm"/>
            <a:tailEnd type="none" w="sm" len="sm"/>
          </a:ln>
        </p:spPr>
        <p:txBody>
          <a:bodyPr/>
          <a:lstStyle/>
          <a:p>
            <a:endParaRPr lang="en-US"/>
          </a:p>
        </p:txBody>
      </p:sp>
      <p:sp>
        <p:nvSpPr>
          <p:cNvPr id="98311" name="Freeform 7"/>
          <p:cNvSpPr>
            <a:spLocks/>
          </p:cNvSpPr>
          <p:nvPr/>
        </p:nvSpPr>
        <p:spPr bwMode="auto">
          <a:xfrm>
            <a:off x="3914775" y="2986088"/>
            <a:ext cx="1927225" cy="1144587"/>
          </a:xfrm>
          <a:custGeom>
            <a:avLst/>
            <a:gdLst>
              <a:gd name="T0" fmla="*/ 2147483647 w 576"/>
              <a:gd name="T1" fmla="*/ 2147483647 h 576"/>
              <a:gd name="T2" fmla="*/ 2147483647 w 576"/>
              <a:gd name="T3" fmla="*/ 2147483647 h 576"/>
              <a:gd name="T4" fmla="*/ 2147483647 w 576"/>
              <a:gd name="T5" fmla="*/ 2147483647 h 576"/>
              <a:gd name="T6" fmla="*/ 2147483647 w 576"/>
              <a:gd name="T7" fmla="*/ 2147483647 h 576"/>
              <a:gd name="T8" fmla="*/ 2147483647 w 576"/>
              <a:gd name="T9" fmla="*/ 2147483647 h 576"/>
              <a:gd name="T10" fmla="*/ 2147483647 w 576"/>
              <a:gd name="T11" fmla="*/ 2147483647 h 576"/>
              <a:gd name="T12" fmla="*/ 2147483647 w 576"/>
              <a:gd name="T13" fmla="*/ 2147483647 h 576"/>
              <a:gd name="T14" fmla="*/ 2147483647 w 576"/>
              <a:gd name="T15" fmla="*/ 2147483647 h 576"/>
              <a:gd name="T16" fmla="*/ 2147483647 w 576"/>
              <a:gd name="T17" fmla="*/ 2147483647 h 576"/>
              <a:gd name="T18" fmla="*/ 2147483647 w 576"/>
              <a:gd name="T19" fmla="*/ 2147483647 h 576"/>
              <a:gd name="T20" fmla="*/ 2147483647 w 576"/>
              <a:gd name="T21" fmla="*/ 2147483647 h 576"/>
              <a:gd name="T22" fmla="*/ 2147483647 w 576"/>
              <a:gd name="T23" fmla="*/ 2147483647 h 576"/>
              <a:gd name="T24" fmla="*/ 2147483647 w 576"/>
              <a:gd name="T25" fmla="*/ 2147483647 h 576"/>
              <a:gd name="T26" fmla="*/ 2147483647 w 576"/>
              <a:gd name="T27" fmla="*/ 2147483647 h 576"/>
              <a:gd name="T28" fmla="*/ 2147483647 w 576"/>
              <a:gd name="T29" fmla="*/ 2147483647 h 576"/>
              <a:gd name="T30" fmla="*/ 0 w 576"/>
              <a:gd name="T31" fmla="*/ 0 h 57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6"/>
              <a:gd name="T49" fmla="*/ 0 h 576"/>
              <a:gd name="T50" fmla="*/ 576 w 576"/>
              <a:gd name="T51" fmla="*/ 576 h 57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6" h="576">
                <a:moveTo>
                  <a:pt x="575" y="575"/>
                </a:moveTo>
                <a:lnTo>
                  <a:pt x="515" y="570"/>
                </a:lnTo>
                <a:lnTo>
                  <a:pt x="484" y="562"/>
                </a:lnTo>
                <a:lnTo>
                  <a:pt x="455" y="553"/>
                </a:lnTo>
                <a:lnTo>
                  <a:pt x="424" y="540"/>
                </a:lnTo>
                <a:lnTo>
                  <a:pt x="393" y="521"/>
                </a:lnTo>
                <a:lnTo>
                  <a:pt x="364" y="498"/>
                </a:lnTo>
                <a:lnTo>
                  <a:pt x="303" y="432"/>
                </a:lnTo>
                <a:lnTo>
                  <a:pt x="242" y="338"/>
                </a:lnTo>
                <a:lnTo>
                  <a:pt x="182" y="224"/>
                </a:lnTo>
                <a:lnTo>
                  <a:pt x="151" y="167"/>
                </a:lnTo>
                <a:lnTo>
                  <a:pt x="120" y="114"/>
                </a:lnTo>
                <a:lnTo>
                  <a:pt x="91" y="67"/>
                </a:lnTo>
                <a:lnTo>
                  <a:pt x="60" y="31"/>
                </a:lnTo>
                <a:lnTo>
                  <a:pt x="30" y="8"/>
                </a:lnTo>
                <a:lnTo>
                  <a:pt x="0" y="0"/>
                </a:lnTo>
              </a:path>
            </a:pathLst>
          </a:custGeom>
          <a:noFill/>
          <a:ln w="50800" cap="rnd">
            <a:solidFill>
              <a:schemeClr val="bg2"/>
            </a:solidFill>
            <a:round/>
            <a:headEnd type="none" w="sm" len="sm"/>
            <a:tailEnd type="none" w="sm" len="sm"/>
          </a:ln>
        </p:spPr>
        <p:txBody>
          <a:bodyPr/>
          <a:lstStyle/>
          <a:p>
            <a:endParaRPr lang="en-US"/>
          </a:p>
        </p:txBody>
      </p:sp>
      <p:sp>
        <p:nvSpPr>
          <p:cNvPr id="98312" name="Line 8"/>
          <p:cNvSpPr>
            <a:spLocks noChangeShapeType="1"/>
          </p:cNvSpPr>
          <p:nvPr/>
        </p:nvSpPr>
        <p:spPr bwMode="auto">
          <a:xfrm>
            <a:off x="1657350" y="4197350"/>
            <a:ext cx="4449763" cy="0"/>
          </a:xfrm>
          <a:prstGeom prst="line">
            <a:avLst/>
          </a:prstGeom>
          <a:noFill/>
          <a:ln w="25400">
            <a:solidFill>
              <a:schemeClr val="tx1"/>
            </a:solidFill>
            <a:round/>
            <a:headEnd type="none" w="sm" len="sm"/>
            <a:tailEnd type="none" w="sm" len="sm"/>
          </a:ln>
        </p:spPr>
        <p:txBody>
          <a:bodyPr wrap="none" anchor="ctr"/>
          <a:lstStyle/>
          <a:p>
            <a:endParaRPr lang="en-US"/>
          </a:p>
        </p:txBody>
      </p:sp>
      <p:sp>
        <p:nvSpPr>
          <p:cNvPr id="98313" name="Rectangle 9"/>
          <p:cNvSpPr>
            <a:spLocks noChangeArrowheads="1"/>
          </p:cNvSpPr>
          <p:nvPr/>
        </p:nvSpPr>
        <p:spPr bwMode="auto">
          <a:xfrm flipH="1">
            <a:off x="5180013" y="3389313"/>
            <a:ext cx="1062037" cy="363537"/>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1800" b="1">
                <a:latin typeface="Times New Roman" pitchFamily="18" charset="0"/>
                <a:sym typeface="Symbol" pitchFamily="18" charset="2"/>
              </a:rPr>
              <a:t></a:t>
            </a:r>
            <a:r>
              <a:rPr lang="en-US" sz="1800" b="1" i="1">
                <a:latin typeface="Times New Roman" pitchFamily="18" charset="0"/>
                <a:sym typeface="Symbol" pitchFamily="18" charset="2"/>
              </a:rPr>
              <a:t> </a:t>
            </a:r>
            <a:r>
              <a:rPr lang="en-US" sz="1800" b="1">
                <a:latin typeface="Times New Roman" pitchFamily="18" charset="0"/>
              </a:rPr>
              <a:t>= .10</a:t>
            </a:r>
          </a:p>
        </p:txBody>
      </p:sp>
      <p:sp>
        <p:nvSpPr>
          <p:cNvPr id="98314" name="Line 10"/>
          <p:cNvSpPr>
            <a:spLocks noChangeShapeType="1"/>
          </p:cNvSpPr>
          <p:nvPr/>
        </p:nvSpPr>
        <p:spPr bwMode="auto">
          <a:xfrm>
            <a:off x="3914775" y="2986088"/>
            <a:ext cx="0" cy="1211262"/>
          </a:xfrm>
          <a:prstGeom prst="line">
            <a:avLst/>
          </a:prstGeom>
          <a:noFill/>
          <a:ln w="9525" cap="rnd">
            <a:solidFill>
              <a:schemeClr val="tx1"/>
            </a:solidFill>
            <a:prstDash val="sysDot"/>
            <a:miter lim="800000"/>
            <a:headEnd/>
            <a:tailEnd/>
          </a:ln>
        </p:spPr>
        <p:txBody>
          <a:bodyPr wrap="none"/>
          <a:lstStyle/>
          <a:p>
            <a:endParaRPr lang="en-US"/>
          </a:p>
        </p:txBody>
      </p:sp>
      <p:sp>
        <p:nvSpPr>
          <p:cNvPr id="98315" name="Line 11"/>
          <p:cNvSpPr>
            <a:spLocks noChangeShapeType="1"/>
          </p:cNvSpPr>
          <p:nvPr/>
        </p:nvSpPr>
        <p:spPr bwMode="auto">
          <a:xfrm>
            <a:off x="4911725" y="4400550"/>
            <a:ext cx="1395413"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98316" name="Text Box 12"/>
          <p:cNvSpPr txBox="1">
            <a:spLocks noChangeArrowheads="1"/>
          </p:cNvSpPr>
          <p:nvPr/>
        </p:nvSpPr>
        <p:spPr bwMode="auto">
          <a:xfrm>
            <a:off x="2852738" y="4400550"/>
            <a:ext cx="1328737" cy="517525"/>
          </a:xfrm>
          <a:prstGeom prst="rect">
            <a:avLst/>
          </a:prstGeom>
          <a:solidFill>
            <a:schemeClr val="accent1"/>
          </a:solidFill>
          <a:ln w="19050" algn="ctr">
            <a:noFill/>
            <a:miter lim="800000"/>
            <a:headEnd/>
            <a:tailEnd/>
          </a:ln>
        </p:spPr>
        <p:txBody>
          <a:bodyPr>
            <a:spAutoFit/>
          </a:bodyPr>
          <a:lstStyle/>
          <a:p>
            <a:pPr algn="ctr">
              <a:spcBef>
                <a:spcPct val="50000"/>
              </a:spcBef>
            </a:pPr>
            <a:r>
              <a:rPr lang="en-US" sz="1400">
                <a:latin typeface="Times New Roman" pitchFamily="18" charset="0"/>
              </a:rPr>
              <a:t>Do not reject H</a:t>
            </a:r>
            <a:r>
              <a:rPr lang="en-US" sz="1400" baseline="-25000">
                <a:latin typeface="Times New Roman" pitchFamily="18" charset="0"/>
              </a:rPr>
              <a:t>0</a:t>
            </a:r>
          </a:p>
        </p:txBody>
      </p:sp>
      <p:sp>
        <p:nvSpPr>
          <p:cNvPr id="98317" name="Text Box 13"/>
          <p:cNvSpPr txBox="1">
            <a:spLocks noChangeArrowheads="1"/>
          </p:cNvSpPr>
          <p:nvPr/>
        </p:nvSpPr>
        <p:spPr bwMode="auto">
          <a:xfrm>
            <a:off x="4513263" y="4467225"/>
            <a:ext cx="930275" cy="396875"/>
          </a:xfrm>
          <a:prstGeom prst="rect">
            <a:avLst/>
          </a:prstGeom>
          <a:noFill/>
          <a:ln w="19050" algn="ctr">
            <a:noFill/>
            <a:miter lim="800000"/>
            <a:headEnd/>
            <a:tailEnd/>
          </a:ln>
        </p:spPr>
        <p:txBody>
          <a:bodyPr>
            <a:spAutoFit/>
          </a:bodyPr>
          <a:lstStyle/>
          <a:p>
            <a:pPr algn="ctr">
              <a:spcBef>
                <a:spcPct val="50000"/>
              </a:spcBef>
            </a:pPr>
            <a:r>
              <a:rPr lang="en-US" sz="2000" b="1">
                <a:cs typeface="Arial" charset="0"/>
              </a:rPr>
              <a:t>1.318</a:t>
            </a:r>
            <a:endParaRPr lang="el-GR" sz="2000" b="1">
              <a:cs typeface="Arial" charset="0"/>
            </a:endParaRPr>
          </a:p>
        </p:txBody>
      </p:sp>
      <p:sp>
        <p:nvSpPr>
          <p:cNvPr id="98318" name="Line 14"/>
          <p:cNvSpPr>
            <a:spLocks noChangeShapeType="1"/>
          </p:cNvSpPr>
          <p:nvPr/>
        </p:nvSpPr>
        <p:spPr bwMode="auto">
          <a:xfrm>
            <a:off x="1524000" y="4400550"/>
            <a:ext cx="3387725" cy="0"/>
          </a:xfrm>
          <a:prstGeom prst="line">
            <a:avLst/>
          </a:prstGeom>
          <a:noFill/>
          <a:ln w="19050">
            <a:solidFill>
              <a:schemeClr val="tx1"/>
            </a:solidFill>
            <a:round/>
            <a:headEnd type="triangle" w="med" len="med"/>
            <a:tailEnd type="triangle" w="med" len="med"/>
          </a:ln>
        </p:spPr>
        <p:txBody>
          <a:bodyPr wrap="none" anchor="ctr"/>
          <a:lstStyle/>
          <a:p>
            <a:endParaRPr lang="en-US"/>
          </a:p>
        </p:txBody>
      </p:sp>
      <p:sp>
        <p:nvSpPr>
          <p:cNvPr id="98319" name="Text Box 15"/>
          <p:cNvSpPr txBox="1">
            <a:spLocks noChangeArrowheads="1"/>
          </p:cNvSpPr>
          <p:nvPr/>
        </p:nvSpPr>
        <p:spPr bwMode="auto">
          <a:xfrm>
            <a:off x="3716338" y="4130675"/>
            <a:ext cx="398462" cy="366713"/>
          </a:xfrm>
          <a:prstGeom prst="rect">
            <a:avLst/>
          </a:prstGeom>
          <a:noFill/>
          <a:ln w="19050" algn="ctr">
            <a:noFill/>
            <a:miter lim="800000"/>
            <a:headEnd/>
            <a:tailEnd/>
          </a:ln>
        </p:spPr>
        <p:txBody>
          <a:bodyPr>
            <a:spAutoFit/>
          </a:bodyPr>
          <a:lstStyle/>
          <a:p>
            <a:pPr algn="ctr">
              <a:spcBef>
                <a:spcPct val="50000"/>
              </a:spcBef>
            </a:pPr>
            <a:r>
              <a:rPr lang="en-US" sz="1800"/>
              <a:t>0</a:t>
            </a:r>
            <a:endParaRPr lang="el-GR" sz="1800" baseline="-25000">
              <a:cs typeface="Arial" charset="0"/>
            </a:endParaRPr>
          </a:p>
        </p:txBody>
      </p:sp>
      <p:sp>
        <p:nvSpPr>
          <p:cNvPr id="98320" name="Line 16"/>
          <p:cNvSpPr>
            <a:spLocks noChangeShapeType="1"/>
          </p:cNvSpPr>
          <p:nvPr/>
        </p:nvSpPr>
        <p:spPr bwMode="auto">
          <a:xfrm flipV="1">
            <a:off x="4911725" y="3255963"/>
            <a:ext cx="0" cy="941387"/>
          </a:xfrm>
          <a:prstGeom prst="line">
            <a:avLst/>
          </a:prstGeom>
          <a:noFill/>
          <a:ln w="19050">
            <a:solidFill>
              <a:schemeClr val="tx1"/>
            </a:solidFill>
            <a:prstDash val="sysDot"/>
            <a:round/>
            <a:headEnd/>
            <a:tailEnd/>
          </a:ln>
        </p:spPr>
        <p:txBody>
          <a:bodyPr wrap="none" anchor="ctr"/>
          <a:lstStyle/>
          <a:p>
            <a:endParaRPr lang="en-US"/>
          </a:p>
        </p:txBody>
      </p:sp>
      <p:sp>
        <p:nvSpPr>
          <p:cNvPr id="98321" name="Line 17"/>
          <p:cNvSpPr>
            <a:spLocks noChangeShapeType="1"/>
          </p:cNvSpPr>
          <p:nvPr/>
        </p:nvSpPr>
        <p:spPr bwMode="auto">
          <a:xfrm>
            <a:off x="4911725" y="3457575"/>
            <a:ext cx="1462088" cy="0"/>
          </a:xfrm>
          <a:prstGeom prst="line">
            <a:avLst/>
          </a:prstGeom>
          <a:noFill/>
          <a:ln w="19050">
            <a:solidFill>
              <a:schemeClr val="tx1"/>
            </a:solidFill>
            <a:round/>
            <a:headEnd/>
            <a:tailEnd type="triangle" w="med" len="med"/>
          </a:ln>
        </p:spPr>
        <p:txBody>
          <a:bodyPr wrap="none" anchor="ctr"/>
          <a:lstStyle/>
          <a:p>
            <a:endParaRPr lang="en-US"/>
          </a:p>
        </p:txBody>
      </p:sp>
      <p:sp>
        <p:nvSpPr>
          <p:cNvPr id="98322" name="Text Box 18"/>
          <p:cNvSpPr txBox="1">
            <a:spLocks noChangeArrowheads="1"/>
          </p:cNvSpPr>
          <p:nvPr/>
        </p:nvSpPr>
        <p:spPr bwMode="auto">
          <a:xfrm>
            <a:off x="4953000" y="3124200"/>
            <a:ext cx="1328738" cy="366713"/>
          </a:xfrm>
          <a:prstGeom prst="rect">
            <a:avLst/>
          </a:prstGeom>
          <a:noFill/>
          <a:ln w="19050" algn="ctr">
            <a:noFill/>
            <a:miter lim="800000"/>
            <a:headEnd/>
            <a:tailEnd/>
          </a:ln>
        </p:spPr>
        <p:txBody>
          <a:bodyPr>
            <a:spAutoFit/>
          </a:bodyPr>
          <a:lstStyle/>
          <a:p>
            <a:pPr algn="ctr">
              <a:spcBef>
                <a:spcPct val="50000"/>
              </a:spcBef>
            </a:pPr>
            <a:r>
              <a:rPr lang="en-US" sz="1800" b="1">
                <a:latin typeface="Times New Roman" pitchFamily="18" charset="0"/>
              </a:rPr>
              <a:t>Reject H</a:t>
            </a:r>
            <a:r>
              <a:rPr lang="en-US" sz="1800" b="1" baseline="-25000">
                <a:latin typeface="Times New Roman" pitchFamily="18" charset="0"/>
              </a:rPr>
              <a:t>0</a:t>
            </a:r>
          </a:p>
        </p:txBody>
      </p:sp>
      <p:sp>
        <p:nvSpPr>
          <p:cNvPr id="98323" name="Line 19"/>
          <p:cNvSpPr>
            <a:spLocks noChangeShapeType="1"/>
          </p:cNvSpPr>
          <p:nvPr/>
        </p:nvSpPr>
        <p:spPr bwMode="auto">
          <a:xfrm flipV="1">
            <a:off x="4446588" y="4197350"/>
            <a:ext cx="0" cy="606425"/>
          </a:xfrm>
          <a:prstGeom prst="line">
            <a:avLst/>
          </a:prstGeom>
          <a:noFill/>
          <a:ln w="57150">
            <a:solidFill>
              <a:schemeClr val="bg2"/>
            </a:solidFill>
            <a:round/>
            <a:headEnd/>
            <a:tailEnd type="triangle" w="med" len="med"/>
          </a:ln>
        </p:spPr>
        <p:txBody>
          <a:bodyPr wrap="none" anchor="ctr"/>
          <a:lstStyle/>
          <a:p>
            <a:endParaRPr lang="en-US"/>
          </a:p>
        </p:txBody>
      </p:sp>
      <p:sp>
        <p:nvSpPr>
          <p:cNvPr id="98324" name="Text Box 20"/>
          <p:cNvSpPr txBox="1">
            <a:spLocks noChangeArrowheads="1"/>
          </p:cNvSpPr>
          <p:nvPr/>
        </p:nvSpPr>
        <p:spPr bwMode="auto">
          <a:xfrm>
            <a:off x="3810000" y="4876800"/>
            <a:ext cx="1371600" cy="396875"/>
          </a:xfrm>
          <a:prstGeom prst="rect">
            <a:avLst/>
          </a:prstGeom>
          <a:noFill/>
          <a:ln w="19050" algn="ctr">
            <a:noFill/>
            <a:miter lim="800000"/>
            <a:headEnd/>
            <a:tailEnd/>
          </a:ln>
        </p:spPr>
        <p:txBody>
          <a:bodyPr>
            <a:spAutoFit/>
          </a:bodyPr>
          <a:lstStyle/>
          <a:p>
            <a:pPr algn="ctr">
              <a:spcBef>
                <a:spcPct val="50000"/>
              </a:spcBef>
            </a:pPr>
            <a:r>
              <a:rPr lang="en-US" sz="2000" b="1">
                <a:latin typeface="Times New Roman" pitchFamily="18" charset="0"/>
              </a:rPr>
              <a:t>t</a:t>
            </a:r>
            <a:r>
              <a:rPr lang="en-US" sz="2000" b="1" baseline="-25000">
                <a:latin typeface="Times New Roman" pitchFamily="18" charset="0"/>
              </a:rPr>
              <a:t>STAT</a:t>
            </a:r>
            <a:r>
              <a:rPr lang="en-US" sz="2000" b="1">
                <a:latin typeface="Times New Roman" pitchFamily="18" charset="0"/>
              </a:rPr>
              <a:t> </a:t>
            </a:r>
            <a:r>
              <a:rPr lang="en-US" sz="2000" b="1">
                <a:latin typeface="Times New Roman" pitchFamily="18" charset="0"/>
                <a:cs typeface="Arial" charset="0"/>
              </a:rPr>
              <a:t>= .55</a:t>
            </a:r>
            <a:endParaRPr lang="el-GR" sz="2000" b="1">
              <a:latin typeface="Times New Roman" pitchFamily="18" charset="0"/>
              <a:cs typeface="Arial" charset="0"/>
            </a:endParaRPr>
          </a:p>
        </p:txBody>
      </p:sp>
      <p:sp>
        <p:nvSpPr>
          <p:cNvPr id="98325" name="Line 22"/>
          <p:cNvSpPr>
            <a:spLocks noChangeShapeType="1"/>
          </p:cNvSpPr>
          <p:nvPr/>
        </p:nvSpPr>
        <p:spPr bwMode="auto">
          <a:xfrm flipV="1">
            <a:off x="4446588" y="2716213"/>
            <a:ext cx="0" cy="1481137"/>
          </a:xfrm>
          <a:prstGeom prst="line">
            <a:avLst/>
          </a:prstGeom>
          <a:noFill/>
          <a:ln w="19050">
            <a:solidFill>
              <a:schemeClr val="tx1"/>
            </a:solidFill>
            <a:prstDash val="sysDot"/>
            <a:round/>
            <a:headEnd/>
            <a:tailEnd/>
          </a:ln>
        </p:spPr>
        <p:txBody>
          <a:bodyPr wrap="none" anchor="ctr"/>
          <a:lstStyle/>
          <a:p>
            <a:endParaRPr lang="en-US"/>
          </a:p>
        </p:txBody>
      </p:sp>
      <p:sp>
        <p:nvSpPr>
          <p:cNvPr id="98326" name="Line 23"/>
          <p:cNvSpPr>
            <a:spLocks noChangeShapeType="1"/>
          </p:cNvSpPr>
          <p:nvPr/>
        </p:nvSpPr>
        <p:spPr bwMode="auto">
          <a:xfrm>
            <a:off x="4446588" y="2851150"/>
            <a:ext cx="1927225" cy="0"/>
          </a:xfrm>
          <a:prstGeom prst="line">
            <a:avLst/>
          </a:prstGeom>
          <a:noFill/>
          <a:ln w="28575">
            <a:solidFill>
              <a:schemeClr val="tx1"/>
            </a:solidFill>
            <a:round/>
            <a:headEnd/>
            <a:tailEnd type="triangle" w="med" len="med"/>
          </a:ln>
        </p:spPr>
        <p:txBody>
          <a:bodyPr wrap="none" anchor="ctr"/>
          <a:lstStyle/>
          <a:p>
            <a:endParaRPr lang="en-US"/>
          </a:p>
        </p:txBody>
      </p:sp>
      <p:sp>
        <p:nvSpPr>
          <p:cNvPr id="98327" name="Rectangle 24"/>
          <p:cNvSpPr>
            <a:spLocks noChangeArrowheads="1"/>
          </p:cNvSpPr>
          <p:nvPr/>
        </p:nvSpPr>
        <p:spPr bwMode="auto">
          <a:xfrm flipH="1">
            <a:off x="4495800" y="2438400"/>
            <a:ext cx="1963738" cy="393700"/>
          </a:xfrm>
          <a:prstGeom prst="rect">
            <a:avLst/>
          </a:prstGeom>
          <a:noFill/>
          <a:ln w="9525">
            <a:noFill/>
            <a:miter lim="800000"/>
            <a:headEnd/>
            <a:tailEnd/>
          </a:ln>
        </p:spPr>
        <p:txBody>
          <a:bodyPr lIns="90488" tIns="44450" rIns="90488" bIns="44450">
            <a:spAutoFit/>
          </a:bodyPr>
          <a:lstStyle/>
          <a:p>
            <a:pPr eaLnBrk="0" hangingPunct="0">
              <a:spcBef>
                <a:spcPct val="50000"/>
              </a:spcBef>
            </a:pPr>
            <a:r>
              <a:rPr lang="en-US" sz="2000" b="1">
                <a:latin typeface="Times New Roman" pitchFamily="18" charset="0"/>
                <a:sym typeface="Symbol" pitchFamily="18" charset="2"/>
              </a:rPr>
              <a:t>p-value </a:t>
            </a:r>
            <a:r>
              <a:rPr lang="en-US" sz="2000" b="1">
                <a:latin typeface="Times New Roman" pitchFamily="18" charset="0"/>
              </a:rPr>
              <a:t>= .2937</a:t>
            </a:r>
          </a:p>
        </p:txBody>
      </p:sp>
      <p:sp>
        <p:nvSpPr>
          <p:cNvPr id="98328" name="Line 25"/>
          <p:cNvSpPr>
            <a:spLocks noChangeShapeType="1"/>
          </p:cNvSpPr>
          <p:nvPr/>
        </p:nvSpPr>
        <p:spPr bwMode="auto">
          <a:xfrm>
            <a:off x="4911725" y="4265613"/>
            <a:ext cx="0" cy="269875"/>
          </a:xfrm>
          <a:prstGeom prst="line">
            <a:avLst/>
          </a:prstGeom>
          <a:noFill/>
          <a:ln w="19050">
            <a:solidFill>
              <a:schemeClr val="tx1"/>
            </a:solidFill>
            <a:round/>
            <a:headEnd/>
            <a:tailEnd/>
          </a:ln>
        </p:spPr>
        <p:txBody>
          <a:bodyPr wrap="none" anchor="ctr"/>
          <a:lstStyle/>
          <a:p>
            <a:endParaRPr lang="en-US"/>
          </a:p>
        </p:txBody>
      </p:sp>
      <p:sp>
        <p:nvSpPr>
          <p:cNvPr id="98329" name="Text Box 26"/>
          <p:cNvSpPr txBox="1">
            <a:spLocks noChangeArrowheads="1"/>
          </p:cNvSpPr>
          <p:nvPr/>
        </p:nvSpPr>
        <p:spPr bwMode="auto">
          <a:xfrm>
            <a:off x="1676400" y="5562600"/>
            <a:ext cx="6400800" cy="457200"/>
          </a:xfrm>
          <a:prstGeom prst="rect">
            <a:avLst/>
          </a:prstGeom>
          <a:solidFill>
            <a:schemeClr val="accent1"/>
          </a:solidFill>
          <a:ln w="19050" algn="ctr">
            <a:noFill/>
            <a:miter lim="800000"/>
            <a:headEnd/>
            <a:tailEnd/>
          </a:ln>
        </p:spPr>
        <p:txBody>
          <a:bodyPr>
            <a:spAutoFit/>
          </a:bodyPr>
          <a:lstStyle/>
          <a:p>
            <a:pPr>
              <a:spcBef>
                <a:spcPct val="50000"/>
              </a:spcBef>
            </a:pPr>
            <a:r>
              <a:rPr lang="en-US" sz="2400" b="1">
                <a:latin typeface="Times New Roman" pitchFamily="18" charset="0"/>
              </a:rPr>
              <a:t>Do not reject H</a:t>
            </a:r>
            <a:r>
              <a:rPr lang="en-US" sz="2400" b="1" baseline="-25000">
                <a:latin typeface="Times New Roman" pitchFamily="18" charset="0"/>
              </a:rPr>
              <a:t>0</a:t>
            </a:r>
            <a:r>
              <a:rPr lang="en-US" sz="2400" b="1">
                <a:latin typeface="Times New Roman" pitchFamily="18" charset="0"/>
              </a:rPr>
              <a:t> since p-value = .2937 </a:t>
            </a:r>
            <a:r>
              <a:rPr lang="en-US" sz="2400" b="1">
                <a:latin typeface="Times New Roman" pitchFamily="18" charset="0"/>
                <a:cs typeface="Arial" charset="0"/>
              </a:rPr>
              <a:t>&gt;</a:t>
            </a:r>
            <a:r>
              <a:rPr lang="en-US" sz="2400" b="1">
                <a:latin typeface="Times New Roman" pitchFamily="18" charset="0"/>
              </a:rPr>
              <a:t> </a:t>
            </a:r>
            <a:r>
              <a:rPr lang="en-US" sz="2400" b="1">
                <a:latin typeface="Times New Roman" pitchFamily="18" charset="0"/>
                <a:sym typeface="Symbol" pitchFamily="18" charset="2"/>
              </a:rPr>
              <a:t> = .10</a:t>
            </a:r>
            <a:endParaRPr lang="en-US" sz="2400">
              <a:latin typeface="Times New Roman" pitchFamily="18" charset="0"/>
            </a:endParaRPr>
          </a:p>
        </p:txBody>
      </p:sp>
      <p:pic>
        <p:nvPicPr>
          <p:cNvPr id="98330" name="Picture 26" descr="j0174123"/>
          <p:cNvPicPr>
            <a:picLocks noChangeAspect="1" noChangeArrowheads="1"/>
          </p:cNvPicPr>
          <p:nvPr/>
        </p:nvPicPr>
        <p:blipFill>
          <a:blip r:embed="rId2" cstate="print"/>
          <a:srcRect/>
          <a:stretch>
            <a:fillRect/>
          </a:stretch>
        </p:blipFill>
        <p:spPr bwMode="auto">
          <a:xfrm>
            <a:off x="152400" y="5029200"/>
            <a:ext cx="1193800" cy="1185863"/>
          </a:xfrm>
          <a:prstGeom prst="rect">
            <a:avLst/>
          </a:prstGeom>
          <a:noFill/>
          <a:ln w="9525">
            <a:noFill/>
            <a:miter lim="800000"/>
            <a:headEnd/>
            <a:tailEnd/>
          </a:ln>
        </p:spPr>
      </p:pic>
      <p:sp>
        <p:nvSpPr>
          <p:cNvPr id="98332" name="Rectangle 30"/>
          <p:cNvSpPr>
            <a:spLocks noChangeArrowheads="1"/>
          </p:cNvSpPr>
          <p:nvPr/>
        </p:nvSpPr>
        <p:spPr bwMode="auto">
          <a:xfrm>
            <a:off x="7772400" y="1143000"/>
            <a:ext cx="1257300" cy="461963"/>
          </a:xfrm>
          <a:prstGeom prst="rect">
            <a:avLst/>
          </a:prstGeom>
          <a:noFill/>
          <a:ln w="9525">
            <a:noFill/>
            <a:miter lim="800000"/>
            <a:headEnd/>
            <a:tailEnd/>
          </a:ln>
        </p:spPr>
        <p:txBody>
          <a:bodyPr wrap="none">
            <a:spAutoFit/>
          </a:bodyPr>
          <a:lstStyle/>
          <a:p>
            <a:r>
              <a:rPr lang="en-US"/>
              <a:t>DCOV</a:t>
            </a:r>
            <a:r>
              <a:rPr lang="en-US" u="sng">
                <a:solidFill>
                  <a:srgbClr val="FF0000"/>
                </a:solidFill>
              </a:rPr>
              <a:t>A</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renHall3">
  <a:themeElements>
    <a:clrScheme name="PrenHall3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PrenHall3">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pitchFamily="34" charset="0"/>
          </a:defRPr>
        </a:defPPr>
      </a:lstStyle>
    </a:lnDef>
  </a:objectDefaults>
  <a:extraClrSchemeLst>
    <a:extraClrScheme>
      <a:clrScheme name="PrenHall3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PrenHall3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PrenHall3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PrenHall3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PrenHall3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PrenHall3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PrenHall3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10737</TotalTime>
  <Words>1947</Words>
  <Application>Microsoft Office PowerPoint</Application>
  <PresentationFormat>On-screen Show (4:3)</PresentationFormat>
  <Paragraphs>388</Paragraphs>
  <Slides>32</Slides>
  <Notes>11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2</vt:i4>
      </vt:variant>
      <vt:variant>
        <vt:lpstr>Slide Titles</vt:lpstr>
      </vt:variant>
      <vt:variant>
        <vt:i4>32</vt:i4>
      </vt:variant>
    </vt:vector>
  </HeadingPairs>
  <TitlesOfParts>
    <vt:vector size="41" baseType="lpstr">
      <vt:lpstr>Arial</vt:lpstr>
      <vt:lpstr>Calibri</vt:lpstr>
      <vt:lpstr>Symbol</vt:lpstr>
      <vt:lpstr>Times New Roman</vt:lpstr>
      <vt:lpstr>Wingdings</vt:lpstr>
      <vt:lpstr>1_Office Theme</vt:lpstr>
      <vt:lpstr>PrenHall3</vt:lpstr>
      <vt:lpstr>Equation</vt:lpstr>
      <vt:lpstr>Clip</vt:lpstr>
      <vt:lpstr>PowerPoint Presentation</vt:lpstr>
      <vt:lpstr>Materi hari ini</vt:lpstr>
      <vt:lpstr>Definisi Hipotesis</vt:lpstr>
      <vt:lpstr>Hipotesis Nol, H0</vt:lpstr>
      <vt:lpstr>Hipotesis Nol, H0</vt:lpstr>
      <vt:lpstr>Hipotesis Alternatif, H1</vt:lpstr>
      <vt:lpstr>Tingkat Signifikansi dan Daerah Penolakan</vt:lpstr>
      <vt:lpstr>Uji Hipotesis Bagi Rata-rata sampel besar</vt:lpstr>
      <vt:lpstr>Uji Z – Uji hipotesis bagi rata2 (σ diketahui)</vt:lpstr>
      <vt:lpstr>6 Tahap Pengujian Hipotesis</vt:lpstr>
      <vt:lpstr>6 Tahap Pengujian Hipotesis</vt:lpstr>
      <vt:lpstr>Contoh: Pengujian Hipotesis</vt:lpstr>
      <vt:lpstr>Contoh: Pengujian Hipotesis</vt:lpstr>
      <vt:lpstr>Contoh: Pengujian Hipotesis</vt:lpstr>
      <vt:lpstr>PowerPoint Presentation</vt:lpstr>
      <vt:lpstr>Pengujian Hipotesis:  σ tidak diketahui</vt:lpstr>
      <vt:lpstr>Uji t untuk Pengujian Hipotesis Rata2 (σ tidak diketahui)</vt:lpstr>
      <vt:lpstr>Contoh: Pengujian Hipotesis σ Tidak diketahui</vt:lpstr>
      <vt:lpstr>Contoh: Pengujian Hipotesis σ Tidak diketahui</vt:lpstr>
      <vt:lpstr>Uji Satu Arah</vt:lpstr>
      <vt:lpstr>Uji Lower-Tail</vt:lpstr>
      <vt:lpstr>Uji Upper-Tail</vt:lpstr>
      <vt:lpstr>Contoh: Uji satu arah  ( tidak diketahui)</vt:lpstr>
      <vt:lpstr>PowerPoint Presentation</vt:lpstr>
      <vt:lpstr>Contoh: Pengujian Hipotesis </vt:lpstr>
      <vt:lpstr>Contoh: Pengujian Hipotesis</vt:lpstr>
      <vt:lpstr>Pengujian Hipotesis Proporsi</vt:lpstr>
      <vt:lpstr>Contoh</vt:lpstr>
      <vt:lpstr>Pembahasan</vt:lpstr>
      <vt:lpstr>PowerPoint Presentation</vt:lpstr>
      <vt:lpstr>Jenis Kesalahan</vt:lpstr>
      <vt:lpstr>Example:  Utilizing The p-value for The Test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Lenovo</dc:creator>
  <cp:lastModifiedBy>Muhammad Arif Rahman</cp:lastModifiedBy>
  <cp:revision>120</cp:revision>
  <dcterms:created xsi:type="dcterms:W3CDTF">2015-08-24T12:21:13Z</dcterms:created>
  <dcterms:modified xsi:type="dcterms:W3CDTF">2016-11-06T16:22:16Z</dcterms:modified>
</cp:coreProperties>
</file>