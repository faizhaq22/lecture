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804" r:id="rId1"/>
  </p:sldMasterIdLst>
  <p:notesMasterIdLst>
    <p:notesMasterId r:id="rId18"/>
  </p:notesMasterIdLst>
  <p:sldIdLst>
    <p:sldId id="256" r:id="rId2"/>
    <p:sldId id="257" r:id="rId3"/>
    <p:sldId id="266" r:id="rId4"/>
    <p:sldId id="258" r:id="rId5"/>
    <p:sldId id="259" r:id="rId6"/>
    <p:sldId id="267" r:id="rId7"/>
    <p:sldId id="268" r:id="rId8"/>
    <p:sldId id="263" r:id="rId9"/>
    <p:sldId id="269" r:id="rId10"/>
    <p:sldId id="270" r:id="rId11"/>
    <p:sldId id="264" r:id="rId12"/>
    <p:sldId id="271" r:id="rId13"/>
    <p:sldId id="282" r:id="rId14"/>
    <p:sldId id="283" r:id="rId15"/>
    <p:sldId id="28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3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F31EA0-D611-4134-89EE-629B6B709D10}" type="doc">
      <dgm:prSet loTypeId="urn:microsoft.com/office/officeart/2005/8/layout/vList6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83700BE-640D-4EC8-87B1-742EF34FC3C0}">
      <dgm:prSet phldrT="[Text]" custT="1"/>
      <dgm:spPr/>
      <dgm:t>
        <a:bodyPr/>
        <a:lstStyle/>
        <a:p>
          <a:r>
            <a:rPr lang="en-US" sz="3600" dirty="0" err="1"/>
            <a:t>Uji</a:t>
          </a:r>
          <a:r>
            <a:rPr lang="en-US" sz="3600" dirty="0"/>
            <a:t> </a:t>
          </a:r>
          <a:r>
            <a:rPr lang="en-US" sz="3600" dirty="0" err="1"/>
            <a:t>Hipotesis</a:t>
          </a:r>
          <a:r>
            <a:rPr lang="en-US" sz="3600" dirty="0"/>
            <a:t> 1 </a:t>
          </a:r>
          <a:r>
            <a:rPr lang="en-US" sz="3600" dirty="0" err="1"/>
            <a:t>Populasi</a:t>
          </a:r>
          <a:endParaRPr lang="en-US" sz="3600" dirty="0"/>
        </a:p>
      </dgm:t>
    </dgm:pt>
    <dgm:pt modelId="{BAE5BC90-CCD7-405D-A3CD-7313CFA78DAE}" type="parTrans" cxnId="{A162ABDA-B557-4304-97D1-582A3F53630B}">
      <dgm:prSet/>
      <dgm:spPr/>
      <dgm:t>
        <a:bodyPr/>
        <a:lstStyle/>
        <a:p>
          <a:endParaRPr lang="en-US"/>
        </a:p>
      </dgm:t>
    </dgm:pt>
    <dgm:pt modelId="{F4C939DD-F7FB-4736-B452-FF07CD41AF95}" type="sibTrans" cxnId="{A162ABDA-B557-4304-97D1-582A3F53630B}">
      <dgm:prSet/>
      <dgm:spPr/>
      <dgm:t>
        <a:bodyPr/>
        <a:lstStyle/>
        <a:p>
          <a:endParaRPr lang="en-US"/>
        </a:p>
      </dgm:t>
    </dgm:pt>
    <dgm:pt modelId="{62E7B6A8-8B71-46C9-B2E9-434C24DEF073}">
      <dgm:prSet phldrT="[Text]"/>
      <dgm:spPr/>
      <dgm:t>
        <a:bodyPr/>
        <a:lstStyle/>
        <a:p>
          <a:r>
            <a:rPr lang="en-US" dirty="0" err="1"/>
            <a:t>Menggunakan</a:t>
          </a:r>
          <a:r>
            <a:rPr lang="en-US" dirty="0"/>
            <a:t> </a:t>
          </a:r>
          <a:r>
            <a:rPr lang="en-US" dirty="0" err="1"/>
            <a:t>uji</a:t>
          </a:r>
          <a:r>
            <a:rPr lang="en-US" dirty="0"/>
            <a:t> z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uji</a:t>
          </a:r>
          <a:r>
            <a:rPr lang="en-US" dirty="0"/>
            <a:t> t</a:t>
          </a:r>
        </a:p>
      </dgm:t>
    </dgm:pt>
    <dgm:pt modelId="{81210184-0740-43D4-B776-8D243933A1B4}" type="parTrans" cxnId="{526139B6-8E87-4442-A3C1-BEFAA56E2208}">
      <dgm:prSet/>
      <dgm:spPr/>
      <dgm:t>
        <a:bodyPr/>
        <a:lstStyle/>
        <a:p>
          <a:endParaRPr lang="en-US"/>
        </a:p>
      </dgm:t>
    </dgm:pt>
    <dgm:pt modelId="{C164C4D4-AC6B-4300-8474-E8EA18CE803A}" type="sibTrans" cxnId="{526139B6-8E87-4442-A3C1-BEFAA56E2208}">
      <dgm:prSet/>
      <dgm:spPr/>
      <dgm:t>
        <a:bodyPr/>
        <a:lstStyle/>
        <a:p>
          <a:endParaRPr lang="en-US"/>
        </a:p>
      </dgm:t>
    </dgm:pt>
    <dgm:pt modelId="{41909759-830C-428A-8399-1E9713162E55}">
      <dgm:prSet phldrT="[Text]" custT="1"/>
      <dgm:spPr/>
      <dgm:t>
        <a:bodyPr/>
        <a:lstStyle/>
        <a:p>
          <a:r>
            <a:rPr lang="en-US" sz="3600" dirty="0" err="1"/>
            <a:t>Uji</a:t>
          </a:r>
          <a:r>
            <a:rPr lang="en-US" sz="3600" dirty="0"/>
            <a:t> </a:t>
          </a:r>
          <a:r>
            <a:rPr lang="en-US" sz="3600" dirty="0" err="1"/>
            <a:t>Hipotesis</a:t>
          </a:r>
          <a:r>
            <a:rPr lang="en-US" sz="3600" dirty="0"/>
            <a:t> 2 </a:t>
          </a:r>
          <a:r>
            <a:rPr lang="en-US" sz="3600" dirty="0" err="1"/>
            <a:t>Populasi</a:t>
          </a:r>
          <a:endParaRPr lang="en-US" sz="3600" dirty="0"/>
        </a:p>
      </dgm:t>
    </dgm:pt>
    <dgm:pt modelId="{036922FB-A6B1-46FA-A973-5B3F45E7FFF5}" type="parTrans" cxnId="{6B23B455-2769-4573-A93B-EC4C3678A94F}">
      <dgm:prSet/>
      <dgm:spPr/>
      <dgm:t>
        <a:bodyPr/>
        <a:lstStyle/>
        <a:p>
          <a:endParaRPr lang="en-US"/>
        </a:p>
      </dgm:t>
    </dgm:pt>
    <dgm:pt modelId="{1900B2B5-DAF4-4351-A7BC-4E44D0AA6703}" type="sibTrans" cxnId="{6B23B455-2769-4573-A93B-EC4C3678A94F}">
      <dgm:prSet/>
      <dgm:spPr/>
      <dgm:t>
        <a:bodyPr/>
        <a:lstStyle/>
        <a:p>
          <a:endParaRPr lang="en-US"/>
        </a:p>
      </dgm:t>
    </dgm:pt>
    <dgm:pt modelId="{81A50B1A-E748-4D91-B292-93D547BD0C8A}">
      <dgm:prSet phldrT="[Text]"/>
      <dgm:spPr/>
      <dgm:t>
        <a:bodyPr/>
        <a:lstStyle/>
        <a:p>
          <a:r>
            <a:rPr lang="en-US" dirty="0" err="1"/>
            <a:t>Uji</a:t>
          </a:r>
          <a:r>
            <a:rPr lang="en-US" dirty="0"/>
            <a:t> two-sample-t  independent</a:t>
          </a:r>
        </a:p>
      </dgm:t>
    </dgm:pt>
    <dgm:pt modelId="{0BD9B6D7-753C-4E21-B200-20492BFE2630}" type="parTrans" cxnId="{15ED202B-DB33-46DD-9396-F442B4526AE8}">
      <dgm:prSet/>
      <dgm:spPr/>
      <dgm:t>
        <a:bodyPr/>
        <a:lstStyle/>
        <a:p>
          <a:endParaRPr lang="en-US"/>
        </a:p>
      </dgm:t>
    </dgm:pt>
    <dgm:pt modelId="{5111026C-A39E-4A01-BAE7-3D8A63807182}" type="sibTrans" cxnId="{15ED202B-DB33-46DD-9396-F442B4526AE8}">
      <dgm:prSet/>
      <dgm:spPr/>
      <dgm:t>
        <a:bodyPr/>
        <a:lstStyle/>
        <a:p>
          <a:endParaRPr lang="en-US"/>
        </a:p>
      </dgm:t>
    </dgm:pt>
    <dgm:pt modelId="{F43D88D8-F06F-49D8-B0F7-0EC5A9859E22}">
      <dgm:prSet phldrT="[Text]"/>
      <dgm:spPr/>
      <dgm:t>
        <a:bodyPr/>
        <a:lstStyle/>
        <a:p>
          <a:r>
            <a:rPr lang="en-US" dirty="0" err="1"/>
            <a:t>Uji</a:t>
          </a:r>
          <a:r>
            <a:rPr lang="en-US" dirty="0"/>
            <a:t> two-sample-t paired</a:t>
          </a:r>
        </a:p>
      </dgm:t>
    </dgm:pt>
    <dgm:pt modelId="{E1E7257A-4801-4FE3-9964-C8423E343DDB}" type="parTrans" cxnId="{9EAB7630-EF46-4603-A181-BDBBACAB78E0}">
      <dgm:prSet/>
      <dgm:spPr/>
      <dgm:t>
        <a:bodyPr/>
        <a:lstStyle/>
        <a:p>
          <a:endParaRPr lang="en-US"/>
        </a:p>
      </dgm:t>
    </dgm:pt>
    <dgm:pt modelId="{D3285030-BFA8-4C66-A3F3-66444C570C63}" type="sibTrans" cxnId="{9EAB7630-EF46-4603-A181-BDBBACAB78E0}">
      <dgm:prSet/>
      <dgm:spPr/>
      <dgm:t>
        <a:bodyPr/>
        <a:lstStyle/>
        <a:p>
          <a:endParaRPr lang="en-US"/>
        </a:p>
      </dgm:t>
    </dgm:pt>
    <dgm:pt modelId="{185F30C8-00BA-4F97-B445-1413D0A00452}" type="pres">
      <dgm:prSet presAssocID="{58F31EA0-D611-4134-89EE-629B6B709D10}" presName="Name0" presStyleCnt="0">
        <dgm:presLayoutVars>
          <dgm:dir/>
          <dgm:animLvl val="lvl"/>
          <dgm:resizeHandles/>
        </dgm:presLayoutVars>
      </dgm:prSet>
      <dgm:spPr/>
    </dgm:pt>
    <dgm:pt modelId="{5878849A-21E1-4580-98F0-8466A823B7BC}" type="pres">
      <dgm:prSet presAssocID="{B83700BE-640D-4EC8-87B1-742EF34FC3C0}" presName="linNode" presStyleCnt="0"/>
      <dgm:spPr/>
    </dgm:pt>
    <dgm:pt modelId="{2C7C3F69-F68D-4038-8376-C0DA48477A41}" type="pres">
      <dgm:prSet presAssocID="{B83700BE-640D-4EC8-87B1-742EF34FC3C0}" presName="parentShp" presStyleLbl="node1" presStyleIdx="0" presStyleCnt="2">
        <dgm:presLayoutVars>
          <dgm:bulletEnabled val="1"/>
        </dgm:presLayoutVars>
      </dgm:prSet>
      <dgm:spPr/>
    </dgm:pt>
    <dgm:pt modelId="{38E1B997-C6DD-4B77-84AB-45493B4C572D}" type="pres">
      <dgm:prSet presAssocID="{B83700BE-640D-4EC8-87B1-742EF34FC3C0}" presName="childShp" presStyleLbl="bgAccFollowNode1" presStyleIdx="0" presStyleCnt="2">
        <dgm:presLayoutVars>
          <dgm:bulletEnabled val="1"/>
        </dgm:presLayoutVars>
      </dgm:prSet>
      <dgm:spPr/>
    </dgm:pt>
    <dgm:pt modelId="{B2E9FD5A-E9E9-4991-80DA-ED61170F0320}" type="pres">
      <dgm:prSet presAssocID="{F4C939DD-F7FB-4736-B452-FF07CD41AF95}" presName="spacing" presStyleCnt="0"/>
      <dgm:spPr/>
    </dgm:pt>
    <dgm:pt modelId="{F07342EA-9DA2-43F3-9119-14C8C6A0D37F}" type="pres">
      <dgm:prSet presAssocID="{41909759-830C-428A-8399-1E9713162E55}" presName="linNode" presStyleCnt="0"/>
      <dgm:spPr/>
    </dgm:pt>
    <dgm:pt modelId="{EC2849DB-E02F-47C1-81A7-EA5C2B90D982}" type="pres">
      <dgm:prSet presAssocID="{41909759-830C-428A-8399-1E9713162E55}" presName="parentShp" presStyleLbl="node1" presStyleIdx="1" presStyleCnt="2">
        <dgm:presLayoutVars>
          <dgm:bulletEnabled val="1"/>
        </dgm:presLayoutVars>
      </dgm:prSet>
      <dgm:spPr/>
    </dgm:pt>
    <dgm:pt modelId="{3221E018-A231-4B86-9F14-29083C4EBF18}" type="pres">
      <dgm:prSet presAssocID="{41909759-830C-428A-8399-1E9713162E55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83D5B102-A281-4D87-A2DE-DDF96A7F7C23}" type="presOf" srcId="{F43D88D8-F06F-49D8-B0F7-0EC5A9859E22}" destId="{3221E018-A231-4B86-9F14-29083C4EBF18}" srcOrd="0" destOrd="1" presId="urn:microsoft.com/office/officeart/2005/8/layout/vList6"/>
    <dgm:cxn modelId="{D8951E0A-115A-44FE-8196-41CB49C3B13D}" type="presOf" srcId="{B83700BE-640D-4EC8-87B1-742EF34FC3C0}" destId="{2C7C3F69-F68D-4038-8376-C0DA48477A41}" srcOrd="0" destOrd="0" presId="urn:microsoft.com/office/officeart/2005/8/layout/vList6"/>
    <dgm:cxn modelId="{C00C7B24-EB6D-4C3E-AF61-C1B5594007E1}" type="presOf" srcId="{58F31EA0-D611-4134-89EE-629B6B709D10}" destId="{185F30C8-00BA-4F97-B445-1413D0A00452}" srcOrd="0" destOrd="0" presId="urn:microsoft.com/office/officeart/2005/8/layout/vList6"/>
    <dgm:cxn modelId="{15ED202B-DB33-46DD-9396-F442B4526AE8}" srcId="{41909759-830C-428A-8399-1E9713162E55}" destId="{81A50B1A-E748-4D91-B292-93D547BD0C8A}" srcOrd="0" destOrd="0" parTransId="{0BD9B6D7-753C-4E21-B200-20492BFE2630}" sibTransId="{5111026C-A39E-4A01-BAE7-3D8A63807182}"/>
    <dgm:cxn modelId="{9EAB7630-EF46-4603-A181-BDBBACAB78E0}" srcId="{41909759-830C-428A-8399-1E9713162E55}" destId="{F43D88D8-F06F-49D8-B0F7-0EC5A9859E22}" srcOrd="1" destOrd="0" parTransId="{E1E7257A-4801-4FE3-9964-C8423E343DDB}" sibTransId="{D3285030-BFA8-4C66-A3F3-66444C570C63}"/>
    <dgm:cxn modelId="{08115668-E865-4B98-9313-C26507DE7760}" type="presOf" srcId="{81A50B1A-E748-4D91-B292-93D547BD0C8A}" destId="{3221E018-A231-4B86-9F14-29083C4EBF18}" srcOrd="0" destOrd="0" presId="urn:microsoft.com/office/officeart/2005/8/layout/vList6"/>
    <dgm:cxn modelId="{6B23B455-2769-4573-A93B-EC4C3678A94F}" srcId="{58F31EA0-D611-4134-89EE-629B6B709D10}" destId="{41909759-830C-428A-8399-1E9713162E55}" srcOrd="1" destOrd="0" parTransId="{036922FB-A6B1-46FA-A973-5B3F45E7FFF5}" sibTransId="{1900B2B5-DAF4-4351-A7BC-4E44D0AA6703}"/>
    <dgm:cxn modelId="{ED03C296-6CEF-47AF-AACA-1B8D0F793517}" type="presOf" srcId="{62E7B6A8-8B71-46C9-B2E9-434C24DEF073}" destId="{38E1B997-C6DD-4B77-84AB-45493B4C572D}" srcOrd="0" destOrd="0" presId="urn:microsoft.com/office/officeart/2005/8/layout/vList6"/>
    <dgm:cxn modelId="{526139B6-8E87-4442-A3C1-BEFAA56E2208}" srcId="{B83700BE-640D-4EC8-87B1-742EF34FC3C0}" destId="{62E7B6A8-8B71-46C9-B2E9-434C24DEF073}" srcOrd="0" destOrd="0" parTransId="{81210184-0740-43D4-B776-8D243933A1B4}" sibTransId="{C164C4D4-AC6B-4300-8474-E8EA18CE803A}"/>
    <dgm:cxn modelId="{A162ABDA-B557-4304-97D1-582A3F53630B}" srcId="{58F31EA0-D611-4134-89EE-629B6B709D10}" destId="{B83700BE-640D-4EC8-87B1-742EF34FC3C0}" srcOrd="0" destOrd="0" parTransId="{BAE5BC90-CCD7-405D-A3CD-7313CFA78DAE}" sibTransId="{F4C939DD-F7FB-4736-B452-FF07CD41AF95}"/>
    <dgm:cxn modelId="{276D43E5-9FB6-4E54-B6C8-E35A1DA355E0}" type="presOf" srcId="{41909759-830C-428A-8399-1E9713162E55}" destId="{EC2849DB-E02F-47C1-81A7-EA5C2B90D982}" srcOrd="0" destOrd="0" presId="urn:microsoft.com/office/officeart/2005/8/layout/vList6"/>
    <dgm:cxn modelId="{7B77A583-E784-4B3B-A543-53A015E991B8}" type="presParOf" srcId="{185F30C8-00BA-4F97-B445-1413D0A00452}" destId="{5878849A-21E1-4580-98F0-8466A823B7BC}" srcOrd="0" destOrd="0" presId="urn:microsoft.com/office/officeart/2005/8/layout/vList6"/>
    <dgm:cxn modelId="{714280C6-EED4-4E14-91C8-2888293FFA50}" type="presParOf" srcId="{5878849A-21E1-4580-98F0-8466A823B7BC}" destId="{2C7C3F69-F68D-4038-8376-C0DA48477A41}" srcOrd="0" destOrd="0" presId="urn:microsoft.com/office/officeart/2005/8/layout/vList6"/>
    <dgm:cxn modelId="{15B11BA5-0C59-45B6-93E9-D240AB776B14}" type="presParOf" srcId="{5878849A-21E1-4580-98F0-8466A823B7BC}" destId="{38E1B997-C6DD-4B77-84AB-45493B4C572D}" srcOrd="1" destOrd="0" presId="urn:microsoft.com/office/officeart/2005/8/layout/vList6"/>
    <dgm:cxn modelId="{6DFA8BB7-EF34-4A3A-9287-E906BAA6B563}" type="presParOf" srcId="{185F30C8-00BA-4F97-B445-1413D0A00452}" destId="{B2E9FD5A-E9E9-4991-80DA-ED61170F0320}" srcOrd="1" destOrd="0" presId="urn:microsoft.com/office/officeart/2005/8/layout/vList6"/>
    <dgm:cxn modelId="{FD7EFDBE-AAD2-4D3E-AD0B-552D4D769F89}" type="presParOf" srcId="{185F30C8-00BA-4F97-B445-1413D0A00452}" destId="{F07342EA-9DA2-43F3-9119-14C8C6A0D37F}" srcOrd="2" destOrd="0" presId="urn:microsoft.com/office/officeart/2005/8/layout/vList6"/>
    <dgm:cxn modelId="{82C004BF-2127-4649-9775-31FBD2B53C14}" type="presParOf" srcId="{F07342EA-9DA2-43F3-9119-14C8C6A0D37F}" destId="{EC2849DB-E02F-47C1-81A7-EA5C2B90D982}" srcOrd="0" destOrd="0" presId="urn:microsoft.com/office/officeart/2005/8/layout/vList6"/>
    <dgm:cxn modelId="{36836534-B088-4ACB-BC9F-3209E7F43320}" type="presParOf" srcId="{F07342EA-9DA2-43F3-9119-14C8C6A0D37F}" destId="{3221E018-A231-4B86-9F14-29083C4EBF1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1B997-C6DD-4B77-84AB-45493B4C572D}">
      <dsp:nvSpPr>
        <dsp:cNvPr id="0" name=""/>
        <dsp:cNvSpPr/>
      </dsp:nvSpPr>
      <dsp:spPr>
        <a:xfrm>
          <a:off x="3578860" y="512"/>
          <a:ext cx="5368290" cy="1997494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 err="1"/>
            <a:t>Menggunakan</a:t>
          </a:r>
          <a:r>
            <a:rPr lang="en-US" sz="3100" kern="1200" dirty="0"/>
            <a:t> </a:t>
          </a:r>
          <a:r>
            <a:rPr lang="en-US" sz="3100" kern="1200" dirty="0" err="1"/>
            <a:t>uji</a:t>
          </a:r>
          <a:r>
            <a:rPr lang="en-US" sz="3100" kern="1200" dirty="0"/>
            <a:t> z </a:t>
          </a:r>
          <a:r>
            <a:rPr lang="en-US" sz="3100" kern="1200" dirty="0" err="1"/>
            <a:t>dan</a:t>
          </a:r>
          <a:r>
            <a:rPr lang="en-US" sz="3100" kern="1200" dirty="0"/>
            <a:t> </a:t>
          </a:r>
          <a:r>
            <a:rPr lang="en-US" sz="3100" kern="1200" dirty="0" err="1"/>
            <a:t>uji</a:t>
          </a:r>
          <a:r>
            <a:rPr lang="en-US" sz="3100" kern="1200" dirty="0"/>
            <a:t> t</a:t>
          </a:r>
        </a:p>
      </dsp:txBody>
      <dsp:txXfrm>
        <a:off x="3578860" y="250199"/>
        <a:ext cx="4619230" cy="1498120"/>
      </dsp:txXfrm>
    </dsp:sp>
    <dsp:sp modelId="{2C7C3F69-F68D-4038-8376-C0DA48477A41}">
      <dsp:nvSpPr>
        <dsp:cNvPr id="0" name=""/>
        <dsp:cNvSpPr/>
      </dsp:nvSpPr>
      <dsp:spPr>
        <a:xfrm>
          <a:off x="0" y="512"/>
          <a:ext cx="3578860" cy="1997494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dk2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softEdge rad="1270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Uji</a:t>
          </a:r>
          <a:r>
            <a:rPr lang="en-US" sz="3600" kern="1200" dirty="0"/>
            <a:t> </a:t>
          </a:r>
          <a:r>
            <a:rPr lang="en-US" sz="3600" kern="1200" dirty="0" err="1"/>
            <a:t>Hipotesis</a:t>
          </a:r>
          <a:r>
            <a:rPr lang="en-US" sz="3600" kern="1200" dirty="0"/>
            <a:t> 1 </a:t>
          </a:r>
          <a:r>
            <a:rPr lang="en-US" sz="3600" kern="1200" dirty="0" err="1"/>
            <a:t>Populasi</a:t>
          </a:r>
          <a:endParaRPr lang="en-US" sz="3600" kern="1200" dirty="0"/>
        </a:p>
      </dsp:txBody>
      <dsp:txXfrm>
        <a:off x="97510" y="98022"/>
        <a:ext cx="3383840" cy="1802474"/>
      </dsp:txXfrm>
    </dsp:sp>
    <dsp:sp modelId="{3221E018-A231-4B86-9F14-29083C4EBF18}">
      <dsp:nvSpPr>
        <dsp:cNvPr id="0" name=""/>
        <dsp:cNvSpPr/>
      </dsp:nvSpPr>
      <dsp:spPr>
        <a:xfrm>
          <a:off x="3578860" y="2197755"/>
          <a:ext cx="5368290" cy="1997494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685" tIns="19685" rIns="19685" bIns="19685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 err="1"/>
            <a:t>Uji</a:t>
          </a:r>
          <a:r>
            <a:rPr lang="en-US" sz="3100" kern="1200" dirty="0"/>
            <a:t> two-sample-t  independent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 err="1"/>
            <a:t>Uji</a:t>
          </a:r>
          <a:r>
            <a:rPr lang="en-US" sz="3100" kern="1200" dirty="0"/>
            <a:t> two-sample-t paired</a:t>
          </a:r>
        </a:p>
      </dsp:txBody>
      <dsp:txXfrm>
        <a:off x="3578860" y="2447442"/>
        <a:ext cx="4619230" cy="1498120"/>
      </dsp:txXfrm>
    </dsp:sp>
    <dsp:sp modelId="{EC2849DB-E02F-47C1-81A7-EA5C2B90D982}">
      <dsp:nvSpPr>
        <dsp:cNvPr id="0" name=""/>
        <dsp:cNvSpPr/>
      </dsp:nvSpPr>
      <dsp:spPr>
        <a:xfrm>
          <a:off x="0" y="2197755"/>
          <a:ext cx="3578860" cy="1997494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dk2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softEdge rad="12700"/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Uji</a:t>
          </a:r>
          <a:r>
            <a:rPr lang="en-US" sz="3600" kern="1200" dirty="0"/>
            <a:t> </a:t>
          </a:r>
          <a:r>
            <a:rPr lang="en-US" sz="3600" kern="1200" dirty="0" err="1"/>
            <a:t>Hipotesis</a:t>
          </a:r>
          <a:r>
            <a:rPr lang="en-US" sz="3600" kern="1200" dirty="0"/>
            <a:t> 2 </a:t>
          </a:r>
          <a:r>
            <a:rPr lang="en-US" sz="3600" kern="1200" dirty="0" err="1"/>
            <a:t>Populasi</a:t>
          </a:r>
          <a:endParaRPr lang="en-US" sz="3600" kern="1200" dirty="0"/>
        </a:p>
      </dsp:txBody>
      <dsp:txXfrm>
        <a:off x="97510" y="2295265"/>
        <a:ext cx="3383840" cy="1802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B9EF-3050-4E0B-A8E5-59A7BC012614}" type="datetimeFigureOut">
              <a:rPr lang="en-US" smtClean="0"/>
              <a:t>9/25/2019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E77E4-0FE1-442C-A553-358BF1DD3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6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E77E4-0FE1-442C-A553-358BF1DD368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55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6E77E4-0FE1-442C-A553-358BF1DD36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86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856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82995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id-ID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6425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167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162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6884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0876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3230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4492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5388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2426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5F6C72A-3AF1-4C2F-8093-CE1378A9F57C}" type="datetimeFigureOut">
              <a:rPr lang="id-ID" smtClean="0"/>
              <a:pPr/>
              <a:t>25/09/2019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id-ID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7344428-F8BF-4B1D-83BC-BA6DA7D25C39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281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003" y="1382120"/>
            <a:ext cx="7129046" cy="1619074"/>
          </a:xfrm>
        </p:spPr>
        <p:txBody>
          <a:bodyPr/>
          <a:lstStyle/>
          <a:p>
            <a:pPr algn="ctr"/>
            <a:r>
              <a:rPr lang="id-ID" sz="6000" dirty="0"/>
              <a:t>Statistika</a:t>
            </a:r>
            <a:br>
              <a:rPr lang="id-ID" sz="6000" dirty="0"/>
            </a:br>
            <a:r>
              <a:rPr lang="en-US" sz="3200" dirty="0"/>
              <a:t>U</a:t>
            </a:r>
            <a:r>
              <a:rPr lang="id-ID" sz="3200" dirty="0"/>
              <a:t>ji hipotesis 1 </a:t>
            </a:r>
            <a:r>
              <a:rPr lang="en-US" sz="3200" dirty="0"/>
              <a:t>P</a:t>
            </a:r>
            <a:r>
              <a:rPr lang="id-ID" sz="3200" dirty="0"/>
              <a:t>opulasi</a:t>
            </a:r>
            <a:r>
              <a:rPr lang="en-US" sz="3200" dirty="0"/>
              <a:t> &amp; 2 </a:t>
            </a:r>
            <a:r>
              <a:rPr lang="en-US" sz="3200" dirty="0" err="1"/>
              <a:t>Populasi</a:t>
            </a:r>
            <a:endParaRPr lang="id-ID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07594" y="6147845"/>
            <a:ext cx="4017029" cy="544503"/>
          </a:xfrm>
          <a:ln w="285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 fontScale="85000" lnSpcReduction="10000"/>
          </a:bodyPr>
          <a:lstStyle/>
          <a:p>
            <a:r>
              <a:rPr lang="id-ID" sz="2400" dirty="0">
                <a:solidFill>
                  <a:schemeClr val="tx1"/>
                </a:solidFill>
              </a:rPr>
              <a:t>Tim </a:t>
            </a:r>
            <a:r>
              <a:rPr lang="en-US" sz="2400" dirty="0">
                <a:solidFill>
                  <a:schemeClr val="tx1"/>
                </a:solidFill>
              </a:rPr>
              <a:t>A</a:t>
            </a:r>
            <a:r>
              <a:rPr lang="id-ID" sz="2400" dirty="0">
                <a:solidFill>
                  <a:schemeClr val="tx1"/>
                </a:solidFill>
              </a:rPr>
              <a:t>sisten </a:t>
            </a:r>
            <a:r>
              <a:rPr lang="en-US" sz="2400" dirty="0">
                <a:solidFill>
                  <a:schemeClr val="tx1"/>
                </a:solidFill>
              </a:rPr>
              <a:t>S</a:t>
            </a:r>
            <a:r>
              <a:rPr lang="id-ID" sz="2400" dirty="0">
                <a:solidFill>
                  <a:schemeClr val="tx1"/>
                </a:solidFill>
              </a:rPr>
              <a:t>tatistika 201</a:t>
            </a:r>
            <a:r>
              <a:rPr lang="en-US" sz="2400" dirty="0">
                <a:solidFill>
                  <a:schemeClr val="tx1"/>
                </a:solidFill>
              </a:rPr>
              <a:t>9/2020</a:t>
            </a:r>
            <a:endParaRPr lang="id-ID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92049" y="241074"/>
            <a:ext cx="4383315" cy="43833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E26274-59F1-4EC9-9F65-E3EDEA90A064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38465A-C61A-4224-ABE5-68A2D311D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76" y="3939899"/>
            <a:ext cx="6571040" cy="241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6403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3330" y="537287"/>
            <a:ext cx="5878635" cy="145053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Tujuan</a:t>
            </a:r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praktikum</a:t>
            </a:r>
            <a:endParaRPr lang="id-ID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895" y="2568567"/>
            <a:ext cx="10716210" cy="294433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463550" indent="-463550" algn="just">
              <a:buAutoNum type="arabicPeriod"/>
            </a:pPr>
            <a:r>
              <a:rPr lang="en-US" sz="2400" dirty="0" err="1"/>
              <a:t>Praktikan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pengujian</a:t>
            </a:r>
            <a:r>
              <a:rPr lang="en-US" sz="2400" dirty="0"/>
              <a:t> </a:t>
            </a:r>
            <a:r>
              <a:rPr lang="en-US" sz="2400" dirty="0" err="1"/>
              <a:t>hipotesa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parameter </a:t>
            </a:r>
            <a:r>
              <a:rPr lang="en-US" sz="2400" dirty="0" err="1"/>
              <a:t>populasi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-Z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-T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sampel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memutuskan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hipotesanya</a:t>
            </a:r>
            <a:r>
              <a:rPr lang="en-US" sz="2400" dirty="0"/>
              <a:t> </a:t>
            </a:r>
            <a:r>
              <a:rPr lang="en-US" sz="2400" dirty="0" err="1"/>
              <a:t>ditolak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ditolak</a:t>
            </a:r>
            <a:r>
              <a:rPr lang="en-US" sz="2400" dirty="0"/>
              <a:t>.</a:t>
            </a:r>
          </a:p>
          <a:p>
            <a:pPr marL="463550" indent="-463550" algn="just">
              <a:buAutoNum type="arabicPeriod"/>
            </a:pPr>
            <a:r>
              <a:rPr lang="en-US" sz="2400" dirty="0" err="1"/>
              <a:t>Praktikan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pengolahan</a:t>
            </a:r>
            <a:r>
              <a:rPr lang="en-US" sz="2400" dirty="0"/>
              <a:t> data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 </a:t>
            </a:r>
            <a:r>
              <a:rPr lang="en-US" sz="2400" dirty="0" err="1"/>
              <a:t>hipotesis</a:t>
            </a:r>
            <a:r>
              <a:rPr lang="en-US" sz="2400" dirty="0"/>
              <a:t> 2 </a:t>
            </a:r>
            <a:r>
              <a:rPr lang="en-US" sz="2400" dirty="0" err="1"/>
              <a:t>populasi</a:t>
            </a:r>
            <a:endParaRPr lang="en-US" sz="2400" dirty="0"/>
          </a:p>
          <a:p>
            <a:pPr marL="463550" indent="-463550" algn="just">
              <a:buAutoNum type="arabicPeriod"/>
            </a:pPr>
            <a:r>
              <a:rPr lang="en-US" sz="2400" dirty="0" err="1"/>
              <a:t>Praktikan</a:t>
            </a:r>
            <a:r>
              <a:rPr lang="en-US" sz="2400" dirty="0"/>
              <a:t> </a:t>
            </a:r>
            <a:r>
              <a:rPr lang="en-US" sz="2400" dirty="0" err="1"/>
              <a:t>mampu</a:t>
            </a:r>
            <a:r>
              <a:rPr lang="en-US" sz="2400" dirty="0"/>
              <a:t> </a:t>
            </a:r>
            <a:r>
              <a:rPr lang="en-US" sz="2400" dirty="0" err="1"/>
              <a:t>menginterpretasikan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pengolahan</a:t>
            </a:r>
            <a:r>
              <a:rPr lang="en-US" sz="2400" dirty="0"/>
              <a:t> data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 </a:t>
            </a:r>
            <a:r>
              <a:rPr lang="en-US" sz="2400" dirty="0" err="1"/>
              <a:t>hipotesis</a:t>
            </a:r>
            <a:r>
              <a:rPr lang="en-US" sz="2400" dirty="0"/>
              <a:t> 2 </a:t>
            </a:r>
            <a:r>
              <a:rPr lang="en-US" sz="2400" dirty="0" err="1"/>
              <a:t>populasi</a:t>
            </a:r>
            <a:endParaRPr lang="id-ID" sz="2400" dirty="0"/>
          </a:p>
        </p:txBody>
      </p:sp>
      <p:pic>
        <p:nvPicPr>
          <p:cNvPr id="7" name="Picture 2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792" y="317290"/>
            <a:ext cx="1890532" cy="18905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38B1D4-6201-47F8-8461-F6769F82B81A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6359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3397222"/>
            <a:ext cx="3808697" cy="1097620"/>
          </a:xfrm>
          <a:prstGeom prst="horizontalScroll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id-ID" sz="40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  <a:latin typeface="+mj-lt"/>
              </a:rPr>
              <a:t>UJI</a:t>
            </a:r>
            <a:r>
              <a:rPr lang="id-ID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</a:rPr>
              <a:t> </a:t>
            </a:r>
            <a:r>
              <a:rPr lang="id-ID" sz="4000" dirty="0">
                <a:ln>
                  <a:solidFill>
                    <a:srgbClr val="FF0000"/>
                  </a:solidFill>
                </a:ln>
                <a:solidFill>
                  <a:schemeClr val="tx1"/>
                </a:solidFill>
                <a:latin typeface="+mj-lt"/>
              </a:rPr>
              <a:t>HIPOTESIS</a:t>
            </a:r>
            <a:endParaRPr lang="id-ID" dirty="0">
              <a:ln>
                <a:solidFill>
                  <a:srgbClr val="FF0000"/>
                </a:solidFill>
              </a:ln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4" y="4926951"/>
            <a:ext cx="10290520" cy="1526858"/>
          </a:xfrm>
          <a:ln>
            <a:solidFill>
              <a:srgbClr val="FFC000"/>
            </a:solidFill>
          </a:ln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d-ID" sz="2400" dirty="0">
                <a:ln>
                  <a:solidFill>
                    <a:srgbClr val="FF0000"/>
                  </a:solidFill>
                </a:ln>
              </a:rPr>
              <a:t>Uji hipotesis adalah cabang ilmu statistika inferensial yang dipergunakan untuk menguji kebenaran suatu pernyataan secara statistik dan menarik kesimpulan apakah menerima </a:t>
            </a:r>
            <a:r>
              <a:rPr lang="en-US" sz="2400" dirty="0">
                <a:ln>
                  <a:solidFill>
                    <a:srgbClr val="FF0000"/>
                  </a:solidFill>
                </a:ln>
              </a:rPr>
              <a:t> </a:t>
            </a:r>
            <a:r>
              <a:rPr lang="id-ID" sz="2400" dirty="0">
                <a:ln>
                  <a:solidFill>
                    <a:srgbClr val="FF0000"/>
                  </a:solidFill>
                </a:ln>
              </a:rPr>
              <a:t>atau menolak pernyataan tersebut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3774" y="185645"/>
            <a:ext cx="3474384" cy="1082711"/>
          </a:xfrm>
          <a:prstGeom prst="horizontalScroll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>
                <a:ln>
                  <a:solidFill>
                    <a:srgbClr val="FF0000"/>
                  </a:solidFill>
                </a:ln>
              </a:rPr>
              <a:t>HIPOTESIS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76409" y="1678050"/>
            <a:ext cx="10261799" cy="1309478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d-ID" sz="2400" cap="none" dirty="0">
                <a:ln>
                  <a:solidFill>
                    <a:srgbClr val="FF0000"/>
                  </a:solidFill>
                </a:ln>
              </a:rPr>
              <a:t>Pernyataan yang masih lemah kebenarannya dan perlu dibuktikan atau dugaan yang sifatnya masih sementara. Hipotesis selalu berkaitan dengan parameter populasi, tidak pernah statistik sampel. </a:t>
            </a:r>
          </a:p>
        </p:txBody>
      </p:sp>
      <p:pic>
        <p:nvPicPr>
          <p:cNvPr id="7" name="Picture 2" descr="D:\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Down Arrow 3"/>
          <p:cNvSpPr/>
          <p:nvPr/>
        </p:nvSpPr>
        <p:spPr>
          <a:xfrm>
            <a:off x="2378960" y="4510663"/>
            <a:ext cx="544011" cy="3433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3">
            <a:extLst>
              <a:ext uri="{FF2B5EF4-FFF2-40B4-BE49-F238E27FC236}">
                <a16:creationId xmlns:a16="http://schemas.microsoft.com/office/drawing/2014/main" id="{A96DFF25-EE86-46E1-802E-31F80585778F}"/>
              </a:ext>
            </a:extLst>
          </p:cNvPr>
          <p:cNvSpPr/>
          <p:nvPr/>
        </p:nvSpPr>
        <p:spPr>
          <a:xfrm>
            <a:off x="2378959" y="1230800"/>
            <a:ext cx="544011" cy="3433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C274A1-6BA1-4F24-8AD7-C29926A878AC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5023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4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344" y="3079787"/>
            <a:ext cx="10363826" cy="2043543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FFFF00"/>
            </a:solidFill>
          </a:ln>
          <a:effectLst>
            <a:softEdge rad="63500"/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elaxedInset"/>
          </a:sp3d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sz="2400" dirty="0"/>
              <a:t>Menetapkan suatu dasar sehingga dapat mengumpulkan bukti yang berupa data-data dalam menentukan keputusan apakah menolak atau menerima kebenaran dari pernyataan atau asumsi yang telah dibuat.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04068" y="1125071"/>
            <a:ext cx="7467659" cy="11088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FFFF00"/>
            </a:solidFill>
          </a:ln>
          <a:effectLst/>
          <a:scene3d>
            <a:camera prst="obliqueBottomLeft"/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id-ID" sz="4000" dirty="0"/>
              <a:t>TUJUAN UJI HIPOTESIS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A26AD4-DF74-4136-9F18-168ADDB42654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D:\4.jpg">
            <a:extLst>
              <a:ext uri="{FF2B5EF4-FFF2-40B4-BE49-F238E27FC236}">
                <a16:creationId xmlns:a16="http://schemas.microsoft.com/office/drawing/2014/main" id="{9B03878B-0367-4956-B585-F2F2DE94C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081560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613" y="1346283"/>
            <a:ext cx="10329004" cy="2381491"/>
          </a:xfr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d-ID" sz="2200" b="1" dirty="0">
                <a:latin typeface="+mj-lt"/>
              </a:rPr>
              <a:t>HIPOTESIS NOL (H0)</a:t>
            </a:r>
            <a:endParaRPr lang="id-ID" sz="2200" dirty="0">
              <a:latin typeface="+mj-lt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</a:rPr>
              <a:t> </a:t>
            </a:r>
            <a:r>
              <a:rPr lang="id-ID" sz="2200" dirty="0">
                <a:latin typeface="+mj-lt"/>
              </a:rPr>
              <a:t>Berlaku umum, seperti praduga awal, pernyataan yang diasumsikan benar kecuali ada bukti yang kuat untuk membantahnya, selalu mengandung pernyataan “sama dengan”, “tidak ada pengaruh”, “tidak </a:t>
            </a:r>
            <a:r>
              <a:rPr lang="en-US" sz="2200" dirty="0" err="1">
                <a:latin typeface="+mj-lt"/>
              </a:rPr>
              <a:t>ada</a:t>
            </a:r>
            <a:r>
              <a:rPr lang="en-US" sz="2200" dirty="0">
                <a:latin typeface="+mj-lt"/>
              </a:rPr>
              <a:t> </a:t>
            </a:r>
            <a:r>
              <a:rPr lang="id-ID" sz="2200" dirty="0">
                <a:latin typeface="+mj-lt"/>
              </a:rPr>
              <a:t>perbedaan”.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dirty="0">
                <a:latin typeface="+mj-lt"/>
              </a:rPr>
              <a:t> </a:t>
            </a:r>
            <a:r>
              <a:rPr lang="id-ID" sz="2200" dirty="0">
                <a:latin typeface="+mj-lt"/>
              </a:rPr>
              <a:t>Contoh : H0 : μ1 = μ2 atau H0 : μ1 ≥ μ2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757613" y="231493"/>
            <a:ext cx="3687065" cy="856527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HIPOTESIS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57613" y="3912730"/>
            <a:ext cx="10329004" cy="26076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buFont typeface="Wingdings 3" charset="2"/>
              <a:buNone/>
            </a:pPr>
            <a:r>
              <a:rPr lang="id-ID" sz="2200" b="1" dirty="0"/>
              <a:t>HIPOTESIS </a:t>
            </a:r>
            <a:r>
              <a:rPr lang="en-US" sz="2200" b="1" dirty="0"/>
              <a:t>ALTERNATIF</a:t>
            </a:r>
            <a:r>
              <a:rPr lang="id-ID" sz="2200" b="1" dirty="0"/>
              <a:t> (H</a:t>
            </a:r>
            <a:r>
              <a:rPr lang="en-US" sz="2200" b="1" dirty="0"/>
              <a:t>A/H1</a:t>
            </a:r>
            <a:r>
              <a:rPr lang="id-ID" sz="2200" b="1" dirty="0"/>
              <a:t>)</a:t>
            </a:r>
            <a:endParaRPr lang="en-US" sz="2200" b="1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id-ID" sz="2400" dirty="0"/>
              <a:t>Bersifat menyangkal, adanya tanda kurang dari atau lebih dari sesuai kebutuhan, digunakan untuk membantah H0. Pernyataan akan dinyatakan benar jika Hipotesis Nol (H0) berhasil ditolak.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id-ID" sz="2400" dirty="0"/>
              <a:t>Contoh H1 : μ1 ≠  μ2 atau H1 : μ1 </a:t>
            </a:r>
            <a:r>
              <a:rPr lang="en-US" sz="2400" dirty="0"/>
              <a:t>&lt;</a:t>
            </a:r>
            <a:r>
              <a:rPr lang="id-ID" sz="2400" dirty="0"/>
              <a:t> μ2</a:t>
            </a:r>
          </a:p>
          <a:p>
            <a:pPr marL="0" indent="0" algn="just">
              <a:buFont typeface="Wingdings 3" charset="2"/>
              <a:buNone/>
            </a:pPr>
            <a:endParaRPr lang="id-ID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93539-9679-4231-9C2A-C0552161127E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D:\4.jpg">
            <a:extLst>
              <a:ext uri="{FF2B5EF4-FFF2-40B4-BE49-F238E27FC236}">
                <a16:creationId xmlns:a16="http://schemas.microsoft.com/office/drawing/2014/main" id="{C0FF551F-E496-49B9-BB64-1D3410397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9326" y="119270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01224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707" y="464293"/>
            <a:ext cx="3688607" cy="820497"/>
          </a:xfrm>
          <a:ln w="28575">
            <a:solidFill>
              <a:schemeClr val="bg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UJI HIPOTESIS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109114"/>
              </p:ext>
            </p:extLst>
          </p:nvPr>
        </p:nvGraphicFramePr>
        <p:xfrm>
          <a:off x="1682047" y="2064213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4E74486-4E53-4989-9244-6484AFF58BE6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D:\4.jpg">
            <a:extLst>
              <a:ext uri="{FF2B5EF4-FFF2-40B4-BE49-F238E27FC236}">
                <a16:creationId xmlns:a16="http://schemas.microsoft.com/office/drawing/2014/main" id="{740503CD-4C7C-484B-9F68-7D62E38DE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191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071" y="1341808"/>
            <a:ext cx="6379721" cy="878371"/>
          </a:xfrm>
          <a:solidFill>
            <a:schemeClr val="accent3"/>
          </a:solidFill>
          <a:ln w="19050"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1 </a:t>
            </a:r>
            <a:r>
              <a:rPr lang="en-US" dirty="0" err="1"/>
              <a:t>Populasi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071" y="2744080"/>
            <a:ext cx="9151857" cy="2520388"/>
          </a:xfrm>
          <a:ln w="28575">
            <a:solidFill>
              <a:srgbClr val="FFFF00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 z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uji</a:t>
            </a:r>
            <a:r>
              <a:rPr lang="en-US" sz="2400" dirty="0"/>
              <a:t> 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Uji</a:t>
            </a:r>
            <a:r>
              <a:rPr lang="en-US" sz="2400" dirty="0"/>
              <a:t> z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apabila</a:t>
            </a:r>
            <a:r>
              <a:rPr lang="en-US" sz="2400" dirty="0"/>
              <a:t> </a:t>
            </a:r>
            <a:r>
              <a:rPr lang="en-US" sz="2400" dirty="0" err="1"/>
              <a:t>standar</a:t>
            </a:r>
            <a:r>
              <a:rPr lang="en-US" sz="2400" dirty="0"/>
              <a:t> </a:t>
            </a:r>
            <a:r>
              <a:rPr lang="en-US" sz="2400" dirty="0" err="1"/>
              <a:t>deviasi</a:t>
            </a:r>
            <a:r>
              <a:rPr lang="en-US" sz="2400" dirty="0"/>
              <a:t> </a:t>
            </a:r>
            <a:r>
              <a:rPr lang="en-US" sz="2400" dirty="0" err="1"/>
              <a:t>populasi</a:t>
            </a:r>
            <a:r>
              <a:rPr lang="en-US" sz="2400" dirty="0"/>
              <a:t> </a:t>
            </a:r>
            <a:r>
              <a:rPr lang="en-US" sz="2400" dirty="0" err="1"/>
              <a:t>diketahui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n &gt; 30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Uji</a:t>
            </a:r>
            <a:r>
              <a:rPr lang="en-US" sz="2400" dirty="0"/>
              <a:t> t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apabila</a:t>
            </a:r>
            <a:r>
              <a:rPr lang="en-US" sz="2400" dirty="0"/>
              <a:t> </a:t>
            </a:r>
            <a:r>
              <a:rPr lang="en-US" sz="2400" dirty="0" err="1"/>
              <a:t>standar</a:t>
            </a:r>
            <a:r>
              <a:rPr lang="en-US" sz="2400" dirty="0"/>
              <a:t> </a:t>
            </a:r>
            <a:r>
              <a:rPr lang="en-US" sz="2400" dirty="0" err="1"/>
              <a:t>deviasi</a:t>
            </a:r>
            <a:r>
              <a:rPr lang="en-US" sz="2400" dirty="0"/>
              <a:t> </a:t>
            </a:r>
            <a:r>
              <a:rPr lang="en-US" sz="2400" dirty="0" err="1"/>
              <a:t>populasi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diketahui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n &lt; 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9F85C-6885-490A-9E5F-0C6933AFD516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D:\4.jpg">
            <a:extLst>
              <a:ext uri="{FF2B5EF4-FFF2-40B4-BE49-F238E27FC236}">
                <a16:creationId xmlns:a16="http://schemas.microsoft.com/office/drawing/2014/main" id="{478A3AD2-8116-47F1-B256-984637F98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278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396" y="418003"/>
            <a:ext cx="9344612" cy="95938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Autofit/>
          </a:bodyPr>
          <a:lstStyle/>
          <a:p>
            <a:pPr algn="ctr"/>
            <a:r>
              <a:rPr lang="id-ID" sz="2800" b="1" dirty="0"/>
              <a:t>LANGKAH DALAM PENGAMBILAN KEPUTUSAN</a:t>
            </a:r>
            <a:r>
              <a:rPr lang="en-US" sz="2800" b="1" dirty="0"/>
              <a:t> PADA UJI HIPOTESIS 1 DAN 2 POPULASI</a:t>
            </a:r>
            <a:endParaRPr lang="id-ID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1527" y="1960457"/>
            <a:ext cx="9008946" cy="3946967"/>
          </a:xfr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D" sz="2400" dirty="0"/>
              <a:t>T</a:t>
            </a:r>
            <a:r>
              <a:rPr lang="id-ID" sz="2400" dirty="0"/>
              <a:t> hit &lt; </a:t>
            </a:r>
            <a:r>
              <a:rPr lang="en-ID" sz="2400" dirty="0"/>
              <a:t>T</a:t>
            </a:r>
            <a:r>
              <a:rPr lang="id-ID" sz="2400" dirty="0"/>
              <a:t> tab 5%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P value &gt; Alpha 5%</a:t>
            </a:r>
          </a:p>
          <a:p>
            <a:pPr marL="404813" indent="-404813">
              <a:buNone/>
            </a:pPr>
            <a:r>
              <a:rPr lang="en-US" sz="2400" dirty="0"/>
              <a:t>     </a:t>
            </a:r>
            <a:r>
              <a:rPr lang="en-US" sz="2400" dirty="0" err="1"/>
              <a:t>terima</a:t>
            </a:r>
            <a:r>
              <a:rPr lang="en-US" sz="2400" dirty="0"/>
              <a:t> H0. A</a:t>
            </a:r>
            <a:r>
              <a:rPr lang="id-ID" sz="2400" dirty="0"/>
              <a:t>rtinya tidak ada perbedaan yang nyata</a:t>
            </a:r>
            <a:r>
              <a:rPr lang="en-US" sz="2400" dirty="0"/>
              <a:t> </a:t>
            </a:r>
            <a:r>
              <a:rPr lang="en-US" sz="2400" dirty="0" err="1"/>
              <a:t>antar</a:t>
            </a:r>
            <a:r>
              <a:rPr lang="en-US" sz="2400" dirty="0"/>
              <a:t> </a:t>
            </a:r>
            <a:r>
              <a:rPr lang="en-US" sz="2400" dirty="0" err="1"/>
              <a:t>populasi</a:t>
            </a:r>
            <a:endParaRPr lang="en-US" sz="2400" dirty="0"/>
          </a:p>
          <a:p>
            <a:pPr marL="0" lvl="0" indent="0">
              <a:buNone/>
            </a:pPr>
            <a:r>
              <a:rPr lang="en-US" sz="2400" dirty="0"/>
              <a:t>2. </a:t>
            </a:r>
            <a:r>
              <a:rPr lang="en-ID" sz="2400" dirty="0"/>
              <a:t>T</a:t>
            </a:r>
            <a:r>
              <a:rPr lang="id-ID" sz="2400" dirty="0"/>
              <a:t> hit &gt; </a:t>
            </a:r>
            <a:r>
              <a:rPr lang="en-ID" sz="2400" dirty="0"/>
              <a:t>T</a:t>
            </a:r>
            <a:r>
              <a:rPr lang="id-ID" sz="2400" dirty="0"/>
              <a:t> tab 5%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P value &lt; Alpha 5%</a:t>
            </a:r>
          </a:p>
          <a:p>
            <a:pPr marL="349250" indent="0">
              <a:buNone/>
            </a:pPr>
            <a:r>
              <a:rPr lang="id-ID" sz="2400" dirty="0"/>
              <a:t>terima H1. Artinya ada perbedaan yang nyata antar </a:t>
            </a:r>
            <a:r>
              <a:rPr lang="en-US" sz="2400" dirty="0" err="1"/>
              <a:t>populasi</a:t>
            </a:r>
            <a:r>
              <a:rPr lang="id-ID" sz="2400" dirty="0"/>
              <a:t> (dengan selang kepercayaan 95%)</a:t>
            </a:r>
            <a:endParaRPr lang="en-US" sz="2400" dirty="0"/>
          </a:p>
          <a:p>
            <a:pPr marL="0" lvl="0" indent="0">
              <a:buNone/>
            </a:pPr>
            <a:endParaRPr lang="en-US" sz="2400" dirty="0"/>
          </a:p>
        </p:txBody>
      </p:sp>
      <p:pic>
        <p:nvPicPr>
          <p:cNvPr id="5" name="Picture 2" descr="D:\4.jpg">
            <a:extLst>
              <a:ext uri="{FF2B5EF4-FFF2-40B4-BE49-F238E27FC236}">
                <a16:creationId xmlns:a16="http://schemas.microsoft.com/office/drawing/2014/main" id="{60EC0B46-27F7-445B-AA05-8BDCD627E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003" y="5361343"/>
            <a:ext cx="1377387" cy="137738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FFADD6-E958-4F52-BCBD-036D1FC211A4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05802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027" y="424076"/>
            <a:ext cx="6775945" cy="120595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2 </a:t>
            </a:r>
            <a:r>
              <a:rPr lang="en-US" dirty="0" err="1"/>
              <a:t>Populasi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746" y="1709552"/>
            <a:ext cx="10419286" cy="47575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Uji</a:t>
            </a:r>
            <a:r>
              <a:rPr lang="en-US" dirty="0"/>
              <a:t> two-sample-t independent</a:t>
            </a:r>
          </a:p>
          <a:p>
            <a:pPr marL="509588" indent="-220663">
              <a:buFont typeface="Wingdings" panose="05000000000000000000" pitchFamily="2" charset="2"/>
              <a:buChar char="v"/>
            </a:pPr>
            <a:r>
              <a:rPr lang="id-ID" dirty="0"/>
              <a:t>U</a:t>
            </a:r>
            <a:r>
              <a:rPr lang="en-US" dirty="0" err="1"/>
              <a:t>ji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(</a:t>
            </a:r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dirty="0" err="1"/>
              <a:t>komparatif</a:t>
            </a:r>
            <a:r>
              <a:rPr lang="en-US" dirty="0"/>
              <a:t>)</a:t>
            </a:r>
          </a:p>
          <a:p>
            <a:pPr marL="509588" indent="-220663">
              <a:buFont typeface="Wingdings" panose="05000000000000000000" pitchFamily="2" charset="2"/>
              <a:buChar char="v"/>
            </a:pPr>
            <a:r>
              <a:rPr lang="id-ID" dirty="0"/>
              <a:t>Uji beda dua sampel yang tidak memiliki hubungan (independent)</a:t>
            </a:r>
            <a:r>
              <a:rPr lang="en-US" dirty="0"/>
              <a:t> :</a:t>
            </a:r>
          </a:p>
          <a:p>
            <a:pPr marL="509588" lvl="1" indent="0">
              <a:buNone/>
            </a:pPr>
            <a:r>
              <a:rPr lang="en-US" sz="2000" dirty="0"/>
              <a:t>d</a:t>
            </a:r>
            <a:r>
              <a:rPr lang="id-ID" sz="2000" dirty="0"/>
              <a:t>ua kelompok yang anggotanya berbeda satu dengan yang lain</a:t>
            </a:r>
            <a:endParaRPr lang="en-US" sz="2000" dirty="0"/>
          </a:p>
          <a:p>
            <a:pPr marL="509588" lvl="1" indent="0">
              <a:buNone/>
            </a:pPr>
            <a:endParaRPr lang="id-ID" sz="2000" dirty="0"/>
          </a:p>
          <a:p>
            <a:pPr marL="288925" indent="0">
              <a:buNone/>
              <a:tabLst>
                <a:tab pos="288925" algn="l"/>
              </a:tabLst>
            </a:pPr>
            <a:r>
              <a:rPr lang="en-US" dirty="0" err="1"/>
              <a:t>Fungsi</a:t>
            </a:r>
            <a:r>
              <a:rPr lang="en-US" dirty="0"/>
              <a:t>:</a:t>
            </a:r>
          </a:p>
          <a:p>
            <a:pPr marL="509588" indent="-220663">
              <a:buFont typeface="Wingdings" panose="05000000000000000000" pitchFamily="2" charset="2"/>
              <a:buChar char="§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yang </a:t>
            </a:r>
            <a:r>
              <a:rPr lang="en-US" dirty="0" err="1"/>
              <a:t>signifikan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2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tersebut</a:t>
            </a:r>
            <a:endParaRPr lang="id-ID" dirty="0"/>
          </a:p>
          <a:p>
            <a:pPr marL="509588" indent="-220663">
              <a:buFont typeface="Wingdings" panose="05000000000000000000" pitchFamily="2" charset="2"/>
              <a:buChar char="§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uji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selang</a:t>
            </a:r>
            <a:r>
              <a:rPr lang="en-US" dirty="0"/>
              <a:t> </a:t>
            </a:r>
            <a:r>
              <a:rPr lang="en-US" dirty="0" err="1"/>
              <a:t>kepercayaan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rata-rata </a:t>
            </a:r>
            <a:r>
              <a:rPr lang="id-ID" dirty="0"/>
              <a:t>dua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</a:p>
          <a:p>
            <a:pPr marL="288925" indent="0">
              <a:buNone/>
            </a:pPr>
            <a:endParaRPr lang="id-ID" dirty="0"/>
          </a:p>
          <a:p>
            <a:pPr marL="288925" indent="0">
              <a:buNone/>
            </a:pPr>
            <a:r>
              <a:rPr lang="en-US" dirty="0" err="1"/>
              <a:t>Kriteria</a:t>
            </a:r>
            <a:r>
              <a:rPr lang="en-US" dirty="0"/>
              <a:t> data</a:t>
            </a:r>
            <a:endParaRPr lang="id-ID" dirty="0"/>
          </a:p>
          <a:p>
            <a:pPr marL="631825">
              <a:buFont typeface="Courier New" panose="02070309020205020404" pitchFamily="49" charset="0"/>
              <a:buChar char="o"/>
            </a:pPr>
            <a:r>
              <a:rPr lang="id-ID" dirty="0"/>
              <a:t>P</a:t>
            </a:r>
            <a:r>
              <a:rPr lang="en-US" dirty="0" err="1"/>
              <a:t>opulasi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independen</a:t>
            </a:r>
            <a:r>
              <a:rPr lang="id-ID" dirty="0"/>
              <a:t> (tidak berhubungan)</a:t>
            </a:r>
          </a:p>
          <a:p>
            <a:pPr marL="631825" lvl="0">
              <a:buFont typeface="Courier New" panose="02070309020205020404" pitchFamily="49" charset="0"/>
              <a:buChar char="o"/>
            </a:pP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normal</a:t>
            </a:r>
            <a:endParaRPr lang="id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204B1-3F5B-4910-973B-6C1236B48A16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D:\4.jpg">
            <a:extLst>
              <a:ext uri="{FF2B5EF4-FFF2-40B4-BE49-F238E27FC236}">
                <a16:creationId xmlns:a16="http://schemas.microsoft.com/office/drawing/2014/main" id="{50F6450D-6798-4755-970F-89E5054D1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500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145" y="1705678"/>
            <a:ext cx="9493310" cy="4602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Uji</a:t>
            </a:r>
            <a:r>
              <a:rPr lang="en-US" dirty="0"/>
              <a:t> two-sample-t paired</a:t>
            </a:r>
          </a:p>
          <a:p>
            <a:pPr marL="566738" indent="-277813">
              <a:buFont typeface="Wingdings" panose="05000000000000000000" pitchFamily="2" charset="2"/>
              <a:buChar char="v"/>
            </a:pPr>
            <a:r>
              <a:rPr lang="id-ID" dirty="0"/>
              <a:t>Uji beda dua sampel berpasangan</a:t>
            </a:r>
          </a:p>
          <a:p>
            <a:pPr marL="566738" indent="-277813">
              <a:buFont typeface="Wingdings" panose="05000000000000000000" pitchFamily="2" charset="2"/>
              <a:buChar char="v"/>
            </a:pPr>
            <a:r>
              <a:rPr lang="id-ID" dirty="0"/>
              <a:t>Sampel berpasangan merupakan subjek yang sama namun mengalami perlakuan yang berbeda</a:t>
            </a:r>
          </a:p>
          <a:p>
            <a:pPr marL="288925" indent="0">
              <a:buNone/>
            </a:pPr>
            <a:r>
              <a:rPr lang="en-US" dirty="0"/>
              <a:t> </a:t>
            </a:r>
          </a:p>
          <a:p>
            <a:pPr marL="288925" indent="0">
              <a:buNone/>
            </a:pPr>
            <a:r>
              <a:rPr lang="en-US" dirty="0" err="1"/>
              <a:t>Fungsi</a:t>
            </a:r>
            <a:r>
              <a:rPr lang="en-US" dirty="0"/>
              <a:t>:</a:t>
            </a:r>
          </a:p>
          <a:p>
            <a:pPr marL="566738" indent="-277813">
              <a:buFont typeface="Wingdings" panose="05000000000000000000" pitchFamily="2" charset="2"/>
              <a:buChar char="§"/>
            </a:pPr>
            <a:r>
              <a:rPr lang="id-ID" dirty="0"/>
              <a:t>Untuk menguji bahwa ada</a:t>
            </a:r>
            <a:r>
              <a:rPr lang="en-US" dirty="0"/>
              <a:t>/</a:t>
            </a:r>
            <a:r>
              <a:rPr lang="en-US" dirty="0" err="1"/>
              <a:t>tidaknya</a:t>
            </a:r>
            <a:r>
              <a:rPr lang="id-ID" dirty="0"/>
              <a:t> perbedaan antara dua variabel</a:t>
            </a:r>
            <a:endParaRPr lang="en-US" dirty="0"/>
          </a:p>
          <a:p>
            <a:pPr marL="566738" indent="-277813">
              <a:buFont typeface="Wingdings" panose="05000000000000000000" pitchFamily="2" charset="2"/>
              <a:buChar char="§"/>
            </a:pPr>
            <a:endParaRPr lang="en-US" dirty="0"/>
          </a:p>
          <a:p>
            <a:pPr marL="288925" indent="0">
              <a:buNone/>
            </a:pPr>
            <a:r>
              <a:rPr lang="en-US" dirty="0" err="1"/>
              <a:t>Kriteria</a:t>
            </a:r>
            <a:r>
              <a:rPr lang="en-US" dirty="0"/>
              <a:t> data:</a:t>
            </a:r>
          </a:p>
          <a:p>
            <a:pPr marL="566738" indent="-277813">
              <a:buFont typeface="Courier New" panose="02070309020205020404" pitchFamily="49" charset="0"/>
              <a:buChar char="o"/>
            </a:pPr>
            <a:r>
              <a:rPr lang="id-ID" dirty="0"/>
              <a:t>S</a:t>
            </a:r>
            <a:r>
              <a:rPr lang="en-US" dirty="0" err="1"/>
              <a:t>ampel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berhubungan</a:t>
            </a:r>
            <a:r>
              <a:rPr lang="en-US" dirty="0"/>
              <a:t> (dependent)</a:t>
            </a:r>
            <a:r>
              <a:rPr lang="id-ID" dirty="0"/>
              <a:t> atau berpasangan</a:t>
            </a:r>
          </a:p>
          <a:p>
            <a:pPr marL="566738" indent="-277813">
              <a:buFont typeface="Courier New" panose="02070309020205020404" pitchFamily="49" charset="0"/>
              <a:buChar char="o"/>
            </a:pP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</a:t>
            </a:r>
            <a:r>
              <a:rPr lang="id-ID" dirty="0"/>
              <a:t>istribusi normal</a:t>
            </a:r>
          </a:p>
          <a:p>
            <a:pPr marL="288925" indent="0">
              <a:buNone/>
            </a:pPr>
            <a:endParaRPr lang="id-ID" dirty="0"/>
          </a:p>
          <a:p>
            <a:pPr marL="288925" indent="0">
              <a:buNone/>
            </a:pP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4DB1A8B-E2D9-4F4D-9A9A-13FF5786944F}"/>
              </a:ext>
            </a:extLst>
          </p:cNvPr>
          <p:cNvSpPr txBox="1">
            <a:spLocks/>
          </p:cNvSpPr>
          <p:nvPr/>
        </p:nvSpPr>
        <p:spPr>
          <a:xfrm>
            <a:off x="2727905" y="347205"/>
            <a:ext cx="6736189" cy="122980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Uji Hipotesis 2 Populasi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279F5-EB5B-4561-AED7-F780218A42FB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D:\4.jpg">
            <a:extLst>
              <a:ext uri="{FF2B5EF4-FFF2-40B4-BE49-F238E27FC236}">
                <a16:creationId xmlns:a16="http://schemas.microsoft.com/office/drawing/2014/main" id="{3AEB52B1-780A-4755-BD25-2C81D9ECE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6936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382" y="1125071"/>
            <a:ext cx="8627534" cy="4850619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957485" y="2011389"/>
            <a:ext cx="4507625" cy="1735320"/>
          </a:xfrm>
          <a:prstGeom prst="wedgeEllipseCallou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cap="none" dirty="0">
                <a:ln/>
                <a:solidFill>
                  <a:schemeClr val="accent3"/>
                </a:solidFill>
              </a:rPr>
              <a:t>Open minitab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0E031-BD28-49FA-B952-EB0CC47748C3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D:\4.jpg">
            <a:extLst>
              <a:ext uri="{FF2B5EF4-FFF2-40B4-BE49-F238E27FC236}">
                <a16:creationId xmlns:a16="http://schemas.microsoft.com/office/drawing/2014/main" id="{79808987-45BA-4373-8AB7-90BD43DAC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455961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0CD56-2F3D-4FA4-BBB9-EA9B5DDEA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352" y="3013471"/>
            <a:ext cx="6420405" cy="32730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9A240B-7182-4338-98B9-3B9BEF808C33}"/>
              </a:ext>
            </a:extLst>
          </p:cNvPr>
          <p:cNvSpPr/>
          <p:nvPr/>
        </p:nvSpPr>
        <p:spPr>
          <a:xfrm>
            <a:off x="2779448" y="883334"/>
            <a:ext cx="6633100" cy="70133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400" b="1" dirty="0">
                <a:latin typeface="Century Gothic" panose="020B0502020202020204" pitchFamily="34" charset="0"/>
              </a:rPr>
              <a:t>TUGAS</a:t>
            </a:r>
            <a:r>
              <a:rPr lang="en-US" sz="4400" b="1" dirty="0">
                <a:latin typeface="Century Gothic" panose="020B0502020202020204" pitchFamily="34" charset="0"/>
              </a:rPr>
              <a:t> PRAKTIKUM 2&amp;3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5A58361-0EC6-443C-8694-2E9E33B45B4B}"/>
              </a:ext>
            </a:extLst>
          </p:cNvPr>
          <p:cNvSpPr/>
          <p:nvPr/>
        </p:nvSpPr>
        <p:spPr>
          <a:xfrm>
            <a:off x="5865179" y="1717829"/>
            <a:ext cx="461639" cy="604668"/>
          </a:xfrm>
          <a:prstGeom prst="downArrow">
            <a:avLst/>
          </a:prstGeom>
          <a:solidFill>
            <a:srgbClr val="C0000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60BA1-F048-4074-B1A0-A576DA11B7B1}"/>
              </a:ext>
            </a:extLst>
          </p:cNvPr>
          <p:cNvSpPr/>
          <p:nvPr/>
        </p:nvSpPr>
        <p:spPr>
          <a:xfrm>
            <a:off x="452021" y="3320246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INDIVIDU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304255E0-5B97-4B19-817B-F1491949ED64}"/>
              </a:ext>
            </a:extLst>
          </p:cNvPr>
          <p:cNvSpPr/>
          <p:nvPr/>
        </p:nvSpPr>
        <p:spPr>
          <a:xfrm rot="5400000">
            <a:off x="2303014" y="2400672"/>
            <a:ext cx="915881" cy="656948"/>
          </a:xfrm>
          <a:prstGeom prst="strip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48DF0CBE-4D11-4349-980C-0E34A3C08728}"/>
              </a:ext>
            </a:extLst>
          </p:cNvPr>
          <p:cNvSpPr/>
          <p:nvPr/>
        </p:nvSpPr>
        <p:spPr>
          <a:xfrm rot="5400000">
            <a:off x="8794072" y="2451964"/>
            <a:ext cx="915881" cy="656948"/>
          </a:xfrm>
          <a:prstGeom prst="strip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4F8851-F628-4EB5-8629-DDA2330FE5F3}"/>
              </a:ext>
            </a:extLst>
          </p:cNvPr>
          <p:cNvSpPr/>
          <p:nvPr/>
        </p:nvSpPr>
        <p:spPr>
          <a:xfrm>
            <a:off x="7058858" y="3320246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KELOMPOK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CF4AB2-365B-40A1-8901-C008739C072B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4.jpg">
            <a:extLst>
              <a:ext uri="{FF2B5EF4-FFF2-40B4-BE49-F238E27FC236}">
                <a16:creationId xmlns:a16="http://schemas.microsoft.com/office/drawing/2014/main" id="{AC61E788-2B05-4339-A074-606BEC130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1444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7B7C6A-6A86-4B0E-AB9B-7D588EBE4602}"/>
              </a:ext>
            </a:extLst>
          </p:cNvPr>
          <p:cNvSpPr/>
          <p:nvPr/>
        </p:nvSpPr>
        <p:spPr>
          <a:xfrm>
            <a:off x="665085" y="656945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INDIVIDU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E19EA-82AA-44ED-B8F5-B11AD9055C88}"/>
              </a:ext>
            </a:extLst>
          </p:cNvPr>
          <p:cNvSpPr/>
          <p:nvPr/>
        </p:nvSpPr>
        <p:spPr>
          <a:xfrm>
            <a:off x="665085" y="1790697"/>
            <a:ext cx="9855200" cy="35366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Membuat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Uji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Hipotesis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Berupa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Screenshots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beserta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keterangan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  <a:endParaRPr lang="en-ID" sz="2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indent="-457200">
              <a:buAutoNum type="alphaUcPeriod"/>
            </a:pP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Uji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Hipotesis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1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Populasi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(1-sample t , 1 proportion)</a:t>
            </a:r>
          </a:p>
          <a:p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B.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Uji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Hipotesis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2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Populasi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( 2 </a:t>
            </a:r>
            <a:r>
              <a:rPr lang="en-US" sz="24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sample t 	independent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, 2 </a:t>
            </a:r>
            <a:r>
              <a:rPr lang="en-US" sz="2400" b="1" i="1" dirty="0">
                <a:solidFill>
                  <a:schemeClr val="tx1"/>
                </a:solidFill>
                <a:latin typeface="Century Gothic" panose="020B0502020202020204" pitchFamily="34" charset="0"/>
              </a:rPr>
              <a:t>sample t paired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endParaRPr lang="en-US" sz="2400" b="1" u="sng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en-US" sz="2400" b="1" u="sng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NB: Data pada </a:t>
            </a:r>
            <a:r>
              <a:rPr lang="en-ID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Kolom</a:t>
            </a: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Sheets ‘</a:t>
            </a:r>
            <a:r>
              <a:rPr lang="en-ID" sz="2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Tugas</a:t>
            </a:r>
            <a:r>
              <a:rPr lang="en-ID" sz="2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’</a:t>
            </a:r>
            <a:endParaRPr lang="en-ID" sz="2400" b="1" u="sng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ABE9FF-6567-4C8E-A48A-BBCDB2649C15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D:\4.jpg">
            <a:extLst>
              <a:ext uri="{FF2B5EF4-FFF2-40B4-BE49-F238E27FC236}">
                <a16:creationId xmlns:a16="http://schemas.microsoft.com/office/drawing/2014/main" id="{49AF6F02-61CC-4AAD-B1D5-26D3C8F13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1832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19238" y="2040205"/>
            <a:ext cx="9416240" cy="35601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Century Gothic" panose="020B0502020202020204" pitchFamily="34" charset="0"/>
              </a:rPr>
              <a:t>Laporan</a:t>
            </a:r>
            <a:r>
              <a:rPr lang="en-US" sz="2800" b="1" dirty="0">
                <a:latin typeface="Century Gothic" panose="020B0502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</a:t>
            </a:r>
            <a:r>
              <a:rPr lang="id-ID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ateri </a:t>
            </a:r>
            <a:r>
              <a:rPr lang="en-GB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“Uji </a:t>
            </a:r>
            <a:r>
              <a:rPr lang="en-US" sz="28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Hipotesis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1 </a:t>
            </a:r>
            <a:r>
              <a:rPr lang="en-US" sz="28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Populasi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” </a:t>
            </a:r>
            <a:r>
              <a:rPr lang="en-US" sz="2800" b="1" dirty="0" err="1">
                <a:latin typeface="Century Gothic" panose="020B0502020202020204" pitchFamily="34" charset="0"/>
              </a:rPr>
              <a:t>untuk</a:t>
            </a:r>
            <a:r>
              <a:rPr lang="en-US" sz="2800" b="1" dirty="0">
                <a:latin typeface="Century Gothic" panose="020B0502020202020204" pitchFamily="34" charset="0"/>
              </a:rPr>
              <a:t> </a:t>
            </a:r>
            <a:r>
              <a:rPr lang="en-US" sz="28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800" b="1" u="sng" dirty="0">
                <a:latin typeface="Century Gothic" panose="020B0502020202020204" pitchFamily="34" charset="0"/>
              </a:rPr>
              <a:t> 2</a:t>
            </a:r>
            <a:r>
              <a:rPr lang="en-US" sz="2800" b="1" dirty="0">
                <a:latin typeface="Century Gothic" panose="020B0502020202020204" pitchFamily="34" charset="0"/>
              </a:rPr>
              <a:t> dan </a:t>
            </a:r>
            <a:r>
              <a:rPr lang="en-US" sz="28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800" b="1" u="sng" dirty="0">
                <a:latin typeface="Century Gothic" panose="020B0502020202020204" pitchFamily="34" charset="0"/>
              </a:rPr>
              <a:t> 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 err="1">
                <a:latin typeface="Century Gothic" panose="020B0502020202020204" pitchFamily="34" charset="0"/>
              </a:rPr>
              <a:t>Laporan</a:t>
            </a:r>
            <a:r>
              <a:rPr lang="en-GB" sz="2800" b="1" dirty="0">
                <a:latin typeface="Century Gothic" panose="020B0502020202020204" pitchFamily="34" charset="0"/>
              </a:rPr>
              <a:t> </a:t>
            </a:r>
            <a:r>
              <a:rPr lang="en-GB" sz="28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Materi</a:t>
            </a:r>
            <a:r>
              <a:rPr lang="en-GB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3 “Uji </a:t>
            </a:r>
            <a:r>
              <a:rPr lang="en-GB" sz="28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Hipotesis</a:t>
            </a:r>
            <a:r>
              <a:rPr lang="en-GB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2 </a:t>
            </a:r>
            <a:r>
              <a:rPr lang="en-GB" sz="28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Populasi</a:t>
            </a:r>
            <a:r>
              <a:rPr lang="en-GB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” </a:t>
            </a:r>
            <a:r>
              <a:rPr lang="en-GB" sz="2800" b="1" dirty="0" err="1">
                <a:latin typeface="Century Gothic" panose="020B0502020202020204" pitchFamily="34" charset="0"/>
              </a:rPr>
              <a:t>untuk</a:t>
            </a:r>
            <a:r>
              <a:rPr lang="en-GB" sz="2800" b="1" dirty="0">
                <a:latin typeface="Century Gothic" panose="020B0502020202020204" pitchFamily="34" charset="0"/>
              </a:rPr>
              <a:t> </a:t>
            </a:r>
            <a:r>
              <a:rPr lang="en-GB" sz="2800" b="1" u="sng" dirty="0" err="1">
                <a:latin typeface="Century Gothic" panose="020B0502020202020204" pitchFamily="34" charset="0"/>
              </a:rPr>
              <a:t>Kelompok</a:t>
            </a:r>
            <a:r>
              <a:rPr lang="en-GB" sz="2800" b="1" u="sng" dirty="0">
                <a:latin typeface="Century Gothic" panose="020B0502020202020204" pitchFamily="34" charset="0"/>
              </a:rPr>
              <a:t> 3 </a:t>
            </a:r>
            <a:r>
              <a:rPr lang="en-GB" sz="2800" b="1" dirty="0">
                <a:latin typeface="Century Gothic" panose="020B0502020202020204" pitchFamily="34" charset="0"/>
              </a:rPr>
              <a:t>dan </a:t>
            </a:r>
            <a:r>
              <a:rPr lang="en-GB" sz="2800" b="1" u="sng" dirty="0" err="1">
                <a:latin typeface="Century Gothic" panose="020B0502020202020204" pitchFamily="34" charset="0"/>
              </a:rPr>
              <a:t>Kelompok</a:t>
            </a:r>
            <a:r>
              <a:rPr lang="en-GB" sz="2800" b="1" u="sng" dirty="0">
                <a:latin typeface="Century Gothic" panose="020B0502020202020204" pitchFamily="34" charset="0"/>
              </a:rPr>
              <a:t> 6</a:t>
            </a:r>
            <a:endParaRPr lang="id-ID" sz="2800" b="1" u="sng" dirty="0">
              <a:latin typeface="Century Gothic" panose="020B0502020202020204" pitchFamily="34" charset="0"/>
            </a:endParaRPr>
          </a:p>
          <a:p>
            <a:endParaRPr lang="en-US" sz="2800" b="1" dirty="0">
              <a:latin typeface="Century Gothic" panose="020B0502020202020204" pitchFamily="34" charset="0"/>
            </a:endParaRPr>
          </a:p>
          <a:p>
            <a:r>
              <a:rPr lang="en-US" sz="2800" b="1" dirty="0">
                <a:latin typeface="Century Gothic" panose="020B0502020202020204" pitchFamily="34" charset="0"/>
              </a:rPr>
              <a:t>NB: </a:t>
            </a:r>
            <a:r>
              <a:rPr lang="en-US" sz="2800" b="1" dirty="0" err="1">
                <a:latin typeface="Century Gothic" panose="020B0502020202020204" pitchFamily="34" charset="0"/>
              </a:rPr>
              <a:t>Ketentuan</a:t>
            </a:r>
            <a:r>
              <a:rPr lang="en-US" sz="2800" b="1" dirty="0">
                <a:latin typeface="Century Gothic" panose="020B0502020202020204" pitchFamily="34" charset="0"/>
              </a:rPr>
              <a:t> Format </a:t>
            </a:r>
            <a:r>
              <a:rPr lang="en-US" sz="2800" b="1" u="sng" dirty="0">
                <a:latin typeface="Century Gothic" panose="020B0502020202020204" pitchFamily="34" charset="0"/>
              </a:rPr>
              <a:t>www.statistikapspk.wordpress.com</a:t>
            </a:r>
            <a:endParaRPr lang="id-ID" sz="2800" b="1" u="sng" dirty="0"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AD86F-E8AD-4FCB-9CEA-942B364FF991}"/>
              </a:ext>
            </a:extLst>
          </p:cNvPr>
          <p:cNvSpPr/>
          <p:nvPr/>
        </p:nvSpPr>
        <p:spPr>
          <a:xfrm>
            <a:off x="1119238" y="751599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KELOMPOK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69EE3-2350-42C5-9FF2-2DDE11E21373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D:\4.jpg">
            <a:extLst>
              <a:ext uri="{FF2B5EF4-FFF2-40B4-BE49-F238E27FC236}">
                <a16:creationId xmlns:a16="http://schemas.microsoft.com/office/drawing/2014/main" id="{B7C0551F-16B7-4EE6-A785-79144DF3B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31582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3321" y="1397396"/>
            <a:ext cx="10321670" cy="52536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Dikumpulkan paling lambat minggu depan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(FIX) 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(</a:t>
            </a:r>
            <a:r>
              <a:rPr lang="en-US" sz="2000" b="1" u="sng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Kamis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, 3 </a:t>
            </a:r>
            <a:r>
              <a:rPr lang="en-US" sz="2000" b="1" u="sng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Oktober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 2019 </a:t>
            </a:r>
            <a:r>
              <a:rPr lang="en-US" sz="2000" b="1" u="sng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pukul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 18.00) </a:t>
            </a:r>
            <a:r>
              <a:rPr lang="en-US" sz="2000" b="1" u="sng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prodi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 PSP  &amp; (</a:t>
            </a:r>
            <a:r>
              <a:rPr lang="en-US" sz="2000" b="1" u="sng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Kamis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, 17 </a:t>
            </a:r>
            <a:r>
              <a:rPr lang="en-US" sz="2000" b="1" u="sng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Oktober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 2019 </a:t>
            </a:r>
            <a:r>
              <a:rPr lang="en-US" sz="2000" b="1" u="sng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pukul</a:t>
            </a:r>
            <a:r>
              <a:rPr lang="en-US" sz="2000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 18.00)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prodi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IK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dalam bentuk soft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file kirim ke email:</a:t>
            </a:r>
            <a:endParaRPr lang="en-US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id-ID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padmaparamita@student.ub.ac.id	- (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1,2,3)</a:t>
            </a:r>
          </a:p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Hasnanumut_@student.ub.ac.id 	- (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4,5,6)</a:t>
            </a:r>
          </a:p>
          <a:p>
            <a:endParaRPr lang="en-US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Format 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pengiriman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subjek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dan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nama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file =</a:t>
            </a:r>
            <a:endParaRPr lang="id-ID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id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</a:p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</a:t>
            </a:r>
            <a:r>
              <a:rPr lang="id-ID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raktikum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2/3</a:t>
            </a:r>
            <a:r>
              <a:rPr lang="id-ID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_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K</a:t>
            </a:r>
            <a:r>
              <a:rPr lang="id-ID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elas_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K</a:t>
            </a:r>
            <a:r>
              <a:rPr lang="id-ID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elompok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Laporan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)</a:t>
            </a:r>
          </a:p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Praktikum2/3_Nama_NIM (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Tugas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Individu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) 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CO KELOMPOK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masing-masing</a:t>
            </a:r>
            <a:endParaRPr lang="id-ID" sz="2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id-ID" sz="2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endParaRPr lang="en-US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NB: -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Pembagian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asisten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sesuai</a:t>
            </a:r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kelompok</a:t>
            </a:r>
            <a:endParaRPr lang="en-US" sz="2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	 -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Asistensi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pertama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dilakukan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paling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lambat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hari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Senin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29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Okt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(PSP),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Senin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13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Okt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(IK)</a:t>
            </a:r>
          </a:p>
          <a:p>
            <a:endParaRPr lang="id-ID" sz="2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163003" y="206958"/>
            <a:ext cx="6633029" cy="13737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20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KETENTUAN TUGAS</a:t>
            </a:r>
            <a:r>
              <a:rPr lang="en-GB" b="1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GB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INDiVIDU</a:t>
            </a:r>
            <a:endParaRPr lang="id-ID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11F166-07C9-4EED-A37A-570B09AC4836}"/>
              </a:ext>
            </a:extLst>
          </p:cNvPr>
          <p:cNvSpPr/>
          <p:nvPr/>
        </p:nvSpPr>
        <p:spPr>
          <a:xfrm>
            <a:off x="163003" y="119270"/>
            <a:ext cx="11865994" cy="657307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D:\4.jpg">
            <a:extLst>
              <a:ext uri="{FF2B5EF4-FFF2-40B4-BE49-F238E27FC236}">
                <a16:creationId xmlns:a16="http://schemas.microsoft.com/office/drawing/2014/main" id="{241794BB-BCFF-42FA-859D-C081776C0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93390" y="204505"/>
            <a:ext cx="1369671" cy="13696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49190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419943"/>
            <a:ext cx="12192000" cy="11176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400" b="1" dirty="0">
                <a:latin typeface="Century Gothic" panose="020B0502020202020204" pitchFamily="34" charset="0"/>
              </a:rPr>
              <a:t>TERIMA KASIH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248" y="0"/>
            <a:ext cx="4299503" cy="42893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498467-75CC-4FCB-AF20-DA7B2EA3F388}"/>
              </a:ext>
            </a:extLst>
          </p:cNvPr>
          <p:cNvSpPr/>
          <p:nvPr/>
        </p:nvSpPr>
        <p:spPr>
          <a:xfrm>
            <a:off x="7675808" y="6233375"/>
            <a:ext cx="4516192" cy="62462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i="1" dirty="0">
                <a:latin typeface="Bookman Old Style" panose="02050604050505020204" pitchFamily="18" charset="0"/>
              </a:rPr>
              <a:t>Statistics Don’t Lie</a:t>
            </a:r>
            <a:endParaRPr lang="id-ID" sz="2000" b="1" i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188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1147</TotalTime>
  <Words>656</Words>
  <Application>Microsoft Office PowerPoint</Application>
  <PresentationFormat>Widescreen</PresentationFormat>
  <Paragraphs>92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Bookman Old Style</vt:lpstr>
      <vt:lpstr>Calibri</vt:lpstr>
      <vt:lpstr>Century Gothic</vt:lpstr>
      <vt:lpstr>Courier New</vt:lpstr>
      <vt:lpstr>Rockwell</vt:lpstr>
      <vt:lpstr>Rockwell Condensed</vt:lpstr>
      <vt:lpstr>Wingdings</vt:lpstr>
      <vt:lpstr>Wingdings 3</vt:lpstr>
      <vt:lpstr>Wood Type</vt:lpstr>
      <vt:lpstr>Statistika Uji hipotesis 1 Populasi &amp; 2 Populasi</vt:lpstr>
      <vt:lpstr>Tujuan praktikum</vt:lpstr>
      <vt:lpstr>UJI HIPOTESIS</vt:lpstr>
      <vt:lpstr>PowerPoint Presentation</vt:lpstr>
      <vt:lpstr>PowerPoint Presentation</vt:lpstr>
      <vt:lpstr>UJI HIPOTESIS</vt:lpstr>
      <vt:lpstr>Uji Hipotesis 1 Populasi</vt:lpstr>
      <vt:lpstr>LANGKAH DALAM PENGAMBILAN KEPUTUSAN PADA UJI HIPOTESIS 1 DAN 2 POPULASI</vt:lpstr>
      <vt:lpstr>Uji Hipotesis 2 Populasi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Peres Sar Arin</dc:creator>
  <cp:lastModifiedBy>Padma Paramita</cp:lastModifiedBy>
  <cp:revision>103</cp:revision>
  <dcterms:created xsi:type="dcterms:W3CDTF">2016-10-12T09:35:52Z</dcterms:created>
  <dcterms:modified xsi:type="dcterms:W3CDTF">2019-09-25T10:30:36Z</dcterms:modified>
</cp:coreProperties>
</file>