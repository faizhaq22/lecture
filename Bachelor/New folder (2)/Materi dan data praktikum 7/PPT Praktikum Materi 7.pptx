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0" r:id="rId1"/>
  </p:sldMasterIdLst>
  <p:notesMasterIdLst>
    <p:notesMasterId r:id="rId14"/>
  </p:notesMasterIdLst>
  <p:sldIdLst>
    <p:sldId id="256" r:id="rId2"/>
    <p:sldId id="257" r:id="rId3"/>
    <p:sldId id="274" r:id="rId4"/>
    <p:sldId id="269" r:id="rId5"/>
    <p:sldId id="268" r:id="rId6"/>
    <p:sldId id="270" r:id="rId7"/>
    <p:sldId id="258" r:id="rId8"/>
    <p:sldId id="265" r:id="rId9"/>
    <p:sldId id="271" r:id="rId10"/>
    <p:sldId id="273" r:id="rId11"/>
    <p:sldId id="27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8331" autoAdjust="0"/>
  </p:normalViewPr>
  <p:slideViewPr>
    <p:cSldViewPr snapToGrid="0">
      <p:cViewPr varScale="1">
        <p:scale>
          <a:sx n="65" d="100"/>
          <a:sy n="65" d="100"/>
        </p:scale>
        <p:origin x="93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C31B2-123B-4633-9DD2-13A6E70664BA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E60AB-DE0E-40E8-A505-DA084EDAA5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2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E60AB-DE0E-40E8-A505-DA084EDAA50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7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E60AB-DE0E-40E8-A505-DA084EDAA50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err="1"/>
              <a:t>Regresi</a:t>
            </a:r>
            <a:r>
              <a:rPr lang="en-US" baseline="0" dirty="0"/>
              <a:t> : Ada </a:t>
            </a:r>
            <a:r>
              <a:rPr lang="en-US" baseline="0" dirty="0" err="1"/>
              <a:t>atau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pengaruh</a:t>
            </a:r>
            <a:r>
              <a:rPr lang="en-US" baseline="0" dirty="0"/>
              <a:t> X </a:t>
            </a:r>
            <a:r>
              <a:rPr lang="en-US" baseline="0" dirty="0" err="1"/>
              <a:t>terhadap</a:t>
            </a:r>
            <a:r>
              <a:rPr lang="en-US" baseline="0" dirty="0"/>
              <a:t> Y</a:t>
            </a:r>
          </a:p>
          <a:p>
            <a:r>
              <a:rPr lang="en-US" baseline="0" dirty="0" err="1"/>
              <a:t>Korelasi</a:t>
            </a:r>
            <a:r>
              <a:rPr lang="en-US" baseline="0" dirty="0"/>
              <a:t> : </a:t>
            </a:r>
            <a:r>
              <a:rPr lang="en-US" baseline="0" dirty="0" err="1"/>
              <a:t>Seberapa</a:t>
            </a:r>
            <a:r>
              <a:rPr lang="en-US" baseline="0" dirty="0"/>
              <a:t> </a:t>
            </a:r>
            <a:r>
              <a:rPr lang="en-US" baseline="0" dirty="0" err="1"/>
              <a:t>erat</a:t>
            </a:r>
            <a:r>
              <a:rPr lang="en-US" baseline="0" dirty="0"/>
              <a:t> </a:t>
            </a:r>
            <a:r>
              <a:rPr lang="en-US" baseline="0" dirty="0" err="1"/>
              <a:t>hubungan</a:t>
            </a:r>
            <a:endParaRPr lang="en-GB" dirty="0"/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E60AB-DE0E-40E8-A505-DA084EDAA50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6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E60AB-DE0E-40E8-A505-DA084EDAA50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2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Kausal</a:t>
            </a:r>
            <a:r>
              <a:rPr lang="en-US" baseline="0" dirty="0"/>
              <a:t>  </a:t>
            </a:r>
            <a:r>
              <a:rPr lang="en-US" baseline="0" dirty="0" err="1"/>
              <a:t>adalah</a:t>
            </a:r>
            <a:r>
              <a:rPr lang="en-US" baseline="0" dirty="0"/>
              <a:t> </a:t>
            </a:r>
            <a:r>
              <a:rPr lang="en-US" baseline="0" dirty="0" err="1"/>
              <a:t>hubungan</a:t>
            </a:r>
            <a:r>
              <a:rPr lang="en-US" baseline="0" dirty="0"/>
              <a:t> yang </a:t>
            </a:r>
            <a:r>
              <a:rPr lang="en-US" baseline="0" dirty="0" err="1"/>
              <a:t>bersebab</a:t>
            </a:r>
            <a:r>
              <a:rPr lang="en-US" baseline="0" dirty="0"/>
              <a:t> </a:t>
            </a:r>
            <a:r>
              <a:rPr lang="en-US" baseline="0" dirty="0" err="1"/>
              <a:t>akibat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 err="1"/>
              <a:t>Regresi</a:t>
            </a:r>
            <a:r>
              <a:rPr lang="en-US" baseline="0" dirty="0"/>
              <a:t> : Ada </a:t>
            </a:r>
            <a:r>
              <a:rPr lang="en-US" baseline="0" dirty="0" err="1"/>
              <a:t>atau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pengaruh</a:t>
            </a:r>
            <a:r>
              <a:rPr lang="en-US" baseline="0" dirty="0"/>
              <a:t> X </a:t>
            </a:r>
            <a:r>
              <a:rPr lang="en-US" baseline="0" dirty="0" err="1"/>
              <a:t>terhadap</a:t>
            </a:r>
            <a:r>
              <a:rPr lang="en-US" baseline="0" dirty="0"/>
              <a:t> Y</a:t>
            </a:r>
          </a:p>
          <a:p>
            <a:r>
              <a:rPr lang="en-US" baseline="0" dirty="0" err="1"/>
              <a:t>Korelasi</a:t>
            </a:r>
            <a:r>
              <a:rPr lang="en-US" baseline="0" dirty="0"/>
              <a:t> : </a:t>
            </a:r>
            <a:r>
              <a:rPr lang="en-US" baseline="0" dirty="0" err="1"/>
              <a:t>Seberapa</a:t>
            </a:r>
            <a:r>
              <a:rPr lang="en-US" baseline="0" dirty="0"/>
              <a:t> </a:t>
            </a:r>
            <a:r>
              <a:rPr lang="en-US" baseline="0" dirty="0" err="1"/>
              <a:t>erat</a:t>
            </a:r>
            <a:r>
              <a:rPr lang="en-US" baseline="0" dirty="0"/>
              <a:t> </a:t>
            </a:r>
            <a:r>
              <a:rPr lang="en-US" baseline="0" dirty="0" err="1"/>
              <a:t>hubungan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E60AB-DE0E-40E8-A505-DA084EDAA50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0" y="-30477"/>
            <a:ext cx="12090400" cy="6889273"/>
            <a:chOff x="0" y="-30477"/>
            <a:chExt cx="9067800" cy="6889273"/>
          </a:xfrm>
        </p:grpSpPr>
        <p:cxnSp>
          <p:nvCxnSpPr>
            <p:cNvPr id="110" name="Straight Connector 109"/>
            <p:cNvCxnSpPr/>
            <p:nvPr/>
          </p:nvCxnSpPr>
          <p:spPr>
            <a:xfrm rot="16200000" flipH="1">
              <a:off x="-1447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rot="16200000" flipH="1">
              <a:off x="-1638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rot="5400000">
              <a:off x="-1485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-32385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 flipH="1">
              <a:off x="-33147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rot="16200000" flipH="1">
              <a:off x="-1371600" y="2971800"/>
              <a:ext cx="6858000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16200000" flipH="1">
              <a:off x="-2819400" y="3200400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-2705099" y="3238500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16200000" flipH="1">
              <a:off x="-21336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16200000" flipH="1">
              <a:off x="-31242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16200000" flipH="1">
              <a:off x="-1828799" y="3352799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16200000" flipH="1">
              <a:off x="-28194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-2438400" y="3124200"/>
              <a:ext cx="6858000" cy="609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>
              <a:off x="-173164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-1142048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>
              <a:off x="-9144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-185547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rot="16200000" flipH="1">
              <a:off x="-26431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rot="16200000" flipH="1">
              <a:off x="-1954530" y="3326130"/>
              <a:ext cx="6858000" cy="20574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16200000" flipH="1">
              <a:off x="-2362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-21336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1066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rot="16200000" flipH="1">
              <a:off x="876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rot="5400000">
              <a:off x="1028700" y="3238500"/>
              <a:ext cx="6858000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-7239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16200000" flipH="1">
              <a:off x="-8001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 rot="5400000">
              <a:off x="-152400" y="3429000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 rot="16200000" flipH="1">
              <a:off x="-304800" y="3200400"/>
              <a:ext cx="6858000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 rot="5400000">
              <a:off x="-190499" y="3238500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rot="16200000" flipH="1">
              <a:off x="3810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rot="16200000" flipH="1">
              <a:off x="-6096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rot="16200000" flipH="1">
              <a:off x="685801" y="3352799"/>
              <a:ext cx="6858000" cy="152401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rot="16200000" flipH="1">
              <a:off x="-304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rot="5400000">
              <a:off x="-10287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rot="5400000">
              <a:off x="78295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 rot="5400000">
              <a:off x="1372552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rot="5400000">
              <a:off x="1600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 rot="5400000">
              <a:off x="65913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16200000" flipH="1">
              <a:off x="-1285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H="1">
              <a:off x="560070" y="3326130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16200000" flipH="1">
              <a:off x="1524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H="1">
              <a:off x="3810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rot="16200000" flipH="1">
              <a:off x="2743200" y="3352801"/>
              <a:ext cx="6858000" cy="1524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rot="16200000" flipH="1">
              <a:off x="2095501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2705100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 rot="5400000">
              <a:off x="1828801" y="3276600"/>
              <a:ext cx="6857999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 rot="16200000" flipH="1">
              <a:off x="1066800" y="3200402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 rot="16200000" flipH="1">
              <a:off x="2362201" y="3352800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5400000">
              <a:off x="2646045" y="2722246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>
              <a:off x="3048952" y="3277553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5400000">
              <a:off x="2895600" y="3276601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>
            <a:xfrm rot="5400000">
              <a:off x="2388870" y="3227071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rot="16200000" flipH="1">
              <a:off x="22364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H="1">
              <a:off x="17526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16200000" flipH="1">
              <a:off x="19812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3467100" y="3314701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 rot="16200000" flipH="1">
              <a:off x="3467099" y="3314701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rot="5400000">
              <a:off x="4038600" y="3429001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rot="16200000" flipH="1">
              <a:off x="3886200" y="3200401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rot="5400000">
              <a:off x="4000501" y="3238501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16200000" flipH="1">
              <a:off x="4572000" y="3200401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16200000" flipH="1">
              <a:off x="3733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rot="5400000">
              <a:off x="36195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rot="16200000" flipH="1">
              <a:off x="4214813" y="3252788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>
            <a:xfrm rot="16200000" flipH="1">
              <a:off x="47510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 rot="16200000" flipH="1">
              <a:off x="43434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rot="16200000" flipH="1">
              <a:off x="4572000" y="3352801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16200000" flipH="1">
              <a:off x="5257800" y="3352802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16200000" flipH="1">
              <a:off x="5067300" y="3238502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>
            <a:xfrm rot="5400000">
              <a:off x="5219700" y="3238502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rot="16200000" flipH="1">
              <a:off x="4876801" y="3352801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 rot="5400000">
              <a:off x="5527994" y="3318196"/>
              <a:ext cx="6888479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4850130" y="3227072"/>
              <a:ext cx="6858000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16200000" flipH="1">
              <a:off x="4751070" y="3326132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>
            <a:xfrm rot="5400000">
              <a:off x="5562599" y="3429001"/>
              <a:ext cx="685800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rot="5400000">
              <a:off x="2552700" y="3390900"/>
              <a:ext cx="6858000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/>
          </p:nvCxnSpPr>
          <p:spPr>
            <a:xfrm rot="16200000" flipH="1">
              <a:off x="3048000" y="3352800"/>
              <a:ext cx="6858000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rot="16200000" flipH="1">
              <a:off x="3238500" y="3238500"/>
              <a:ext cx="6858000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 rot="5400000">
              <a:off x="2133600" y="3276600"/>
              <a:ext cx="6858000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rot="16200000" flipH="1">
              <a:off x="3148013" y="3252789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rot="5400000">
              <a:off x="3771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 rot="5400000">
              <a:off x="4229100" y="2933700"/>
              <a:ext cx="6858000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/>
          </p:nvCxnSpPr>
          <p:spPr>
            <a:xfrm rot="16200000" flipH="1">
              <a:off x="1371600" y="3200403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0" y="1905000"/>
            <a:ext cx="66040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0" y="2057400"/>
            <a:ext cx="6401859" cy="2820988"/>
            <a:chOff x="0" y="2057400"/>
            <a:chExt cx="4801394" cy="2820988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0" y="20574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48768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>
              <a:off x="3391694" y="3467100"/>
              <a:ext cx="2818606" cy="79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5892800" cy="1600327"/>
          </a:xfrm>
        </p:spPr>
        <p:txBody>
          <a:bodyPr anchor="b">
            <a:normAutofit/>
          </a:bodyPr>
          <a:lstStyle>
            <a:lvl1pPr algn="l">
              <a:defRPr sz="3600" b="1" cap="none" spc="40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733800"/>
            <a:ext cx="5892800" cy="106680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2"/>
          <p:cNvGrpSpPr/>
          <p:nvPr/>
        </p:nvGrpSpPr>
        <p:grpSpPr>
          <a:xfrm>
            <a:off x="2" y="-30478"/>
            <a:ext cx="12090399" cy="4846320"/>
            <a:chOff x="1" y="-30477"/>
            <a:chExt cx="9067799" cy="4526277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-2716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-4621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-3097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-206236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H="1">
              <a:off x="-213856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-195465" y="1785212"/>
              <a:ext cx="4505731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-164326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-1528964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-95746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-194806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-652664" y="2166211"/>
              <a:ext cx="4505731" cy="152401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-16432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-1790700" y="2019300"/>
              <a:ext cx="4495800" cy="4572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-55551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40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6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-67933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-1467052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-77839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-11860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-9574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22429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20524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2204835" y="2051912"/>
              <a:ext cx="4505731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2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37603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1023735" y="2242139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871335" y="2013812"/>
              <a:ext cx="4505731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985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55713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65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1861936" y="2166211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8713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1474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195909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25486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7763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83526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1047548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1736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1328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1557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39193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3271636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8812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004936" y="2090012"/>
              <a:ext cx="4505730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429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35383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82218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4225087" y="2090965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407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356500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34126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29287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3081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643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4643234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5214735" y="2242140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6200000" flipH="1">
              <a:off x="506233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5176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6200000" flipH="1">
              <a:off x="57481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 flipH="1">
              <a:off x="49099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47956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53909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5927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16200000" flipH="1">
              <a:off x="5519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6200000" flipH="1">
              <a:off x="5748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6200000" flipH="1">
              <a:off x="6433935" y="2166213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6200000" flipH="1">
              <a:off x="62434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63958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60529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6709356" y="2136834"/>
              <a:ext cx="4525755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6026265" y="2040483"/>
              <a:ext cx="4505731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5927205" y="2139543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6738734" y="2242140"/>
              <a:ext cx="450573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728835" y="2204312"/>
              <a:ext cx="4505731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4224135" y="2166212"/>
              <a:ext cx="4505731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16200000" flipH="1">
              <a:off x="4414635" y="2051912"/>
              <a:ext cx="4505731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3309735" y="2090012"/>
              <a:ext cx="4505731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43241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49480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5405235" y="1747112"/>
              <a:ext cx="4505731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2547735" y="2013814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/>
          <p:cNvSpPr/>
          <p:nvPr/>
        </p:nvSpPr>
        <p:spPr>
          <a:xfrm>
            <a:off x="0" y="4311168"/>
            <a:ext cx="12192000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0" y="4387368"/>
            <a:ext cx="12192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0" y="6138380"/>
            <a:ext cx="12192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621365"/>
            <a:ext cx="11074400" cy="414649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609600" y="4463568"/>
            <a:ext cx="11074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91" name="Footer Placeholder 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273051"/>
            <a:ext cx="7315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0" y="1563624"/>
            <a:ext cx="3681984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2007129" y="3221207"/>
            <a:ext cx="3017520" cy="105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1712976"/>
            <a:ext cx="353568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4733544"/>
            <a:ext cx="353568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901952"/>
            <a:ext cx="3169920" cy="1371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lang="en-US" sz="2600" b="1" kern="1200" cap="none" spc="20" baseline="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" y="3273552"/>
            <a:ext cx="316992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67200" y="381000"/>
            <a:ext cx="7416800" cy="563880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0" y="1563624"/>
            <a:ext cx="3681984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2007129" y="3221207"/>
            <a:ext cx="3017520" cy="105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0" y="1712976"/>
            <a:ext cx="353568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0" y="4733544"/>
            <a:ext cx="353568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264" y="1905000"/>
            <a:ext cx="3169920" cy="1371600"/>
          </a:xfrm>
        </p:spPr>
        <p:txBody>
          <a:bodyPr anchor="b">
            <a:normAutofit/>
          </a:bodyPr>
          <a:lstStyle>
            <a:lvl1pPr algn="l">
              <a:defRPr sz="2600" b="1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" y="3276600"/>
            <a:ext cx="316992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/>
          <p:cNvSpPr/>
          <p:nvPr/>
        </p:nvSpPr>
        <p:spPr>
          <a:xfrm>
            <a:off x="199136" y="137160"/>
            <a:ext cx="11826240" cy="6583680"/>
          </a:xfrm>
          <a:prstGeom prst="rect">
            <a:avLst/>
          </a:prstGeom>
          <a:noFill/>
          <a:ln w="1905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1240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B1B27BF-C2C2-4DAA-829D-4BB818F0C9B7}" type="datetimeFigureOut">
              <a:rPr lang="en-US" smtClean="0"/>
              <a:pPr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74831" y="6312409"/>
            <a:ext cx="4642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1240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11203733-1E18-457A-82F6-331B45A24C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txStyles>
    <p:titleStyle>
      <a:lvl1pPr algn="l" defTabSz="914400" rtl="0" eaLnBrk="1" latinLnBrk="0" hangingPunct="1">
        <a:spcBef>
          <a:spcPct val="0"/>
        </a:spcBef>
        <a:buNone/>
        <a:tabLst>
          <a:tab pos="3830638" algn="l"/>
        </a:tabLst>
        <a:defRPr sz="3600" b="1" kern="1200" cap="none" spc="50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chemeClr val="accent6">
              <a:tint val="1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8872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5892800" cy="1600327"/>
          </a:xfrm>
        </p:spPr>
        <p:txBody>
          <a:bodyPr anchor="ctr">
            <a:noAutofit/>
          </a:bodyPr>
          <a:lstStyle/>
          <a:p>
            <a:r>
              <a:rPr lang="en-US" sz="5400" dirty="0"/>
              <a:t>REGRESI KORELASI</a:t>
            </a: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733800"/>
            <a:ext cx="5892800" cy="1066800"/>
          </a:xfrm>
        </p:spPr>
        <p:txBody>
          <a:bodyPr/>
          <a:lstStyle/>
          <a:p>
            <a:r>
              <a:rPr lang="en-US" b="1" dirty="0"/>
              <a:t>TIM ASISTEN STATISTIKA 2019</a:t>
            </a:r>
          </a:p>
        </p:txBody>
      </p:sp>
      <p:pic>
        <p:nvPicPr>
          <p:cNvPr id="5" name="Picture 2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30971" y="174171"/>
            <a:ext cx="1828800" cy="1828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709293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0219"/>
            <a:ext cx="3494567" cy="1137419"/>
          </a:xfr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6000" b="1" dirty="0"/>
              <a:t>TUJUAN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pPr marL="742950" indent="-742950" algn="just">
              <a:buAutoNum type="arabicPeriod"/>
            </a:pPr>
            <a:r>
              <a:rPr lang="en-US" sz="4000" dirty="0" err="1">
                <a:solidFill>
                  <a:schemeClr val="tx1"/>
                </a:solidFill>
              </a:rPr>
              <a:t>Mampu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mengetahui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cara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pengolahan</a:t>
            </a:r>
            <a:r>
              <a:rPr lang="en-US" sz="4000" dirty="0">
                <a:solidFill>
                  <a:schemeClr val="tx1"/>
                </a:solidFill>
              </a:rPr>
              <a:t> data </a:t>
            </a:r>
            <a:r>
              <a:rPr lang="en-US" sz="4000" dirty="0" err="1">
                <a:solidFill>
                  <a:schemeClr val="tx1"/>
                </a:solidFill>
              </a:rPr>
              <a:t>dengan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analisis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regresi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korelasi</a:t>
            </a:r>
            <a:endParaRPr lang="en-US" sz="4000" dirty="0">
              <a:solidFill>
                <a:schemeClr val="tx1"/>
              </a:solidFill>
            </a:endParaRPr>
          </a:p>
          <a:p>
            <a:pPr marL="742950" indent="-742950" defTabSz="395288">
              <a:buAutoNum type="arabicPeriod" startAt="2"/>
            </a:pPr>
            <a:r>
              <a:rPr lang="en-US" sz="4000" dirty="0" err="1">
                <a:solidFill>
                  <a:schemeClr val="tx1"/>
                </a:solidFill>
              </a:rPr>
              <a:t>Mampu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menginterpretasikan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hasil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pengolahan</a:t>
            </a:r>
            <a:r>
              <a:rPr lang="en-US" sz="4000" dirty="0">
                <a:solidFill>
                  <a:schemeClr val="tx1"/>
                </a:solidFill>
              </a:rPr>
              <a:t> data </a:t>
            </a:r>
            <a:r>
              <a:rPr lang="en-US" sz="4000" dirty="0" err="1">
                <a:solidFill>
                  <a:schemeClr val="tx1"/>
                </a:solidFill>
              </a:rPr>
              <a:t>dengan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analisis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regresi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korelasi</a:t>
            </a:r>
            <a:endParaRPr lang="en-US" sz="4000" dirty="0">
              <a:solidFill>
                <a:schemeClr val="tx1"/>
              </a:solidFill>
            </a:endParaRPr>
          </a:p>
          <a:p>
            <a:pPr marL="742950" indent="-742950" defTabSz="395288">
              <a:buFont typeface="Arial" pitchFamily="34" charset="0"/>
              <a:buAutoNum type="arabicPeriod" startAt="2"/>
            </a:pPr>
            <a:r>
              <a:rPr lang="en-US" sz="4000" dirty="0" err="1">
                <a:solidFill>
                  <a:schemeClr val="tx1"/>
                </a:solidFill>
              </a:rPr>
              <a:t>Mampu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mengambil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keputusan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berdasarkan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kaidah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pengambilan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keputusan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4" name="Picture 2" descr="D: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8475" y="170260"/>
            <a:ext cx="1351756" cy="1351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5260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70260"/>
            <a:ext cx="5195777" cy="1143000"/>
          </a:xfrm>
          <a:solidFill>
            <a:schemeClr val="bg2">
              <a:lumMod val="50000"/>
              <a:lumOff val="5000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sz="5400" dirty="0"/>
              <a:t>PRINSIP DASAR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4159" y="1522016"/>
            <a:ext cx="4923218" cy="985210"/>
          </a:xfrm>
          <a:solidFill>
            <a:schemeClr val="bg2">
              <a:lumMod val="75000"/>
              <a:lumOff val="25000"/>
            </a:schemeClr>
          </a:solidFill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US" sz="3000" i="1" dirty="0">
                <a:solidFill>
                  <a:schemeClr val="tx1"/>
                </a:solidFill>
              </a:rPr>
              <a:t>“</a:t>
            </a:r>
            <a:r>
              <a:rPr lang="en-US" sz="3000" i="1" dirty="0" err="1">
                <a:solidFill>
                  <a:schemeClr val="tx1"/>
                </a:solidFill>
              </a:rPr>
              <a:t>Peramalan</a:t>
            </a:r>
            <a:r>
              <a:rPr lang="en-US" sz="3000" i="1" dirty="0">
                <a:solidFill>
                  <a:schemeClr val="tx1"/>
                </a:solidFill>
              </a:rPr>
              <a:t>” </a:t>
            </a:r>
            <a:r>
              <a:rPr lang="en-US" sz="3000" dirty="0" err="1">
                <a:solidFill>
                  <a:schemeClr val="tx1"/>
                </a:solidFill>
              </a:rPr>
              <a:t>atau</a:t>
            </a: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US" sz="3000" i="1" dirty="0">
                <a:solidFill>
                  <a:schemeClr val="tx1"/>
                </a:solidFill>
              </a:rPr>
              <a:t>“</a:t>
            </a:r>
            <a:r>
              <a:rPr lang="en-US" sz="3000" i="1" dirty="0" err="1">
                <a:solidFill>
                  <a:schemeClr val="tx1"/>
                </a:solidFill>
              </a:rPr>
              <a:t>Pendugaan</a:t>
            </a:r>
            <a:r>
              <a:rPr lang="en-US" sz="3000" i="1" dirty="0">
                <a:solidFill>
                  <a:schemeClr val="tx1"/>
                </a:solidFill>
              </a:rPr>
              <a:t>”</a:t>
            </a:r>
          </a:p>
        </p:txBody>
      </p:sp>
      <p:pic>
        <p:nvPicPr>
          <p:cNvPr id="5" name="Picture 2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58475" y="170260"/>
            <a:ext cx="1351756" cy="1351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B0E776-DCFC-4123-8E35-4B73BFEEF846}"/>
              </a:ext>
            </a:extLst>
          </p:cNvPr>
          <p:cNvSpPr txBox="1"/>
          <p:nvPr/>
        </p:nvSpPr>
        <p:spPr>
          <a:xfrm>
            <a:off x="2316480" y="2715982"/>
            <a:ext cx="8060897" cy="206210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variabel</a:t>
            </a:r>
            <a:r>
              <a:rPr lang="en-US" sz="3200" dirty="0"/>
              <a:t> </a:t>
            </a:r>
            <a:r>
              <a:rPr lang="en-US" sz="3200" dirty="0" err="1"/>
              <a:t>bebas</a:t>
            </a:r>
            <a:r>
              <a:rPr lang="en-US" sz="3200" dirty="0"/>
              <a:t>/</a:t>
            </a:r>
            <a:r>
              <a:rPr lang="en-US" sz="3200" dirty="0" err="1"/>
              <a:t>independen</a:t>
            </a:r>
            <a:r>
              <a:rPr lang="en-US" sz="3200" dirty="0"/>
              <a:t> (X) </a:t>
            </a:r>
            <a:r>
              <a:rPr lang="en-US" sz="3200" dirty="0" err="1"/>
              <a:t>digunakan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menduga</a:t>
            </a:r>
            <a:r>
              <a:rPr lang="en-US" sz="3200" dirty="0"/>
              <a:t> </a:t>
            </a:r>
            <a:r>
              <a:rPr lang="en-US" sz="3200" dirty="0" err="1"/>
              <a:t>nilai</a:t>
            </a:r>
            <a:r>
              <a:rPr lang="en-US" sz="3200" dirty="0"/>
              <a:t> </a:t>
            </a:r>
            <a:r>
              <a:rPr lang="en-US" sz="3200" dirty="0" err="1"/>
              <a:t>variabel</a:t>
            </a:r>
            <a:r>
              <a:rPr lang="en-US" sz="3200" dirty="0"/>
              <a:t> </a:t>
            </a:r>
            <a:r>
              <a:rPr lang="en-US" sz="3200" dirty="0" err="1"/>
              <a:t>tak</a:t>
            </a:r>
            <a:r>
              <a:rPr lang="en-US" sz="3200" dirty="0"/>
              <a:t> </a:t>
            </a:r>
            <a:r>
              <a:rPr lang="en-US" sz="3200" dirty="0" err="1"/>
              <a:t>bebas</a:t>
            </a:r>
            <a:r>
              <a:rPr lang="en-US" sz="3200" dirty="0"/>
              <a:t>/</a:t>
            </a:r>
            <a:r>
              <a:rPr lang="en-US" sz="3200" dirty="0" err="1"/>
              <a:t>dependen</a:t>
            </a:r>
            <a:r>
              <a:rPr lang="en-US" sz="3200" dirty="0"/>
              <a:t> (Y) </a:t>
            </a:r>
            <a:r>
              <a:rPr lang="en-US" sz="3200" dirty="0" err="1"/>
              <a:t>karena</a:t>
            </a:r>
            <a:r>
              <a:rPr lang="en-US" sz="3200" dirty="0"/>
              <a:t> </a:t>
            </a:r>
            <a:r>
              <a:rPr lang="en-US" sz="3200" dirty="0" err="1"/>
              <a:t>telah</a:t>
            </a:r>
            <a:r>
              <a:rPr lang="en-US" sz="3200" dirty="0"/>
              <a:t> </a:t>
            </a:r>
            <a:r>
              <a:rPr lang="en-US" sz="3200" dirty="0" err="1"/>
              <a:t>diketahui</a:t>
            </a:r>
            <a:r>
              <a:rPr lang="en-US" sz="3200" dirty="0"/>
              <a:t> </a:t>
            </a:r>
            <a:r>
              <a:rPr lang="en-US" sz="3200" dirty="0" err="1"/>
              <a:t>ada</a:t>
            </a:r>
            <a:r>
              <a:rPr lang="en-US" sz="3200" dirty="0"/>
              <a:t> </a:t>
            </a:r>
            <a:r>
              <a:rPr lang="en-US" sz="3200" dirty="0" err="1"/>
              <a:t>keterkaitan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hubungan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325453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70260"/>
            <a:ext cx="5195777" cy="1143000"/>
          </a:xfrm>
          <a:solidFill>
            <a:schemeClr val="bg2">
              <a:lumMod val="50000"/>
              <a:lumOff val="5000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sz="5400" dirty="0"/>
              <a:t>PRINSIP DASAR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630" y="1641937"/>
            <a:ext cx="8879174" cy="2867104"/>
          </a:xfrm>
          <a:solidFill>
            <a:schemeClr val="bg2">
              <a:lumMod val="75000"/>
              <a:lumOff val="25000"/>
            </a:schemeClr>
          </a:solidFill>
        </p:spPr>
        <p:txBody>
          <a:bodyPr anchor="ctr">
            <a:noAutofit/>
          </a:bodyPr>
          <a:lstStyle/>
          <a:p>
            <a:r>
              <a:rPr lang="en-US" sz="2800" i="1" dirty="0" err="1">
                <a:solidFill>
                  <a:schemeClr val="tx1"/>
                </a:solidFill>
              </a:rPr>
              <a:t>Contoh</a:t>
            </a:r>
            <a:r>
              <a:rPr lang="en-US" sz="2800" i="1" dirty="0">
                <a:solidFill>
                  <a:schemeClr val="tx1"/>
                </a:solidFill>
              </a:rPr>
              <a:t> : </a:t>
            </a:r>
          </a:p>
          <a:p>
            <a:pPr>
              <a:buFontTx/>
              <a:buChar char="-"/>
            </a:pPr>
            <a:r>
              <a:rPr lang="en-US" sz="2800" dirty="0" err="1">
                <a:solidFill>
                  <a:schemeClr val="tx1"/>
                </a:solidFill>
              </a:rPr>
              <a:t>Hubungan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nilai</a:t>
            </a:r>
            <a:r>
              <a:rPr lang="en-US" sz="2800" dirty="0">
                <a:solidFill>
                  <a:schemeClr val="tx1"/>
                </a:solidFill>
              </a:rPr>
              <a:t> UAS </a:t>
            </a:r>
            <a:r>
              <a:rPr lang="en-US" sz="2800" dirty="0" err="1">
                <a:solidFill>
                  <a:schemeClr val="tx1"/>
                </a:solidFill>
              </a:rPr>
              <a:t>dengan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waktu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belajar</a:t>
            </a:r>
            <a:endParaRPr lang="en-US" sz="2800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sz="2800" dirty="0" err="1">
                <a:solidFill>
                  <a:schemeClr val="tx1"/>
                </a:solidFill>
              </a:rPr>
              <a:t>Hubungan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hasil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tangkapan</a:t>
            </a:r>
            <a:r>
              <a:rPr lang="en-US" sz="2800" dirty="0">
                <a:solidFill>
                  <a:schemeClr val="tx1"/>
                </a:solidFill>
              </a:rPr>
              <a:t> per unit effort </a:t>
            </a:r>
            <a:r>
              <a:rPr lang="en-US" sz="2800" dirty="0" err="1">
                <a:solidFill>
                  <a:schemeClr val="tx1"/>
                </a:solidFill>
              </a:rPr>
              <a:t>dengan</a:t>
            </a:r>
            <a:r>
              <a:rPr lang="en-US" sz="2800" dirty="0">
                <a:solidFill>
                  <a:schemeClr val="tx1"/>
                </a:solidFill>
              </a:rPr>
              <a:t> effort</a:t>
            </a:r>
          </a:p>
          <a:p>
            <a:pPr>
              <a:buFontTx/>
              <a:buChar char="-"/>
            </a:pPr>
            <a:r>
              <a:rPr lang="en-US" sz="2800" dirty="0" err="1">
                <a:solidFill>
                  <a:schemeClr val="tx1"/>
                </a:solidFill>
              </a:rPr>
              <a:t>Hubungan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antara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panjang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berat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ikan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hasil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tangkapan</a:t>
            </a:r>
            <a:endParaRPr lang="en-US" sz="2800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sz="2800" dirty="0" err="1">
                <a:solidFill>
                  <a:schemeClr val="tx1"/>
                </a:solidFill>
              </a:rPr>
              <a:t>Menduga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kecerahan</a:t>
            </a:r>
            <a:r>
              <a:rPr lang="en-US" sz="2800" dirty="0">
                <a:solidFill>
                  <a:schemeClr val="tx1"/>
                </a:solidFill>
              </a:rPr>
              <a:t> air dan </a:t>
            </a:r>
            <a:r>
              <a:rPr lang="en-US" sz="2800" dirty="0" err="1">
                <a:solidFill>
                  <a:schemeClr val="tx1"/>
                </a:solidFill>
              </a:rPr>
              <a:t>kedalaman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5" name="Picture 2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58475" y="170260"/>
            <a:ext cx="1351756" cy="1351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235E51-8404-4A24-B2D6-F321B6404776}"/>
              </a:ext>
            </a:extLst>
          </p:cNvPr>
          <p:cNvSpPr txBox="1">
            <a:spLocks/>
          </p:cNvSpPr>
          <p:nvPr/>
        </p:nvSpPr>
        <p:spPr>
          <a:xfrm>
            <a:off x="564629" y="4837717"/>
            <a:ext cx="9326992" cy="1443161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err="1">
                <a:solidFill>
                  <a:schemeClr val="tx1"/>
                </a:solidFill>
              </a:rPr>
              <a:t>Keterkaitan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kedua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variabel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ini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adalah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prinsip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dasar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dari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persamaan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regresi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r>
              <a:rPr lang="en-US" sz="2600" dirty="0" err="1">
                <a:solidFill>
                  <a:schemeClr val="tx1"/>
                </a:solidFill>
              </a:rPr>
              <a:t>Keeratan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hubungan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itu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diistilahkan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sebagai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korelasi</a:t>
            </a:r>
            <a:r>
              <a:rPr lang="en-US" sz="26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946068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264" y="3297127"/>
            <a:ext cx="7767484" cy="1143000"/>
          </a:xfrm>
          <a:solidFill>
            <a:schemeClr val="bg2">
              <a:lumMod val="50000"/>
              <a:lumOff val="5000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CIRI UMUM REGRESI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64" y="4576757"/>
            <a:ext cx="10972800" cy="2057399"/>
          </a:xfrm>
          <a:solidFill>
            <a:schemeClr val="bg2">
              <a:lumMod val="75000"/>
              <a:lumOff val="25000"/>
            </a:schemeClr>
          </a:solidFill>
        </p:spPr>
        <p:txBody>
          <a:bodyPr>
            <a:normAutofit fontScale="92500"/>
          </a:bodyPr>
          <a:lstStyle/>
          <a:p>
            <a:pPr marL="0" lv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= </a:t>
            </a:r>
            <a:r>
              <a:rPr lang="en-GB" sz="2800" dirty="0" err="1">
                <a:solidFill>
                  <a:schemeClr val="tx1"/>
                </a:solidFill>
              </a:rPr>
              <a:t>Persamaan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matematik</a:t>
            </a:r>
            <a:r>
              <a:rPr lang="en-GB" sz="2800" dirty="0">
                <a:solidFill>
                  <a:schemeClr val="tx1"/>
                </a:solidFill>
              </a:rPr>
              <a:t> yang </a:t>
            </a:r>
            <a:r>
              <a:rPr lang="en-GB" sz="2800" dirty="0" err="1">
                <a:solidFill>
                  <a:schemeClr val="tx1"/>
                </a:solidFill>
              </a:rPr>
              <a:t>memungkinkan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peramalan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nilai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suatu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peubah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takbebas</a:t>
            </a:r>
            <a:r>
              <a:rPr lang="en-GB" sz="2800" dirty="0">
                <a:solidFill>
                  <a:schemeClr val="tx1"/>
                </a:solidFill>
              </a:rPr>
              <a:t> (dependent variable) </a:t>
            </a:r>
            <a:r>
              <a:rPr lang="en-GB" sz="2800" dirty="0" err="1">
                <a:solidFill>
                  <a:schemeClr val="tx1"/>
                </a:solidFill>
              </a:rPr>
              <a:t>dari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nilai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peubah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bebas</a:t>
            </a:r>
            <a:r>
              <a:rPr lang="en-GB" sz="2800" dirty="0">
                <a:solidFill>
                  <a:schemeClr val="tx1"/>
                </a:solidFill>
              </a:rPr>
              <a:t> (independent variable)</a:t>
            </a:r>
            <a:endParaRPr lang="en-US" sz="2800" dirty="0">
              <a:solidFill>
                <a:schemeClr val="tx1"/>
              </a:solidFill>
            </a:endParaRPr>
          </a:p>
          <a:p>
            <a:pPr marL="0" lv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=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regresi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sudah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pasti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korelasi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= model </a:t>
            </a:r>
            <a:r>
              <a:rPr lang="en-US" sz="28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→ </a:t>
            </a:r>
            <a:r>
              <a:rPr lang="en-US" sz="2800" dirty="0">
                <a:solidFill>
                  <a:schemeClr val="tx1"/>
                </a:solidFill>
              </a:rPr>
              <a:t>Y = a + </a:t>
            </a:r>
            <a:r>
              <a:rPr lang="en-US" sz="2800" dirty="0" err="1">
                <a:solidFill>
                  <a:schemeClr val="tx1"/>
                </a:solidFill>
              </a:rPr>
              <a:t>bX</a:t>
            </a:r>
            <a:r>
              <a:rPr lang="en-US" sz="2800" dirty="0">
                <a:solidFill>
                  <a:schemeClr val="tx1"/>
                </a:solidFill>
              </a:rPr>
              <a:t> , </a:t>
            </a:r>
            <a:r>
              <a:rPr lang="en-US" sz="2800" dirty="0" err="1">
                <a:solidFill>
                  <a:schemeClr val="tx1"/>
                </a:solidFill>
              </a:rPr>
              <a:t>dimana</a:t>
            </a:r>
            <a:r>
              <a:rPr lang="en-US" sz="2800" dirty="0">
                <a:solidFill>
                  <a:schemeClr val="tx1"/>
                </a:solidFill>
              </a:rPr>
              <a:t> a (</a:t>
            </a:r>
            <a:r>
              <a:rPr lang="en-US" sz="2800" dirty="0" err="1">
                <a:solidFill>
                  <a:schemeClr val="tx1"/>
                </a:solidFill>
              </a:rPr>
              <a:t>konstanta</a:t>
            </a:r>
            <a:r>
              <a:rPr lang="en-US" sz="2800" dirty="0">
                <a:solidFill>
                  <a:schemeClr val="tx1"/>
                </a:solidFill>
              </a:rPr>
              <a:t>) dan b (</a:t>
            </a:r>
            <a:r>
              <a:rPr lang="en-US" sz="2800" dirty="0" err="1">
                <a:solidFill>
                  <a:schemeClr val="tx1"/>
                </a:solidFill>
              </a:rPr>
              <a:t>koefisien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regresi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  <a:p>
            <a:pPr marL="0" lvl="0" indent="0" algn="just"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89159" y="1283520"/>
            <a:ext cx="10069316" cy="1876977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n-US" sz="2800" dirty="0">
                <a:solidFill>
                  <a:schemeClr val="tx1"/>
                </a:solidFill>
              </a:rPr>
              <a:t>= </a:t>
            </a:r>
            <a:r>
              <a:rPr lang="en-US" sz="2800" dirty="0" err="1">
                <a:solidFill>
                  <a:schemeClr val="tx1"/>
                </a:solidFill>
              </a:rPr>
              <a:t>menunjukkan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keeratan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suatu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hubungan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dari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dua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/</a:t>
            </a:r>
            <a:r>
              <a:rPr lang="en-US" sz="2800" dirty="0" err="1">
                <a:solidFill>
                  <a:schemeClr val="tx1"/>
                </a:solidFill>
              </a:rPr>
              <a:t>lebih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 algn="just">
              <a:buFont typeface="Arial" pitchFamily="34" charset="0"/>
              <a:buNone/>
            </a:pPr>
            <a:r>
              <a:rPr lang="en-US" sz="2800" dirty="0">
                <a:solidFill>
                  <a:schemeClr val="tx1"/>
                </a:solidFill>
              </a:rPr>
              <a:t>=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korelasi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belum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tentu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regresi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= model </a:t>
            </a:r>
            <a:r>
              <a:rPr lang="en-US" sz="28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→ </a:t>
            </a:r>
            <a:r>
              <a:rPr lang="en-US" sz="2800" dirty="0">
                <a:solidFill>
                  <a:schemeClr val="tx1"/>
                </a:solidFill>
              </a:rPr>
              <a:t>-1&lt;r&lt;1</a:t>
            </a:r>
          </a:p>
          <a:p>
            <a:pPr marL="0" indent="0" algn="just">
              <a:buFont typeface="Arial" pitchFamily="34" charset="0"/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89159" y="223844"/>
            <a:ext cx="7767484" cy="979893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sz="3600" b="1" kern="1200" cap="none" spc="5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tx1"/>
                </a:solidFill>
              </a:rPr>
              <a:t>CIRI UMUM KORELASI</a:t>
            </a:r>
          </a:p>
        </p:txBody>
      </p:sp>
      <p:pic>
        <p:nvPicPr>
          <p:cNvPr id="8" name="Picture 2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58475" y="170260"/>
            <a:ext cx="1351756" cy="1351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8851" y="274638"/>
            <a:ext cx="4576915" cy="1143000"/>
          </a:xfrm>
          <a:solidFill>
            <a:schemeClr val="bg2">
              <a:lumMod val="50000"/>
              <a:lumOff val="5000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FUNGSI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solidFill>
            <a:schemeClr val="bg2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sz="3200" dirty="0" err="1">
                <a:solidFill>
                  <a:schemeClr val="tx1"/>
                </a:solidFill>
              </a:rPr>
              <a:t>Analisis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korelasi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  <a:p>
            <a:pPr marL="285750" indent="0">
              <a:buNone/>
            </a:pPr>
            <a:r>
              <a:rPr lang="en-US" sz="2800" dirty="0" err="1">
                <a:solidFill>
                  <a:schemeClr val="tx1"/>
                </a:solidFill>
              </a:rPr>
              <a:t>Untuk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mengetahui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keeratan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hubungan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antara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dua</a:t>
            </a:r>
            <a:r>
              <a:rPr lang="en-US" sz="2800" dirty="0">
                <a:solidFill>
                  <a:schemeClr val="tx1"/>
                </a:solidFill>
              </a:rPr>
              <a:t> variable </a:t>
            </a:r>
            <a:r>
              <a:rPr lang="en-US" sz="2800" dirty="0" err="1">
                <a:solidFill>
                  <a:schemeClr val="tx1"/>
                </a:solidFill>
              </a:rPr>
              <a:t>atau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lebih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tanpa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memperhatikan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ada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tidaknya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hubungan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kausal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diantara</a:t>
            </a:r>
            <a:r>
              <a:rPr lang="en-US" sz="2800" dirty="0">
                <a:solidFill>
                  <a:schemeClr val="tx1"/>
                </a:solidFill>
              </a:rPr>
              <a:t> variable-variable </a:t>
            </a:r>
            <a:r>
              <a:rPr lang="en-US" sz="2800" dirty="0" err="1">
                <a:solidFill>
                  <a:schemeClr val="tx1"/>
                </a:solidFill>
              </a:rPr>
              <a:t>tersebut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sz="3200" dirty="0" err="1">
                <a:solidFill>
                  <a:schemeClr val="tx1"/>
                </a:solidFill>
              </a:rPr>
              <a:t>Analisis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regresi</a:t>
            </a:r>
            <a:endParaRPr lang="en-US" sz="3200" dirty="0">
              <a:solidFill>
                <a:schemeClr val="tx1"/>
              </a:solidFill>
            </a:endParaRPr>
          </a:p>
          <a:p>
            <a:pPr marL="228600" indent="0">
              <a:buNone/>
            </a:pPr>
            <a:r>
              <a:rPr lang="en-US" sz="2800" dirty="0" err="1">
                <a:solidFill>
                  <a:schemeClr val="tx1"/>
                </a:solidFill>
              </a:rPr>
              <a:t>Untuk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mengetahui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adanya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hubungan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dua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 dan </a:t>
            </a:r>
            <a:r>
              <a:rPr lang="en-US" sz="2800" dirty="0" err="1">
                <a:solidFill>
                  <a:schemeClr val="tx1"/>
                </a:solidFill>
              </a:rPr>
              <a:t>nilai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pendugaan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 X </a:t>
            </a:r>
            <a:r>
              <a:rPr lang="en-US" sz="2800" dirty="0" err="1">
                <a:solidFill>
                  <a:schemeClr val="tx1"/>
                </a:solidFill>
              </a:rPr>
              <a:t>terhadap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 Y</a:t>
            </a:r>
          </a:p>
        </p:txBody>
      </p:sp>
      <p:pic>
        <p:nvPicPr>
          <p:cNvPr id="5" name="Picture 2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58475" y="170260"/>
            <a:ext cx="1351756" cy="1351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1723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lumOff val="5000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sz="5400" dirty="0"/>
              <a:t>HUBUNGAN ANTAR VARIABEL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64105"/>
            <a:ext cx="11019864" cy="4917377"/>
          </a:xfrm>
          <a:solidFill>
            <a:schemeClr val="bg2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lvl="0" algn="just">
              <a:buFont typeface="Wingdings 2" pitchFamily="18" charset="2"/>
              <a:buChar char=""/>
            </a:pPr>
            <a:r>
              <a:rPr lang="en-US" sz="2800" dirty="0">
                <a:solidFill>
                  <a:schemeClr val="tx1"/>
                </a:solidFill>
              </a:rPr>
              <a:t>SIMETRIS , (y</a:t>
            </a:r>
            <a:r>
              <a:rPr lang="id-ID" sz="2800" dirty="0">
                <a:solidFill>
                  <a:schemeClr val="tx1"/>
                </a:solidFill>
              </a:rPr>
              <a:t>1 </a:t>
            </a:r>
            <a:r>
              <a:rPr lang="id-ID" sz="28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←→</a:t>
            </a:r>
            <a:r>
              <a:rPr lang="en-US" sz="28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y</a:t>
            </a:r>
            <a:r>
              <a:rPr lang="id-ID" sz="2800" dirty="0">
                <a:solidFill>
                  <a:schemeClr val="tx1"/>
                </a:solidFill>
              </a:rPr>
              <a:t>2 </a:t>
            </a:r>
            <a:r>
              <a:rPr lang="en-US" sz="2800" dirty="0">
                <a:solidFill>
                  <a:schemeClr val="tx1"/>
                </a:solidFill>
              </a:rPr>
              <a:t>), </a:t>
            </a:r>
            <a:r>
              <a:rPr lang="en-US" sz="2800" dirty="0" err="1">
                <a:solidFill>
                  <a:schemeClr val="tx1"/>
                </a:solidFill>
              </a:rPr>
              <a:t>kedua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adalah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akibat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dari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suatu</a:t>
            </a:r>
            <a:r>
              <a:rPr lang="en-US" sz="2800" dirty="0">
                <a:solidFill>
                  <a:schemeClr val="tx1"/>
                </a:solidFill>
              </a:rPr>
              <a:t> factor yang </a:t>
            </a:r>
            <a:r>
              <a:rPr lang="en-US" sz="2800" dirty="0" err="1">
                <a:solidFill>
                  <a:schemeClr val="tx1"/>
                </a:solidFill>
              </a:rPr>
              <a:t>sama</a:t>
            </a:r>
            <a:endParaRPr lang="en-US" sz="2800" dirty="0">
              <a:solidFill>
                <a:schemeClr val="tx1"/>
              </a:solidFill>
            </a:endParaRPr>
          </a:p>
          <a:p>
            <a:pPr marL="282575" lv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Ex : Lobster </a:t>
            </a:r>
            <a:r>
              <a:rPr lang="en-US" sz="2800" dirty="0" err="1">
                <a:solidFill>
                  <a:schemeClr val="tx1"/>
                </a:solidFill>
              </a:rPr>
              <a:t>dan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ikan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karang</a:t>
            </a:r>
            <a:endParaRPr lang="id-ID" sz="2800" dirty="0">
              <a:solidFill>
                <a:schemeClr val="tx1"/>
              </a:solidFill>
            </a:endParaRPr>
          </a:p>
          <a:p>
            <a:pPr lvl="0" algn="just">
              <a:buFont typeface="Wingdings 2" pitchFamily="18" charset="2"/>
              <a:buChar char=""/>
            </a:pPr>
            <a:r>
              <a:rPr lang="en-US" sz="2800" dirty="0">
                <a:solidFill>
                  <a:schemeClr val="tx1"/>
                </a:solidFill>
              </a:rPr>
              <a:t>ASIMETRIS, (x </a:t>
            </a:r>
            <a:r>
              <a:rPr lang="en-US" sz="28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→</a:t>
            </a:r>
            <a:r>
              <a:rPr lang="en-US" sz="2800" dirty="0">
                <a:solidFill>
                  <a:schemeClr val="tx1"/>
                </a:solidFill>
              </a:rPr>
              <a:t> y), </a:t>
            </a:r>
            <a:r>
              <a:rPr lang="en-US" sz="2800" dirty="0" err="1">
                <a:solidFill>
                  <a:schemeClr val="tx1"/>
                </a:solidFill>
              </a:rPr>
              <a:t>satu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mempengaruhi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 yang lain </a:t>
            </a:r>
            <a:r>
              <a:rPr lang="en-US" sz="2800" dirty="0" err="1">
                <a:solidFill>
                  <a:schemeClr val="tx1"/>
                </a:solidFill>
              </a:rPr>
              <a:t>tetapi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tidak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ada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timbal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balik</a:t>
            </a:r>
            <a:endParaRPr lang="en-US" sz="2800" dirty="0">
              <a:solidFill>
                <a:schemeClr val="tx1"/>
              </a:solidFill>
            </a:endParaRPr>
          </a:p>
          <a:p>
            <a:pPr marL="239713" lv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Ex : </a:t>
            </a:r>
            <a:r>
              <a:rPr lang="en-US" sz="2800" dirty="0" err="1">
                <a:solidFill>
                  <a:schemeClr val="tx1"/>
                </a:solidFill>
              </a:rPr>
              <a:t>Fitoplankton</a:t>
            </a:r>
            <a:r>
              <a:rPr lang="en-US" sz="2800" dirty="0">
                <a:solidFill>
                  <a:schemeClr val="tx1"/>
                </a:solidFill>
              </a:rPr>
              <a:t> yang </a:t>
            </a:r>
            <a:r>
              <a:rPr lang="en-US" sz="2800" dirty="0" err="1">
                <a:solidFill>
                  <a:schemeClr val="tx1"/>
                </a:solidFill>
              </a:rPr>
              <a:t>membutuhkan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cahaya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matahari</a:t>
            </a:r>
            <a:endParaRPr lang="en-US" sz="2800" dirty="0">
              <a:solidFill>
                <a:schemeClr val="tx1"/>
              </a:solidFill>
            </a:endParaRPr>
          </a:p>
          <a:p>
            <a:pPr lvl="0" algn="just">
              <a:buFont typeface="Wingdings 2" pitchFamily="18" charset="2"/>
              <a:buChar char=""/>
            </a:pPr>
            <a:r>
              <a:rPr lang="en-US" sz="2800" dirty="0">
                <a:solidFill>
                  <a:schemeClr val="tx1"/>
                </a:solidFill>
              </a:rPr>
              <a:t>RESIPROK, (x</a:t>
            </a:r>
            <a:r>
              <a:rPr lang="id-ID" sz="2800" dirty="0">
                <a:solidFill>
                  <a:schemeClr val="tx1"/>
                </a:solidFill>
              </a:rPr>
              <a:t> </a:t>
            </a:r>
            <a:r>
              <a:rPr lang="id-ID" sz="28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→←</a:t>
            </a:r>
            <a:r>
              <a:rPr lang="en-US" sz="2800" dirty="0">
                <a:solidFill>
                  <a:schemeClr val="tx1"/>
                </a:solidFill>
              </a:rPr>
              <a:t> y), </a:t>
            </a:r>
            <a:r>
              <a:rPr lang="en-US" sz="2800" dirty="0" err="1">
                <a:solidFill>
                  <a:schemeClr val="tx1"/>
                </a:solidFill>
              </a:rPr>
              <a:t>kedua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variabel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memiliki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hubungan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saling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mempengaruhi</a:t>
            </a:r>
            <a:endParaRPr lang="en-US" sz="2800" dirty="0">
              <a:solidFill>
                <a:schemeClr val="tx1"/>
              </a:solidFill>
            </a:endParaRPr>
          </a:p>
          <a:p>
            <a:pPr marL="239713" lv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Ex : </a:t>
            </a:r>
            <a:r>
              <a:rPr lang="en-US" sz="2800" dirty="0" err="1">
                <a:solidFill>
                  <a:schemeClr val="tx1"/>
                </a:solidFill>
              </a:rPr>
              <a:t>Zooxanthella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karang</a:t>
            </a:r>
            <a:endParaRPr lang="id-ID" sz="2800" dirty="0">
              <a:solidFill>
                <a:schemeClr val="tx1"/>
              </a:solidFill>
            </a:endParaRPr>
          </a:p>
        </p:txBody>
      </p:sp>
      <p:pic>
        <p:nvPicPr>
          <p:cNvPr id="5" name="Picture 2" descr="D: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8475" y="170260"/>
            <a:ext cx="1351756" cy="1351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66637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28788" y="1522016"/>
            <a:ext cx="8786812" cy="4940170"/>
          </a:xfrm>
          <a:prstGeom prst="rect">
            <a:avLst/>
          </a:prstGeom>
        </p:spPr>
      </p:pic>
      <p:pic>
        <p:nvPicPr>
          <p:cNvPr id="6" name="Picture 2" descr="D:\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58475" y="170260"/>
            <a:ext cx="1351756" cy="1351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Down Arrow 3"/>
          <p:cNvSpPr/>
          <p:nvPr/>
        </p:nvSpPr>
        <p:spPr>
          <a:xfrm>
            <a:off x="5264943" y="281186"/>
            <a:ext cx="2207420" cy="113327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Menuju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minitab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6442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7F89DC6-971F-4F15-80B5-6F5DDB3E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E995CF-7A62-4531-936A-39BC06A33112}"/>
              </a:ext>
            </a:extLst>
          </p:cNvPr>
          <p:cNvSpPr/>
          <p:nvPr/>
        </p:nvSpPr>
        <p:spPr>
          <a:xfrm>
            <a:off x="907312" y="535925"/>
            <a:ext cx="4151172" cy="7244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+mj-lt"/>
              </a:rPr>
              <a:t>INDIVIDU</a:t>
            </a:r>
            <a:endParaRPr lang="id-ID" sz="4400" b="1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55112-04E6-4A13-8FD2-018D98D87A6F}"/>
              </a:ext>
            </a:extLst>
          </p:cNvPr>
          <p:cNvSpPr/>
          <p:nvPr/>
        </p:nvSpPr>
        <p:spPr>
          <a:xfrm>
            <a:off x="907312" y="1984877"/>
            <a:ext cx="9217349" cy="39477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Membuat</a:t>
            </a: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ID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REGRESI DAN KORELASI</a:t>
            </a:r>
            <a:endParaRPr lang="en-US" sz="2400" b="1" u="sng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</a:t>
            </a:r>
            <a:r>
              <a:rPr lang="en-US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Berupa</a:t>
            </a: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Screenshots </a:t>
            </a:r>
            <a:r>
              <a:rPr lang="en-US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beserta</a:t>
            </a: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keterangan</a:t>
            </a: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</a:p>
          <a:p>
            <a:endParaRPr lang="en-US" sz="2400" b="1" u="sng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NB: Data pada </a:t>
            </a:r>
            <a:r>
              <a:rPr lang="en-ID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Kolom</a:t>
            </a: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Sheets ‘</a:t>
            </a:r>
            <a:r>
              <a:rPr lang="en-ID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Tugas</a:t>
            </a: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’ &amp; </a:t>
            </a:r>
            <a:r>
              <a:rPr lang="en-ID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Ketentuan</a:t>
            </a: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ID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Penulisan</a:t>
            </a: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ID" sz="2400" b="1" u="sng" dirty="0">
                <a:solidFill>
                  <a:schemeClr val="bg1"/>
                </a:solidFill>
                <a:latin typeface="Century Gothic" panose="020B0502020202020204" pitchFamily="34" charset="0"/>
              </a:rPr>
              <a:t>www.statistikapspk.wordpress.com</a:t>
            </a:r>
          </a:p>
        </p:txBody>
      </p:sp>
    </p:spTree>
    <p:extLst>
      <p:ext uri="{BB962C8B-B14F-4D97-AF65-F5344CB8AC3E}">
        <p14:creationId xmlns:p14="http://schemas.microsoft.com/office/powerpoint/2010/main" val="225382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7F89DC6-971F-4F15-80B5-6F5DDB3E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57CDA2-641D-48EB-8057-C01B4252D08C}"/>
              </a:ext>
            </a:extLst>
          </p:cNvPr>
          <p:cNvSpPr/>
          <p:nvPr/>
        </p:nvSpPr>
        <p:spPr>
          <a:xfrm>
            <a:off x="835703" y="262024"/>
            <a:ext cx="4386310" cy="9004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+mj-lt"/>
              </a:rPr>
              <a:t>KELOMPOK</a:t>
            </a:r>
            <a:endParaRPr lang="id-ID" sz="3600" b="1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E0612-E450-4AFC-AF79-9341B39806F9}"/>
              </a:ext>
            </a:extLst>
          </p:cNvPr>
          <p:cNvSpPr/>
          <p:nvPr/>
        </p:nvSpPr>
        <p:spPr>
          <a:xfrm>
            <a:off x="835703" y="1844749"/>
            <a:ext cx="8480574" cy="31685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Century Gothic" panose="020B0502020202020204" pitchFamily="34" charset="0"/>
              </a:rPr>
              <a:t>Laporan</a:t>
            </a:r>
            <a:r>
              <a:rPr lang="en-US" sz="2000" b="1" dirty="0">
                <a:latin typeface="Century Gothic" panose="020B0502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</a:t>
            </a:r>
            <a:r>
              <a:rPr lang="id-ID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ateri 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7 “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Regresi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Dan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Korelasi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” </a:t>
            </a:r>
            <a:r>
              <a:rPr lang="en-US" sz="2000" b="1" dirty="0" err="1">
                <a:latin typeface="Century Gothic" panose="020B0502020202020204" pitchFamily="34" charset="0"/>
              </a:rPr>
              <a:t>untuk</a:t>
            </a:r>
            <a:r>
              <a:rPr lang="en-US" sz="2000" b="1" dirty="0">
                <a:latin typeface="Century Gothic" panose="020B0502020202020204" pitchFamily="34" charset="0"/>
              </a:rPr>
              <a:t> </a:t>
            </a:r>
            <a:r>
              <a:rPr lang="en-US" sz="2000" b="1" u="sng" dirty="0" err="1">
                <a:latin typeface="Century Gothic" panose="020B0502020202020204" pitchFamily="34" charset="0"/>
              </a:rPr>
              <a:t>Kelompok</a:t>
            </a:r>
            <a:r>
              <a:rPr lang="en-US" sz="2000" b="1" u="sng" dirty="0">
                <a:latin typeface="Century Gothic" panose="020B0502020202020204" pitchFamily="34" charset="0"/>
              </a:rPr>
              <a:t> 1</a:t>
            </a:r>
            <a:r>
              <a:rPr lang="en-US" sz="2000" b="1" dirty="0">
                <a:latin typeface="Century Gothic" panose="020B0502020202020204" pitchFamily="34" charset="0"/>
              </a:rPr>
              <a:t> dan </a:t>
            </a:r>
            <a:r>
              <a:rPr lang="en-US" sz="2000" b="1" u="sng" dirty="0" err="1">
                <a:latin typeface="Century Gothic" panose="020B0502020202020204" pitchFamily="34" charset="0"/>
              </a:rPr>
              <a:t>Kelompok</a:t>
            </a:r>
            <a:r>
              <a:rPr lang="en-US" sz="2000" b="1" dirty="0">
                <a:latin typeface="Century Gothic" panose="020B0502020202020204" pitchFamily="34" charset="0"/>
              </a:rPr>
              <a:t> 4</a:t>
            </a:r>
            <a:endParaRPr lang="en-GB" sz="2000" b="1" u="sng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b="1" u="sng" dirty="0">
              <a:latin typeface="Century Gothic" panose="020B0502020202020204" pitchFamily="34" charset="0"/>
            </a:endParaRPr>
          </a:p>
          <a:p>
            <a:endParaRPr lang="id-ID" sz="2000" b="1" u="sng" dirty="0">
              <a:latin typeface="Century Gothic" panose="020B0502020202020204" pitchFamily="34" charset="0"/>
            </a:endParaRPr>
          </a:p>
          <a:p>
            <a:endParaRPr lang="en-US" sz="2000" b="1" dirty="0">
              <a:latin typeface="Century Gothic" panose="020B0502020202020204" pitchFamily="34" charset="0"/>
            </a:endParaRPr>
          </a:p>
          <a:p>
            <a:r>
              <a:rPr lang="en-US" sz="2000" b="1" dirty="0">
                <a:latin typeface="Century Gothic" panose="020B0502020202020204" pitchFamily="34" charset="0"/>
              </a:rPr>
              <a:t>NB: </a:t>
            </a:r>
            <a:r>
              <a:rPr lang="en-US" sz="2000" b="1" dirty="0" err="1">
                <a:latin typeface="Century Gothic" panose="020B0502020202020204" pitchFamily="34" charset="0"/>
              </a:rPr>
              <a:t>Ketentuan</a:t>
            </a:r>
            <a:r>
              <a:rPr lang="en-US" sz="2000" b="1" dirty="0">
                <a:latin typeface="Century Gothic" panose="020B0502020202020204" pitchFamily="34" charset="0"/>
              </a:rPr>
              <a:t> Format </a:t>
            </a:r>
            <a:r>
              <a:rPr lang="en-US" sz="2000" b="1" u="sng" dirty="0">
                <a:latin typeface="Century Gothic" panose="020B0502020202020204" pitchFamily="34" charset="0"/>
              </a:rPr>
              <a:t>www.statistikapspk.wordpress.com</a:t>
            </a:r>
            <a:endParaRPr lang="id-ID" sz="2000" b="1" u="sn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639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7F89DC6-971F-4F15-80B5-6F5DDB3E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F7001F-F1A3-490A-90A0-F8FE7CFCFE27}"/>
              </a:ext>
            </a:extLst>
          </p:cNvPr>
          <p:cNvSpPr>
            <a:spLocks noGrp="1"/>
          </p:cNvSpPr>
          <p:nvPr/>
        </p:nvSpPr>
        <p:spPr>
          <a:xfrm>
            <a:off x="765544" y="432391"/>
            <a:ext cx="9597656" cy="91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 cap="all" spc="20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d-ID" b="1" dirty="0"/>
              <a:t>KETENTUAN TUGAS</a:t>
            </a:r>
            <a:r>
              <a:rPr lang="en-GB" b="1" dirty="0"/>
              <a:t> INDIVIDU DAN KELOMPOK</a:t>
            </a:r>
            <a:endParaRPr lang="id-ID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D1BA9-2362-4E5A-BADC-345CBA69388D}"/>
              </a:ext>
            </a:extLst>
          </p:cNvPr>
          <p:cNvSpPr/>
          <p:nvPr/>
        </p:nvSpPr>
        <p:spPr>
          <a:xfrm>
            <a:off x="765544" y="1504335"/>
            <a:ext cx="9435101" cy="4777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dirty="0">
                <a:solidFill>
                  <a:schemeClr val="bg1"/>
                </a:solidFill>
                <a:latin typeface="Century Gothic" panose="020B0502020202020204" pitchFamily="34" charset="0"/>
              </a:rPr>
              <a:t>Dikumpulkan paling lambat minggu depan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u="sng" dirty="0" err="1">
                <a:solidFill>
                  <a:schemeClr val="bg1"/>
                </a:solidFill>
                <a:latin typeface="Century Gothic" panose="020B0502020202020204" pitchFamily="34" charset="0"/>
              </a:rPr>
              <a:t>Jum’at</a:t>
            </a:r>
            <a:r>
              <a:rPr lang="en-US" b="1" u="sng" dirty="0">
                <a:solidFill>
                  <a:schemeClr val="bg1"/>
                </a:solidFill>
                <a:latin typeface="Century Gothic" panose="020B0502020202020204" pitchFamily="34" charset="0"/>
              </a:rPr>
              <a:t>, 22 November 2019 </a:t>
            </a:r>
            <a:r>
              <a:rPr lang="id-ID" dirty="0">
                <a:solidFill>
                  <a:schemeClr val="bg1"/>
                </a:solidFill>
                <a:latin typeface="Century Gothic" panose="020B0502020202020204" pitchFamily="34" charset="0"/>
              </a:rPr>
              <a:t>dalam bentuk soft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id-ID" dirty="0">
                <a:solidFill>
                  <a:schemeClr val="bg1"/>
                </a:solidFill>
                <a:latin typeface="Century Gothic" panose="020B0502020202020204" pitchFamily="34" charset="0"/>
              </a:rPr>
              <a:t>file kirim ke email:</a:t>
            </a:r>
            <a:endParaRPr lang="en-US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id-ID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padmaparamita@student.ub.ac.id	- (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Kelompok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1,2,3)</a:t>
            </a:r>
          </a:p>
          <a:p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Hasnanumut_@student.ub.ac.id 		- (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Kelompok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4,5,6)</a:t>
            </a:r>
          </a:p>
          <a:p>
            <a:endParaRPr lang="en-US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Format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pengiriman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subjek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dan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nama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file =</a:t>
            </a:r>
            <a:endParaRPr lang="id-ID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id-ID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</a:p>
          <a:p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Praktikum7_Nama_Kelas_NIM (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Tugas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Individu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) 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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CO KELOMPOK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masing-masing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id-ID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Praktikum7_Kelas_Kelompok (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Tugas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Kelompok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) 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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Asisten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masing-masing</a:t>
            </a:r>
            <a:endParaRPr lang="id-ID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id-ID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NB: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Pembagian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asisten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sesuai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kelompok</a:t>
            </a:r>
            <a:endParaRPr lang="id-ID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37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207479580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hatch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atch">
      <a:fillStyleLst>
        <a:solidFill>
          <a:schemeClr val="phClr"/>
        </a:solidFill>
        <a:gradFill rotWithShape="1">
          <a:gsLst>
            <a:gs pos="0">
              <a:schemeClr val="phClr">
                <a:tint val="79000"/>
                <a:satMod val="180000"/>
              </a:schemeClr>
            </a:gs>
            <a:gs pos="65000">
              <a:schemeClr val="phClr">
                <a:tint val="52000"/>
                <a:satMod val="250000"/>
              </a:schemeClr>
            </a:gs>
            <a:gs pos="100000">
              <a:schemeClr val="phClr">
                <a:tint val="29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8700000"/>
            </a:lightRig>
          </a:scene3d>
          <a:sp3d contourW="12700" prstMaterial="dkEdge">
            <a:bevelT w="0" h="0" prst="relaxedInset"/>
            <a:contourClr>
              <a:schemeClr val="phClr">
                <a:shade val="65000"/>
                <a:satMod val="15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3200000"/>
            </a:lightRig>
          </a:scene3d>
          <a:sp3d prstMaterial="dkEdge">
            <a:bevelT w="63500" h="508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1221</TotalTime>
  <Words>501</Words>
  <Application>Microsoft Office PowerPoint</Application>
  <PresentationFormat>Widescreen</PresentationFormat>
  <Paragraphs>77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Tw Cen MT</vt:lpstr>
      <vt:lpstr>Wingdings 2</vt:lpstr>
      <vt:lpstr>Thatch</vt:lpstr>
      <vt:lpstr>REGRESI KORELASI</vt:lpstr>
      <vt:lpstr>TUJUAN</vt:lpstr>
      <vt:lpstr>PRINSIP DASAR</vt:lpstr>
      <vt:lpstr>PRINSIP DASAR</vt:lpstr>
      <vt:lpstr>CIRI UMUM REGRESI</vt:lpstr>
      <vt:lpstr>FUNGSI</vt:lpstr>
      <vt:lpstr>HUBUNGAN ANTAR VARIABEL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CEMPAKA</dc:creator>
  <cp:lastModifiedBy>hasnaaaa nurul</cp:lastModifiedBy>
  <cp:revision>81</cp:revision>
  <dcterms:created xsi:type="dcterms:W3CDTF">2016-11-09T17:02:07Z</dcterms:created>
  <dcterms:modified xsi:type="dcterms:W3CDTF">2019-11-16T03:18:17Z</dcterms:modified>
</cp:coreProperties>
</file>