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73" r:id="rId5"/>
    <p:sldId id="274" r:id="rId6"/>
    <p:sldId id="260" r:id="rId7"/>
    <p:sldId id="261" r:id="rId8"/>
    <p:sldId id="265" r:id="rId9"/>
    <p:sldId id="275" r:id="rId10"/>
    <p:sldId id="258" r:id="rId11"/>
    <p:sldId id="270" r:id="rId12"/>
    <p:sldId id="257" r:id="rId13"/>
    <p:sldId id="269" r:id="rId14"/>
    <p:sldId id="268" r:id="rId15"/>
    <p:sldId id="267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9241-B8B8-444F-8650-FD1D18BBF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8B544-C3AA-46D6-8DEB-AA6563984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F605B-0DAD-4EB2-8567-7B82E0F5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7E35B-235D-400B-ACE5-D99F03C0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8C36E-F215-4CCF-A2B4-34DEB7C8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128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FF07-6A8B-44EB-95FB-7EC6A5C20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19F4A-70DA-4D0B-9223-CCD3D0A9D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1C067-CF3C-48CB-BF3B-B62D6A02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5C9E4-9C79-45B2-9032-F262532E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049CA-D1FC-4CDD-A9DC-BBBFF3BF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254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7F39-3FF9-4D5E-9D79-4EE743FE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A88CE-B35A-49C1-88F9-3BCFD27A4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E65BB-AB09-4675-A2A4-4B75D762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1B18E-3DB2-468D-BDEE-16C6FD16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6EC3A-FDB6-4C4E-8C95-C5794293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3568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3954-786C-44BF-84AA-3A718AF44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BAE3-39C0-4FE8-A33F-C53C3655D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CDD4D-61DF-4D50-B8F8-D36633754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E0AF8-A9DF-435A-9B09-F6B4607D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F8F53-1C28-4207-8215-6C17146B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002BE-CCD5-449B-8F36-D203E87A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779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6442-D3BB-450D-8E9D-2B66D3EF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3910F-A87C-4679-8A72-7901541ED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95B12-61E8-4175-91A6-03F4C26DC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ADE8B-9015-4F5A-A460-C1A136098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B41005-F377-41AF-B7C1-E22E997D5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43934-7435-40F8-B524-320877BF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00FE7-E934-40B5-A670-E8BF33B4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337C05-357C-44C6-B1BB-1B739A02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194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9D46-AC96-4DAE-8ADF-44FBB9F6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EF44E-498B-489B-8561-BB23D2C3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34710-B007-41B8-966E-38D6A113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5E258-7464-4AB9-B79A-CE127659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538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5C666-FAAC-4D35-A40D-8709F131C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BF6145-8B92-4461-AD6A-2891C9CE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1659A-FFB3-4692-B8A5-FCEFFC61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3165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69CF-1B41-4D41-89DD-022ACDEA9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91075-75FB-4383-AC71-305E36847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597AA-12FA-4BD1-BA67-5F5B07684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4F017-BAB4-4515-8DE9-5FFE7FC3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53109-B6FE-454A-B78A-A6762652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E1E70-1D33-407F-8B25-D5F77411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498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7176-A3EF-4CEB-BB20-19B06A9A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230BC-7D90-437C-8213-5C27AF044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DCB28-B880-4457-8C28-F977190F3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DE90E-E34C-41B6-A768-56F852E9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834C5-924E-45CB-9B97-E6200D1E8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A1A06-D765-4C1B-82F1-6FC17107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194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59B0-829D-4F96-A163-A1A5806D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20A2A-E996-4CAD-A482-6737DEE9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C77FB-2D3C-4EEE-ADE9-63940E20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08B8-1884-4B44-9974-E0D4F5A2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3DDB5-69D9-4468-8CD9-D885E8E9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276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CF7AE-F43E-4CC0-9A5C-041C1C901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022C8-2E2B-4BFA-9282-8A3164D95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E6E0B-ECE7-4E70-A49F-CC0209A9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DC81D-69BD-4D93-84E5-6068DD54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4073-DBA4-4E64-B67D-C2A2C8B4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708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11994-3112-4DAA-8D19-D0D7FE08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0190B-814E-4595-A532-7F1CA385C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8D028-4BE5-4DCD-B076-5BC7C7948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AF8EB-FC51-4825-AE54-410A14234900}" type="datetimeFigureOut">
              <a:rPr lang="en-ID" smtClean="0"/>
              <a:t>07/11/2019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B273C-0A9B-4643-B64C-FAE28FEF7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FEA33-EC14-4947-BB60-2C5889079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94340-09D0-4B28-92E1-7F13F28DA81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557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Salehmuhammadrizki31@gmail.com" TargetMode="External"/><Relationship Id="rId4" Type="http://schemas.openxmlformats.org/officeDocument/2006/relationships/hyperlink" Target="mailto:Eghatrishnayana@gmail.c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3774-DF02-453F-9A2D-1D7C3497A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884F4-D1AD-46F0-8E00-E62040708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7DEDF-1FEB-40A4-8542-AC0E5D897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105" y="22302"/>
            <a:ext cx="12272210" cy="6857999"/>
          </a:xfrm>
          <a:prstGeom prst="rect">
            <a:avLst/>
          </a:prstGeom>
        </p:spPr>
      </p:pic>
      <p:pic>
        <p:nvPicPr>
          <p:cNvPr id="6" name="Picture 5" descr="D:\4.jpg">
            <a:extLst>
              <a:ext uri="{FF2B5EF4-FFF2-40B4-BE49-F238E27FC236}">
                <a16:creationId xmlns:a16="http://schemas.microsoft.com/office/drawing/2014/main" id="{3A4E034D-5104-45BF-AFC3-EB3E4B003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65914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Google Shape;784;p16">
            <a:extLst>
              <a:ext uri="{FF2B5EF4-FFF2-40B4-BE49-F238E27FC236}">
                <a16:creationId xmlns:a16="http://schemas.microsoft.com/office/drawing/2014/main" id="{9EDF60AF-18C9-485F-A1DF-118F95B28702}"/>
              </a:ext>
            </a:extLst>
          </p:cNvPr>
          <p:cNvSpPr txBox="1">
            <a:spLocks/>
          </p:cNvSpPr>
          <p:nvPr/>
        </p:nvSpPr>
        <p:spPr>
          <a:xfrm>
            <a:off x="305223" y="1296946"/>
            <a:ext cx="768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Titillium Web ExtraLight"/>
              <a:buNone/>
              <a:defRPr sz="58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9pPr>
          </a:lstStyle>
          <a:p>
            <a:pPr algn="ctr"/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PRAKTIKUM 5 DAN 6</a:t>
            </a:r>
            <a:endParaRPr lang="en-US" dirty="0"/>
          </a:p>
        </p:txBody>
      </p:sp>
      <p:sp>
        <p:nvSpPr>
          <p:cNvPr id="8" name="Google Shape;779;p15">
            <a:extLst>
              <a:ext uri="{FF2B5EF4-FFF2-40B4-BE49-F238E27FC236}">
                <a16:creationId xmlns:a16="http://schemas.microsoft.com/office/drawing/2014/main" id="{87A4D1C6-396B-47C9-94A6-97AB5EB2A2E3}"/>
              </a:ext>
            </a:extLst>
          </p:cNvPr>
          <p:cNvSpPr txBox="1">
            <a:spLocks/>
          </p:cNvSpPr>
          <p:nvPr/>
        </p:nvSpPr>
        <p:spPr>
          <a:xfrm>
            <a:off x="305223" y="2715527"/>
            <a:ext cx="7844734" cy="224185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d-ID" sz="3200" b="1" dirty="0">
                <a:solidFill>
                  <a:schemeClr val="bg1"/>
                </a:solidFill>
              </a:rPr>
              <a:t>UJI LANJUTAN dan</a:t>
            </a:r>
            <a:br>
              <a:rPr lang="id-ID" sz="3200" dirty="0">
                <a:solidFill>
                  <a:schemeClr val="bg1"/>
                </a:solidFill>
              </a:rPr>
            </a:br>
            <a:r>
              <a:rPr lang="id-ID" sz="3200" b="1" dirty="0">
                <a:solidFill>
                  <a:schemeClr val="bg1"/>
                </a:solidFill>
              </a:rPr>
              <a:t>RANCANGAN ACAK KELOMPOK (RAK)</a:t>
            </a:r>
          </a:p>
        </p:txBody>
      </p:sp>
    </p:spTree>
    <p:extLst>
      <p:ext uri="{BB962C8B-B14F-4D97-AF65-F5344CB8AC3E}">
        <p14:creationId xmlns:p14="http://schemas.microsoft.com/office/powerpoint/2010/main" val="150713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7F5ED1-7E8F-4EEE-BCB3-7A13C6AF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A0F0C9E-2A6D-4C32-8416-D8B20395C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Google Shape;784;p16">
            <a:extLst>
              <a:ext uri="{FF2B5EF4-FFF2-40B4-BE49-F238E27FC236}">
                <a16:creationId xmlns:a16="http://schemas.microsoft.com/office/drawing/2014/main" id="{39221DC0-E92A-46F1-B2BF-68149D472E13}"/>
              </a:ext>
            </a:extLst>
          </p:cNvPr>
          <p:cNvSpPr txBox="1">
            <a:spLocks/>
          </p:cNvSpPr>
          <p:nvPr/>
        </p:nvSpPr>
        <p:spPr>
          <a:xfrm>
            <a:off x="5022704" y="472057"/>
            <a:ext cx="7686000" cy="857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TUJUAN</a:t>
            </a:r>
            <a:endParaRPr lang="en-US" dirty="0"/>
          </a:p>
        </p:txBody>
      </p:sp>
      <p:sp>
        <p:nvSpPr>
          <p:cNvPr id="7" name="Google Shape;786;p16">
            <a:extLst>
              <a:ext uri="{FF2B5EF4-FFF2-40B4-BE49-F238E27FC236}">
                <a16:creationId xmlns:a16="http://schemas.microsoft.com/office/drawing/2014/main" id="{80D0A25C-57BB-43D6-9E0D-68FDD511B1EF}"/>
              </a:ext>
            </a:extLst>
          </p:cNvPr>
          <p:cNvSpPr txBox="1">
            <a:spLocks/>
          </p:cNvSpPr>
          <p:nvPr/>
        </p:nvSpPr>
        <p:spPr>
          <a:xfrm>
            <a:off x="5751443" y="1212100"/>
            <a:ext cx="6440557" cy="364512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UJI LANJUTAN</a:t>
            </a:r>
          </a:p>
          <a:p>
            <a:pPr marL="347663" indent="-347663">
              <a:buFont typeface="Arial" panose="020B0604020202020204" pitchFamily="34" charset="0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Mampu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mengetahui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pengolahan</a:t>
            </a:r>
            <a:r>
              <a:rPr lang="en-US" sz="2400" dirty="0">
                <a:solidFill>
                  <a:schemeClr val="bg1"/>
                </a:solidFill>
              </a:rPr>
              <a:t> data </a:t>
            </a:r>
            <a:r>
              <a:rPr lang="en-US" sz="2400" dirty="0" err="1">
                <a:solidFill>
                  <a:schemeClr val="bg1"/>
                </a:solidFill>
              </a:rPr>
              <a:t>rancangan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percobaan</a:t>
            </a:r>
            <a:r>
              <a:rPr lang="en-US" sz="2400" dirty="0">
                <a:solidFill>
                  <a:schemeClr val="bg1"/>
                </a:solidFill>
              </a:rPr>
              <a:t> pada Uji </a:t>
            </a:r>
            <a:r>
              <a:rPr lang="en-US" sz="2400" dirty="0" err="1">
                <a:solidFill>
                  <a:schemeClr val="bg1"/>
                </a:solidFill>
              </a:rPr>
              <a:t>Lanjutan</a:t>
            </a:r>
            <a:endParaRPr lang="en-US" sz="2400" dirty="0">
              <a:solidFill>
                <a:schemeClr val="bg1"/>
              </a:solidFill>
            </a:endParaRPr>
          </a:p>
          <a:p>
            <a:pPr marL="347663" indent="-347663">
              <a:buFont typeface="Arial" panose="020B0604020202020204" pitchFamily="34" charset="0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Mampu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menginterpretasikan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hasil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pengolahan</a:t>
            </a:r>
            <a:r>
              <a:rPr lang="en-US" sz="2400" dirty="0">
                <a:solidFill>
                  <a:schemeClr val="bg1"/>
                </a:solidFill>
              </a:rPr>
              <a:t> data </a:t>
            </a:r>
            <a:r>
              <a:rPr lang="en-US" sz="2400" dirty="0" err="1">
                <a:solidFill>
                  <a:schemeClr val="bg1"/>
                </a:solidFill>
              </a:rPr>
              <a:t>rancangan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percobaan</a:t>
            </a:r>
            <a:r>
              <a:rPr lang="en-US" sz="2400" dirty="0">
                <a:solidFill>
                  <a:schemeClr val="bg1"/>
                </a:solidFill>
              </a:rPr>
              <a:t> pada Uji </a:t>
            </a:r>
            <a:r>
              <a:rPr lang="en-US" sz="2400" dirty="0" err="1">
                <a:solidFill>
                  <a:schemeClr val="bg1"/>
                </a:solidFill>
              </a:rPr>
              <a:t>Lanjutan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Google Shape;794;p17">
            <a:extLst>
              <a:ext uri="{FF2B5EF4-FFF2-40B4-BE49-F238E27FC236}">
                <a16:creationId xmlns:a16="http://schemas.microsoft.com/office/drawing/2014/main" id="{55964EF0-6A9B-4F4E-959D-64D2BD681799}"/>
              </a:ext>
            </a:extLst>
          </p:cNvPr>
          <p:cNvSpPr txBox="1">
            <a:spLocks/>
          </p:cNvSpPr>
          <p:nvPr/>
        </p:nvSpPr>
        <p:spPr>
          <a:xfrm>
            <a:off x="5751443" y="3481439"/>
            <a:ext cx="6440557" cy="23761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RAK</a:t>
            </a:r>
          </a:p>
          <a:p>
            <a:pPr indent="-457200" algn="just"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Mampu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mengetahui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pengolahan</a:t>
            </a:r>
            <a:r>
              <a:rPr lang="en-US" sz="2400" dirty="0">
                <a:solidFill>
                  <a:schemeClr val="bg1"/>
                </a:solidFill>
              </a:rPr>
              <a:t> data pada </a:t>
            </a:r>
            <a:r>
              <a:rPr lang="en-US" sz="2400" dirty="0" err="1">
                <a:solidFill>
                  <a:schemeClr val="bg1"/>
                </a:solidFill>
              </a:rPr>
              <a:t>rancangan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percobaan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acak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kelompok</a:t>
            </a:r>
            <a:r>
              <a:rPr lang="en-US" sz="2400" dirty="0">
                <a:solidFill>
                  <a:schemeClr val="bg1"/>
                </a:solidFill>
              </a:rPr>
              <a:t> (RAK)</a:t>
            </a:r>
          </a:p>
          <a:p>
            <a:pPr indent="-457200" defTabSz="395288"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Mampu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menginterpretasikan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hasil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pengolahan</a:t>
            </a:r>
            <a:r>
              <a:rPr lang="en-US" sz="2400" dirty="0">
                <a:solidFill>
                  <a:schemeClr val="bg1"/>
                </a:solidFill>
              </a:rPr>
              <a:t> data pada </a:t>
            </a:r>
            <a:r>
              <a:rPr lang="en-US" sz="2400" dirty="0" err="1">
                <a:solidFill>
                  <a:schemeClr val="bg1"/>
                </a:solidFill>
              </a:rPr>
              <a:t>rancangan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percobaan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acak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kelompok</a:t>
            </a:r>
            <a:r>
              <a:rPr lang="en-US" sz="2400" dirty="0">
                <a:solidFill>
                  <a:schemeClr val="bg1"/>
                </a:solidFill>
              </a:rPr>
              <a:t> (RAK)</a:t>
            </a:r>
          </a:p>
        </p:txBody>
      </p:sp>
    </p:spTree>
    <p:extLst>
      <p:ext uri="{BB962C8B-B14F-4D97-AF65-F5344CB8AC3E}">
        <p14:creationId xmlns:p14="http://schemas.microsoft.com/office/powerpoint/2010/main" val="105176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7F5ED1-7E8F-4EEE-BCB3-7A13C6AF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A0F0C9E-2A6D-4C32-8416-D8B20395C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Google Shape;801;p18">
            <a:extLst>
              <a:ext uri="{FF2B5EF4-FFF2-40B4-BE49-F238E27FC236}">
                <a16:creationId xmlns:a16="http://schemas.microsoft.com/office/drawing/2014/main" id="{18C6E8DB-6DC5-421C-A026-AD72D15EC479}"/>
              </a:ext>
            </a:extLst>
          </p:cNvPr>
          <p:cNvSpPr txBox="1">
            <a:spLocks/>
          </p:cNvSpPr>
          <p:nvPr/>
        </p:nvSpPr>
        <p:spPr>
          <a:xfrm>
            <a:off x="6096000" y="583095"/>
            <a:ext cx="5804400" cy="886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UJI LANJUTAN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66F8E-8D84-44AC-870F-5DB4BC520582}"/>
              </a:ext>
            </a:extLst>
          </p:cNvPr>
          <p:cNvSpPr txBox="1"/>
          <p:nvPr/>
        </p:nvSpPr>
        <p:spPr>
          <a:xfrm>
            <a:off x="5834168" y="1749286"/>
            <a:ext cx="63280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</a:rPr>
              <a:t>Kapan </a:t>
            </a:r>
            <a:r>
              <a:rPr lang="en-US" sz="3200" dirty="0" err="1">
                <a:solidFill>
                  <a:schemeClr val="bg1"/>
                </a:solidFill>
              </a:rPr>
              <a:t>memakai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uji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lanjutan</a:t>
            </a:r>
            <a:r>
              <a:rPr lang="en-US" sz="3200" dirty="0">
                <a:solidFill>
                  <a:schemeClr val="bg1"/>
                </a:solidFill>
              </a:rPr>
              <a:t>?</a:t>
            </a:r>
          </a:p>
          <a:p>
            <a:pPr marL="347663" indent="0">
              <a:buNone/>
            </a:pPr>
            <a:r>
              <a:rPr lang="en-US" sz="3200" dirty="0" err="1">
                <a:solidFill>
                  <a:schemeClr val="bg1"/>
                </a:solidFill>
              </a:rPr>
              <a:t>Ketika</a:t>
            </a:r>
            <a:r>
              <a:rPr lang="en-US" sz="3200" dirty="0">
                <a:solidFill>
                  <a:schemeClr val="bg1"/>
                </a:solidFill>
              </a:rPr>
              <a:t> uji </a:t>
            </a:r>
            <a:r>
              <a:rPr lang="en-US" sz="3200" dirty="0" err="1">
                <a:solidFill>
                  <a:schemeClr val="bg1"/>
                </a:solidFill>
              </a:rPr>
              <a:t>rancangan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percobaan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tolak</a:t>
            </a:r>
            <a:r>
              <a:rPr lang="en-US" sz="3200" dirty="0">
                <a:solidFill>
                  <a:schemeClr val="bg1"/>
                </a:solidFill>
              </a:rPr>
              <a:t> H0</a:t>
            </a:r>
          </a:p>
          <a:p>
            <a:pPr marL="347663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err="1">
                <a:solidFill>
                  <a:schemeClr val="bg1"/>
                </a:solidFill>
              </a:rPr>
              <a:t>Mengapa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memakai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uji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lanjutan</a:t>
            </a:r>
            <a:r>
              <a:rPr lang="en-US" sz="3200" dirty="0">
                <a:solidFill>
                  <a:schemeClr val="bg1"/>
                </a:solidFill>
              </a:rPr>
              <a:t>?</a:t>
            </a:r>
          </a:p>
          <a:p>
            <a:pPr marL="347663" indent="0">
              <a:buNone/>
            </a:pPr>
            <a:r>
              <a:rPr lang="en-US" sz="3200" dirty="0" err="1">
                <a:solidFill>
                  <a:schemeClr val="bg1"/>
                </a:solidFill>
              </a:rPr>
              <a:t>Untuk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mengetahui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dimana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letak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pengaruh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perbedaanya</a:t>
            </a:r>
            <a:endParaRPr lang="en-US" sz="3200" dirty="0">
              <a:solidFill>
                <a:schemeClr val="bg1"/>
              </a:solidFill>
            </a:endParaRPr>
          </a:p>
          <a:p>
            <a:endParaRPr lang="id-ID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7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7F5ED1-7E8F-4EEE-BCB3-7A13C6AF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A0F0C9E-2A6D-4C32-8416-D8B20395C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FE26BD7-4F28-40DC-8EBD-E0642CB140B8}"/>
              </a:ext>
            </a:extLst>
          </p:cNvPr>
          <p:cNvSpPr txBox="1">
            <a:spLocks/>
          </p:cNvSpPr>
          <p:nvPr/>
        </p:nvSpPr>
        <p:spPr>
          <a:xfrm>
            <a:off x="5778532" y="486281"/>
            <a:ext cx="4215256" cy="86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 b="0" i="0" u="none" strike="noStrike" cap="none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9pPr>
          </a:lstStyle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UJI LANJUTAN</a:t>
            </a:r>
          </a:p>
        </p:txBody>
      </p:sp>
      <p:sp>
        <p:nvSpPr>
          <p:cNvPr id="7" name="Google Shape;815;p20">
            <a:extLst>
              <a:ext uri="{FF2B5EF4-FFF2-40B4-BE49-F238E27FC236}">
                <a16:creationId xmlns:a16="http://schemas.microsoft.com/office/drawing/2014/main" id="{2E02B471-B88E-4A4E-9520-2ACEC13C78FF}"/>
              </a:ext>
            </a:extLst>
          </p:cNvPr>
          <p:cNvSpPr txBox="1">
            <a:spLocks/>
          </p:cNvSpPr>
          <p:nvPr/>
        </p:nvSpPr>
        <p:spPr>
          <a:xfrm>
            <a:off x="5778532" y="1539963"/>
            <a:ext cx="6413468" cy="436116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UJI POST HOC TEST :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BNT (</a:t>
            </a:r>
            <a:r>
              <a:rPr lang="en-US" sz="2400" dirty="0" err="1">
                <a:solidFill>
                  <a:schemeClr val="bg1"/>
                </a:solidFill>
              </a:rPr>
              <a:t>beda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nyata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terkecil</a:t>
            </a:r>
            <a:r>
              <a:rPr lang="en-US" sz="2400" dirty="0">
                <a:solidFill>
                  <a:schemeClr val="bg1"/>
                </a:solidFill>
              </a:rPr>
              <a:t>), </a:t>
            </a:r>
            <a:r>
              <a:rPr lang="en-US" sz="2400" dirty="0" err="1">
                <a:solidFill>
                  <a:schemeClr val="bg1"/>
                </a:solidFill>
              </a:rPr>
              <a:t>disebut</a:t>
            </a:r>
            <a:r>
              <a:rPr lang="en-US" sz="2400" dirty="0">
                <a:solidFill>
                  <a:schemeClr val="bg1"/>
                </a:solidFill>
              </a:rPr>
              <a:t> juga </a:t>
            </a:r>
            <a:r>
              <a:rPr lang="en-US" sz="2400" dirty="0" err="1">
                <a:solidFill>
                  <a:schemeClr val="bg1"/>
                </a:solidFill>
              </a:rPr>
              <a:t>dengan</a:t>
            </a:r>
            <a:r>
              <a:rPr lang="en-US" sz="2400" dirty="0">
                <a:solidFill>
                  <a:schemeClr val="bg1"/>
                </a:solidFill>
              </a:rPr>
              <a:t> uji fisher. </a:t>
            </a:r>
            <a:r>
              <a:rPr lang="en-US" sz="2400" dirty="0" err="1">
                <a:solidFill>
                  <a:schemeClr val="bg1"/>
                </a:solidFill>
              </a:rPr>
              <a:t>Digunakan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apabila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perlakuan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kurang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dari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>
                <a:solidFill>
                  <a:schemeClr val="bg1"/>
                </a:solidFill>
              </a:rPr>
              <a:t>5 </a:t>
            </a:r>
          </a:p>
          <a:p>
            <a:pPr>
              <a:buFontTx/>
              <a:buChar char="-"/>
            </a:pPr>
            <a:r>
              <a:rPr lang="en-US" sz="2400">
                <a:solidFill>
                  <a:schemeClr val="bg1"/>
                </a:solidFill>
              </a:rPr>
              <a:t>Biasanya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untuk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perbandingan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terencana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BNJ (</a:t>
            </a:r>
            <a:r>
              <a:rPr lang="en-US" sz="2400" dirty="0" err="1">
                <a:solidFill>
                  <a:schemeClr val="bg1"/>
                </a:solidFill>
              </a:rPr>
              <a:t>beda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nyata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jujur</a:t>
            </a:r>
            <a:r>
              <a:rPr lang="en-US" sz="2400" dirty="0">
                <a:solidFill>
                  <a:schemeClr val="bg1"/>
                </a:solidFill>
              </a:rPr>
              <a:t>), </a:t>
            </a:r>
            <a:r>
              <a:rPr lang="en-US" sz="2400" dirty="0" err="1">
                <a:solidFill>
                  <a:schemeClr val="bg1"/>
                </a:solidFill>
              </a:rPr>
              <a:t>disebut</a:t>
            </a:r>
            <a:r>
              <a:rPr lang="en-US" sz="2400" dirty="0">
                <a:solidFill>
                  <a:schemeClr val="bg1"/>
                </a:solidFill>
              </a:rPr>
              <a:t> juga </a:t>
            </a:r>
            <a:r>
              <a:rPr lang="en-US" sz="2400" dirty="0" err="1">
                <a:solidFill>
                  <a:schemeClr val="bg1"/>
                </a:solidFill>
              </a:rPr>
              <a:t>dengan</a:t>
            </a:r>
            <a:r>
              <a:rPr lang="en-US" sz="2400" dirty="0">
                <a:solidFill>
                  <a:schemeClr val="bg1"/>
                </a:solidFill>
              </a:rPr>
              <a:t> uji </a:t>
            </a:r>
            <a:r>
              <a:rPr lang="en-US" sz="2400" dirty="0" err="1">
                <a:solidFill>
                  <a:schemeClr val="bg1"/>
                </a:solidFill>
              </a:rPr>
              <a:t>tukey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  <a:r>
              <a:rPr lang="en-US" sz="2400" dirty="0" err="1">
                <a:solidFill>
                  <a:schemeClr val="bg1"/>
                </a:solidFill>
              </a:rPr>
              <a:t>Digunakan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apabila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perlakuan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banyak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lebih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dari</a:t>
            </a:r>
            <a:r>
              <a:rPr lang="en-US" sz="2400" dirty="0">
                <a:solidFill>
                  <a:schemeClr val="bg1"/>
                </a:solidFill>
              </a:rPr>
              <a:t> 5.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 err="1">
                <a:solidFill>
                  <a:schemeClr val="bg1"/>
                </a:solidFill>
              </a:rPr>
              <a:t>Biasanya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untuk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perbandingan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tidak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terencana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Duncan/</a:t>
            </a:r>
            <a:r>
              <a:rPr lang="en-US" sz="2400" dirty="0" err="1">
                <a:solidFill>
                  <a:schemeClr val="bg1"/>
                </a:solidFill>
              </a:rPr>
              <a:t>Dunnet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perlakuan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banyak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lebih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dari</a:t>
            </a:r>
            <a:r>
              <a:rPr lang="en-US" sz="2400" dirty="0">
                <a:solidFill>
                  <a:schemeClr val="bg1"/>
                </a:solidFill>
              </a:rPr>
              <a:t> 5) </a:t>
            </a:r>
            <a:r>
              <a:rPr lang="en-US" sz="2400" dirty="0" err="1">
                <a:solidFill>
                  <a:schemeClr val="bg1"/>
                </a:solidFill>
              </a:rPr>
              <a:t>Menggunakan</a:t>
            </a:r>
            <a:r>
              <a:rPr lang="en-US" sz="2400" dirty="0">
                <a:solidFill>
                  <a:schemeClr val="bg1"/>
                </a:solidFill>
              </a:rPr>
              <a:t> t hit yang </a:t>
            </a:r>
            <a:r>
              <a:rPr lang="en-US" sz="2400" dirty="0" err="1">
                <a:solidFill>
                  <a:schemeClr val="bg1"/>
                </a:solidFill>
              </a:rPr>
              <a:t>membutuhkan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standart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eror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612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7F5ED1-7E8F-4EEE-BCB3-7A13C6AF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A0F0C9E-2A6D-4C32-8416-D8B20395C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0E17CE2-CFF0-490D-A090-1C2237DFED07}"/>
              </a:ext>
            </a:extLst>
          </p:cNvPr>
          <p:cNvSpPr txBox="1">
            <a:spLocks/>
          </p:cNvSpPr>
          <p:nvPr/>
        </p:nvSpPr>
        <p:spPr>
          <a:xfrm>
            <a:off x="5764696" y="1166191"/>
            <a:ext cx="5019370" cy="6496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FFFF00"/>
                </a:solidFill>
              </a:rPr>
              <a:t>RANCANGAN ACAK KELOMPOK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1FD96B-C1D5-4816-A4BF-CF294232DD2E}"/>
              </a:ext>
            </a:extLst>
          </p:cNvPr>
          <p:cNvSpPr txBox="1">
            <a:spLocks/>
          </p:cNvSpPr>
          <p:nvPr/>
        </p:nvSpPr>
        <p:spPr>
          <a:xfrm>
            <a:off x="5764696" y="2124281"/>
            <a:ext cx="6427304" cy="4197794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id-ID" sz="2200" dirty="0">
                <a:solidFill>
                  <a:schemeClr val="bg1"/>
                </a:solidFill>
              </a:rPr>
              <a:t>Rancangan acak </a:t>
            </a:r>
            <a:r>
              <a:rPr lang="en-US" sz="2200" dirty="0" err="1">
                <a:solidFill>
                  <a:schemeClr val="bg1"/>
                </a:solidFill>
              </a:rPr>
              <a:t>kelompok</a:t>
            </a:r>
            <a:r>
              <a:rPr lang="id-ID" sz="2200" dirty="0">
                <a:solidFill>
                  <a:schemeClr val="bg1"/>
                </a:solidFill>
              </a:rPr>
              <a:t> (RA</a:t>
            </a:r>
            <a:r>
              <a:rPr lang="en-US" sz="2200" dirty="0">
                <a:solidFill>
                  <a:schemeClr val="bg1"/>
                </a:solidFill>
              </a:rPr>
              <a:t>K</a:t>
            </a:r>
            <a:r>
              <a:rPr lang="id-ID" sz="2200" dirty="0">
                <a:solidFill>
                  <a:schemeClr val="bg1"/>
                </a:solidFill>
              </a:rPr>
              <a:t>) </a:t>
            </a:r>
            <a:r>
              <a:rPr lang="en-US" sz="2200" dirty="0">
                <a:solidFill>
                  <a:schemeClr val="bg1"/>
                </a:solidFill>
              </a:rPr>
              <a:t>b</a:t>
            </a:r>
            <a:r>
              <a:rPr lang="id-ID" sz="2200" dirty="0">
                <a:solidFill>
                  <a:schemeClr val="bg1"/>
                </a:solidFill>
              </a:rPr>
              <a:t>iasa disebut klasifikasi </a:t>
            </a:r>
            <a:r>
              <a:rPr lang="en-US" sz="2200" dirty="0" err="1">
                <a:solidFill>
                  <a:schemeClr val="bg1"/>
                </a:solidFill>
              </a:rPr>
              <a:t>dua</a:t>
            </a:r>
            <a:r>
              <a:rPr lang="id-ID" sz="2200" dirty="0">
                <a:solidFill>
                  <a:schemeClr val="bg1"/>
                </a:solidFill>
              </a:rPr>
              <a:t>-arah </a:t>
            </a:r>
            <a:r>
              <a:rPr lang="id-ID" sz="2200" b="1" dirty="0">
                <a:solidFill>
                  <a:schemeClr val="bg1"/>
                </a:solidFill>
              </a:rPr>
              <a:t>‘</a:t>
            </a:r>
            <a:r>
              <a:rPr lang="en-US" sz="2200" b="1" dirty="0">
                <a:solidFill>
                  <a:schemeClr val="bg1"/>
                </a:solidFill>
              </a:rPr>
              <a:t>Two</a:t>
            </a:r>
            <a:r>
              <a:rPr lang="id-ID" sz="2200" b="1" dirty="0">
                <a:solidFill>
                  <a:schemeClr val="bg1"/>
                </a:solidFill>
              </a:rPr>
              <a:t>-way ANOVA’</a:t>
            </a:r>
            <a:r>
              <a:rPr lang="id-ID" sz="2200" dirty="0">
                <a:solidFill>
                  <a:schemeClr val="bg1"/>
                </a:solidFill>
              </a:rPr>
              <a:t> karena perlakuan yang diujikan </a:t>
            </a:r>
            <a:r>
              <a:rPr lang="en-US" sz="2200" dirty="0" err="1">
                <a:solidFill>
                  <a:schemeClr val="bg1"/>
                </a:solidFill>
              </a:rPr>
              <a:t>ada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DUA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jenis</a:t>
            </a:r>
            <a:endParaRPr lang="id-ID" sz="22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id-ID" sz="2200" dirty="0">
                <a:solidFill>
                  <a:schemeClr val="bg1"/>
                </a:solidFill>
              </a:rPr>
              <a:t>Tujuan pengelompokkan untuk </a:t>
            </a:r>
            <a:r>
              <a:rPr lang="en-US" sz="2200" b="1" dirty="0">
                <a:solidFill>
                  <a:schemeClr val="bg1"/>
                </a:solidFill>
              </a:rPr>
              <a:t>MENGONTROL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keragaman</a:t>
            </a:r>
            <a:r>
              <a:rPr lang="en-US" sz="2200" dirty="0">
                <a:solidFill>
                  <a:schemeClr val="bg1"/>
                </a:solidFill>
              </a:rPr>
              <a:t> yang </a:t>
            </a:r>
            <a:r>
              <a:rPr lang="en-US" sz="2200" dirty="0" err="1">
                <a:solidFill>
                  <a:schemeClr val="bg1"/>
                </a:solidFill>
              </a:rPr>
              <a:t>timbul</a:t>
            </a:r>
            <a:endParaRPr lang="id-ID" sz="22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200" dirty="0" err="1">
                <a:solidFill>
                  <a:schemeClr val="bg1"/>
                </a:solidFill>
              </a:rPr>
              <a:t>Pengembangan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dari</a:t>
            </a:r>
            <a:r>
              <a:rPr lang="en-US" sz="2200" dirty="0">
                <a:solidFill>
                  <a:schemeClr val="bg1"/>
                </a:solidFill>
              </a:rPr>
              <a:t> RAL </a:t>
            </a:r>
            <a:r>
              <a:rPr lang="en-US" sz="2200" dirty="0" err="1">
                <a:solidFill>
                  <a:schemeClr val="bg1"/>
                </a:solidFill>
              </a:rPr>
              <a:t>dimana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terdapat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PENGELOMPOKAN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satuan-satuan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percobaan</a:t>
            </a:r>
            <a:endParaRPr lang="id-ID" sz="22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200" dirty="0" err="1">
                <a:solidFill>
                  <a:schemeClr val="bg1"/>
                </a:solidFill>
              </a:rPr>
              <a:t>Menciptakan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KERAGAMAN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dalam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percobaan</a:t>
            </a:r>
            <a:r>
              <a:rPr lang="en-US" sz="2200" dirty="0">
                <a:solidFill>
                  <a:schemeClr val="bg1"/>
                </a:solidFill>
              </a:rPr>
              <a:t> → </a:t>
            </a:r>
            <a:r>
              <a:rPr lang="en-US" sz="2200" dirty="0" err="1">
                <a:solidFill>
                  <a:schemeClr val="bg1"/>
                </a:solidFill>
              </a:rPr>
              <a:t>pengaruh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perlakuan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pengaruh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kelompok</a:t>
            </a:r>
            <a:r>
              <a:rPr lang="en-US" sz="2200" dirty="0">
                <a:solidFill>
                  <a:schemeClr val="bg1"/>
                </a:solidFill>
              </a:rPr>
              <a:t> (</a:t>
            </a:r>
            <a:r>
              <a:rPr lang="en-US" sz="2200" dirty="0" err="1">
                <a:solidFill>
                  <a:schemeClr val="bg1"/>
                </a:solidFill>
              </a:rPr>
              <a:t>jumlah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perlakuan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sama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pada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tiap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kelompok</a:t>
            </a:r>
            <a:r>
              <a:rPr lang="en-US" sz="2200" dirty="0">
                <a:solidFill>
                  <a:schemeClr val="bg1"/>
                </a:solidFill>
              </a:rPr>
              <a:t>), </a:t>
            </a:r>
            <a:r>
              <a:rPr lang="en-US" sz="2200" dirty="0" err="1">
                <a:solidFill>
                  <a:schemeClr val="bg1"/>
                </a:solidFill>
              </a:rPr>
              <a:t>dan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pengaruh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acak</a:t>
            </a:r>
            <a:endParaRPr lang="en-US" sz="2200" dirty="0">
              <a:solidFill>
                <a:schemeClr val="bg1"/>
              </a:solidFill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970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CDB22B-3954-4C70-B0CF-3ED83F797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14" name="Picture 13" descr="D:\4.jpg">
            <a:extLst>
              <a:ext uri="{FF2B5EF4-FFF2-40B4-BE49-F238E27FC236}">
                <a16:creationId xmlns:a16="http://schemas.microsoft.com/office/drawing/2014/main" id="{1FD56655-5F18-4D0B-A381-74904E0D7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2880B8C-267D-4A43-91E8-4A80B42BC55A}"/>
              </a:ext>
            </a:extLst>
          </p:cNvPr>
          <p:cNvSpPr txBox="1">
            <a:spLocks/>
          </p:cNvSpPr>
          <p:nvPr/>
        </p:nvSpPr>
        <p:spPr>
          <a:xfrm>
            <a:off x="1833175" y="1123787"/>
            <a:ext cx="5733816" cy="281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▫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-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-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-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-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-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●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○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000"/>
              <a:buFont typeface="Titillium Web"/>
              <a:buChar char="■"/>
              <a:defRPr sz="20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800" b="1" dirty="0" err="1">
                <a:solidFill>
                  <a:schemeClr val="bg1"/>
                </a:solidFill>
              </a:rPr>
              <a:t>Kelompok</a:t>
            </a:r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blok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bisa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berupa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  <a:p>
            <a:pPr marL="798513" indent="-514350">
              <a:buFont typeface="Titillium Web"/>
              <a:buAutoNum type="arabicPeriod"/>
            </a:pPr>
            <a:r>
              <a:rPr lang="en-US" sz="2800" dirty="0" err="1">
                <a:solidFill>
                  <a:schemeClr val="bg1"/>
                </a:solidFill>
              </a:rPr>
              <a:t>Pemisahan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tempat</a:t>
            </a:r>
            <a:endParaRPr lang="en-US" sz="2800" dirty="0">
              <a:solidFill>
                <a:schemeClr val="bg1"/>
              </a:solidFill>
            </a:endParaRPr>
          </a:p>
          <a:p>
            <a:pPr marL="798513" indent="-514350">
              <a:buFont typeface="Titillium Web"/>
              <a:buAutoNum type="arabicPeriod"/>
            </a:pPr>
            <a:r>
              <a:rPr lang="en-US" sz="2800" dirty="0" err="1">
                <a:solidFill>
                  <a:schemeClr val="bg1"/>
                </a:solidFill>
              </a:rPr>
              <a:t>Pemisahan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dimensi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bahan</a:t>
            </a:r>
            <a:endParaRPr lang="en-US" sz="2800" dirty="0">
              <a:solidFill>
                <a:schemeClr val="bg1"/>
              </a:solidFill>
            </a:endParaRPr>
          </a:p>
          <a:p>
            <a:pPr marL="798513" indent="-514350">
              <a:buFont typeface="Titillium Web"/>
              <a:buAutoNum type="arabicPeriod"/>
            </a:pPr>
            <a:r>
              <a:rPr lang="en-US" sz="2800" dirty="0" err="1">
                <a:solidFill>
                  <a:schemeClr val="bg1"/>
                </a:solidFill>
              </a:rPr>
              <a:t>Pemisahan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waktu</a:t>
            </a:r>
            <a:endParaRPr lang="en-US" sz="2800" dirty="0">
              <a:solidFill>
                <a:schemeClr val="bg1"/>
              </a:solidFill>
            </a:endParaRPr>
          </a:p>
          <a:p>
            <a:pPr marL="798513" indent="-514350">
              <a:buFont typeface="Titillium Web"/>
              <a:buAutoNum type="arabicPeriod"/>
            </a:pPr>
            <a:r>
              <a:rPr lang="en-US" sz="2800" dirty="0" err="1">
                <a:solidFill>
                  <a:schemeClr val="bg1"/>
                </a:solidFill>
              </a:rPr>
              <a:t>dsb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id-ID" sz="2800" dirty="0">
              <a:solidFill>
                <a:schemeClr val="bg1"/>
              </a:solidFill>
            </a:endParaRPr>
          </a:p>
          <a:p>
            <a:pPr marL="0" indent="0">
              <a:buFont typeface="Titillium Web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96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CDB22B-3954-4C70-B0CF-3ED83F797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14" name="Picture 13" descr="D:\4.jpg">
            <a:extLst>
              <a:ext uri="{FF2B5EF4-FFF2-40B4-BE49-F238E27FC236}">
                <a16:creationId xmlns:a16="http://schemas.microsoft.com/office/drawing/2014/main" id="{1FD56655-5F18-4D0B-A381-74904E0D7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0D3579B-1E1C-4CC0-B0EC-030DACD63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131" y="262025"/>
            <a:ext cx="4189214" cy="936244"/>
          </a:xfrm>
        </p:spPr>
        <p:txBody>
          <a:bodyPr/>
          <a:lstStyle/>
          <a:p>
            <a:r>
              <a:rPr lang="en-US" sz="4800" b="1" dirty="0">
                <a:solidFill>
                  <a:srgbClr val="FFFF00"/>
                </a:solidFill>
              </a:rPr>
              <a:t>CIRI-CIRI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sz="4800" b="1" dirty="0">
                <a:solidFill>
                  <a:srgbClr val="FFFF00"/>
                </a:solidFill>
              </a:rPr>
              <a:t>RAK</a:t>
            </a:r>
            <a:endParaRPr lang="en-US" sz="4800" dirty="0">
              <a:solidFill>
                <a:srgbClr val="FFFF0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D60794-3727-4B13-9099-DCC89D0F9465}"/>
              </a:ext>
            </a:extLst>
          </p:cNvPr>
          <p:cNvSpPr txBox="1">
            <a:spLocks/>
          </p:cNvSpPr>
          <p:nvPr/>
        </p:nvSpPr>
        <p:spPr>
          <a:xfrm>
            <a:off x="669398" y="1672728"/>
            <a:ext cx="7262179" cy="23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▫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-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-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-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-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-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●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○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1800"/>
              <a:buFont typeface="Titillium Web"/>
              <a:buChar char="■"/>
              <a:defRPr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514350" indent="-514350" algn="just">
              <a:buFont typeface="Titillium Web"/>
              <a:buAutoNum type="arabicPeriod"/>
            </a:pPr>
            <a:r>
              <a:rPr lang="id-ID" sz="2400" dirty="0">
                <a:latin typeface="Arial" panose="020B0604020202020204" pitchFamily="34" charset="0"/>
                <a:cs typeface="Arial" panose="020B0604020202020204" pitchFamily="34" charset="0"/>
              </a:rPr>
              <a:t>Kondisi percobaan heterogen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Font typeface="Titillium Web"/>
              <a:buAutoNum type="arabicPeriod"/>
            </a:pPr>
            <a:r>
              <a:rPr lang="id-ID" sz="2400" dirty="0">
                <a:latin typeface="Arial" panose="020B0604020202020204" pitchFamily="34" charset="0"/>
                <a:cs typeface="Arial" panose="020B0604020202020204" pitchFamily="34" charset="0"/>
              </a:rPr>
              <a:t>Keragaman variabel yang diamati </a:t>
            </a:r>
            <a:r>
              <a:rPr lang="id-ID" sz="2400" b="1" dirty="0">
                <a:latin typeface="Arial" panose="020B0604020202020204" pitchFamily="34" charset="0"/>
                <a:cs typeface="Arial" panose="020B0604020202020204" pitchFamily="34" charset="0"/>
              </a:rPr>
              <a:t>BUKAN</a:t>
            </a:r>
            <a:r>
              <a:rPr lang="id-ID" sz="2400" dirty="0">
                <a:latin typeface="Arial" panose="020B0604020202020204" pitchFamily="34" charset="0"/>
                <a:cs typeface="Arial" panose="020B0604020202020204" pitchFamily="34" charset="0"/>
              </a:rPr>
              <a:t> hanya berasal dari treatment/</a:t>
            </a:r>
            <a:r>
              <a:rPr lang="id-ID" sz="2400" b="1" dirty="0">
                <a:latin typeface="Arial" panose="020B0604020202020204" pitchFamily="34" charset="0"/>
                <a:cs typeface="Arial" panose="020B0604020202020204" pitchFamily="34" charset="0"/>
              </a:rPr>
              <a:t>perlakuan</a:t>
            </a:r>
            <a:r>
              <a:rPr lang="id-ID" sz="2400" dirty="0">
                <a:latin typeface="Arial" panose="020B0604020202020204" pitchFamily="34" charset="0"/>
                <a:cs typeface="Arial" panose="020B0604020202020204" pitchFamily="34" charset="0"/>
              </a:rPr>
              <a:t>, tetapi juga dari </a:t>
            </a:r>
            <a:r>
              <a:rPr lang="id-ID" sz="2400" b="1" dirty="0">
                <a:latin typeface="Arial" panose="020B0604020202020204" pitchFamily="34" charset="0"/>
                <a:cs typeface="Arial" panose="020B0604020202020204" pitchFamily="34" charset="0"/>
              </a:rPr>
              <a:t>pengelompokkan</a:t>
            </a:r>
            <a:r>
              <a:rPr lang="id-ID" sz="2400" dirty="0">
                <a:latin typeface="Arial" panose="020B0604020202020204" pitchFamily="34" charset="0"/>
                <a:cs typeface="Arial" panose="020B0604020202020204" pitchFamily="34" charset="0"/>
              </a:rPr>
              <a:t>/blok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CDB22B-3954-4C70-B0CF-3ED83F797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14" name="Picture 13" descr="D:\4.jpg">
            <a:extLst>
              <a:ext uri="{FF2B5EF4-FFF2-40B4-BE49-F238E27FC236}">
                <a16:creationId xmlns:a16="http://schemas.microsoft.com/office/drawing/2014/main" id="{1FD56655-5F18-4D0B-A381-74904E0D7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A08AD9-D628-4590-BFE2-4C311111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339" y="535925"/>
            <a:ext cx="3902740" cy="7279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HIPOTESIS RAK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5D6E0D-C976-4765-AB4E-42E8B33AC26C}"/>
              </a:ext>
            </a:extLst>
          </p:cNvPr>
          <p:cNvSpPr txBox="1">
            <a:spLocks/>
          </p:cNvSpPr>
          <p:nvPr/>
        </p:nvSpPr>
        <p:spPr>
          <a:xfrm>
            <a:off x="828743" y="1631494"/>
            <a:ext cx="7151476" cy="215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▫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●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○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■"/>
              <a:defRPr sz="24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H0   : µ1=µ2=µ3=… (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perbedaan</a:t>
            </a:r>
            <a:r>
              <a:rPr lang="en-US" sz="2800" dirty="0"/>
              <a:t>)</a:t>
            </a:r>
            <a:endParaRPr lang="id-ID" sz="28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H1 : minimal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sepasang</a:t>
            </a:r>
            <a:r>
              <a:rPr lang="en-US" sz="2800" dirty="0"/>
              <a:t> µ yang </a:t>
            </a:r>
            <a:r>
              <a:rPr lang="en-US" sz="2800" dirty="0" err="1"/>
              <a:t>tidak</a:t>
            </a:r>
            <a:r>
              <a:rPr lang="en-US" sz="2800" dirty="0"/>
              <a:t>     </a:t>
            </a:r>
            <a:r>
              <a:rPr lang="en-US" sz="2800" dirty="0" err="1"/>
              <a:t>sama</a:t>
            </a:r>
            <a:endParaRPr lang="en-US" dirty="0"/>
          </a:p>
          <a:p>
            <a:pPr marL="0" indent="0">
              <a:buFont typeface="Titillium Web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CDB22B-3954-4C70-B0CF-3ED83F797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14" name="Picture 13" descr="D:\4.jpg">
            <a:extLst>
              <a:ext uri="{FF2B5EF4-FFF2-40B4-BE49-F238E27FC236}">
                <a16:creationId xmlns:a16="http://schemas.microsoft.com/office/drawing/2014/main" id="{1FD56655-5F18-4D0B-A381-74904E0D7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1B0FAE-4E8B-421D-A111-A3EAC77662F7}"/>
              </a:ext>
            </a:extLst>
          </p:cNvPr>
          <p:cNvSpPr/>
          <p:nvPr/>
        </p:nvSpPr>
        <p:spPr>
          <a:xfrm>
            <a:off x="1521344" y="962270"/>
            <a:ext cx="52786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FFFF00"/>
                </a:solidFill>
              </a:rPr>
              <a:t>Keuntungan</a:t>
            </a:r>
            <a:r>
              <a:rPr lang="en-US" sz="2800" b="1" dirty="0">
                <a:solidFill>
                  <a:srgbClr val="FFFF00"/>
                </a:solidFill>
              </a:rPr>
              <a:t> </a:t>
            </a:r>
            <a:r>
              <a:rPr lang="en-US" sz="2800" b="1" dirty="0" err="1">
                <a:solidFill>
                  <a:srgbClr val="FFFF00"/>
                </a:solidFill>
              </a:rPr>
              <a:t>menggunakan</a:t>
            </a:r>
            <a:r>
              <a:rPr lang="en-US" sz="2800" b="1" dirty="0">
                <a:solidFill>
                  <a:srgbClr val="FFFF00"/>
                </a:solidFill>
              </a:rPr>
              <a:t> RAK</a:t>
            </a:r>
            <a:endParaRPr lang="id-ID" sz="2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EDFBA7-2D05-4048-A0C4-5CC71608FDA9}"/>
              </a:ext>
            </a:extLst>
          </p:cNvPr>
          <p:cNvSpPr txBox="1">
            <a:spLocks/>
          </p:cNvSpPr>
          <p:nvPr/>
        </p:nvSpPr>
        <p:spPr>
          <a:xfrm>
            <a:off x="1126436" y="2114072"/>
            <a:ext cx="6351738" cy="12980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Ketepatan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ketelitian</a:t>
            </a:r>
            <a:r>
              <a:rPr lang="en-US" sz="2400" dirty="0">
                <a:solidFill>
                  <a:schemeClr val="bg1"/>
                </a:solidFill>
              </a:rPr>
              <a:t> yang </a:t>
            </a:r>
            <a:r>
              <a:rPr lang="en-US" sz="2400" dirty="0" err="1">
                <a:solidFill>
                  <a:schemeClr val="bg1"/>
                </a:solidFill>
              </a:rPr>
              <a:t>lebih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tinggi</a:t>
            </a:r>
            <a:endParaRPr lang="en-US" sz="2400" dirty="0">
              <a:solidFill>
                <a:schemeClr val="bg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Fleksibilitas</a:t>
            </a:r>
            <a:r>
              <a:rPr lang="en-US" sz="2400" dirty="0">
                <a:solidFill>
                  <a:schemeClr val="bg1"/>
                </a:solidFill>
              </a:rPr>
              <a:t> yang </a:t>
            </a:r>
            <a:r>
              <a:rPr lang="en-US" sz="2400" dirty="0" err="1">
                <a:solidFill>
                  <a:schemeClr val="bg1"/>
                </a:solidFill>
              </a:rPr>
              <a:t>lebih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tinggi</a:t>
            </a:r>
            <a:endParaRPr lang="en-US" sz="2400" dirty="0">
              <a:solidFill>
                <a:schemeClr val="bg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Penarikan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kesimpulan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lebih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luas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856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5F4DE-560C-40F7-AF4B-F2ED753834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17" b="43575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2D0133-F07C-4A8F-ADB5-4A8FCCE94AA8}"/>
              </a:ext>
            </a:extLst>
          </p:cNvPr>
          <p:cNvSpPr/>
          <p:nvPr/>
        </p:nvSpPr>
        <p:spPr>
          <a:xfrm>
            <a:off x="6321287" y="0"/>
            <a:ext cx="587071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D41BD3C7-F72A-474C-A9A8-AC161466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9DF0D1D-8FFB-4AAD-A542-6A38E0A0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1739" y="0"/>
            <a:ext cx="5429808" cy="1288483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FFFF00"/>
                </a:solidFill>
              </a:rPr>
              <a:t>Kekurangan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menggunakan</a:t>
            </a:r>
            <a:r>
              <a:rPr lang="en-US" b="1" dirty="0">
                <a:solidFill>
                  <a:srgbClr val="FFFF00"/>
                </a:solidFill>
              </a:rPr>
              <a:t> RAK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36A2C1-3EDE-4F9B-B7B2-99DE73DB16FB}"/>
              </a:ext>
            </a:extLst>
          </p:cNvPr>
          <p:cNvSpPr txBox="1">
            <a:spLocks/>
          </p:cNvSpPr>
          <p:nvPr/>
        </p:nvSpPr>
        <p:spPr>
          <a:xfrm>
            <a:off x="6321286" y="1915932"/>
            <a:ext cx="5870713" cy="41923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Peningkatan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ketepatan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pengelompokkan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menurun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dengan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semakin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meningkatnya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jumlah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satuan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percobaan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dalam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kelompok</a:t>
            </a:r>
            <a:endParaRPr lang="en-US" sz="24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Interaksi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antara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kelompok</a:t>
            </a:r>
            <a:r>
              <a:rPr lang="en-US" sz="2400" dirty="0">
                <a:solidFill>
                  <a:schemeClr val="bg1"/>
                </a:solidFill>
              </a:rPr>
              <a:t> dan </a:t>
            </a:r>
            <a:r>
              <a:rPr lang="en-US" sz="2400" dirty="0" err="1">
                <a:solidFill>
                  <a:schemeClr val="bg1"/>
                </a:solidFill>
              </a:rPr>
              <a:t>perlakuan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sulit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dianalisis</a:t>
            </a:r>
            <a:endParaRPr lang="en-US" sz="24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Derajat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bebas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kelompok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menurunkan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derajat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bebas</a:t>
            </a:r>
            <a:r>
              <a:rPr lang="en-US" sz="2400" dirty="0">
                <a:solidFill>
                  <a:schemeClr val="bg1"/>
                </a:solidFill>
              </a:rPr>
              <a:t> error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994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5F4DE-560C-40F7-AF4B-F2ED753834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17" b="43575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2D0133-F07C-4A8F-ADB5-4A8FCCE94AA8}"/>
              </a:ext>
            </a:extLst>
          </p:cNvPr>
          <p:cNvSpPr/>
          <p:nvPr/>
        </p:nvSpPr>
        <p:spPr>
          <a:xfrm>
            <a:off x="6321287" y="0"/>
            <a:ext cx="587071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D41BD3C7-F72A-474C-A9A8-AC161466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D02D240-B378-4B01-B787-9D442A02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808" y="162981"/>
            <a:ext cx="5815192" cy="840227"/>
          </a:xfrm>
        </p:spPr>
        <p:txBody>
          <a:bodyPr>
            <a:normAutofit fontScale="90000"/>
          </a:bodyPr>
          <a:lstStyle/>
          <a:p>
            <a:r>
              <a:rPr lang="id-ID" b="1" dirty="0">
                <a:solidFill>
                  <a:srgbClr val="FFFF00"/>
                </a:solidFill>
              </a:rPr>
              <a:t>KAIDAH PENARIKAN KESIMPULAN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37AFF6-4AD2-4B5D-9CE0-92B717EB1131}"/>
              </a:ext>
            </a:extLst>
          </p:cNvPr>
          <p:cNvSpPr txBox="1">
            <a:spLocks/>
          </p:cNvSpPr>
          <p:nvPr/>
        </p:nvSpPr>
        <p:spPr>
          <a:xfrm>
            <a:off x="6376808" y="1902834"/>
            <a:ext cx="5815193" cy="38019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400" dirty="0">
                <a:solidFill>
                  <a:schemeClr val="bg1"/>
                </a:solidFill>
              </a:rPr>
              <a:t>1. </a:t>
            </a:r>
            <a:r>
              <a:rPr lang="id-ID" sz="2400" dirty="0">
                <a:solidFill>
                  <a:schemeClr val="bg1"/>
                </a:solidFill>
              </a:rPr>
              <a:t>F hit &lt; F tab 5%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P value &gt; α 5%</a:t>
            </a:r>
          </a:p>
          <a:p>
            <a:pPr marL="349250" algn="just"/>
            <a:r>
              <a:rPr lang="id-ID" sz="2400" dirty="0">
                <a:solidFill>
                  <a:schemeClr val="bg1"/>
                </a:solidFill>
              </a:rPr>
              <a:t>Gagal tolak H0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terima</a:t>
            </a:r>
            <a:r>
              <a:rPr lang="en-US" sz="2400" dirty="0">
                <a:solidFill>
                  <a:schemeClr val="bg1"/>
                </a:solidFill>
              </a:rPr>
              <a:t> H0 </a:t>
            </a:r>
            <a:r>
              <a:rPr lang="id-ID" sz="2400" dirty="0">
                <a:solidFill>
                  <a:schemeClr val="bg1"/>
                </a:solidFill>
              </a:rPr>
              <a:t>artinya tidak ada perbedaan yang nyata atas pemberian perlakuan</a:t>
            </a:r>
            <a:endParaRPr lang="en-US" sz="2400" dirty="0">
              <a:solidFill>
                <a:schemeClr val="bg1"/>
              </a:solidFill>
            </a:endParaRPr>
          </a:p>
          <a:p>
            <a:pPr marL="349250"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2. </a:t>
            </a:r>
            <a:r>
              <a:rPr lang="id-ID" sz="2400" dirty="0">
                <a:solidFill>
                  <a:schemeClr val="bg1"/>
                </a:solidFill>
              </a:rPr>
              <a:t>F hit &gt; F tab 5%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P value &lt; α 5%</a:t>
            </a:r>
          </a:p>
          <a:p>
            <a:pPr marL="349250" algn="just"/>
            <a:r>
              <a:rPr lang="id-ID" sz="2400" dirty="0">
                <a:solidFill>
                  <a:schemeClr val="bg1"/>
                </a:solidFill>
              </a:rPr>
              <a:t>Tolak H0, terima H1. Artinya ada perbedaan yang nyata antar perlakuan yang diberikan (dengan selang kepercayaan 95%)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7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305F7-6FA8-4A51-B6AF-29A317E1C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EDF473-9A00-45A2-86DA-130E6A96EA5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73242" y="1175061"/>
            <a:ext cx="8484025" cy="476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8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305F7-6FA8-4A51-B6AF-29A317E1C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E995CF-7A62-4531-936A-39BC06A33112}"/>
              </a:ext>
            </a:extLst>
          </p:cNvPr>
          <p:cNvSpPr/>
          <p:nvPr/>
        </p:nvSpPr>
        <p:spPr>
          <a:xfrm>
            <a:off x="907312" y="535925"/>
            <a:ext cx="4151172" cy="557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INDIVIDU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55112-04E6-4A13-8FD2-018D98D87A6F}"/>
              </a:ext>
            </a:extLst>
          </p:cNvPr>
          <p:cNvSpPr/>
          <p:nvPr/>
        </p:nvSpPr>
        <p:spPr>
          <a:xfrm>
            <a:off x="907312" y="1260401"/>
            <a:ext cx="9217349" cy="39477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Membuat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Uji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Lanjutan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Berupa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Screenshots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beserta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keterangan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en-ID" sz="2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>
              <a:buAutoNum type="alphaUcPeriod"/>
            </a:pP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Uji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Lanjutan</a:t>
            </a:r>
            <a:endParaRPr lang="en-US" sz="2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>
              <a:buAutoNum type="alphaUcPeriod"/>
            </a:pP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Uji RAK</a:t>
            </a:r>
          </a:p>
          <a:p>
            <a:endParaRPr lang="en-US" sz="2400" b="1" u="sng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en-US" sz="2400" b="1" u="sng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NB: Data pada </a:t>
            </a:r>
            <a:r>
              <a:rPr lang="en-ID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Kolom</a:t>
            </a: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Sheets ‘</a:t>
            </a:r>
            <a:r>
              <a:rPr lang="en-ID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Tugas</a:t>
            </a: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’ &amp; </a:t>
            </a:r>
            <a:r>
              <a:rPr lang="en-ID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Ketentuan</a:t>
            </a: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Penulisan</a:t>
            </a: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www.statistikapspk.wordpress.com</a:t>
            </a:r>
          </a:p>
        </p:txBody>
      </p:sp>
    </p:spTree>
    <p:extLst>
      <p:ext uri="{BB962C8B-B14F-4D97-AF65-F5344CB8AC3E}">
        <p14:creationId xmlns:p14="http://schemas.microsoft.com/office/powerpoint/2010/main" val="2253829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305F7-6FA8-4A51-B6AF-29A317E1C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F7001F-F1A3-490A-90A0-F8FE7CFCFE27}"/>
              </a:ext>
            </a:extLst>
          </p:cNvPr>
          <p:cNvSpPr>
            <a:spLocks noGrp="1"/>
          </p:cNvSpPr>
          <p:nvPr/>
        </p:nvSpPr>
        <p:spPr>
          <a:xfrm>
            <a:off x="765544" y="432391"/>
            <a:ext cx="6455820" cy="9193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KETENTUAN TUGAS</a:t>
            </a:r>
            <a:r>
              <a:rPr lang="en-GB" b="1" dirty="0">
                <a:solidFill>
                  <a:schemeClr val="tx1"/>
                </a:solidFill>
                <a:latin typeface="Century Gothic" panose="020B0502020202020204" pitchFamily="34" charset="0"/>
              </a:rPr>
              <a:t> INDIVIDU</a:t>
            </a:r>
            <a:endParaRPr lang="id-ID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D1BA9-2362-4E5A-BADC-345CBA69388D}"/>
              </a:ext>
            </a:extLst>
          </p:cNvPr>
          <p:cNvSpPr/>
          <p:nvPr/>
        </p:nvSpPr>
        <p:spPr>
          <a:xfrm>
            <a:off x="765544" y="1646719"/>
            <a:ext cx="9435101" cy="46348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dirty="0">
                <a:solidFill>
                  <a:schemeClr val="tx1"/>
                </a:solidFill>
                <a:latin typeface="Century Gothic" panose="020B0502020202020204" pitchFamily="34" charset="0"/>
              </a:rPr>
              <a:t>Dikumpulkan paling lambat minggu depan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(</a:t>
            </a:r>
            <a:r>
              <a:rPr lang="en-US" b="1" u="sng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Kamis</a:t>
            </a:r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,  April 2019 </a:t>
            </a:r>
            <a:r>
              <a:rPr lang="en-US" b="1" u="sng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pukul</a:t>
            </a:r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 18.00) </a:t>
            </a:r>
            <a:r>
              <a:rPr lang="en-US" b="1" u="sng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prodi</a:t>
            </a:r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 IK  &amp; (</a:t>
            </a:r>
            <a:r>
              <a:rPr lang="en-US" b="1" u="sng" dirty="0" err="1">
                <a:solidFill>
                  <a:schemeClr val="tx1"/>
                </a:solidFill>
                <a:latin typeface="Century Gothic" panose="020B0502020202020204" pitchFamily="34" charset="0"/>
              </a:rPr>
              <a:t>Jumat</a:t>
            </a:r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, 26 April 2019 </a:t>
            </a:r>
            <a:r>
              <a:rPr lang="en-US" b="1" u="sng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pukul</a:t>
            </a:r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 18.00)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prodi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PSP </a:t>
            </a:r>
            <a:r>
              <a:rPr lang="id-ID" dirty="0">
                <a:solidFill>
                  <a:schemeClr val="tx1"/>
                </a:solidFill>
                <a:latin typeface="Century Gothic" panose="020B0502020202020204" pitchFamily="34" charset="0"/>
              </a:rPr>
              <a:t>dalam bentuk soft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id-ID" dirty="0">
                <a:solidFill>
                  <a:schemeClr val="tx1"/>
                </a:solidFill>
                <a:latin typeface="Century Gothic" panose="020B0502020202020204" pitchFamily="34" charset="0"/>
              </a:rPr>
              <a:t>file kirim ke email: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id-ID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Eghatrishnayana@gmail.com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		- (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1 &amp; 2)</a:t>
            </a:r>
          </a:p>
          <a:p>
            <a:r>
              <a:rPr lang="en-US" b="1" u="sng" dirty="0">
                <a:solidFill>
                  <a:schemeClr val="tx1"/>
                </a:solidFill>
                <a:latin typeface="Century Gothic" panose="020B0502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Salehmuhammadrizki31@gmail.com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	- (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3 &amp; 4)</a:t>
            </a:r>
          </a:p>
          <a:p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Format </a:t>
            </a:r>
            <a:r>
              <a:rPr lang="en-US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pengiriman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subjek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dan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entury Gothic" panose="020B0502020202020204" pitchFamily="34" charset="0"/>
              </a:rPr>
              <a:t>nama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</a:rPr>
              <a:t> file =</a:t>
            </a:r>
            <a:endParaRPr lang="id-ID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id-ID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Praktikum5/6_Nama_Kelas_NIM (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Tugas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Individu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) 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CO KELOMPOK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masing-masing</a:t>
            </a:r>
            <a:endParaRPr lang="id-ID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id-ID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NB: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Pembagian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asisten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sesuai</a:t>
            </a: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endParaRPr lang="id-ID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7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305F7-6FA8-4A51-B6AF-29A317E1C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D:\4.jpg">
            <a:extLst>
              <a:ext uri="{FF2B5EF4-FFF2-40B4-BE49-F238E27FC236}">
                <a16:creationId xmlns:a16="http://schemas.microsoft.com/office/drawing/2014/main" id="{97F89DC6-971F-4F15-80B5-6F5DDB3E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25809" y="8870"/>
            <a:ext cx="1166191" cy="1166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57CDA2-641D-48EB-8057-C01B4252D08C}"/>
              </a:ext>
            </a:extLst>
          </p:cNvPr>
          <p:cNvSpPr/>
          <p:nvPr/>
        </p:nvSpPr>
        <p:spPr>
          <a:xfrm>
            <a:off x="835703" y="262025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entury Gothic" panose="020B0502020202020204" pitchFamily="34" charset="0"/>
              </a:rPr>
              <a:t>KELOMPOK</a:t>
            </a:r>
            <a:endParaRPr lang="id-ID" sz="3600" b="1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E0612-E450-4AFC-AF79-9341B39806F9}"/>
              </a:ext>
            </a:extLst>
          </p:cNvPr>
          <p:cNvSpPr/>
          <p:nvPr/>
        </p:nvSpPr>
        <p:spPr>
          <a:xfrm>
            <a:off x="835704" y="1162494"/>
            <a:ext cx="8480574" cy="3168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entury Gothic" panose="020B0502020202020204" pitchFamily="34" charset="0"/>
              </a:rPr>
              <a:t>Laporan</a:t>
            </a:r>
            <a:r>
              <a:rPr lang="en-US" sz="2000" b="1" dirty="0">
                <a:latin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</a:t>
            </a:r>
            <a:r>
              <a:rPr lang="id-ID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ateri </a:t>
            </a:r>
            <a:r>
              <a:rPr lang="en-GB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“Uji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Lanjutan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” </a:t>
            </a:r>
            <a:r>
              <a:rPr lang="en-US" sz="2000" b="1" dirty="0" err="1">
                <a:latin typeface="Century Gothic" panose="020B0502020202020204" pitchFamily="34" charset="0"/>
              </a:rPr>
              <a:t>untuk</a:t>
            </a:r>
            <a:r>
              <a:rPr lang="en-US" sz="2000" b="1" dirty="0">
                <a:latin typeface="Century Gothic" panose="020B0502020202020204" pitchFamily="34" charset="0"/>
              </a:rPr>
              <a:t> </a:t>
            </a:r>
            <a:r>
              <a:rPr lang="en-US" sz="20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000" b="1" u="sng" dirty="0">
                <a:latin typeface="Century Gothic" panose="020B0502020202020204" pitchFamily="34" charset="0"/>
              </a:rPr>
              <a:t> 1</a:t>
            </a:r>
            <a:r>
              <a:rPr lang="en-US" sz="2000" b="1" dirty="0">
                <a:latin typeface="Century Gothic" panose="020B0502020202020204" pitchFamily="34" charset="0"/>
              </a:rPr>
              <a:t> dan </a:t>
            </a:r>
            <a:r>
              <a:rPr lang="en-US" sz="20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latin typeface="Century Gothic" panose="020B0502020202020204" pitchFamily="34" charset="0"/>
              </a:rPr>
              <a:t>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1" dirty="0" err="1">
                <a:latin typeface="Century Gothic" panose="020B0502020202020204" pitchFamily="34" charset="0"/>
              </a:rPr>
              <a:t>Laporan</a:t>
            </a:r>
            <a:r>
              <a:rPr lang="en-GB" sz="2000" b="1" dirty="0">
                <a:latin typeface="Century Gothic" panose="020B0502020202020204" pitchFamily="34" charset="0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Materi</a:t>
            </a:r>
            <a:r>
              <a:rPr lang="en-GB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6 “Uji RAK” </a:t>
            </a:r>
            <a:r>
              <a:rPr lang="en-GB" sz="2000" b="1" dirty="0" err="1">
                <a:latin typeface="Century Gothic" panose="020B0502020202020204" pitchFamily="34" charset="0"/>
              </a:rPr>
              <a:t>untuk</a:t>
            </a:r>
            <a:r>
              <a:rPr lang="en-GB" sz="2000" b="1" dirty="0">
                <a:latin typeface="Century Gothic" panose="020B0502020202020204" pitchFamily="34" charset="0"/>
              </a:rPr>
              <a:t> </a:t>
            </a:r>
            <a:r>
              <a:rPr lang="en-GB" sz="2000" b="1" u="sng" dirty="0" err="1">
                <a:latin typeface="Century Gothic" panose="020B0502020202020204" pitchFamily="34" charset="0"/>
              </a:rPr>
              <a:t>Kelompok</a:t>
            </a:r>
            <a:r>
              <a:rPr lang="en-GB" sz="2000" b="1" dirty="0">
                <a:latin typeface="Century Gothic" panose="020B0502020202020204" pitchFamily="34" charset="0"/>
              </a:rPr>
              <a:t> 2 dan </a:t>
            </a:r>
            <a:r>
              <a:rPr lang="en-GB" sz="2000" b="1" u="sng" dirty="0" err="1">
                <a:latin typeface="Century Gothic" panose="020B0502020202020204" pitchFamily="34" charset="0"/>
              </a:rPr>
              <a:t>Kelompok</a:t>
            </a:r>
            <a:r>
              <a:rPr lang="en-GB" sz="2000" b="1" dirty="0">
                <a:latin typeface="Century Gothic" panose="020B0502020202020204" pitchFamily="34" charset="0"/>
              </a:rPr>
              <a:t> 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b="1" u="sng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b="1" u="sng" dirty="0">
              <a:latin typeface="Century Gothic" panose="020B0502020202020204" pitchFamily="34" charset="0"/>
            </a:endParaRPr>
          </a:p>
          <a:p>
            <a:endParaRPr lang="id-ID" sz="2000" b="1" u="sng" dirty="0">
              <a:latin typeface="Century Gothic" panose="020B0502020202020204" pitchFamily="34" charset="0"/>
            </a:endParaRPr>
          </a:p>
          <a:p>
            <a:endParaRPr lang="en-US" sz="2000" b="1" dirty="0">
              <a:latin typeface="Century Gothic" panose="020B0502020202020204" pitchFamily="34" charset="0"/>
            </a:endParaRPr>
          </a:p>
          <a:p>
            <a:r>
              <a:rPr lang="en-US" sz="2000" b="1" dirty="0">
                <a:latin typeface="Century Gothic" panose="020B0502020202020204" pitchFamily="34" charset="0"/>
              </a:rPr>
              <a:t>NB: </a:t>
            </a:r>
            <a:r>
              <a:rPr lang="en-US" sz="2000" b="1" dirty="0" err="1">
                <a:latin typeface="Century Gothic" panose="020B0502020202020204" pitchFamily="34" charset="0"/>
              </a:rPr>
              <a:t>Ketentuan</a:t>
            </a:r>
            <a:r>
              <a:rPr lang="en-US" sz="2000" b="1" dirty="0">
                <a:latin typeface="Century Gothic" panose="020B0502020202020204" pitchFamily="34" charset="0"/>
              </a:rPr>
              <a:t> Format </a:t>
            </a:r>
            <a:r>
              <a:rPr lang="en-US" sz="2000" b="1" u="sng" dirty="0">
                <a:latin typeface="Century Gothic" panose="020B0502020202020204" pitchFamily="34" charset="0"/>
              </a:rPr>
              <a:t>www.statistikapspk.wordpress.com</a:t>
            </a:r>
            <a:endParaRPr lang="id-ID" sz="2000" b="1" u="sn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639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7;p41">
            <a:extLst>
              <a:ext uri="{FF2B5EF4-FFF2-40B4-BE49-F238E27FC236}">
                <a16:creationId xmlns:a16="http://schemas.microsoft.com/office/drawing/2014/main" id="{4A5CA8E8-AD64-47B4-8124-4228ED146C20}"/>
              </a:ext>
            </a:extLst>
          </p:cNvPr>
          <p:cNvSpPr txBox="1"/>
          <p:nvPr/>
        </p:nvSpPr>
        <p:spPr>
          <a:xfrm>
            <a:off x="3705435" y="2292909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20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</a:t>
            </a:r>
            <a:r>
              <a:rPr lang="id-ID" sz="720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ERIMA KASIH</a:t>
            </a:r>
            <a:endParaRPr sz="7200" dirty="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" name="Google Shape;1489;p41">
            <a:extLst>
              <a:ext uri="{FF2B5EF4-FFF2-40B4-BE49-F238E27FC236}">
                <a16:creationId xmlns:a16="http://schemas.microsoft.com/office/drawing/2014/main" id="{1347D527-CEDC-41A2-B0B1-370988F31C1E}"/>
              </a:ext>
            </a:extLst>
          </p:cNvPr>
          <p:cNvSpPr txBox="1"/>
          <p:nvPr/>
        </p:nvSpPr>
        <p:spPr>
          <a:xfrm>
            <a:off x="2264835" y="2292909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 dirty="0">
                <a:solidFill>
                  <a:srgbClr val="FFFF00"/>
                </a:solidFill>
              </a:rPr>
              <a:t>😉</a:t>
            </a:r>
            <a:endParaRPr sz="9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3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582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Titillium Web</vt:lpstr>
      <vt:lpstr>Titillium Web ExtraLight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CIRI-CIRI RAK</vt:lpstr>
      <vt:lpstr>HIPOTESIS RAK</vt:lpstr>
      <vt:lpstr>PowerPoint Presentation</vt:lpstr>
      <vt:lpstr>Kekurangan menggunakan RAK</vt:lpstr>
      <vt:lpstr>KAIDAH PENARIKAN KESIMPULAN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13</cp:revision>
  <dcterms:created xsi:type="dcterms:W3CDTF">2019-11-04T17:25:55Z</dcterms:created>
  <dcterms:modified xsi:type="dcterms:W3CDTF">2019-11-07T10:50:52Z</dcterms:modified>
</cp:coreProperties>
</file>