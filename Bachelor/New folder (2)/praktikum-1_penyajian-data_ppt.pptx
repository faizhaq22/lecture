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8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6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1F200-66EB-4998-AD2E-0D2C8C3651BD}" type="datetimeFigureOut">
              <a:rPr lang="id-ID" smtClean="0"/>
              <a:t>20/09/2019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711D-612C-4244-85DD-98E1B4FB4AD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19290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1F200-66EB-4998-AD2E-0D2C8C3651BD}" type="datetimeFigureOut">
              <a:rPr lang="id-ID" smtClean="0"/>
              <a:t>20/09/2019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711D-612C-4244-85DD-98E1B4FB4AD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13819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1F200-66EB-4998-AD2E-0D2C8C3651BD}" type="datetimeFigureOut">
              <a:rPr lang="id-ID" smtClean="0"/>
              <a:t>20/09/2019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711D-612C-4244-85DD-98E1B4FB4AD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35030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1F200-66EB-4998-AD2E-0D2C8C3651BD}" type="datetimeFigureOut">
              <a:rPr lang="id-ID" smtClean="0"/>
              <a:t>20/09/2019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711D-612C-4244-85DD-98E1B4FB4AD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32247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1F200-66EB-4998-AD2E-0D2C8C3651BD}" type="datetimeFigureOut">
              <a:rPr lang="id-ID" smtClean="0"/>
              <a:t>20/09/2019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711D-612C-4244-85DD-98E1B4FB4AD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49687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1F200-66EB-4998-AD2E-0D2C8C3651BD}" type="datetimeFigureOut">
              <a:rPr lang="id-ID" smtClean="0"/>
              <a:t>20/09/2019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711D-612C-4244-85DD-98E1B4FB4AD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6795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1F200-66EB-4998-AD2E-0D2C8C3651BD}" type="datetimeFigureOut">
              <a:rPr lang="id-ID" smtClean="0"/>
              <a:t>20/09/2019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711D-612C-4244-85DD-98E1B4FB4AD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5131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1F200-66EB-4998-AD2E-0D2C8C3651BD}" type="datetimeFigureOut">
              <a:rPr lang="id-ID" smtClean="0"/>
              <a:t>20/09/2019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711D-612C-4244-85DD-98E1B4FB4AD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85230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1F200-66EB-4998-AD2E-0D2C8C3651BD}" type="datetimeFigureOut">
              <a:rPr lang="id-ID" smtClean="0"/>
              <a:t>20/09/2019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711D-612C-4244-85DD-98E1B4FB4AD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3729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1F200-66EB-4998-AD2E-0D2C8C3651BD}" type="datetimeFigureOut">
              <a:rPr lang="id-ID" smtClean="0"/>
              <a:t>20/09/2019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711D-612C-4244-85DD-98E1B4FB4AD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6720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1F200-66EB-4998-AD2E-0D2C8C3651BD}" type="datetimeFigureOut">
              <a:rPr lang="id-ID" smtClean="0"/>
              <a:t>20/09/2019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3711D-612C-4244-85DD-98E1B4FB4AD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16041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1F200-66EB-4998-AD2E-0D2C8C3651BD}" type="datetimeFigureOut">
              <a:rPr lang="id-ID" smtClean="0"/>
              <a:t>20/09/2019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3711D-612C-4244-85DD-98E1B4FB4AD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1639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514550"/>
            <a:ext cx="12192000" cy="1478071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3200" b="1" dirty="0">
                <a:latin typeface="Century Gothic" panose="020B0502020202020204" pitchFamily="34" charset="0"/>
              </a:rPr>
              <a:t>PENYAJIAN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675808" y="6233375"/>
            <a:ext cx="4516192" cy="624625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>
                <a:latin typeface="Century Gothic" panose="020B0502020202020204" pitchFamily="34" charset="0"/>
              </a:rPr>
              <a:t>TIM ASISTEN STATISTIKA</a:t>
            </a:r>
            <a:r>
              <a:rPr lang="en-US" b="1" dirty="0">
                <a:latin typeface="Century Gothic" panose="020B0502020202020204" pitchFamily="34" charset="0"/>
              </a:rPr>
              <a:t> 2019/2020</a:t>
            </a:r>
            <a:endParaRPr lang="id-ID" b="1" dirty="0">
              <a:latin typeface="Century Gothic" panose="020B0502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05" y="121722"/>
            <a:ext cx="2238475" cy="2233171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/>
        </p:nvSpPr>
        <p:spPr>
          <a:xfrm>
            <a:off x="3657601" y="884868"/>
            <a:ext cx="493485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 cap="all" spc="15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d-ID" sz="5400" dirty="0">
                <a:solidFill>
                  <a:schemeClr val="tx1"/>
                </a:solidFill>
                <a:latin typeface="Century Gothic" panose="020B0502020202020204" pitchFamily="34" charset="0"/>
              </a:rPr>
              <a:t>Praktikum 1</a:t>
            </a:r>
            <a:endParaRPr lang="en-US" sz="3600" u="sng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71" y="3992621"/>
            <a:ext cx="4673600" cy="2865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281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F737AB-00B1-44BB-9EFA-75CDF67137C6}"/>
              </a:ext>
            </a:extLst>
          </p:cNvPr>
          <p:cNvSpPr/>
          <p:nvPr/>
        </p:nvSpPr>
        <p:spPr>
          <a:xfrm>
            <a:off x="0" y="801160"/>
            <a:ext cx="12192000" cy="1478071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Century Gothic" panose="020B0502020202020204" pitchFamily="34" charset="0"/>
              </a:rPr>
              <a:t>TUJUAN PRAKTIKUM</a:t>
            </a:r>
            <a:endParaRPr lang="id-ID" sz="3200" b="1" dirty="0">
              <a:latin typeface="Century Gothic" panose="020B0502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5E47A41-4B6F-4BE5-A139-912C51C74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1157"/>
            <a:ext cx="10515600" cy="3575806"/>
          </a:xfrm>
        </p:spPr>
        <p:txBody>
          <a:bodyPr/>
          <a:lstStyle/>
          <a:p>
            <a:pPr marL="0" indent="0">
              <a:buNone/>
            </a:pP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1.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Mahasiswa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mampu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memahami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metode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penyajian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data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statistika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2.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Mahasiswa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mampu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mengoperasikan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Minitab 17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dalam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mengolah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data.</a:t>
            </a:r>
          </a:p>
          <a:p>
            <a:pPr marL="0" indent="0">
              <a:buNone/>
            </a:pP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4.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Mahasiswa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mampu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menyajikan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data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sesuai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sifat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data (Data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Kualitatif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dan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Kuantitatif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). </a:t>
            </a:r>
          </a:p>
          <a:p>
            <a:pPr marL="0" indent="0">
              <a:buNone/>
            </a:pP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5.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Mahasiswa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mampu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menginterpretasi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hasil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akhir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</a:t>
            </a:r>
            <a:r>
              <a:rPr lang="en-ID" b="1" dirty="0" err="1">
                <a:latin typeface="Century Gothic" panose="020B0502020202020204" pitchFamily="34" charset="0"/>
                <a:cs typeface="Arial" panose="020B0604020202020204" pitchFamily="34" charset="0"/>
              </a:rPr>
              <a:t>Penyajian</a:t>
            </a:r>
            <a:r>
              <a:rPr lang="en-ID" b="1" dirty="0">
                <a:latin typeface="Century Gothic" panose="020B0502020202020204" pitchFamily="34" charset="0"/>
                <a:cs typeface="Arial" panose="020B0604020202020204" pitchFamily="34" charset="0"/>
              </a:rPr>
              <a:t> data. </a:t>
            </a:r>
          </a:p>
        </p:txBody>
      </p:sp>
    </p:spTree>
    <p:extLst>
      <p:ext uri="{BB962C8B-B14F-4D97-AF65-F5344CB8AC3E}">
        <p14:creationId xmlns:p14="http://schemas.microsoft.com/office/powerpoint/2010/main" val="1726459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7657" y="812800"/>
            <a:ext cx="2815772" cy="1204686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>
                <a:solidFill>
                  <a:schemeClr val="bg1"/>
                </a:solidFill>
                <a:latin typeface="Century Gothic" panose="020B0502020202020204" pitchFamily="34" charset="0"/>
              </a:rPr>
              <a:t>STATISTIK</a:t>
            </a:r>
          </a:p>
        </p:txBody>
      </p:sp>
      <p:sp>
        <p:nvSpPr>
          <p:cNvPr id="5" name="Notched Right Arrow 4"/>
          <p:cNvSpPr/>
          <p:nvPr/>
        </p:nvSpPr>
        <p:spPr>
          <a:xfrm>
            <a:off x="3643085" y="1088571"/>
            <a:ext cx="1886857" cy="653143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Rectangle 5"/>
          <p:cNvSpPr/>
          <p:nvPr/>
        </p:nvSpPr>
        <p:spPr>
          <a:xfrm>
            <a:off x="5878284" y="812800"/>
            <a:ext cx="5210630" cy="1524001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b="1" dirty="0" err="1">
                <a:latin typeface="Century Gothic" panose="020B0502020202020204" pitchFamily="34" charset="0"/>
              </a:rPr>
              <a:t>Nilai</a:t>
            </a:r>
            <a:r>
              <a:rPr lang="id-ID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atau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ukuran</a:t>
            </a:r>
            <a:r>
              <a:rPr lang="en-US" b="1" dirty="0">
                <a:latin typeface="Century Gothic" panose="020B0502020202020204" pitchFamily="34" charset="0"/>
              </a:rPr>
              <a:t> yang </a:t>
            </a:r>
            <a:r>
              <a:rPr lang="en-US" b="1" dirty="0" err="1">
                <a:latin typeface="Century Gothic" panose="020B0502020202020204" pitchFamily="34" charset="0"/>
              </a:rPr>
              <a:t>menggambarkan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suatu</a:t>
            </a:r>
            <a:r>
              <a:rPr lang="en-US" b="1" dirty="0">
                <a:latin typeface="Century Gothic" panose="020B0502020202020204" pitchFamily="34" charset="0"/>
              </a:rPr>
              <a:t> data/</a:t>
            </a:r>
            <a:r>
              <a:rPr lang="en-US" b="1" dirty="0" err="1">
                <a:latin typeface="Century Gothic" panose="020B0502020202020204" pitchFamily="34" charset="0"/>
              </a:rPr>
              <a:t>informasi</a:t>
            </a:r>
            <a:r>
              <a:rPr lang="en-US" b="1" dirty="0">
                <a:latin typeface="Century Gothic" panose="020B0502020202020204" pitchFamily="34" charset="0"/>
              </a:rPr>
              <a:t> </a:t>
            </a:r>
            <a:r>
              <a:rPr lang="en-US" b="1" dirty="0" err="1">
                <a:latin typeface="Century Gothic" panose="020B0502020202020204" pitchFamily="34" charset="0"/>
              </a:rPr>
              <a:t>numerik</a:t>
            </a:r>
            <a:r>
              <a:rPr lang="id-ID" b="1" dirty="0">
                <a:latin typeface="Century Gothic" panose="020B0502020202020204" pitchFamily="34" charset="0"/>
              </a:rPr>
              <a:t>.</a:t>
            </a:r>
            <a:endParaRPr lang="en-US" b="1" dirty="0">
              <a:latin typeface="Century Gothic" panose="020B0502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7657" y="3164113"/>
            <a:ext cx="2815772" cy="1204686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>
                <a:latin typeface="Century Gothic" panose="020B0502020202020204" pitchFamily="34" charset="0"/>
              </a:rPr>
              <a:t>STATISTIKA</a:t>
            </a:r>
          </a:p>
        </p:txBody>
      </p:sp>
      <p:sp>
        <p:nvSpPr>
          <p:cNvPr id="8" name="Notched Right Arrow 7"/>
          <p:cNvSpPr/>
          <p:nvPr/>
        </p:nvSpPr>
        <p:spPr>
          <a:xfrm>
            <a:off x="3628570" y="3334656"/>
            <a:ext cx="1886857" cy="653143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ectangle 8"/>
          <p:cNvSpPr/>
          <p:nvPr/>
        </p:nvSpPr>
        <p:spPr>
          <a:xfrm>
            <a:off x="5878285" y="3164113"/>
            <a:ext cx="5210629" cy="1545772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dirty="0">
                <a:latin typeface="Century Gothic" panose="020B0502020202020204" pitchFamily="34" charset="0"/>
              </a:rPr>
              <a:t>I</a:t>
            </a:r>
            <a:r>
              <a:rPr lang="id-ID" b="1" dirty="0">
                <a:latin typeface="Century Gothic" panose="020B0502020202020204" pitchFamily="34" charset="0"/>
              </a:rPr>
              <a:t>lmu yang mempelajari tentang bagaimana mengumpulkan, menata, mengolah, menganalisa dan menyajikan data menjadi sebuah informasi untuk mengambil suatu keputusan yang efektif.</a:t>
            </a:r>
            <a:endParaRPr 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475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61142" y="508000"/>
            <a:ext cx="9782629" cy="6350000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3200" b="1" dirty="0">
              <a:latin typeface="Century Gothic" panose="020B0502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4570" y="1030515"/>
            <a:ext cx="2815772" cy="1204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744856" y="2942772"/>
            <a:ext cx="2815772" cy="120468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SIFAT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285" y="2942772"/>
            <a:ext cx="2815772" cy="1204686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SUMBER  DATA 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8913" y="5099957"/>
            <a:ext cx="2815772" cy="120468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r>
              <a:rPr lang="id-ID" b="1" dirty="0">
                <a:solidFill>
                  <a:schemeClr val="tx1"/>
                </a:solidFill>
                <a:latin typeface="Century Gothic" panose="020B0502020202020204" pitchFamily="34" charset="0"/>
              </a:rPr>
              <a:t>DATA PRIMER</a:t>
            </a:r>
          </a:p>
          <a:p>
            <a:pPr marL="285750" indent="-285750" algn="ctr">
              <a:buFontTx/>
              <a:buChar char="-"/>
            </a:pPr>
            <a:r>
              <a:rPr lang="id-ID" b="1" dirty="0">
                <a:solidFill>
                  <a:schemeClr val="tx1"/>
                </a:solidFill>
                <a:latin typeface="Century Gothic" panose="020B0502020202020204" pitchFamily="34" charset="0"/>
              </a:rPr>
              <a:t>DATA SEKUNDER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55970" y="5099957"/>
            <a:ext cx="2815772" cy="12046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r>
              <a:rPr lang="id-ID" b="1" dirty="0">
                <a:solidFill>
                  <a:schemeClr val="tx1"/>
                </a:solidFill>
                <a:latin typeface="Century Gothic" panose="020B0502020202020204" pitchFamily="34" charset="0"/>
              </a:rPr>
              <a:t>DATA KUALITATIF</a:t>
            </a:r>
          </a:p>
          <a:p>
            <a:pPr marL="285750" indent="-285750" algn="ctr">
              <a:buFontTx/>
              <a:buChar char="-"/>
            </a:pPr>
            <a:r>
              <a:rPr lang="id-ID" b="1" dirty="0">
                <a:solidFill>
                  <a:schemeClr val="tx1"/>
                </a:solidFill>
                <a:latin typeface="Century Gothic" panose="020B0502020202020204" pitchFamily="34" charset="0"/>
              </a:rPr>
              <a:t>DATA KUANTITATIF</a:t>
            </a:r>
          </a:p>
        </p:txBody>
      </p:sp>
      <p:cxnSp>
        <p:nvCxnSpPr>
          <p:cNvPr id="12" name="Curved Connector 11"/>
          <p:cNvCxnSpPr>
            <a:stCxn id="5" idx="2"/>
            <a:endCxn id="8" idx="0"/>
          </p:cNvCxnSpPr>
          <p:nvPr/>
        </p:nvCxnSpPr>
        <p:spPr>
          <a:xfrm rot="5400000">
            <a:off x="3648529" y="538844"/>
            <a:ext cx="707571" cy="410028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/>
          <p:cNvCxnSpPr/>
          <p:nvPr/>
        </p:nvCxnSpPr>
        <p:spPr>
          <a:xfrm>
            <a:off x="6154057" y="2234294"/>
            <a:ext cx="3381828" cy="70847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7" idx="2"/>
          </p:cNvCxnSpPr>
          <p:nvPr/>
        </p:nvCxnSpPr>
        <p:spPr>
          <a:xfrm rot="5400000">
            <a:off x="9302751" y="4249965"/>
            <a:ext cx="952499" cy="747485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/>
          <p:cNvCxnSpPr/>
          <p:nvPr/>
        </p:nvCxnSpPr>
        <p:spPr>
          <a:xfrm>
            <a:off x="3133273" y="4147457"/>
            <a:ext cx="1511297" cy="952500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966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86623"/>
            <a:ext cx="10943771" cy="5595257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3200" b="1" dirty="0">
              <a:latin typeface="Century Gothic" panose="020B0502020202020204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323313" y="232229"/>
            <a:ext cx="8381260" cy="1054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kern="1200" cap="all" spc="20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d-ID" b="1">
                <a:solidFill>
                  <a:schemeClr val="tx1"/>
                </a:solidFill>
                <a:latin typeface="Century Gothic" panose="020B0502020202020204" pitchFamily="34" charset="0"/>
              </a:rPr>
              <a:t>Data numerik </a:t>
            </a:r>
            <a:endParaRPr lang="id-ID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5429" y="2020105"/>
            <a:ext cx="3048000" cy="6418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Pemusatan</a:t>
            </a:r>
            <a:endParaRPr lang="en-US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5429" y="3599542"/>
            <a:ext cx="3048000" cy="1371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id-ID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M</a:t>
            </a:r>
            <a:r>
              <a:rPr lang="en-US" sz="2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ean</a:t>
            </a: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/rata-rata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Median</a:t>
            </a:r>
          </a:p>
          <a:p>
            <a:pPr marL="342900" indent="-342900">
              <a:buAutoNum type="arabicPeriod"/>
            </a:pPr>
            <a:r>
              <a:rPr lang="id-ID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M</a:t>
            </a:r>
            <a:r>
              <a:rPr lang="en-US" sz="2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odus</a:t>
            </a:r>
            <a:endParaRPr lang="en-US" sz="20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1807029" y="2874695"/>
            <a:ext cx="304800" cy="511413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d-ID"/>
          </a:p>
        </p:txBody>
      </p:sp>
      <p:sp>
        <p:nvSpPr>
          <p:cNvPr id="9" name="Rounded Rectangle 8"/>
          <p:cNvSpPr/>
          <p:nvPr/>
        </p:nvSpPr>
        <p:spPr>
          <a:xfrm>
            <a:off x="4659086" y="2020105"/>
            <a:ext cx="3048000" cy="64182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Penyebaran</a:t>
            </a:r>
            <a:endParaRPr lang="en-US" sz="28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59086" y="3599543"/>
            <a:ext cx="3086100" cy="1371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Range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Varian/</a:t>
            </a:r>
            <a:r>
              <a:rPr lang="en-US" sz="2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ragam</a:t>
            </a:r>
            <a:endParaRPr lang="en-US" sz="20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Standar</a:t>
            </a:r>
            <a:r>
              <a:rPr lang="en-US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deviasi</a:t>
            </a:r>
            <a:endParaRPr lang="en-US" sz="20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342900" indent="-342900">
              <a:buAutoNum type="arabicPeriod"/>
            </a:pPr>
            <a:r>
              <a:rPr lang="id-ID" sz="2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</a:t>
            </a:r>
            <a:r>
              <a:rPr lang="en-US" sz="2000" dirty="0" err="1">
                <a:solidFill>
                  <a:schemeClr val="tx1"/>
                </a:solidFill>
                <a:latin typeface="Century Gothic" panose="020B0502020202020204" pitchFamily="34" charset="0"/>
              </a:rPr>
              <a:t>uartil</a:t>
            </a:r>
            <a:endParaRPr lang="en-US" sz="20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5682343" y="2850178"/>
            <a:ext cx="304800" cy="511413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0330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/>
        </p:nvSpPr>
        <p:spPr>
          <a:xfrm>
            <a:off x="323313" y="232229"/>
            <a:ext cx="8381260" cy="10543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kern="1200" cap="all" spc="20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id-ID" b="1" dirty="0">
                <a:solidFill>
                  <a:schemeClr val="tx1"/>
                </a:solidFill>
                <a:latin typeface="Century Gothic" panose="020B0502020202020204" pitchFamily="34" charset="0"/>
              </a:rPr>
              <a:t>Penyajian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3313" y="1445987"/>
            <a:ext cx="2895600" cy="1295400"/>
          </a:xfrm>
          <a:prstGeom prst="round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d-ID" sz="3200" dirty="0" err="1">
                <a:latin typeface="Century Gothic" panose="020B0502020202020204" pitchFamily="34" charset="0"/>
              </a:rPr>
              <a:t>K</a:t>
            </a:r>
            <a:r>
              <a:rPr lang="en-US" sz="3200" dirty="0" err="1">
                <a:latin typeface="Century Gothic" panose="020B0502020202020204" pitchFamily="34" charset="0"/>
              </a:rPr>
              <a:t>ualitatif</a:t>
            </a:r>
            <a:endParaRPr lang="en-US" sz="3200" dirty="0">
              <a:latin typeface="Century Gothic" panose="020B0502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23313" y="3100615"/>
            <a:ext cx="2895600" cy="1295400"/>
          </a:xfrm>
          <a:prstGeom prst="round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d-ID" sz="3200" dirty="0" err="1">
                <a:latin typeface="Century Gothic" panose="020B0502020202020204" pitchFamily="34" charset="0"/>
              </a:rPr>
              <a:t>K</a:t>
            </a:r>
            <a:r>
              <a:rPr lang="en-US" sz="3200" dirty="0" err="1">
                <a:latin typeface="Century Gothic" panose="020B0502020202020204" pitchFamily="34" charset="0"/>
              </a:rPr>
              <a:t>uantitatif</a:t>
            </a:r>
            <a:endParaRPr lang="en-US" sz="3200" dirty="0">
              <a:latin typeface="Century Gothic" panose="020B0502020202020204" pitchFamily="34" charset="0"/>
            </a:endParaRPr>
          </a:p>
        </p:txBody>
      </p:sp>
      <p:sp>
        <p:nvSpPr>
          <p:cNvPr id="7" name="Notched Right Arrow 6"/>
          <p:cNvSpPr/>
          <p:nvPr/>
        </p:nvSpPr>
        <p:spPr>
          <a:xfrm>
            <a:off x="3425371" y="1746250"/>
            <a:ext cx="1451429" cy="694873"/>
          </a:xfrm>
          <a:prstGeom prst="notch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Notched Right Arrow 7"/>
          <p:cNvSpPr/>
          <p:nvPr/>
        </p:nvSpPr>
        <p:spPr>
          <a:xfrm>
            <a:off x="3425371" y="3400878"/>
            <a:ext cx="1451429" cy="694873"/>
          </a:xfrm>
          <a:prstGeom prst="notch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Rounded Rectangle 8"/>
          <p:cNvSpPr/>
          <p:nvPr/>
        </p:nvSpPr>
        <p:spPr>
          <a:xfrm>
            <a:off x="5381541" y="1445987"/>
            <a:ext cx="5808972" cy="1295400"/>
          </a:xfrm>
          <a:prstGeom prst="round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d-ID" sz="3200" dirty="0">
                <a:latin typeface="Century Gothic" panose="020B0502020202020204" pitchFamily="34" charset="0"/>
              </a:rPr>
              <a:t>Diagram Batang,Lingkaran,Garis</a:t>
            </a:r>
            <a:endParaRPr lang="en-US" sz="3200" dirty="0">
              <a:latin typeface="Century Gothic" panose="020B0502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381540" y="3100615"/>
            <a:ext cx="5808973" cy="1295400"/>
          </a:xfrm>
          <a:prstGeom prst="round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d-ID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Histogram</a:t>
            </a:r>
            <a:endParaRPr lang="en-US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438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20459" y="725714"/>
            <a:ext cx="4165600" cy="1117600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400" b="1" dirty="0">
                <a:latin typeface="Century Gothic" panose="020B0502020202020204" pitchFamily="34" charset="0"/>
              </a:rPr>
              <a:t>MINITAB 17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743" y="2974522"/>
            <a:ext cx="3681186" cy="129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5805713" y="2810329"/>
            <a:ext cx="6096001" cy="23712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P</a:t>
            </a:r>
            <a:r>
              <a:rPr lang="id-ID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rogram aplikasi statistika yang banyak digunakan untuk mempermudah pengolahan data statistik. </a:t>
            </a:r>
            <a:endParaRPr lang="en-US" sz="3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Notched Right Arrow 6"/>
          <p:cNvSpPr/>
          <p:nvPr/>
        </p:nvSpPr>
        <p:spPr>
          <a:xfrm>
            <a:off x="4772478" y="3298372"/>
            <a:ext cx="801008" cy="647700"/>
          </a:xfrm>
          <a:prstGeom prst="notchedRightArrow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18684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3200" b="1" dirty="0">
              <a:latin typeface="Century Gothic" panose="020B0502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914" y="284843"/>
            <a:ext cx="3681186" cy="129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Striped Right Arrow 6"/>
          <p:cNvSpPr/>
          <p:nvPr/>
        </p:nvSpPr>
        <p:spPr>
          <a:xfrm>
            <a:off x="464457" y="420007"/>
            <a:ext cx="2931886" cy="1025072"/>
          </a:xfrm>
          <a:prstGeom prst="striped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MENUJU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343" y="2847522"/>
            <a:ext cx="4879181" cy="2743200"/>
          </a:xfrm>
          <a:prstGeom prst="rect">
            <a:avLst/>
          </a:prstGeom>
        </p:spPr>
      </p:pic>
      <p:sp>
        <p:nvSpPr>
          <p:cNvPr id="9" name="Down Arrow 8"/>
          <p:cNvSpPr/>
          <p:nvPr/>
        </p:nvSpPr>
        <p:spPr>
          <a:xfrm>
            <a:off x="5577426" y="1781855"/>
            <a:ext cx="721774" cy="864054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14583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99A240B-7182-4338-98B9-3B9BEF808C33}"/>
              </a:ext>
            </a:extLst>
          </p:cNvPr>
          <p:cNvSpPr/>
          <p:nvPr/>
        </p:nvSpPr>
        <p:spPr>
          <a:xfrm>
            <a:off x="2947387" y="878895"/>
            <a:ext cx="6059747" cy="701336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400" b="1" dirty="0">
                <a:latin typeface="Century Gothic" panose="020B0502020202020204" pitchFamily="34" charset="0"/>
              </a:rPr>
              <a:t>TUGAS</a:t>
            </a:r>
            <a:r>
              <a:rPr lang="en-US" sz="4400" b="1" dirty="0">
                <a:latin typeface="Century Gothic" panose="020B0502020202020204" pitchFamily="34" charset="0"/>
              </a:rPr>
              <a:t> PRAKTIKUM 1</a:t>
            </a:r>
            <a:endParaRPr lang="id-ID" sz="4400" b="1" dirty="0">
              <a:latin typeface="Century Gothic" panose="020B0502020202020204" pitchFamily="34" charset="0"/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E5A58361-0EC6-443C-8694-2E9E33B45B4B}"/>
              </a:ext>
            </a:extLst>
          </p:cNvPr>
          <p:cNvSpPr/>
          <p:nvPr/>
        </p:nvSpPr>
        <p:spPr>
          <a:xfrm>
            <a:off x="5865179" y="1717829"/>
            <a:ext cx="461639" cy="604668"/>
          </a:xfrm>
          <a:prstGeom prst="downArrow">
            <a:avLst/>
          </a:prstGeom>
          <a:solidFill>
            <a:srgbClr val="000066"/>
          </a:solidFill>
          <a:ln>
            <a:solidFill>
              <a:srgbClr val="00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F60BA1-F048-4074-B1A0-A576DA11B7B1}"/>
              </a:ext>
            </a:extLst>
          </p:cNvPr>
          <p:cNvSpPr/>
          <p:nvPr/>
        </p:nvSpPr>
        <p:spPr>
          <a:xfrm>
            <a:off x="452021" y="3320246"/>
            <a:ext cx="4386310" cy="701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Century Gothic" panose="020B0502020202020204" pitchFamily="34" charset="0"/>
              </a:rPr>
              <a:t>INDIVIDU</a:t>
            </a:r>
            <a:endParaRPr lang="id-ID" sz="4400" b="1" dirty="0">
              <a:latin typeface="Century Gothic" panose="020B0502020202020204" pitchFamily="34" charset="0"/>
            </a:endParaRPr>
          </a:p>
        </p:txBody>
      </p:sp>
      <p:sp>
        <p:nvSpPr>
          <p:cNvPr id="11" name="Arrow: Striped Right 10">
            <a:extLst>
              <a:ext uri="{FF2B5EF4-FFF2-40B4-BE49-F238E27FC236}">
                <a16:creationId xmlns:a16="http://schemas.microsoft.com/office/drawing/2014/main" id="{304255E0-5B97-4B19-817B-F1491949ED64}"/>
              </a:ext>
            </a:extLst>
          </p:cNvPr>
          <p:cNvSpPr/>
          <p:nvPr/>
        </p:nvSpPr>
        <p:spPr>
          <a:xfrm rot="5400000">
            <a:off x="2303014" y="2400672"/>
            <a:ext cx="915881" cy="656948"/>
          </a:xfrm>
          <a:prstGeom prst="strip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Arrow: Striped Right 11">
            <a:extLst>
              <a:ext uri="{FF2B5EF4-FFF2-40B4-BE49-F238E27FC236}">
                <a16:creationId xmlns:a16="http://schemas.microsoft.com/office/drawing/2014/main" id="{48DF0CBE-4D11-4349-980C-0E34A3C08728}"/>
              </a:ext>
            </a:extLst>
          </p:cNvPr>
          <p:cNvSpPr/>
          <p:nvPr/>
        </p:nvSpPr>
        <p:spPr>
          <a:xfrm rot="5400000">
            <a:off x="8794072" y="2451964"/>
            <a:ext cx="915881" cy="656948"/>
          </a:xfrm>
          <a:prstGeom prst="strip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4F8851-F628-4EB5-8629-DDA2330FE5F3}"/>
              </a:ext>
            </a:extLst>
          </p:cNvPr>
          <p:cNvSpPr/>
          <p:nvPr/>
        </p:nvSpPr>
        <p:spPr>
          <a:xfrm>
            <a:off x="7058858" y="3320246"/>
            <a:ext cx="4386310" cy="701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Century Gothic" panose="020B0502020202020204" pitchFamily="34" charset="0"/>
              </a:rPr>
              <a:t>KELOMPOK</a:t>
            </a:r>
            <a:endParaRPr lang="id-ID" sz="44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444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7B7C6A-6A86-4B0E-AB9B-7D588EBE4602}"/>
              </a:ext>
            </a:extLst>
          </p:cNvPr>
          <p:cNvSpPr/>
          <p:nvPr/>
        </p:nvSpPr>
        <p:spPr>
          <a:xfrm>
            <a:off x="665085" y="656945"/>
            <a:ext cx="4386310" cy="701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Century Gothic" panose="020B0502020202020204" pitchFamily="34" charset="0"/>
              </a:rPr>
              <a:t>INDIVIDU</a:t>
            </a:r>
            <a:endParaRPr lang="id-ID" sz="4400" b="1" dirty="0">
              <a:latin typeface="Century Gothic" panose="020B0502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E19EA-82AA-44ED-B8F5-B11AD9055C88}"/>
              </a:ext>
            </a:extLst>
          </p:cNvPr>
          <p:cNvSpPr/>
          <p:nvPr/>
        </p:nvSpPr>
        <p:spPr>
          <a:xfrm>
            <a:off x="665085" y="1790697"/>
            <a:ext cx="9855200" cy="4410358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latin typeface="Century Gothic" panose="020B0502020202020204" pitchFamily="34" charset="0"/>
              </a:rPr>
              <a:t>Membuat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latin typeface="Century Gothic" panose="020B0502020202020204" pitchFamily="34" charset="0"/>
              </a:rPr>
              <a:t>langkah-langkah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latin typeface="Century Gothic" panose="020B0502020202020204" pitchFamily="34" charset="0"/>
              </a:rPr>
              <a:t>Penyajian</a:t>
            </a:r>
            <a:r>
              <a:rPr lang="en-US" sz="2400" b="1" dirty="0">
                <a:latin typeface="Century Gothic" panose="020B0502020202020204" pitchFamily="34" charset="0"/>
              </a:rPr>
              <a:t> Data (</a:t>
            </a:r>
            <a:r>
              <a:rPr lang="en-US" sz="2400" b="1" dirty="0" err="1">
                <a:latin typeface="Century Gothic" panose="020B0502020202020204" pitchFamily="34" charset="0"/>
              </a:rPr>
              <a:t>Berupa</a:t>
            </a:r>
            <a:r>
              <a:rPr lang="en-US" sz="2400" b="1" dirty="0">
                <a:latin typeface="Century Gothic" panose="020B0502020202020204" pitchFamily="34" charset="0"/>
              </a:rPr>
              <a:t> Screenshots </a:t>
            </a:r>
            <a:r>
              <a:rPr lang="en-US" sz="2400" b="1" dirty="0" err="1">
                <a:latin typeface="Century Gothic" panose="020B0502020202020204" pitchFamily="34" charset="0"/>
              </a:rPr>
              <a:t>beserta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latin typeface="Century Gothic" panose="020B0502020202020204" pitchFamily="34" charset="0"/>
              </a:rPr>
              <a:t>keterangan</a:t>
            </a:r>
            <a:r>
              <a:rPr lang="en-US" sz="2400" b="1" dirty="0">
                <a:latin typeface="Century Gothic" panose="020B0502020202020204" pitchFamily="34" charset="0"/>
              </a:rPr>
              <a:t>)</a:t>
            </a:r>
            <a:endParaRPr lang="en-ID" sz="2400" b="1" dirty="0">
              <a:latin typeface="Century Gothic" panose="020B0502020202020204" pitchFamily="34" charset="0"/>
            </a:endParaRPr>
          </a:p>
          <a:p>
            <a:r>
              <a:rPr lang="en-US" sz="2400" b="1" dirty="0">
                <a:latin typeface="Century Gothic" panose="020B0502020202020204" pitchFamily="34" charset="0"/>
              </a:rPr>
              <a:t>A. </a:t>
            </a:r>
            <a:r>
              <a:rPr lang="en-US" sz="2400" b="1" dirty="0" err="1">
                <a:latin typeface="Century Gothic" panose="020B0502020202020204" pitchFamily="34" charset="0"/>
              </a:rPr>
              <a:t>Langkah-langkah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latin typeface="Century Gothic" panose="020B0502020202020204" pitchFamily="34" charset="0"/>
              </a:rPr>
              <a:t>Penyajian</a:t>
            </a:r>
            <a:r>
              <a:rPr lang="en-US" sz="2400" b="1" dirty="0">
                <a:latin typeface="Century Gothic" panose="020B0502020202020204" pitchFamily="34" charset="0"/>
              </a:rPr>
              <a:t> Data </a:t>
            </a:r>
            <a:r>
              <a:rPr lang="en-US" sz="2400" b="1" dirty="0" err="1">
                <a:latin typeface="Century Gothic" panose="020B0502020202020204" pitchFamily="34" charset="0"/>
              </a:rPr>
              <a:t>Kualitatif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(Bar chart, Pie Chart)</a:t>
            </a:r>
            <a:endParaRPr lang="en-ID" sz="24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r>
              <a:rPr lang="en-US" sz="2400" b="1" dirty="0">
                <a:latin typeface="Century Gothic" panose="020B0502020202020204" pitchFamily="34" charset="0"/>
              </a:rPr>
              <a:t>B. </a:t>
            </a:r>
            <a:r>
              <a:rPr lang="en-US" sz="2400" b="1" dirty="0" err="1">
                <a:latin typeface="Century Gothic" panose="020B0502020202020204" pitchFamily="34" charset="0"/>
              </a:rPr>
              <a:t>Langkah-langkah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latin typeface="Century Gothic" panose="020B0502020202020204" pitchFamily="34" charset="0"/>
              </a:rPr>
              <a:t>Penyajian</a:t>
            </a:r>
            <a:r>
              <a:rPr lang="en-US" sz="2400" b="1" dirty="0">
                <a:latin typeface="Century Gothic" panose="020B0502020202020204" pitchFamily="34" charset="0"/>
              </a:rPr>
              <a:t> Data </a:t>
            </a:r>
            <a:r>
              <a:rPr lang="en-US" sz="2400" b="1" dirty="0" err="1">
                <a:latin typeface="Century Gothic" panose="020B0502020202020204" pitchFamily="34" charset="0"/>
              </a:rPr>
              <a:t>Kuantitatif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(Histogram)</a:t>
            </a:r>
            <a:endParaRPr lang="en-ID" sz="24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r>
              <a:rPr lang="en-US" sz="2400" b="1" dirty="0">
                <a:latin typeface="Century Gothic" panose="020B0502020202020204" pitchFamily="34" charset="0"/>
              </a:rPr>
              <a:t>C. </a:t>
            </a:r>
            <a:r>
              <a:rPr lang="en-US" sz="2400" b="1" dirty="0" err="1">
                <a:latin typeface="Century Gothic" panose="020B0502020202020204" pitchFamily="34" charset="0"/>
              </a:rPr>
              <a:t>Langkah-langkah</a:t>
            </a:r>
            <a:r>
              <a:rPr lang="en-US" sz="2400" b="1" dirty="0">
                <a:latin typeface="Century Gothic" panose="020B0502020202020204" pitchFamily="34" charset="0"/>
              </a:rPr>
              <a:t> Boxplot</a:t>
            </a:r>
            <a:endParaRPr lang="en-ID" sz="2400" b="1" dirty="0">
              <a:latin typeface="Century Gothic" panose="020B0502020202020204" pitchFamily="34" charset="0"/>
            </a:endParaRPr>
          </a:p>
          <a:p>
            <a:r>
              <a:rPr lang="en-US" sz="2400" b="1" dirty="0">
                <a:latin typeface="Century Gothic" panose="020B0502020202020204" pitchFamily="34" charset="0"/>
              </a:rPr>
              <a:t>D. </a:t>
            </a:r>
            <a:r>
              <a:rPr lang="en-US" sz="2400" b="1" dirty="0" err="1">
                <a:latin typeface="Century Gothic" panose="020B0502020202020204" pitchFamily="34" charset="0"/>
              </a:rPr>
              <a:t>Langkah-langkah</a:t>
            </a:r>
            <a:r>
              <a:rPr lang="en-US" sz="2400" b="1" dirty="0">
                <a:latin typeface="Century Gothic" panose="020B0502020202020204" pitchFamily="34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Ukuran</a:t>
            </a:r>
            <a:r>
              <a:rPr lang="en-US" sz="2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Data </a:t>
            </a:r>
            <a:r>
              <a:rPr lang="en-US" sz="24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Numerik</a:t>
            </a:r>
            <a:r>
              <a:rPr lang="en-US" sz="2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(</a:t>
            </a:r>
            <a:r>
              <a:rPr lang="en-US" sz="24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Mean,Median</a:t>
            </a:r>
            <a:r>
              <a:rPr lang="en-US" sz="2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, Modus, </a:t>
            </a:r>
            <a:r>
              <a:rPr lang="en-US" sz="24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Stdev</a:t>
            </a:r>
            <a:r>
              <a:rPr lang="en-US" sz="2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, </a:t>
            </a:r>
            <a:r>
              <a:rPr lang="en-US" sz="24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Varians</a:t>
            </a:r>
            <a:r>
              <a:rPr lang="en-US" sz="2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)</a:t>
            </a:r>
          </a:p>
          <a:p>
            <a:endParaRPr lang="en-US" sz="2400" b="1" u="sng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D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NB: Data pada </a:t>
            </a:r>
            <a:r>
              <a:rPr lang="en-ID" sz="24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Kolom</a:t>
            </a:r>
            <a:r>
              <a:rPr lang="en-ID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Sheets ‘</a:t>
            </a:r>
            <a:r>
              <a:rPr lang="en-ID" sz="24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Tugas</a:t>
            </a:r>
            <a:r>
              <a:rPr lang="en-ID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’ &amp; </a:t>
            </a:r>
            <a:r>
              <a:rPr lang="en-ID" sz="24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Ketentuan</a:t>
            </a:r>
            <a:r>
              <a:rPr lang="en-ID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ID" sz="24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Penulisan</a:t>
            </a:r>
            <a:r>
              <a:rPr lang="en-ID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ID" sz="2400" b="1" u="sng" dirty="0">
                <a:solidFill>
                  <a:schemeClr val="bg1"/>
                </a:solidFill>
                <a:latin typeface="Century Gothic" panose="020B0502020202020204" pitchFamily="34" charset="0"/>
              </a:rPr>
              <a:t>www.statistikapspk.wordpress.com</a:t>
            </a:r>
          </a:p>
        </p:txBody>
      </p:sp>
    </p:spTree>
    <p:extLst>
      <p:ext uri="{BB962C8B-B14F-4D97-AF65-F5344CB8AC3E}">
        <p14:creationId xmlns:p14="http://schemas.microsoft.com/office/powerpoint/2010/main" val="4212932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119238" y="2467428"/>
            <a:ext cx="9855200" cy="2415290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Century Gothic" panose="020B0502020202020204" pitchFamily="34" charset="0"/>
              </a:rPr>
              <a:t>Laporan</a:t>
            </a:r>
            <a:r>
              <a:rPr lang="en-US" sz="2800" b="1" dirty="0">
                <a:latin typeface="Century Gothic" panose="020B0502020202020204" pitchFamily="34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M</a:t>
            </a:r>
            <a:r>
              <a:rPr lang="id-ID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ateri 1</a:t>
            </a:r>
            <a:r>
              <a:rPr lang="en-US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“</a:t>
            </a:r>
            <a:r>
              <a:rPr lang="en-US" sz="28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Penyajian</a:t>
            </a:r>
            <a:r>
              <a:rPr lang="en-US" sz="2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Data” </a:t>
            </a:r>
            <a:r>
              <a:rPr lang="en-US" sz="2800" b="1" dirty="0" err="1">
                <a:latin typeface="Century Gothic" panose="020B0502020202020204" pitchFamily="34" charset="0"/>
              </a:rPr>
              <a:t>untuk</a:t>
            </a:r>
            <a:r>
              <a:rPr lang="en-US" sz="2800" b="1" dirty="0">
                <a:latin typeface="Century Gothic" panose="020B0502020202020204" pitchFamily="34" charset="0"/>
              </a:rPr>
              <a:t> </a:t>
            </a:r>
            <a:r>
              <a:rPr lang="en-US" sz="2800" b="1" u="sng" dirty="0" err="1">
                <a:latin typeface="Century Gothic" panose="020B0502020202020204" pitchFamily="34" charset="0"/>
              </a:rPr>
              <a:t>Kelompok</a:t>
            </a:r>
            <a:r>
              <a:rPr lang="en-US" sz="2800" b="1" u="sng" dirty="0">
                <a:latin typeface="Century Gothic" panose="020B0502020202020204" pitchFamily="34" charset="0"/>
              </a:rPr>
              <a:t> 1</a:t>
            </a:r>
            <a:r>
              <a:rPr lang="en-US" sz="2800" b="1" dirty="0">
                <a:latin typeface="Century Gothic" panose="020B0502020202020204" pitchFamily="34" charset="0"/>
              </a:rPr>
              <a:t> dan </a:t>
            </a:r>
            <a:r>
              <a:rPr lang="en-US" sz="2800" b="1" u="sng" dirty="0" err="1">
                <a:latin typeface="Century Gothic" panose="020B0502020202020204" pitchFamily="34" charset="0"/>
              </a:rPr>
              <a:t>Kelompok</a:t>
            </a:r>
            <a:r>
              <a:rPr lang="en-US" sz="2800" b="1" u="sng" dirty="0">
                <a:latin typeface="Century Gothic" panose="020B0502020202020204" pitchFamily="34" charset="0"/>
              </a:rPr>
              <a:t> 4</a:t>
            </a:r>
            <a:endParaRPr lang="id-ID" sz="2800" b="1" u="sng" dirty="0">
              <a:latin typeface="Century Gothic" panose="020B0502020202020204" pitchFamily="34" charset="0"/>
            </a:endParaRPr>
          </a:p>
          <a:p>
            <a:endParaRPr lang="en-US" sz="2800" b="1" dirty="0">
              <a:latin typeface="Century Gothic" panose="020B0502020202020204" pitchFamily="34" charset="0"/>
            </a:endParaRPr>
          </a:p>
          <a:p>
            <a:r>
              <a:rPr lang="en-US" sz="2800" b="1" dirty="0">
                <a:latin typeface="Century Gothic" panose="020B0502020202020204" pitchFamily="34" charset="0"/>
              </a:rPr>
              <a:t>NB: </a:t>
            </a:r>
            <a:r>
              <a:rPr lang="en-US" sz="2800" b="1" dirty="0" err="1">
                <a:latin typeface="Century Gothic" panose="020B0502020202020204" pitchFamily="34" charset="0"/>
              </a:rPr>
              <a:t>Ketentuan</a:t>
            </a:r>
            <a:r>
              <a:rPr lang="en-US" sz="2800" b="1" dirty="0">
                <a:latin typeface="Century Gothic" panose="020B0502020202020204" pitchFamily="34" charset="0"/>
              </a:rPr>
              <a:t> Format </a:t>
            </a:r>
            <a:r>
              <a:rPr lang="en-US" sz="2800" b="1" u="sng" dirty="0">
                <a:latin typeface="Century Gothic" panose="020B0502020202020204" pitchFamily="34" charset="0"/>
              </a:rPr>
              <a:t>www.statistikapspk.wordpress.com</a:t>
            </a:r>
            <a:endParaRPr lang="id-ID" sz="2800" b="1" u="sng" dirty="0">
              <a:latin typeface="Century Gothic" panose="020B0502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201" y="234257"/>
            <a:ext cx="2238475" cy="22331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21AD86F-E8AD-4FCB-9CEA-942B364FF991}"/>
              </a:ext>
            </a:extLst>
          </p:cNvPr>
          <p:cNvSpPr/>
          <p:nvPr/>
        </p:nvSpPr>
        <p:spPr>
          <a:xfrm>
            <a:off x="1119238" y="751599"/>
            <a:ext cx="4386310" cy="701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Century Gothic" panose="020B0502020202020204" pitchFamily="34" charset="0"/>
              </a:rPr>
              <a:t>KELOMPOK</a:t>
            </a:r>
            <a:endParaRPr lang="id-ID" sz="44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74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4782" y="1225118"/>
            <a:ext cx="9898743" cy="5632882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000" dirty="0">
                <a:latin typeface="Century Gothic" panose="020B0502020202020204" pitchFamily="34" charset="0"/>
              </a:rPr>
              <a:t>Dikumpulkan paling lambat </a:t>
            </a:r>
            <a:r>
              <a:rPr lang="en-US" sz="2000" b="1" dirty="0" err="1">
                <a:solidFill>
                  <a:srgbClr val="FF0000"/>
                </a:solidFill>
                <a:latin typeface="Century Gothic" panose="020B0502020202020204" pitchFamily="34" charset="0"/>
              </a:rPr>
              <a:t>Jumat</a:t>
            </a:r>
            <a:r>
              <a:rPr 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, 27 September 2019 </a:t>
            </a:r>
            <a:r>
              <a:rPr lang="id-ID" sz="2000" dirty="0">
                <a:latin typeface="Century Gothic" panose="020B0502020202020204" pitchFamily="34" charset="0"/>
              </a:rPr>
              <a:t>dalam bentuk softfile kirim ke email:</a:t>
            </a:r>
            <a:endParaRPr lang="en-US" sz="2000" dirty="0">
              <a:latin typeface="Century Gothic" panose="020B05020202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padmaparamita@student.ub.ac.id	- (</a:t>
            </a:r>
            <a:r>
              <a:rPr lang="en-US" sz="20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Kelompok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1,2,3)</a:t>
            </a:r>
          </a:p>
          <a:p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hasna@pempeklela.com	 	- (</a:t>
            </a:r>
            <a:r>
              <a:rPr lang="en-US" sz="20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Kelompok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4,5,6)</a:t>
            </a:r>
          </a:p>
          <a:p>
            <a:endParaRPr lang="en-US" sz="2000" dirty="0">
              <a:solidFill>
                <a:srgbClr val="0070C0"/>
              </a:solidFill>
              <a:latin typeface="Century Gothic" panose="020B0502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Format </a:t>
            </a:r>
            <a:r>
              <a:rPr lang="en-US" sz="2000" dirty="0" err="1">
                <a:latin typeface="Century Gothic" panose="020B0502020202020204" pitchFamily="34" charset="0"/>
              </a:rPr>
              <a:t>pengiriman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subjek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dan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nama</a:t>
            </a:r>
            <a:r>
              <a:rPr lang="en-US" sz="2000" dirty="0">
                <a:latin typeface="Century Gothic" panose="020B0502020202020204" pitchFamily="34" charset="0"/>
              </a:rPr>
              <a:t> file =</a:t>
            </a:r>
            <a:endParaRPr lang="id-ID" sz="2000" dirty="0">
              <a:latin typeface="Century Gothic" panose="020B0502020202020204" pitchFamily="34" charset="0"/>
            </a:endParaRPr>
          </a:p>
          <a:p>
            <a:r>
              <a:rPr lang="id-ID" sz="2000" dirty="0">
                <a:latin typeface="Century Gothic" panose="020B0502020202020204" pitchFamily="34" charset="0"/>
              </a:rPr>
              <a:t> </a:t>
            </a:r>
          </a:p>
          <a:p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</a:t>
            </a:r>
            <a:r>
              <a:rPr lang="id-ID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raktikum1_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K</a:t>
            </a:r>
            <a:r>
              <a:rPr lang="id-ID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elas_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K</a:t>
            </a:r>
            <a:r>
              <a:rPr lang="id-ID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elompok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(</a:t>
            </a:r>
            <a:r>
              <a:rPr lang="en-US" sz="20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Laporan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Kelompok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)</a:t>
            </a:r>
          </a:p>
          <a:p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Praktikum1_Nama_NIM (</a:t>
            </a:r>
            <a:r>
              <a:rPr lang="en-US" sz="20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Tugas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Individu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) 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  <a:sym typeface="Wingdings" panose="05000000000000000000" pitchFamily="2" charset="2"/>
              </a:rPr>
              <a:t> </a:t>
            </a:r>
            <a:r>
              <a:rPr lang="en-US" sz="20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ke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CO KELOMPOK </a:t>
            </a:r>
            <a:r>
              <a:rPr lang="en-US" sz="20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masing-masing</a:t>
            </a:r>
            <a:endParaRPr lang="id-ID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id-ID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sz="2000" dirty="0">
                <a:latin typeface="Century Gothic" panose="020B0502020202020204" pitchFamily="34" charset="0"/>
              </a:rPr>
              <a:t>Asistensi 1x </a:t>
            </a:r>
            <a:r>
              <a:rPr lang="id-ID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(kondisional)</a:t>
            </a:r>
          </a:p>
          <a:p>
            <a:endParaRPr lang="en-US" sz="2000" dirty="0">
              <a:latin typeface="Century Gothic" panose="020B05020202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NB: </a:t>
            </a:r>
            <a:r>
              <a:rPr lang="en-US" sz="20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Pembagian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asisten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sesuai</a:t>
            </a:r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kelompok</a:t>
            </a:r>
            <a:endParaRPr lang="id-ID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0" y="135776"/>
            <a:ext cx="6633029" cy="13737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200" kern="1200" cap="all" spc="200" baseline="0">
                <a:ln>
                  <a:noFill/>
                </a:ln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chemeClr val="tx1"/>
                </a:solidFill>
                <a:latin typeface="Century Gothic" panose="020B0502020202020204" pitchFamily="34" charset="0"/>
              </a:rPr>
              <a:t>PENGUMPULAN</a:t>
            </a:r>
            <a:r>
              <a:rPr lang="id-ID" b="1" dirty="0">
                <a:solidFill>
                  <a:schemeClr val="tx1"/>
                </a:solidFill>
                <a:latin typeface="Century Gothic" panose="020B0502020202020204" pitchFamily="34" charset="0"/>
              </a:rPr>
              <a:t> TUGAS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525" y="0"/>
            <a:ext cx="2238475" cy="223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721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419943"/>
            <a:ext cx="12192000" cy="1117600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4400" b="1" dirty="0">
                <a:latin typeface="Century Gothic" panose="020B0502020202020204" pitchFamily="34" charset="0"/>
              </a:rPr>
              <a:t>TERIMA KASIH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248" y="0"/>
            <a:ext cx="4299503" cy="428931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3498467-75CC-4FCB-AF20-DA7B2EA3F388}"/>
              </a:ext>
            </a:extLst>
          </p:cNvPr>
          <p:cNvSpPr/>
          <p:nvPr/>
        </p:nvSpPr>
        <p:spPr>
          <a:xfrm>
            <a:off x="7675808" y="6233375"/>
            <a:ext cx="4516192" cy="624625"/>
          </a:xfrm>
          <a:prstGeom prst="rect">
            <a:avLst/>
          </a:prstGeom>
          <a:solidFill>
            <a:srgbClr val="0000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i="1" dirty="0">
                <a:latin typeface="Bookman Old Style" panose="02050604050505020204" pitchFamily="18" charset="0"/>
              </a:rPr>
              <a:t>Statistics Don’t Lie</a:t>
            </a:r>
            <a:endParaRPr lang="id-ID" sz="2000" b="1" i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188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291</Words>
  <Application>Microsoft Office PowerPoint</Application>
  <PresentationFormat>Widescreen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Bookman Old Style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Padma Paramita</cp:lastModifiedBy>
  <cp:revision>27</cp:revision>
  <dcterms:created xsi:type="dcterms:W3CDTF">2018-09-23T01:41:18Z</dcterms:created>
  <dcterms:modified xsi:type="dcterms:W3CDTF">2019-09-20T13:09:47Z</dcterms:modified>
</cp:coreProperties>
</file>