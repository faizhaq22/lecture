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1" r:id="rId5"/>
    <p:sldId id="259" r:id="rId6"/>
    <p:sldId id="260" r:id="rId7"/>
    <p:sldId id="263" r:id="rId8"/>
    <p:sldId id="264" r:id="rId9"/>
    <p:sldId id="265" r:id="rId10"/>
    <p:sldId id="269" r:id="rId11"/>
    <p:sldId id="271" r:id="rId12"/>
    <p:sldId id="272" r:id="rId13"/>
    <p:sldId id="268" r:id="rId14"/>
  </p:sldIdLst>
  <p:sldSz cx="12192000" cy="6858000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E1E04"/>
    <a:srgbClr val="FF33CC"/>
    <a:srgbClr val="9933FF"/>
    <a:srgbClr val="0000FF"/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18" autoAdjust="0"/>
    <p:restoredTop sz="93874" autoAdjust="0"/>
  </p:normalViewPr>
  <p:slideViewPr>
    <p:cSldViewPr snapToGrid="0">
      <p:cViewPr varScale="1">
        <p:scale>
          <a:sx n="68" d="100"/>
          <a:sy n="68" d="100"/>
        </p:scale>
        <p:origin x="654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20E3CB-1630-49D4-B3F7-3F3D13BCBB99}" type="datetimeFigureOut">
              <a:rPr lang="id-ID" smtClean="0"/>
              <a:t>22/10/2019</a:t>
            </a:fld>
            <a:endParaRPr lang="id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d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6DC138-DE76-4F34-B16D-8454E17F7E91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733961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6DC138-DE76-4F34-B16D-8454E17F7E91}" type="slidenum">
              <a:rPr lang="id-ID" smtClean="0"/>
              <a:t>7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2288622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39B43-3154-4A75-A37F-84EC1249F7B8}" type="datetimeFigureOut">
              <a:rPr lang="id-ID" smtClean="0"/>
              <a:t>22/10/2019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4AF11-1D5C-4DA2-A7DF-ACBCD0E515D5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0085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39B43-3154-4A75-A37F-84EC1249F7B8}" type="datetimeFigureOut">
              <a:rPr lang="id-ID" smtClean="0"/>
              <a:t>22/10/2019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4AF11-1D5C-4DA2-A7DF-ACBCD0E515D5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2484931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39B43-3154-4A75-A37F-84EC1249F7B8}" type="datetimeFigureOut">
              <a:rPr lang="id-ID" smtClean="0"/>
              <a:t>22/10/2019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4AF11-1D5C-4DA2-A7DF-ACBCD0E515D5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505797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39B43-3154-4A75-A37F-84EC1249F7B8}" type="datetimeFigureOut">
              <a:rPr lang="id-ID" smtClean="0"/>
              <a:t>22/10/2019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4AF11-1D5C-4DA2-A7DF-ACBCD0E515D5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306460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39B43-3154-4A75-A37F-84EC1249F7B8}" type="datetimeFigureOut">
              <a:rPr lang="id-ID" smtClean="0"/>
              <a:t>22/10/2019</a:t>
            </a:fld>
            <a:endParaRPr lang="id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4AF11-1D5C-4DA2-A7DF-ACBCD0E515D5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318516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39B43-3154-4A75-A37F-84EC1249F7B8}" type="datetimeFigureOut">
              <a:rPr lang="id-ID" smtClean="0"/>
              <a:t>22/10/2019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4AF11-1D5C-4DA2-A7DF-ACBCD0E515D5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974001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39B43-3154-4A75-A37F-84EC1249F7B8}" type="datetimeFigureOut">
              <a:rPr lang="id-ID" smtClean="0"/>
              <a:t>22/10/2019</a:t>
            </a:fld>
            <a:endParaRPr lang="id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4AF11-1D5C-4DA2-A7DF-ACBCD0E515D5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644831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39B43-3154-4A75-A37F-84EC1249F7B8}" type="datetimeFigureOut">
              <a:rPr lang="id-ID" smtClean="0"/>
              <a:t>22/10/2019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4AF11-1D5C-4DA2-A7DF-ACBCD0E515D5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995623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39B43-3154-4A75-A37F-84EC1249F7B8}" type="datetimeFigureOut">
              <a:rPr lang="id-ID" smtClean="0"/>
              <a:t>22/10/2019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4AF11-1D5C-4DA2-A7DF-ACBCD0E515D5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0225007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39B43-3154-4A75-A37F-84EC1249F7B8}" type="datetimeFigureOut">
              <a:rPr lang="id-ID" smtClean="0"/>
              <a:t>22/10/2019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4AF11-1D5C-4DA2-A7DF-ACBCD0E515D5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304105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39B43-3154-4A75-A37F-84EC1249F7B8}" type="datetimeFigureOut">
              <a:rPr lang="id-ID" smtClean="0"/>
              <a:t>22/10/2019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4AF11-1D5C-4DA2-A7DF-ACBCD0E515D5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192898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57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639B43-3154-4A75-A37F-84EC1249F7B8}" type="datetimeFigureOut">
              <a:rPr lang="id-ID" smtClean="0"/>
              <a:t>22/10/2019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D4AF11-1D5C-4DA2-A7DF-ACBCD0E515D5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197923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95945" y="1992085"/>
            <a:ext cx="11707585" cy="1183823"/>
          </a:xfrm>
          <a:prstGeom prst="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d-ID" sz="8000" dirty="0">
                <a:latin typeface="Lucida Fax" pitchFamily="18" charset="0"/>
              </a:rPr>
              <a:t>PRAKTIKUM 4</a:t>
            </a:r>
          </a:p>
        </p:txBody>
      </p:sp>
      <p:pic>
        <p:nvPicPr>
          <p:cNvPr id="6" name="Picture 5" descr="D:\4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2188028" cy="18288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7" name="Rectangle 6"/>
          <p:cNvSpPr/>
          <p:nvPr/>
        </p:nvSpPr>
        <p:spPr>
          <a:xfrm>
            <a:off x="1" y="5927271"/>
            <a:ext cx="4065814" cy="930729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rgbClr val="8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d-ID" b="1" i="1" dirty="0">
                <a:latin typeface="Century Gothic" panose="020B0502020202020204" pitchFamily="34" charset="0"/>
              </a:rPr>
              <a:t>TIM ASISTEN STATISTIKA 2019/2020</a:t>
            </a:r>
          </a:p>
        </p:txBody>
      </p:sp>
      <p:sp>
        <p:nvSpPr>
          <p:cNvPr id="5" name="Rectangle 4"/>
          <p:cNvSpPr/>
          <p:nvPr/>
        </p:nvSpPr>
        <p:spPr>
          <a:xfrm>
            <a:off x="1347108" y="3412672"/>
            <a:ext cx="9111344" cy="1574964"/>
          </a:xfrm>
          <a:prstGeom prst="rect">
            <a:avLst/>
          </a:prstGeom>
          <a:solidFill>
            <a:srgbClr val="92D050"/>
          </a:solidFill>
          <a:ln>
            <a:solidFill>
              <a:srgbClr val="8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3200" b="1" dirty="0">
                <a:solidFill>
                  <a:schemeClr val="tx1"/>
                </a:solidFill>
                <a:latin typeface="Century Gothic" panose="020B0502020202020204" pitchFamily="34" charset="0"/>
              </a:rPr>
              <a:t>PENGENALAN </a:t>
            </a:r>
            <a:r>
              <a:rPr lang="id-ID" sz="3200" b="1" dirty="0">
                <a:solidFill>
                  <a:srgbClr val="FFFF00"/>
                </a:solidFill>
                <a:latin typeface="Century Gothic" panose="020B0502020202020204" pitchFamily="34" charset="0"/>
              </a:rPr>
              <a:t>RANCANGAN PERCOBAAN</a:t>
            </a:r>
            <a:r>
              <a:rPr lang="id-ID" sz="3200" b="1" dirty="0">
                <a:solidFill>
                  <a:schemeClr val="tx1"/>
                </a:solidFill>
                <a:latin typeface="Century Gothic" panose="020B0502020202020204" pitchFamily="34" charset="0"/>
              </a:rPr>
              <a:t> DAN </a:t>
            </a:r>
            <a:r>
              <a:rPr lang="id-ID" sz="3200" b="1" dirty="0">
                <a:solidFill>
                  <a:srgbClr val="FFFF00"/>
                </a:solidFill>
                <a:latin typeface="Century Gothic" panose="020B0502020202020204" pitchFamily="34" charset="0"/>
              </a:rPr>
              <a:t>RANCANGAN ACAK LENGKAP</a:t>
            </a:r>
          </a:p>
          <a:p>
            <a:pPr algn="ctr"/>
            <a:r>
              <a:rPr lang="id-ID" sz="3200" b="1" dirty="0">
                <a:solidFill>
                  <a:srgbClr val="FFFF00"/>
                </a:solidFill>
                <a:latin typeface="Century Gothic" panose="020B0502020202020204" pitchFamily="34" charset="0"/>
              </a:rPr>
              <a:t>( R A L )</a:t>
            </a:r>
          </a:p>
        </p:txBody>
      </p:sp>
    </p:spTree>
    <p:extLst>
      <p:ext uri="{BB962C8B-B14F-4D97-AF65-F5344CB8AC3E}">
        <p14:creationId xmlns:p14="http://schemas.microsoft.com/office/powerpoint/2010/main" val="16265616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83872" y="832757"/>
            <a:ext cx="9307287" cy="115116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rgbClr val="8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8000" dirty="0">
                <a:latin typeface="Century Gothic" panose="020B0502020202020204" pitchFamily="34" charset="0"/>
              </a:rPr>
              <a:t>TUJUAN</a:t>
            </a:r>
          </a:p>
        </p:txBody>
      </p:sp>
      <p:sp>
        <p:nvSpPr>
          <p:cNvPr id="5" name="Rectangle 4"/>
          <p:cNvSpPr/>
          <p:nvPr/>
        </p:nvSpPr>
        <p:spPr>
          <a:xfrm>
            <a:off x="285751" y="2400301"/>
            <a:ext cx="11454492" cy="2939142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rgbClr val="8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03225" indent="-403225" algn="just">
              <a:buNone/>
              <a:tabLst>
                <a:tab pos="395288" algn="l"/>
              </a:tabLst>
            </a:pPr>
            <a:r>
              <a:rPr lang="id-ID" sz="2800" dirty="0">
                <a:latin typeface="Century Gothic" panose="020B0502020202020204" pitchFamily="34" charset="0"/>
              </a:rPr>
              <a:t>1.		   </a:t>
            </a:r>
            <a:r>
              <a:rPr lang="en-US" sz="2800" dirty="0" err="1">
                <a:latin typeface="Century Gothic" panose="020B0502020202020204" pitchFamily="34" charset="0"/>
              </a:rPr>
              <a:t>Mampu</a:t>
            </a:r>
            <a:r>
              <a:rPr lang="en-US" sz="2800" dirty="0">
                <a:latin typeface="Century Gothic" panose="020B0502020202020204" pitchFamily="34" charset="0"/>
              </a:rPr>
              <a:t> </a:t>
            </a:r>
            <a:r>
              <a:rPr lang="en-US" sz="2800" dirty="0" err="1">
                <a:latin typeface="Century Gothic" panose="020B0502020202020204" pitchFamily="34" charset="0"/>
              </a:rPr>
              <a:t>mengetahui</a:t>
            </a:r>
            <a:r>
              <a:rPr lang="en-US" sz="2800" dirty="0">
                <a:latin typeface="Century Gothic" panose="020B0502020202020204" pitchFamily="34" charset="0"/>
              </a:rPr>
              <a:t> </a:t>
            </a:r>
            <a:r>
              <a:rPr lang="en-US" sz="2800" dirty="0" err="1">
                <a:latin typeface="Century Gothic" panose="020B0502020202020204" pitchFamily="34" charset="0"/>
              </a:rPr>
              <a:t>pengolahan</a:t>
            </a:r>
            <a:r>
              <a:rPr lang="en-US" sz="2800" dirty="0">
                <a:latin typeface="Century Gothic" panose="020B0502020202020204" pitchFamily="34" charset="0"/>
              </a:rPr>
              <a:t> data </a:t>
            </a:r>
            <a:r>
              <a:rPr lang="en-US" sz="2800" dirty="0" err="1">
                <a:latin typeface="Century Gothic" panose="020B0502020202020204" pitchFamily="34" charset="0"/>
              </a:rPr>
              <a:t>pada</a:t>
            </a:r>
            <a:r>
              <a:rPr lang="en-US" sz="2800" dirty="0">
                <a:latin typeface="Century Gothic" panose="020B0502020202020204" pitchFamily="34" charset="0"/>
              </a:rPr>
              <a:t> </a:t>
            </a:r>
            <a:r>
              <a:rPr lang="en-US" sz="2800" dirty="0" err="1">
                <a:latin typeface="Century Gothic" panose="020B0502020202020204" pitchFamily="34" charset="0"/>
              </a:rPr>
              <a:t>rancangan</a:t>
            </a:r>
            <a:r>
              <a:rPr lang="en-US" sz="2800" dirty="0">
                <a:latin typeface="Century Gothic" panose="020B0502020202020204" pitchFamily="34" charset="0"/>
              </a:rPr>
              <a:t> </a:t>
            </a:r>
            <a:r>
              <a:rPr lang="en-US" sz="2800" dirty="0" err="1">
                <a:latin typeface="Century Gothic" panose="020B0502020202020204" pitchFamily="34" charset="0"/>
              </a:rPr>
              <a:t>percobaan</a:t>
            </a:r>
            <a:r>
              <a:rPr lang="en-US" sz="2800" dirty="0">
                <a:latin typeface="Century Gothic" panose="020B0502020202020204" pitchFamily="34" charset="0"/>
              </a:rPr>
              <a:t> </a:t>
            </a:r>
            <a:r>
              <a:rPr lang="en-US" sz="2800" dirty="0" err="1">
                <a:latin typeface="Century Gothic" panose="020B0502020202020204" pitchFamily="34" charset="0"/>
              </a:rPr>
              <a:t>acak</a:t>
            </a:r>
            <a:r>
              <a:rPr lang="en-US" sz="2800" dirty="0">
                <a:latin typeface="Century Gothic" panose="020B0502020202020204" pitchFamily="34" charset="0"/>
              </a:rPr>
              <a:t> </a:t>
            </a:r>
            <a:r>
              <a:rPr lang="en-US" sz="2800" dirty="0" err="1">
                <a:latin typeface="Century Gothic" panose="020B0502020202020204" pitchFamily="34" charset="0"/>
              </a:rPr>
              <a:t>lengkap</a:t>
            </a:r>
            <a:r>
              <a:rPr lang="en-US" sz="2800" dirty="0">
                <a:latin typeface="Century Gothic" panose="020B0502020202020204" pitchFamily="34" charset="0"/>
              </a:rPr>
              <a:t> (RAL)</a:t>
            </a:r>
          </a:p>
          <a:p>
            <a:pPr marL="403225" indent="-403225" algn="just" defTabSz="395288">
              <a:buNone/>
            </a:pPr>
            <a:r>
              <a:rPr lang="en-US" sz="2800" dirty="0">
                <a:latin typeface="Century Gothic" panose="020B0502020202020204" pitchFamily="34" charset="0"/>
              </a:rPr>
              <a:t>2.  </a:t>
            </a:r>
            <a:r>
              <a:rPr lang="en-US" sz="2800" dirty="0" err="1">
                <a:latin typeface="Century Gothic" panose="020B0502020202020204" pitchFamily="34" charset="0"/>
              </a:rPr>
              <a:t>Mampu</a:t>
            </a:r>
            <a:r>
              <a:rPr lang="en-US" sz="2800" dirty="0">
                <a:latin typeface="Century Gothic" panose="020B0502020202020204" pitchFamily="34" charset="0"/>
              </a:rPr>
              <a:t> </a:t>
            </a:r>
            <a:r>
              <a:rPr lang="en-US" sz="2800" dirty="0" err="1">
                <a:latin typeface="Century Gothic" panose="020B0502020202020204" pitchFamily="34" charset="0"/>
              </a:rPr>
              <a:t>menginterpretasikan</a:t>
            </a:r>
            <a:r>
              <a:rPr lang="en-US" sz="2800" dirty="0">
                <a:latin typeface="Century Gothic" panose="020B0502020202020204" pitchFamily="34" charset="0"/>
              </a:rPr>
              <a:t> </a:t>
            </a:r>
            <a:r>
              <a:rPr lang="en-US" sz="2800" dirty="0" err="1">
                <a:latin typeface="Century Gothic" panose="020B0502020202020204" pitchFamily="34" charset="0"/>
              </a:rPr>
              <a:t>hasil</a:t>
            </a:r>
            <a:r>
              <a:rPr lang="en-US" sz="2800" dirty="0">
                <a:latin typeface="Century Gothic" panose="020B0502020202020204" pitchFamily="34" charset="0"/>
              </a:rPr>
              <a:t> </a:t>
            </a:r>
            <a:r>
              <a:rPr lang="en-US" sz="2800" dirty="0" err="1">
                <a:latin typeface="Century Gothic" panose="020B0502020202020204" pitchFamily="34" charset="0"/>
              </a:rPr>
              <a:t>pengolahan</a:t>
            </a:r>
            <a:r>
              <a:rPr lang="en-US" sz="2800" dirty="0">
                <a:latin typeface="Century Gothic" panose="020B0502020202020204" pitchFamily="34" charset="0"/>
              </a:rPr>
              <a:t> data </a:t>
            </a:r>
            <a:r>
              <a:rPr lang="en-US" sz="2800" dirty="0" err="1">
                <a:latin typeface="Century Gothic" panose="020B0502020202020204" pitchFamily="34" charset="0"/>
              </a:rPr>
              <a:t>pada</a:t>
            </a:r>
            <a:r>
              <a:rPr lang="en-US" sz="2800" dirty="0">
                <a:latin typeface="Century Gothic" panose="020B0502020202020204" pitchFamily="34" charset="0"/>
              </a:rPr>
              <a:t> </a:t>
            </a:r>
            <a:r>
              <a:rPr lang="en-US" sz="2800" dirty="0" err="1">
                <a:latin typeface="Century Gothic" panose="020B0502020202020204" pitchFamily="34" charset="0"/>
              </a:rPr>
              <a:t>rancangan</a:t>
            </a:r>
            <a:r>
              <a:rPr lang="en-US" sz="2800" dirty="0">
                <a:latin typeface="Century Gothic" panose="020B0502020202020204" pitchFamily="34" charset="0"/>
              </a:rPr>
              <a:t> </a:t>
            </a:r>
            <a:r>
              <a:rPr lang="en-US" sz="2800" dirty="0" err="1">
                <a:latin typeface="Century Gothic" panose="020B0502020202020204" pitchFamily="34" charset="0"/>
              </a:rPr>
              <a:t>percobaan</a:t>
            </a:r>
            <a:r>
              <a:rPr lang="en-US" sz="2800" dirty="0">
                <a:latin typeface="Century Gothic" panose="020B0502020202020204" pitchFamily="34" charset="0"/>
              </a:rPr>
              <a:t> </a:t>
            </a:r>
            <a:r>
              <a:rPr lang="en-US" sz="2800" dirty="0" err="1">
                <a:latin typeface="Century Gothic" panose="020B0502020202020204" pitchFamily="34" charset="0"/>
              </a:rPr>
              <a:t>acak</a:t>
            </a:r>
            <a:r>
              <a:rPr lang="en-US" sz="2800" dirty="0">
                <a:latin typeface="Century Gothic" panose="020B0502020202020204" pitchFamily="34" charset="0"/>
              </a:rPr>
              <a:t> </a:t>
            </a:r>
            <a:r>
              <a:rPr lang="en-US" sz="2800" dirty="0" err="1">
                <a:latin typeface="Century Gothic" panose="020B0502020202020204" pitchFamily="34" charset="0"/>
              </a:rPr>
              <a:t>lengkap</a:t>
            </a:r>
            <a:r>
              <a:rPr lang="en-US" sz="2800" dirty="0">
                <a:latin typeface="Century Gothic" panose="020B0502020202020204" pitchFamily="34" charset="0"/>
              </a:rPr>
              <a:t> (RAL)</a:t>
            </a:r>
          </a:p>
        </p:txBody>
      </p:sp>
      <p:pic>
        <p:nvPicPr>
          <p:cNvPr id="6" name="Picture 5" descr="D:\4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482436" cy="123905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62603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402526" y="1481817"/>
            <a:ext cx="9307287" cy="1151165"/>
          </a:xfrm>
          <a:prstGeom prst="rect">
            <a:avLst/>
          </a:prstGeom>
          <a:solidFill>
            <a:srgbClr val="92D050"/>
          </a:solidFill>
          <a:ln>
            <a:solidFill>
              <a:srgbClr val="8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3200" b="1" dirty="0">
                <a:solidFill>
                  <a:schemeClr val="tx1"/>
                </a:solidFill>
                <a:latin typeface="Century Gothic" panose="020B0502020202020204" pitchFamily="34" charset="0"/>
              </a:rPr>
              <a:t>PRINSIP RANCANGAN PERCOBAAN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2526" y="3049361"/>
            <a:ext cx="9307287" cy="1959428"/>
          </a:xfrm>
          <a:prstGeom prst="rect">
            <a:avLst/>
          </a:prstGeom>
          <a:solidFill>
            <a:srgbClr val="00B050"/>
          </a:solidFill>
          <a:ln>
            <a:solidFill>
              <a:srgbClr val="8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just"/>
            <a:r>
              <a:rPr lang="en-US" sz="2800" dirty="0">
                <a:latin typeface="Century Gothic" panose="020B0502020202020204" pitchFamily="34" charset="0"/>
              </a:rPr>
              <a:t>P</a:t>
            </a:r>
            <a:r>
              <a:rPr lang="id-ID" sz="2800" dirty="0">
                <a:latin typeface="Century Gothic" panose="020B0502020202020204" pitchFamily="34" charset="0"/>
              </a:rPr>
              <a:t>engaruh suatu perlakuan terhadap respon</a:t>
            </a:r>
            <a:endParaRPr lang="en-US" sz="2800" dirty="0">
              <a:latin typeface="Century Gothic" panose="020B0502020202020204" pitchFamily="34" charset="0"/>
            </a:endParaRPr>
          </a:p>
          <a:p>
            <a:pPr lvl="0" algn="just"/>
            <a:r>
              <a:rPr lang="id-ID" sz="2800" b="1" dirty="0">
                <a:solidFill>
                  <a:srgbClr val="FFFF00"/>
                </a:solidFill>
                <a:latin typeface="Century Gothic" panose="020B0502020202020204" pitchFamily="34" charset="0"/>
              </a:rPr>
              <a:t>Prinsip </a:t>
            </a:r>
            <a:r>
              <a:rPr lang="en-US" sz="2800" b="1" dirty="0" err="1">
                <a:solidFill>
                  <a:srgbClr val="FFFF00"/>
                </a:solidFill>
                <a:latin typeface="Century Gothic" panose="020B0502020202020204" pitchFamily="34" charset="0"/>
              </a:rPr>
              <a:t>rancangan</a:t>
            </a:r>
            <a:r>
              <a:rPr lang="en-US" sz="2800" b="1" dirty="0">
                <a:solidFill>
                  <a:srgbClr val="FFFF00"/>
                </a:solidFill>
                <a:latin typeface="Century Gothic" panose="020B0502020202020204" pitchFamily="34" charset="0"/>
              </a:rPr>
              <a:t> </a:t>
            </a:r>
            <a:r>
              <a:rPr lang="en-US" sz="2800" b="1" dirty="0" err="1">
                <a:solidFill>
                  <a:srgbClr val="FFFF00"/>
                </a:solidFill>
                <a:latin typeface="Century Gothic" panose="020B0502020202020204" pitchFamily="34" charset="0"/>
              </a:rPr>
              <a:t>percobaan</a:t>
            </a:r>
            <a:r>
              <a:rPr lang="en-US" sz="2800" b="1" dirty="0">
                <a:solidFill>
                  <a:srgbClr val="FFFF00"/>
                </a:solidFill>
                <a:latin typeface="Century Gothic" panose="020B0502020202020204" pitchFamily="34" charset="0"/>
              </a:rPr>
              <a:t> </a:t>
            </a:r>
            <a:r>
              <a:rPr lang="id-ID" sz="2800" dirty="0">
                <a:latin typeface="Century Gothic" panose="020B0502020202020204" pitchFamily="34" charset="0"/>
              </a:rPr>
              <a:t>:</a:t>
            </a:r>
            <a:endParaRPr lang="en-US" sz="2800" dirty="0">
              <a:latin typeface="Century Gothic" panose="020B0502020202020204" pitchFamily="34" charset="0"/>
            </a:endParaRPr>
          </a:p>
          <a:p>
            <a:pPr marL="282575" indent="0" algn="just">
              <a:buNone/>
            </a:pPr>
            <a:r>
              <a:rPr lang="id-ID" sz="2800" dirty="0">
                <a:latin typeface="Century Gothic" panose="020B0502020202020204" pitchFamily="34" charset="0"/>
              </a:rPr>
              <a:t>1. </a:t>
            </a:r>
            <a:r>
              <a:rPr lang="en-US" sz="2800" dirty="0">
                <a:latin typeface="Century Gothic" panose="020B0502020202020204" pitchFamily="34" charset="0"/>
              </a:rPr>
              <a:t>R</a:t>
            </a:r>
            <a:r>
              <a:rPr lang="id-ID" sz="2800" dirty="0">
                <a:latin typeface="Century Gothic" panose="020B0502020202020204" pitchFamily="34" charset="0"/>
              </a:rPr>
              <a:t>andomisasi pengacakan</a:t>
            </a:r>
            <a:endParaRPr lang="en-US" sz="2800" dirty="0">
              <a:latin typeface="Century Gothic" panose="020B0502020202020204" pitchFamily="34" charset="0"/>
            </a:endParaRPr>
          </a:p>
          <a:p>
            <a:pPr marL="282575" indent="0" algn="just">
              <a:buNone/>
            </a:pPr>
            <a:r>
              <a:rPr lang="id-ID" sz="2800" dirty="0">
                <a:latin typeface="Century Gothic" panose="020B0502020202020204" pitchFamily="34" charset="0"/>
              </a:rPr>
              <a:t>2. </a:t>
            </a:r>
            <a:r>
              <a:rPr lang="en-US" sz="2800" dirty="0">
                <a:latin typeface="Century Gothic" panose="020B0502020202020204" pitchFamily="34" charset="0"/>
              </a:rPr>
              <a:t>U</a:t>
            </a:r>
            <a:r>
              <a:rPr lang="id-ID" sz="2800" dirty="0">
                <a:latin typeface="Century Gothic" panose="020B0502020202020204" pitchFamily="34" charset="0"/>
              </a:rPr>
              <a:t>langan</a:t>
            </a:r>
            <a:endParaRPr lang="en-US" sz="2800" dirty="0">
              <a:latin typeface="Century Gothic" panose="020B0502020202020204" pitchFamily="34" charset="0"/>
            </a:endParaRPr>
          </a:p>
        </p:txBody>
      </p:sp>
      <p:pic>
        <p:nvPicPr>
          <p:cNvPr id="6" name="Picture 5" descr="D:\4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482436" cy="123905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898927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7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8602" y="2743200"/>
            <a:ext cx="3575955" cy="1151165"/>
          </a:xfrm>
          <a:prstGeom prst="rect">
            <a:avLst/>
          </a:prstGeom>
          <a:solidFill>
            <a:srgbClr val="FF0000"/>
          </a:solidFill>
          <a:ln>
            <a:solidFill>
              <a:srgbClr val="8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3200" b="1" dirty="0">
                <a:latin typeface="Century Gothic" panose="020B0502020202020204" pitchFamily="34" charset="0"/>
              </a:rPr>
              <a:t>RANCANGAN PERCOBAAN</a:t>
            </a:r>
          </a:p>
        </p:txBody>
      </p:sp>
      <p:cxnSp>
        <p:nvCxnSpPr>
          <p:cNvPr id="6" name="Elbow Connector 5"/>
          <p:cNvCxnSpPr>
            <a:stCxn id="4" idx="3"/>
          </p:cNvCxnSpPr>
          <p:nvPr/>
        </p:nvCxnSpPr>
        <p:spPr>
          <a:xfrm flipV="1">
            <a:off x="3804557" y="1485900"/>
            <a:ext cx="2612572" cy="1832883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Elbow Connector 7"/>
          <p:cNvCxnSpPr/>
          <p:nvPr/>
        </p:nvCxnSpPr>
        <p:spPr>
          <a:xfrm>
            <a:off x="3804557" y="3318782"/>
            <a:ext cx="2612572" cy="1832883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6602187" y="910317"/>
            <a:ext cx="3575955" cy="1151165"/>
          </a:xfrm>
          <a:prstGeom prst="rect">
            <a:avLst/>
          </a:prstGeom>
          <a:solidFill>
            <a:srgbClr val="FF0000"/>
          </a:solidFill>
          <a:ln>
            <a:solidFill>
              <a:srgbClr val="8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3200" b="1" dirty="0">
                <a:latin typeface="Century Gothic" panose="020B0502020202020204" pitchFamily="34" charset="0"/>
              </a:rPr>
              <a:t>Rancangan Pengacakan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02186" y="4576082"/>
            <a:ext cx="3575955" cy="1151165"/>
          </a:xfrm>
          <a:prstGeom prst="rect">
            <a:avLst/>
          </a:prstGeom>
          <a:solidFill>
            <a:srgbClr val="FF0000"/>
          </a:solidFill>
          <a:ln>
            <a:solidFill>
              <a:srgbClr val="8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3200" b="1" dirty="0">
                <a:latin typeface="Century Gothic" panose="020B0502020202020204" pitchFamily="34" charset="0"/>
              </a:rPr>
              <a:t>Rancangan Lingkungan</a:t>
            </a:r>
          </a:p>
        </p:txBody>
      </p:sp>
      <p:pic>
        <p:nvPicPr>
          <p:cNvPr id="7" name="Picture 6" descr="D:\4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1482436" cy="123905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447124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7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8602" y="2743200"/>
            <a:ext cx="3575955" cy="1151165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rgbClr val="8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3200" b="1" dirty="0">
                <a:latin typeface="Century Gothic" panose="020B0502020202020204" pitchFamily="34" charset="0"/>
              </a:rPr>
              <a:t>RANCANGAN LINGKUNGAN</a:t>
            </a:r>
          </a:p>
        </p:txBody>
      </p:sp>
      <p:cxnSp>
        <p:nvCxnSpPr>
          <p:cNvPr id="6" name="Elbow Connector 5"/>
          <p:cNvCxnSpPr/>
          <p:nvPr/>
        </p:nvCxnSpPr>
        <p:spPr>
          <a:xfrm flipV="1">
            <a:off x="3788229" y="979714"/>
            <a:ext cx="2824842" cy="2171702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3804557" y="3151416"/>
            <a:ext cx="267788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1"/>
          <p:cNvCxnSpPr/>
          <p:nvPr/>
        </p:nvCxnSpPr>
        <p:spPr>
          <a:xfrm>
            <a:off x="3804557" y="3151416"/>
            <a:ext cx="2808514" cy="240029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6749144" y="527958"/>
            <a:ext cx="3575955" cy="1151165"/>
          </a:xfrm>
          <a:prstGeom prst="rect">
            <a:avLst/>
          </a:prstGeom>
          <a:solidFill>
            <a:srgbClr val="0070C0"/>
          </a:solidFill>
          <a:ln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3200" b="1" dirty="0">
                <a:latin typeface="Century Gothic" panose="020B0502020202020204" pitchFamily="34" charset="0"/>
              </a:rPr>
              <a:t>RAL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49144" y="2575833"/>
            <a:ext cx="3575955" cy="1151165"/>
          </a:xfrm>
          <a:prstGeom prst="rect">
            <a:avLst/>
          </a:prstGeom>
          <a:solidFill>
            <a:srgbClr val="0070C0"/>
          </a:solidFill>
          <a:ln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3200" b="1" dirty="0">
                <a:latin typeface="Century Gothic" panose="020B0502020202020204" pitchFamily="34" charset="0"/>
              </a:rPr>
              <a:t>RAK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19900" y="4976131"/>
            <a:ext cx="3575955" cy="1151165"/>
          </a:xfrm>
          <a:prstGeom prst="rect">
            <a:avLst/>
          </a:prstGeom>
          <a:solidFill>
            <a:srgbClr val="0070C0"/>
          </a:solidFill>
          <a:ln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3200" b="1" dirty="0">
                <a:latin typeface="Century Gothic" panose="020B0502020202020204" pitchFamily="34" charset="0"/>
              </a:rPr>
              <a:t>RBSL</a:t>
            </a:r>
          </a:p>
        </p:txBody>
      </p:sp>
      <p:pic>
        <p:nvPicPr>
          <p:cNvPr id="10" name="Picture 9" descr="D:\4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1482436" cy="123905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261867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7000"/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3916" y="489857"/>
            <a:ext cx="6711041" cy="947057"/>
          </a:xfrm>
          <a:prstGeom prst="rect">
            <a:avLst/>
          </a:prstGeom>
          <a:solidFill>
            <a:srgbClr val="9E1E04"/>
          </a:solidFill>
          <a:ln>
            <a:solidFill>
              <a:srgbClr val="8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d-ID" sz="3200" b="1" dirty="0">
                <a:latin typeface="Century Gothic" panose="020B0502020202020204" pitchFamily="34" charset="0"/>
              </a:rPr>
              <a:t>Rancangan Acak Lengkap (RAL)</a:t>
            </a:r>
          </a:p>
        </p:txBody>
      </p:sp>
      <p:sp>
        <p:nvSpPr>
          <p:cNvPr id="5" name="Rectangle 4"/>
          <p:cNvSpPr/>
          <p:nvPr/>
        </p:nvSpPr>
        <p:spPr>
          <a:xfrm>
            <a:off x="293916" y="1910444"/>
            <a:ext cx="11454492" cy="3977738"/>
          </a:xfrm>
          <a:prstGeom prst="rect">
            <a:avLst/>
          </a:prstGeom>
          <a:solidFill>
            <a:srgbClr val="800000"/>
          </a:solidFill>
          <a:ln>
            <a:solidFill>
              <a:srgbClr val="8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id-ID" sz="2800" b="1" dirty="0">
                <a:solidFill>
                  <a:srgbClr val="FFFF00"/>
                </a:solidFill>
              </a:rPr>
              <a:t>Rancangan acak lengkap (RAL) </a:t>
            </a:r>
            <a:r>
              <a:rPr lang="en-US" sz="2800" dirty="0"/>
              <a:t>b</a:t>
            </a:r>
            <a:r>
              <a:rPr lang="id-ID" sz="2800" dirty="0"/>
              <a:t>iasa disebut klasifikasi satu-arah ‘One-way ANOVA’ karena </a:t>
            </a:r>
            <a:r>
              <a:rPr lang="id-ID" sz="2800" b="1" dirty="0">
                <a:solidFill>
                  <a:srgbClr val="FFFF00"/>
                </a:solidFill>
              </a:rPr>
              <a:t>perlakuan yang diujikan hanya satu jenis</a:t>
            </a:r>
          </a:p>
          <a:p>
            <a:pPr algn="just"/>
            <a:endParaRPr lang="en-US" sz="2800" b="1" dirty="0">
              <a:solidFill>
                <a:srgbClr val="FFFF00"/>
              </a:solidFill>
            </a:endParaRPr>
          </a:p>
          <a:p>
            <a:pPr algn="just"/>
            <a:r>
              <a:rPr lang="en-US" sz="2800" b="1" dirty="0" err="1"/>
              <a:t>Ciri-ciri</a:t>
            </a:r>
            <a:r>
              <a:rPr lang="en-US" sz="2800" b="1" dirty="0"/>
              <a:t> </a:t>
            </a:r>
            <a:r>
              <a:rPr lang="en-US" sz="2800" b="1" dirty="0" err="1"/>
              <a:t>Rancangan</a:t>
            </a:r>
            <a:r>
              <a:rPr lang="en-US" sz="2800" b="1" dirty="0"/>
              <a:t> </a:t>
            </a:r>
            <a:r>
              <a:rPr lang="en-US" sz="2800" b="1" dirty="0" err="1"/>
              <a:t>Acak</a:t>
            </a:r>
            <a:r>
              <a:rPr lang="en-US" sz="2800" b="1" dirty="0"/>
              <a:t> </a:t>
            </a:r>
            <a:r>
              <a:rPr lang="en-US" sz="2800" b="1" dirty="0" err="1"/>
              <a:t>Lengkap</a:t>
            </a:r>
            <a:r>
              <a:rPr lang="en-US" sz="2800" b="1" dirty="0"/>
              <a:t> :</a:t>
            </a:r>
            <a:endParaRPr lang="id-ID" sz="2800" b="1" dirty="0"/>
          </a:p>
          <a:p>
            <a:pPr algn="just"/>
            <a:endParaRPr lang="en-US" sz="2800" b="1" dirty="0"/>
          </a:p>
          <a:p>
            <a:pPr lvl="0" algn="just"/>
            <a:r>
              <a:rPr lang="en-US" sz="2800" dirty="0"/>
              <a:t>1. </a:t>
            </a:r>
            <a:r>
              <a:rPr lang="id-ID" sz="2800" dirty="0"/>
              <a:t>Kondisi percobaan homogen</a:t>
            </a:r>
            <a:endParaRPr lang="en-US" sz="2800" dirty="0"/>
          </a:p>
          <a:p>
            <a:pPr lvl="0" algn="just"/>
            <a:r>
              <a:rPr lang="en-US" sz="2800" dirty="0"/>
              <a:t>2. </a:t>
            </a:r>
            <a:r>
              <a:rPr lang="id-ID" sz="2800" dirty="0"/>
              <a:t>Satu-satunya sumber keragaman berasal dari perlakuan/treatment</a:t>
            </a:r>
          </a:p>
          <a:p>
            <a:pPr lvl="0" algn="just"/>
            <a:r>
              <a:rPr lang="id-ID" sz="2800" dirty="0"/>
              <a:t>3. Rancangan percobaan yang paling sederhana</a:t>
            </a:r>
            <a:endParaRPr lang="en-US" sz="2800" dirty="0"/>
          </a:p>
        </p:txBody>
      </p:sp>
      <p:pic>
        <p:nvPicPr>
          <p:cNvPr id="6" name="Picture 5" descr="D:\4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09564" y="0"/>
            <a:ext cx="1482436" cy="123905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318392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7000"/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143500" y="234761"/>
            <a:ext cx="1589313" cy="115116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8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3200" b="1" dirty="0">
                <a:solidFill>
                  <a:schemeClr val="tx1"/>
                </a:solidFill>
                <a:latin typeface="Century Gothic" panose="020B0502020202020204" pitchFamily="34" charset="0"/>
              </a:rPr>
              <a:t>RAL</a:t>
            </a:r>
          </a:p>
        </p:txBody>
      </p:sp>
      <p:sp>
        <p:nvSpPr>
          <p:cNvPr id="5" name="Rectangle 4"/>
          <p:cNvSpPr/>
          <p:nvPr/>
        </p:nvSpPr>
        <p:spPr>
          <a:xfrm>
            <a:off x="1475013" y="1500226"/>
            <a:ext cx="3031673" cy="819903"/>
          </a:xfrm>
          <a:prstGeom prst="rect">
            <a:avLst/>
          </a:prstGeom>
          <a:solidFill>
            <a:srgbClr val="00B050"/>
          </a:solidFill>
          <a:ln>
            <a:solidFill>
              <a:srgbClr val="8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3200" b="1" dirty="0">
                <a:solidFill>
                  <a:schemeClr val="bg1"/>
                </a:solidFill>
                <a:latin typeface="Century Gothic" panose="020B0502020202020204" pitchFamily="34" charset="0"/>
              </a:rPr>
              <a:t>KEUNTUNGAN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255328" y="1500226"/>
            <a:ext cx="3031673" cy="79775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rgbClr val="8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3200" b="1" dirty="0">
                <a:solidFill>
                  <a:schemeClr val="bg1"/>
                </a:solidFill>
                <a:latin typeface="Century Gothic" panose="020B0502020202020204" pitchFamily="34" charset="0"/>
              </a:rPr>
              <a:t>KERUGIAN</a:t>
            </a:r>
          </a:p>
        </p:txBody>
      </p:sp>
      <p:sp>
        <p:nvSpPr>
          <p:cNvPr id="7" name="Rectangle 6"/>
          <p:cNvSpPr/>
          <p:nvPr/>
        </p:nvSpPr>
        <p:spPr>
          <a:xfrm>
            <a:off x="691241" y="2809986"/>
            <a:ext cx="5203374" cy="3867905"/>
          </a:xfrm>
          <a:prstGeom prst="rect">
            <a:avLst/>
          </a:prstGeom>
          <a:solidFill>
            <a:srgbClr val="00B050"/>
          </a:solidFill>
          <a:ln>
            <a:solidFill>
              <a:srgbClr val="8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buNone/>
            </a:pPr>
            <a:r>
              <a:rPr lang="id-ID" dirty="0"/>
              <a:t>1. </a:t>
            </a:r>
            <a:r>
              <a:rPr lang="id-ID" dirty="0">
                <a:latin typeface="Century Gothic" panose="020B0502020202020204" pitchFamily="34" charset="0"/>
              </a:rPr>
              <a:t> </a:t>
            </a:r>
            <a:r>
              <a:rPr lang="en-US" dirty="0">
                <a:latin typeface="Century Gothic" panose="020B0502020202020204" pitchFamily="34" charset="0"/>
              </a:rPr>
              <a:t>P</a:t>
            </a:r>
            <a:r>
              <a:rPr lang="id-ID" dirty="0">
                <a:latin typeface="Century Gothic" panose="020B0502020202020204" pitchFamily="34" charset="0"/>
              </a:rPr>
              <a:t>erancangan dan </a:t>
            </a:r>
            <a:r>
              <a:rPr lang="id-ID">
                <a:latin typeface="Century Gothic" panose="020B0502020202020204" pitchFamily="34" charset="0"/>
              </a:rPr>
              <a:t>pelaksanaannya  	mudah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</a:p>
          <a:p>
            <a:pPr lvl="0">
              <a:buNone/>
            </a:pPr>
            <a:r>
              <a:rPr lang="en-US" dirty="0">
                <a:latin typeface="Century Gothic" panose="020B0502020202020204" pitchFamily="34" charset="0"/>
              </a:rPr>
              <a:t>2. A</a:t>
            </a:r>
            <a:r>
              <a:rPr lang="id-ID" dirty="0">
                <a:latin typeface="Century Gothic" panose="020B0502020202020204" pitchFamily="34" charset="0"/>
              </a:rPr>
              <a:t>nalisis datanya sederhana</a:t>
            </a:r>
            <a:endParaRPr lang="en-US" dirty="0">
              <a:latin typeface="Century Gothic" panose="020B0502020202020204" pitchFamily="34" charset="0"/>
            </a:endParaRPr>
          </a:p>
          <a:p>
            <a:pPr marL="349250" lvl="0" indent="-349250">
              <a:buNone/>
            </a:pPr>
            <a:r>
              <a:rPr lang="en-US" dirty="0">
                <a:latin typeface="Century Gothic" panose="020B0502020202020204" pitchFamily="34" charset="0"/>
              </a:rPr>
              <a:t>3. F</a:t>
            </a:r>
            <a:r>
              <a:rPr lang="id-ID" dirty="0">
                <a:latin typeface="Century Gothic" panose="020B0502020202020204" pitchFamily="34" charset="0"/>
              </a:rPr>
              <a:t>leksibel (sedikit lebih fleksibel dibanding RAK) dalam hal jumlah perlakuan, jumlah ulangan, dapat dilakukan dengan ulangan yang tidak sama</a:t>
            </a:r>
            <a:endParaRPr lang="en-US" dirty="0">
              <a:latin typeface="Century Gothic" panose="020B0502020202020204" pitchFamily="34" charset="0"/>
            </a:endParaRPr>
          </a:p>
          <a:p>
            <a:pPr marL="349250" lvl="0" indent="-349250">
              <a:buNone/>
            </a:pPr>
            <a:r>
              <a:rPr lang="en-US" dirty="0">
                <a:latin typeface="Century Gothic" panose="020B0502020202020204" pitchFamily="34" charset="0"/>
              </a:rPr>
              <a:t>4. P</a:t>
            </a:r>
            <a:r>
              <a:rPr lang="id-ID" dirty="0">
                <a:latin typeface="Century Gothic" panose="020B0502020202020204" pitchFamily="34" charset="0"/>
              </a:rPr>
              <a:t>ermasalahan data hilang lebih mudah ditangani</a:t>
            </a:r>
            <a:endParaRPr lang="en-US" dirty="0">
              <a:latin typeface="Century Gothic" panose="020B0502020202020204" pitchFamily="34" charset="0"/>
            </a:endParaRPr>
          </a:p>
          <a:p>
            <a:pPr marL="349250" lvl="0" indent="-349250">
              <a:buNone/>
            </a:pPr>
            <a:r>
              <a:rPr lang="en-US" dirty="0">
                <a:latin typeface="Century Gothic" panose="020B0502020202020204" pitchFamily="34" charset="0"/>
              </a:rPr>
              <a:t>5. T</a:t>
            </a:r>
            <a:r>
              <a:rPr lang="id-ID" dirty="0">
                <a:latin typeface="Century Gothic" panose="020B0502020202020204" pitchFamily="34" charset="0"/>
              </a:rPr>
              <a:t>idak memerlukan tingkat pemahaman yang tinggi mengenai bahan percobaan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389912" y="2809985"/>
            <a:ext cx="5203374" cy="3867906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rgbClr val="8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id-ID" sz="2000" dirty="0">
                <a:latin typeface="Century Gothic" panose="020B0502020202020204" pitchFamily="34" charset="0"/>
              </a:rPr>
              <a:t>1. </a:t>
            </a:r>
            <a:r>
              <a:rPr lang="en-US" sz="2000" dirty="0">
                <a:latin typeface="Century Gothic" panose="020B0502020202020204" pitchFamily="34" charset="0"/>
              </a:rPr>
              <a:t>T</a:t>
            </a:r>
            <a:r>
              <a:rPr lang="id-ID" sz="2000" dirty="0">
                <a:latin typeface="Century Gothic" panose="020B0502020202020204" pitchFamily="34" charset="0"/>
              </a:rPr>
              <a:t>erkadang rancangan ini tidak efisien</a:t>
            </a:r>
            <a:endParaRPr lang="en-US" sz="2000" dirty="0">
              <a:latin typeface="Century Gothic" panose="020B0502020202020204" pitchFamily="34" charset="0"/>
            </a:endParaRPr>
          </a:p>
          <a:p>
            <a:pPr marL="349250" lvl="0" indent="-349250">
              <a:buNone/>
            </a:pPr>
            <a:r>
              <a:rPr lang="en-US" sz="2000" dirty="0">
                <a:latin typeface="Century Gothic" panose="020B0502020202020204" pitchFamily="34" charset="0"/>
              </a:rPr>
              <a:t>2. H</a:t>
            </a:r>
            <a:r>
              <a:rPr lang="id-ID" sz="2000" dirty="0">
                <a:latin typeface="Century Gothic" panose="020B0502020202020204" pitchFamily="34" charset="0"/>
              </a:rPr>
              <a:t>anya sesuai untuk percobaan dengan jumlah perlakuan yang tidak terlalu banyak</a:t>
            </a:r>
            <a:endParaRPr lang="en-US" sz="2000" dirty="0">
              <a:latin typeface="Century Gothic" panose="020B0502020202020204" pitchFamily="34" charset="0"/>
            </a:endParaRPr>
          </a:p>
          <a:p>
            <a:pPr marL="349250" lvl="0" indent="-349250">
              <a:buNone/>
            </a:pPr>
            <a:r>
              <a:rPr lang="en-US" sz="2000" dirty="0">
                <a:latin typeface="Century Gothic" panose="020B0502020202020204" pitchFamily="34" charset="0"/>
              </a:rPr>
              <a:t>3. P</a:t>
            </a:r>
            <a:r>
              <a:rPr lang="id-ID" sz="2000" dirty="0">
                <a:latin typeface="Century Gothic" panose="020B0502020202020204" pitchFamily="34" charset="0"/>
              </a:rPr>
              <a:t>engulangan percobaan yang sama mungkin tidak konsisten apabila satuan percobaan tidak benar-benar homogen terutama apabila jumlah ulangannya sedikit</a:t>
            </a:r>
            <a:endParaRPr lang="en-US" sz="2000" dirty="0">
              <a:latin typeface="Century Gothic" panose="020B0502020202020204" pitchFamily="34" charset="0"/>
            </a:endParaRPr>
          </a:p>
        </p:txBody>
      </p:sp>
      <p:cxnSp>
        <p:nvCxnSpPr>
          <p:cNvPr id="10" name="Straight Arrow Connector 9"/>
          <p:cNvCxnSpPr>
            <a:stCxn id="4" idx="1"/>
          </p:cNvCxnSpPr>
          <p:nvPr/>
        </p:nvCxnSpPr>
        <p:spPr>
          <a:xfrm flipH="1">
            <a:off x="3804557" y="810344"/>
            <a:ext cx="1338943" cy="5755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6754584" y="810344"/>
            <a:ext cx="1186544" cy="5755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2699656" y="2320129"/>
            <a:ext cx="10887" cy="48985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8501742" y="2346966"/>
            <a:ext cx="10887" cy="48985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D:\4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0"/>
            <a:ext cx="1482436" cy="123905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955092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7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38991" y="461495"/>
            <a:ext cx="9405257" cy="70788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id-ID" sz="4000" b="1" dirty="0">
                <a:latin typeface="Century Gothic" panose="020B0502020202020204" pitchFamily="34" charset="0"/>
              </a:rPr>
              <a:t>KAIDAH PENARIKAN KESIMPULAN</a:t>
            </a:r>
            <a:endParaRPr lang="id-ID" sz="4000" dirty="0">
              <a:latin typeface="Century Gothic" panose="020B0502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922813" y="1544286"/>
            <a:ext cx="7037615" cy="4278087"/>
          </a:xfrm>
          <a:prstGeom prst="rect">
            <a:avLst/>
          </a:prstGeom>
          <a:solidFill>
            <a:srgbClr val="800000"/>
          </a:solidFill>
          <a:ln>
            <a:solidFill>
              <a:srgbClr val="8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2400" b="1" dirty="0">
                <a:solidFill>
                  <a:schemeClr val="bg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1. </a:t>
            </a:r>
            <a:r>
              <a:rPr lang="en-US" sz="2400" b="1" dirty="0">
                <a:solidFill>
                  <a:srgbClr val="FFFF00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F </a:t>
            </a:r>
            <a:r>
              <a:rPr lang="id-ID" sz="2400" b="1" dirty="0">
                <a:solidFill>
                  <a:srgbClr val="FFFF00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hit &lt; </a:t>
            </a:r>
            <a:r>
              <a:rPr lang="en-US" sz="2400" b="1" dirty="0">
                <a:solidFill>
                  <a:srgbClr val="FFFF00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F</a:t>
            </a:r>
            <a:r>
              <a:rPr lang="id-ID" sz="2400" b="1" dirty="0">
                <a:solidFill>
                  <a:srgbClr val="FFFF00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 tab 5%</a:t>
            </a:r>
            <a:r>
              <a:rPr lang="en-US" sz="2400" b="1" dirty="0">
                <a:solidFill>
                  <a:srgbClr val="FFFF00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FFFF00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atau</a:t>
            </a:r>
            <a:r>
              <a:rPr lang="en-US" sz="2400" b="1" dirty="0">
                <a:solidFill>
                  <a:srgbClr val="FFFF00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 P value &gt; α (</a:t>
            </a:r>
            <a:r>
              <a:rPr lang="en-US" sz="2400" b="1" dirty="0" err="1">
                <a:solidFill>
                  <a:srgbClr val="FFFF00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alfa</a:t>
            </a:r>
            <a:r>
              <a:rPr lang="en-US" sz="2400" b="1" dirty="0">
                <a:solidFill>
                  <a:srgbClr val="FFFF00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) 5%</a:t>
            </a:r>
          </a:p>
          <a:p>
            <a:pPr marL="349250" indent="0" algn="just">
              <a:buNone/>
            </a:pPr>
            <a:r>
              <a:rPr lang="id-ID" sz="2400" b="1" dirty="0">
                <a:solidFill>
                  <a:schemeClr val="bg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Gagal tolak H0 </a:t>
            </a:r>
            <a:r>
              <a:rPr lang="en-US" sz="2400" b="1" dirty="0" err="1">
                <a:solidFill>
                  <a:schemeClr val="bg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atau</a:t>
            </a:r>
            <a:r>
              <a:rPr lang="en-US" sz="2400" b="1" dirty="0">
                <a:solidFill>
                  <a:schemeClr val="bg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terima</a:t>
            </a:r>
            <a:r>
              <a:rPr lang="en-US" sz="2400" b="1" dirty="0">
                <a:solidFill>
                  <a:schemeClr val="bg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 H0 </a:t>
            </a:r>
            <a:r>
              <a:rPr lang="id-ID" sz="2400" b="1" dirty="0">
                <a:solidFill>
                  <a:schemeClr val="bg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artinya tidak ada perbedaan yang nyata atas pemberian perlakuan</a:t>
            </a:r>
            <a:endParaRPr lang="en-US" sz="2400" b="1" dirty="0">
              <a:solidFill>
                <a:schemeClr val="bg1"/>
              </a:solidFill>
              <a:latin typeface="Century Gothic" panose="020B0502020202020204" pitchFamily="34" charset="0"/>
              <a:cs typeface="Arial" panose="020B0604020202020204" pitchFamily="34" charset="0"/>
            </a:endParaRPr>
          </a:p>
          <a:p>
            <a:pPr marL="349250" indent="0" algn="just">
              <a:buNone/>
            </a:pPr>
            <a:r>
              <a:rPr lang="id-ID" sz="2400" b="1" dirty="0">
                <a:solidFill>
                  <a:schemeClr val="bg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(dengan selang kepercayaan 95%)</a:t>
            </a:r>
            <a:endParaRPr lang="en-US" sz="2400" b="1" dirty="0">
              <a:solidFill>
                <a:schemeClr val="bg1"/>
              </a:solidFill>
              <a:latin typeface="Century Gothic" panose="020B0502020202020204" pitchFamily="34" charset="0"/>
              <a:cs typeface="Arial" panose="020B0604020202020204" pitchFamily="34" charset="0"/>
            </a:endParaRPr>
          </a:p>
          <a:p>
            <a:pPr lvl="0" algn="just"/>
            <a:r>
              <a:rPr lang="en-US" sz="2400" b="1" dirty="0">
                <a:solidFill>
                  <a:schemeClr val="bg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2. </a:t>
            </a:r>
            <a:r>
              <a:rPr lang="en-US" sz="2400" b="1" dirty="0">
                <a:solidFill>
                  <a:srgbClr val="FFFF00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F</a:t>
            </a:r>
            <a:r>
              <a:rPr lang="id-ID" sz="2400" b="1" dirty="0">
                <a:solidFill>
                  <a:srgbClr val="FFFF00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 hit &gt; </a:t>
            </a:r>
            <a:r>
              <a:rPr lang="en-US" sz="2400" b="1" dirty="0">
                <a:solidFill>
                  <a:srgbClr val="FFFF00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F</a:t>
            </a:r>
            <a:r>
              <a:rPr lang="id-ID" sz="2400" b="1" dirty="0">
                <a:solidFill>
                  <a:srgbClr val="FFFF00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 tab 5%</a:t>
            </a:r>
            <a:r>
              <a:rPr lang="en-US" sz="2400" b="1" dirty="0">
                <a:solidFill>
                  <a:srgbClr val="FFFF00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FFFF00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atau</a:t>
            </a:r>
            <a:r>
              <a:rPr lang="en-US" sz="2400" b="1" dirty="0">
                <a:solidFill>
                  <a:srgbClr val="FFFF00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 P value &lt; α (</a:t>
            </a:r>
            <a:r>
              <a:rPr lang="en-US" sz="2400" b="1" dirty="0" err="1">
                <a:solidFill>
                  <a:srgbClr val="FFFF00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alfa</a:t>
            </a:r>
            <a:r>
              <a:rPr lang="en-US" sz="2400" b="1" dirty="0">
                <a:solidFill>
                  <a:srgbClr val="FFFF00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) 5%</a:t>
            </a:r>
          </a:p>
          <a:p>
            <a:pPr marL="349250" indent="0" algn="just">
              <a:buNone/>
            </a:pPr>
            <a:r>
              <a:rPr lang="id-ID" sz="2400" b="1" dirty="0">
                <a:solidFill>
                  <a:schemeClr val="bg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Tolak H0, terima H1. Artinya ada perbedaan yang nyata antar perlakuan yang diberikan (dengan selang kepercayaan 95%)</a:t>
            </a:r>
            <a:endParaRPr lang="en-US" sz="2400" b="1" dirty="0">
              <a:solidFill>
                <a:schemeClr val="bg1"/>
              </a:solidFill>
              <a:latin typeface="Century Gothic" panose="020B0502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 descr="D:\4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1482436" cy="123905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317797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233058" y="2224082"/>
            <a:ext cx="6088741" cy="342324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6155869" cy="1151165"/>
          </a:xfrm>
          <a:prstGeom prst="rect">
            <a:avLst/>
          </a:prstGeom>
          <a:solidFill>
            <a:srgbClr val="800000"/>
          </a:solidFill>
          <a:ln>
            <a:solidFill>
              <a:srgbClr val="8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3200" b="1" dirty="0">
                <a:solidFill>
                  <a:srgbClr val="FFFF00"/>
                </a:solidFill>
                <a:latin typeface="Century Gothic" panose="020B0502020202020204" pitchFamily="34" charset="0"/>
              </a:rPr>
              <a:t>MENUJU MINITAB</a:t>
            </a:r>
          </a:p>
        </p:txBody>
      </p:sp>
      <p:pic>
        <p:nvPicPr>
          <p:cNvPr id="6" name="Picture 5" descr="D:\4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09564" y="-43944"/>
            <a:ext cx="1482436" cy="123905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346761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75000"/>
            </a:schemeClr>
          </a:solidFill>
        </p:spPr>
        <p:txBody>
          <a:bodyPr/>
          <a:lstStyle/>
          <a:p>
            <a:pPr algn="ctr"/>
            <a:r>
              <a:rPr lang="id-ID" b="1" dirty="0">
                <a:latin typeface="Arial Narrow" pitchFamily="34" charset="0"/>
              </a:rPr>
              <a:t>TUGAS INDIVIDU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b="1" dirty="0" err="1">
                <a:latin typeface="Century Gothic" panose="020B0502020202020204" pitchFamily="34" charset="0"/>
              </a:rPr>
              <a:t>Membuat</a:t>
            </a:r>
            <a:r>
              <a:rPr lang="en-US" b="1" dirty="0">
                <a:latin typeface="Century Gothic" panose="020B0502020202020204" pitchFamily="34" charset="0"/>
              </a:rPr>
              <a:t> </a:t>
            </a:r>
            <a:r>
              <a:rPr lang="en-US" b="1" dirty="0" err="1">
                <a:latin typeface="Century Gothic" panose="020B0502020202020204" pitchFamily="34" charset="0"/>
              </a:rPr>
              <a:t>langkah-langkah</a:t>
            </a:r>
            <a:r>
              <a:rPr lang="en-US" b="1" dirty="0">
                <a:latin typeface="Century Gothic" panose="020B0502020202020204" pitchFamily="34" charset="0"/>
              </a:rPr>
              <a:t> </a:t>
            </a:r>
            <a:r>
              <a:rPr lang="id-ID" b="1" dirty="0">
                <a:latin typeface="Century Gothic" panose="020B0502020202020204" pitchFamily="34" charset="0"/>
              </a:rPr>
              <a:t>RAL </a:t>
            </a:r>
            <a:r>
              <a:rPr lang="en-US" b="1" dirty="0">
                <a:latin typeface="Century Gothic" panose="020B0502020202020204" pitchFamily="34" charset="0"/>
              </a:rPr>
              <a:t>(</a:t>
            </a:r>
            <a:r>
              <a:rPr lang="en-US" b="1" dirty="0" err="1">
                <a:latin typeface="Century Gothic" panose="020B0502020202020204" pitchFamily="34" charset="0"/>
              </a:rPr>
              <a:t>Berupa</a:t>
            </a:r>
            <a:r>
              <a:rPr lang="en-US" b="1" dirty="0">
                <a:latin typeface="Century Gothic" panose="020B0502020202020204" pitchFamily="34" charset="0"/>
              </a:rPr>
              <a:t> Screenshots </a:t>
            </a:r>
            <a:r>
              <a:rPr lang="en-US" b="1" dirty="0" err="1">
                <a:latin typeface="Century Gothic" panose="020B0502020202020204" pitchFamily="34" charset="0"/>
              </a:rPr>
              <a:t>beserta</a:t>
            </a:r>
            <a:r>
              <a:rPr lang="en-US" b="1" dirty="0">
                <a:latin typeface="Century Gothic" panose="020B0502020202020204" pitchFamily="34" charset="0"/>
              </a:rPr>
              <a:t> </a:t>
            </a:r>
            <a:r>
              <a:rPr lang="en-US" b="1" dirty="0" err="1">
                <a:latin typeface="Century Gothic" panose="020B0502020202020204" pitchFamily="34" charset="0"/>
              </a:rPr>
              <a:t>keterangan</a:t>
            </a:r>
            <a:r>
              <a:rPr lang="en-US" b="1" dirty="0">
                <a:latin typeface="Century Gothic" panose="020B0502020202020204" pitchFamily="34" charset="0"/>
              </a:rPr>
              <a:t>)</a:t>
            </a:r>
            <a:endParaRPr lang="en-US" b="1" u="sng" dirty="0">
              <a:latin typeface="Century Gothic" panose="020B0502020202020204" pitchFamily="34" charset="0"/>
            </a:endParaRPr>
          </a:p>
          <a:p>
            <a:endParaRPr lang="en-US" b="1" u="sng" dirty="0">
              <a:latin typeface="Century Gothic" panose="020B0502020202020204" pitchFamily="34" charset="0"/>
            </a:endParaRPr>
          </a:p>
          <a:p>
            <a:pPr marL="342900" indent="-342900"/>
            <a:r>
              <a:rPr lang="en-ID" b="1" dirty="0">
                <a:latin typeface="Century Gothic" panose="020B0502020202020204" pitchFamily="34" charset="0"/>
              </a:rPr>
              <a:t>NB: Data </a:t>
            </a:r>
            <a:r>
              <a:rPr lang="en-ID" b="1" dirty="0" err="1">
                <a:latin typeface="Century Gothic" panose="020B0502020202020204" pitchFamily="34" charset="0"/>
              </a:rPr>
              <a:t>pada</a:t>
            </a:r>
            <a:r>
              <a:rPr lang="en-ID" b="1" dirty="0">
                <a:latin typeface="Century Gothic" panose="020B0502020202020204" pitchFamily="34" charset="0"/>
              </a:rPr>
              <a:t> </a:t>
            </a:r>
            <a:r>
              <a:rPr lang="en-ID" b="1" dirty="0" err="1">
                <a:latin typeface="Century Gothic" panose="020B0502020202020204" pitchFamily="34" charset="0"/>
              </a:rPr>
              <a:t>Kolom</a:t>
            </a:r>
            <a:r>
              <a:rPr lang="en-ID" b="1" dirty="0">
                <a:latin typeface="Century Gothic" panose="020B0502020202020204" pitchFamily="34" charset="0"/>
              </a:rPr>
              <a:t> Sheets ‘</a:t>
            </a:r>
            <a:r>
              <a:rPr lang="en-ID" b="1" dirty="0" err="1">
                <a:latin typeface="Century Gothic" panose="020B0502020202020204" pitchFamily="34" charset="0"/>
              </a:rPr>
              <a:t>Tugas</a:t>
            </a:r>
            <a:r>
              <a:rPr lang="en-ID" b="1" dirty="0">
                <a:latin typeface="Century Gothic" panose="020B0502020202020204" pitchFamily="34" charset="0"/>
              </a:rPr>
              <a:t>’</a:t>
            </a:r>
            <a:endParaRPr lang="id-ID" b="1" dirty="0">
              <a:latin typeface="Century Gothic" panose="020B0502020202020204" pitchFamily="34" charset="0"/>
            </a:endParaRPr>
          </a:p>
          <a:p>
            <a:pPr marL="342900" indent="-342900"/>
            <a:endParaRPr lang="id-ID" b="1" dirty="0">
              <a:latin typeface="Century Gothic" panose="020B0502020202020204" pitchFamily="34" charset="0"/>
            </a:endParaRPr>
          </a:p>
          <a:p>
            <a:pPr marL="342900" indent="-342900"/>
            <a:r>
              <a:rPr lang="id-ID" b="1" dirty="0">
                <a:latin typeface="Century Gothic" panose="020B0502020202020204" pitchFamily="34" charset="0"/>
              </a:rPr>
              <a:t>Format Pengiriman Subjek Tugas Individu : </a:t>
            </a:r>
          </a:p>
          <a:p>
            <a:pPr marL="0" indent="0">
              <a:buNone/>
            </a:pPr>
            <a:r>
              <a:rPr lang="id-ID" b="1" dirty="0">
                <a:latin typeface="Century Gothic" panose="020B0502020202020204" pitchFamily="34" charset="0"/>
              </a:rPr>
              <a:t> </a:t>
            </a:r>
            <a:r>
              <a:rPr lang="id-ID" b="1" dirty="0">
                <a:solidFill>
                  <a:srgbClr val="FF0000"/>
                </a:solidFill>
                <a:latin typeface="Century Gothic" panose="020B0502020202020204" pitchFamily="34" charset="0"/>
              </a:rPr>
              <a:t>Praktikum4_Nama_Nim             </a:t>
            </a:r>
            <a:r>
              <a:rPr lang="id-ID" b="1" dirty="0">
                <a:latin typeface="Century Gothic" panose="020B0502020202020204" pitchFamily="34" charset="0"/>
              </a:rPr>
              <a:t>Dikirim ke CO kelompok 							masing masing</a:t>
            </a:r>
            <a:endParaRPr lang="en-ID" b="1" dirty="0">
              <a:latin typeface="Century Gothic" panose="020B0502020202020204" pitchFamily="34" charset="0"/>
            </a:endParaRPr>
          </a:p>
        </p:txBody>
      </p:sp>
      <p:sp>
        <p:nvSpPr>
          <p:cNvPr id="4" name="Right Arrow 3"/>
          <p:cNvSpPr/>
          <p:nvPr/>
        </p:nvSpPr>
        <p:spPr>
          <a:xfrm>
            <a:off x="5223165" y="4849088"/>
            <a:ext cx="997527" cy="22167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1489982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75000"/>
            </a:schemeClr>
          </a:solidFill>
        </p:spPr>
        <p:txBody>
          <a:bodyPr/>
          <a:lstStyle/>
          <a:p>
            <a:pPr algn="ctr"/>
            <a:r>
              <a:rPr lang="id-ID" b="1" dirty="0">
                <a:latin typeface="Arial Narrow" pitchFamily="34" charset="0"/>
              </a:rPr>
              <a:t>TUGAS KELOMPOK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b="1" dirty="0">
                <a:latin typeface="Century Gothic" panose="020B0502020202020204" pitchFamily="34" charset="0"/>
              </a:rPr>
              <a:t>L</a:t>
            </a:r>
            <a:r>
              <a:rPr lang="id-ID" b="1" dirty="0">
                <a:latin typeface="Century Gothic" panose="020B0502020202020204" pitchFamily="34" charset="0"/>
              </a:rPr>
              <a:t>aporan Materi 3 “</a:t>
            </a:r>
            <a:r>
              <a:rPr lang="id-ID" b="1" dirty="0">
                <a:solidFill>
                  <a:srgbClr val="FF0000"/>
                </a:solidFill>
                <a:latin typeface="Century Gothic" panose="020B0502020202020204" pitchFamily="34" charset="0"/>
              </a:rPr>
              <a:t>Rancangan Acak Lengkap</a:t>
            </a:r>
            <a:r>
              <a:rPr lang="id-ID" b="1" dirty="0">
                <a:latin typeface="Century Gothic" panose="020B0502020202020204" pitchFamily="34" charset="0"/>
              </a:rPr>
              <a:t>” Untuk </a:t>
            </a:r>
            <a:r>
              <a:rPr lang="id-ID" b="1" u="sng" dirty="0">
                <a:latin typeface="Century Gothic" panose="020B0502020202020204" pitchFamily="34" charset="0"/>
              </a:rPr>
              <a:t>Kelompok 1 </a:t>
            </a:r>
            <a:r>
              <a:rPr lang="id-ID" b="1" u="sng">
                <a:latin typeface="Century Gothic" panose="020B0502020202020204" pitchFamily="34" charset="0"/>
              </a:rPr>
              <a:t>dan 4</a:t>
            </a:r>
          </a:p>
          <a:p>
            <a:endParaRPr lang="id-ID" b="1" u="sng" dirty="0">
              <a:latin typeface="Century Gothic" panose="020B0502020202020204" pitchFamily="34" charset="0"/>
            </a:endParaRPr>
          </a:p>
          <a:p>
            <a:r>
              <a:rPr lang="en-ID" b="1" dirty="0">
                <a:latin typeface="Century Gothic" panose="020B0502020202020204" pitchFamily="34" charset="0"/>
              </a:rPr>
              <a:t>NB: Data </a:t>
            </a:r>
            <a:r>
              <a:rPr lang="en-ID" b="1" dirty="0" err="1">
                <a:latin typeface="Century Gothic" panose="020B0502020202020204" pitchFamily="34" charset="0"/>
              </a:rPr>
              <a:t>pada</a:t>
            </a:r>
            <a:r>
              <a:rPr lang="en-ID" b="1" dirty="0">
                <a:latin typeface="Century Gothic" panose="020B0502020202020204" pitchFamily="34" charset="0"/>
              </a:rPr>
              <a:t> </a:t>
            </a:r>
            <a:r>
              <a:rPr lang="en-ID" b="1" dirty="0" err="1">
                <a:latin typeface="Century Gothic" panose="020B0502020202020204" pitchFamily="34" charset="0"/>
              </a:rPr>
              <a:t>Kolom</a:t>
            </a:r>
            <a:r>
              <a:rPr lang="en-ID" b="1" dirty="0">
                <a:latin typeface="Century Gothic" panose="020B0502020202020204" pitchFamily="34" charset="0"/>
              </a:rPr>
              <a:t> Sheets ‘</a:t>
            </a:r>
            <a:r>
              <a:rPr lang="en-ID" b="1" dirty="0" err="1">
                <a:latin typeface="Century Gothic" panose="020B0502020202020204" pitchFamily="34" charset="0"/>
              </a:rPr>
              <a:t>Tugas</a:t>
            </a:r>
            <a:r>
              <a:rPr lang="en-ID" b="1" dirty="0">
                <a:latin typeface="Century Gothic" panose="020B0502020202020204" pitchFamily="34" charset="0"/>
              </a:rPr>
              <a:t>’</a:t>
            </a:r>
            <a:endParaRPr lang="en-US" b="1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id-ID" b="1" dirty="0">
              <a:latin typeface="Century Gothic" panose="020B0502020202020204" pitchFamily="34" charset="0"/>
            </a:endParaRPr>
          </a:p>
          <a:p>
            <a:pPr marL="342900" indent="-342900"/>
            <a:r>
              <a:rPr lang="id-ID" b="1" dirty="0">
                <a:latin typeface="Century Gothic" panose="020B0502020202020204" pitchFamily="34" charset="0"/>
              </a:rPr>
              <a:t>Format Pengiriman Subjek Tugas Kelompok : </a:t>
            </a:r>
          </a:p>
          <a:p>
            <a:pPr marL="0" indent="0">
              <a:buNone/>
            </a:pPr>
            <a:r>
              <a:rPr lang="id-ID" b="1" dirty="0">
                <a:latin typeface="Century Gothic" panose="020B0502020202020204" pitchFamily="34" charset="0"/>
              </a:rPr>
              <a:t> </a:t>
            </a:r>
            <a:r>
              <a:rPr lang="id-ID" b="1" dirty="0">
                <a:solidFill>
                  <a:srgbClr val="FF0000"/>
                </a:solidFill>
                <a:latin typeface="Century Gothic" panose="020B0502020202020204" pitchFamily="34" charset="0"/>
              </a:rPr>
              <a:t>Praktikum4_Kelas_Kelompok </a:t>
            </a:r>
            <a:endParaRPr lang="en-ID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29809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491" y="157307"/>
            <a:ext cx="10515600" cy="1325563"/>
          </a:xfrm>
          <a:solidFill>
            <a:schemeClr val="accent6">
              <a:lumMod val="75000"/>
            </a:schemeClr>
          </a:solidFill>
        </p:spPr>
        <p:txBody>
          <a:bodyPr/>
          <a:lstStyle/>
          <a:p>
            <a:pPr algn="ctr"/>
            <a:r>
              <a:rPr lang="id-ID" b="1" dirty="0">
                <a:latin typeface="Arial Narrow" pitchFamily="34" charset="0"/>
              </a:rPr>
              <a:t>KETENTUAN PENUGASAN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34836"/>
            <a:ext cx="10515600" cy="4890655"/>
          </a:xfrm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pPr marL="342900" indent="-342900"/>
            <a:r>
              <a:rPr lang="id-ID" b="1" dirty="0">
                <a:latin typeface="Century Gothic" panose="020B0502020202020204" pitchFamily="34" charset="0"/>
              </a:rPr>
              <a:t>Paling lambat dikumpulkan </a:t>
            </a:r>
            <a:r>
              <a:rPr lang="id-ID" b="1" dirty="0">
                <a:solidFill>
                  <a:srgbClr val="FF0000"/>
                </a:solidFill>
                <a:latin typeface="Century Gothic" panose="020B0502020202020204" pitchFamily="34" charset="0"/>
              </a:rPr>
              <a:t>(FIX) </a:t>
            </a:r>
            <a:r>
              <a:rPr lang="id-ID" b="1" dirty="0">
                <a:latin typeface="Century Gothic" panose="020B0502020202020204" pitchFamily="34" charset="0"/>
              </a:rPr>
              <a:t>hari </a:t>
            </a:r>
            <a:r>
              <a:rPr lang="id-ID" b="1" dirty="0">
                <a:solidFill>
                  <a:srgbClr val="FF0000"/>
                </a:solidFill>
                <a:latin typeface="Century Gothic" panose="020B0502020202020204" pitchFamily="34" charset="0"/>
              </a:rPr>
              <a:t>Jum’at, 1 November 2019</a:t>
            </a:r>
            <a:r>
              <a:rPr lang="id-ID" b="1" dirty="0">
                <a:latin typeface="Century Gothic" panose="020B0502020202020204" pitchFamily="34" charset="0"/>
              </a:rPr>
              <a:t> dalam bentuk soft</a:t>
            </a:r>
            <a:r>
              <a:rPr lang="en-US" b="1" dirty="0">
                <a:latin typeface="Century Gothic" panose="020B0502020202020204" pitchFamily="34" charset="0"/>
              </a:rPr>
              <a:t> </a:t>
            </a:r>
            <a:r>
              <a:rPr lang="id-ID" b="1" dirty="0">
                <a:latin typeface="Century Gothic" panose="020B0502020202020204" pitchFamily="34" charset="0"/>
              </a:rPr>
              <a:t>file kirim ke email:</a:t>
            </a:r>
            <a:endParaRPr lang="en-US" b="1" dirty="0">
              <a:latin typeface="Century Gothic" panose="020B0502020202020204" pitchFamily="34" charset="0"/>
            </a:endParaRPr>
          </a:p>
          <a:p>
            <a:endParaRPr lang="id-ID" b="1" dirty="0">
              <a:latin typeface="Century Gothic" panose="020B0502020202020204" pitchFamily="34" charset="0"/>
            </a:endParaRPr>
          </a:p>
          <a:p>
            <a:r>
              <a:rPr lang="en-US" b="1" dirty="0">
                <a:latin typeface="Century Gothic" panose="020B0502020202020204" pitchFamily="34" charset="0"/>
              </a:rPr>
              <a:t>padmaparamita@student.ub.ac.id	- (</a:t>
            </a:r>
            <a:r>
              <a:rPr lang="en-US" b="1" dirty="0" err="1">
                <a:latin typeface="Century Gothic" panose="020B0502020202020204" pitchFamily="34" charset="0"/>
              </a:rPr>
              <a:t>Kelompok</a:t>
            </a:r>
            <a:r>
              <a:rPr lang="en-US" b="1" dirty="0">
                <a:latin typeface="Century Gothic" panose="020B0502020202020204" pitchFamily="34" charset="0"/>
              </a:rPr>
              <a:t> 1,2,3)</a:t>
            </a:r>
          </a:p>
          <a:p>
            <a:r>
              <a:rPr lang="en-US" b="1" dirty="0">
                <a:latin typeface="Century Gothic" panose="020B0502020202020204" pitchFamily="34" charset="0"/>
              </a:rPr>
              <a:t>Hasnanumut_@student.ub.ac.id 	- (</a:t>
            </a:r>
            <a:r>
              <a:rPr lang="en-US" b="1" dirty="0" err="1">
                <a:latin typeface="Century Gothic" panose="020B0502020202020204" pitchFamily="34" charset="0"/>
              </a:rPr>
              <a:t>Kelompok</a:t>
            </a:r>
            <a:r>
              <a:rPr lang="en-US" b="1" dirty="0">
                <a:latin typeface="Century Gothic" panose="020B0502020202020204" pitchFamily="34" charset="0"/>
              </a:rPr>
              <a:t> 4,5,6)</a:t>
            </a:r>
            <a:endParaRPr lang="id-ID" b="1" dirty="0">
              <a:latin typeface="Century Gothic" panose="020B0502020202020204" pitchFamily="34" charset="0"/>
            </a:endParaRPr>
          </a:p>
          <a:p>
            <a:endParaRPr lang="id-ID" b="1" dirty="0">
              <a:latin typeface="Century Gothic" panose="020B0502020202020204" pitchFamily="34" charset="0"/>
            </a:endParaRPr>
          </a:p>
          <a:p>
            <a:r>
              <a:rPr lang="id-ID" b="1" dirty="0">
                <a:latin typeface="Century Gothic" panose="020B0502020202020204" pitchFamily="34" charset="0"/>
              </a:rPr>
              <a:t>Pengiriman tugas maksimal </a:t>
            </a:r>
            <a:r>
              <a:rPr lang="id-ID" b="1" dirty="0">
                <a:solidFill>
                  <a:srgbClr val="FF0000"/>
                </a:solidFill>
                <a:latin typeface="Century Gothic" panose="020B0502020202020204" pitchFamily="34" charset="0"/>
              </a:rPr>
              <a:t>pukul 18.00</a:t>
            </a:r>
          </a:p>
          <a:p>
            <a:pPr marL="0" indent="0">
              <a:buNone/>
            </a:pPr>
            <a:endParaRPr lang="id-ID" b="1" dirty="0">
              <a:solidFill>
                <a:srgbClr val="FF0000"/>
              </a:solidFill>
              <a:latin typeface="Century Gothic" panose="020B0502020202020204" pitchFamily="34" charset="0"/>
            </a:endParaRPr>
          </a:p>
          <a:p>
            <a:r>
              <a:rPr lang="id-ID" b="1" dirty="0">
                <a:latin typeface="Century Gothic" panose="020B0502020202020204" pitchFamily="34" charset="0"/>
              </a:rPr>
              <a:t>NB : </a:t>
            </a:r>
            <a:r>
              <a:rPr lang="id-ID" b="1" dirty="0">
                <a:solidFill>
                  <a:srgbClr val="FF0000"/>
                </a:solidFill>
                <a:latin typeface="Century Gothic" panose="020B0502020202020204" pitchFamily="34" charset="0"/>
              </a:rPr>
              <a:t>Asistensi pertama</a:t>
            </a:r>
            <a:r>
              <a:rPr lang="id-ID" b="1" dirty="0">
                <a:latin typeface="Century Gothic" panose="020B0502020202020204" pitchFamily="34" charset="0"/>
              </a:rPr>
              <a:t> paling lambat pada hari </a:t>
            </a:r>
            <a:r>
              <a:rPr lang="id-ID" b="1" dirty="0">
                <a:solidFill>
                  <a:srgbClr val="FF0000"/>
                </a:solidFill>
                <a:latin typeface="Century Gothic" panose="020B0502020202020204" pitchFamily="34" charset="0"/>
              </a:rPr>
              <a:t>Selasa, 29 Oktober 2019</a:t>
            </a:r>
            <a:endParaRPr lang="en-US" b="1" dirty="0">
              <a:solidFill>
                <a:srgbClr val="FF0000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18868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6155869" cy="115116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d-ID" sz="3200" b="1" dirty="0">
                <a:solidFill>
                  <a:schemeClr val="tx1"/>
                </a:solidFill>
                <a:latin typeface="Century Gothic" panose="020B0502020202020204" pitchFamily="34" charset="0"/>
              </a:rPr>
              <a:t>Terima Kasih</a:t>
            </a:r>
          </a:p>
        </p:txBody>
      </p:sp>
      <p:sp>
        <p:nvSpPr>
          <p:cNvPr id="5" name="Rectangle 4"/>
          <p:cNvSpPr/>
          <p:nvPr/>
        </p:nvSpPr>
        <p:spPr>
          <a:xfrm>
            <a:off x="5617029" y="5706835"/>
            <a:ext cx="6574972" cy="115116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d-ID" sz="3200" b="1" dirty="0">
                <a:solidFill>
                  <a:schemeClr val="tx1"/>
                </a:solidFill>
                <a:latin typeface="Century Gothic" panose="020B0502020202020204" pitchFamily="34" charset="0"/>
              </a:rPr>
              <a:t>Tim Asisten Statistika 2019/2020</a:t>
            </a:r>
          </a:p>
        </p:txBody>
      </p:sp>
      <p:pic>
        <p:nvPicPr>
          <p:cNvPr id="6" name="Picture 5" descr="D:\4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72544" y="1450075"/>
            <a:ext cx="4735284" cy="395785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755512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357</Words>
  <Application>Microsoft Office PowerPoint</Application>
  <PresentationFormat>Widescreen</PresentationFormat>
  <Paragraphs>71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Arial Narrow</vt:lpstr>
      <vt:lpstr>Calibri</vt:lpstr>
      <vt:lpstr>Calibri Light</vt:lpstr>
      <vt:lpstr>Century Gothic</vt:lpstr>
      <vt:lpstr>Lucida Fax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TUGAS INDIVIDU</vt:lpstr>
      <vt:lpstr>TUGAS KELOMPOK</vt:lpstr>
      <vt:lpstr>KETENTUAN PENUGASAN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Muhammad Rizki Saleh</dc:creator>
  <cp:lastModifiedBy>hasnaaaa nurul</cp:lastModifiedBy>
  <cp:revision>17</cp:revision>
  <dcterms:created xsi:type="dcterms:W3CDTF">2018-10-22T03:21:50Z</dcterms:created>
  <dcterms:modified xsi:type="dcterms:W3CDTF">2019-10-22T10:21:04Z</dcterms:modified>
</cp:coreProperties>
</file>