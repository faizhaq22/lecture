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notesMasterIdLst>
    <p:notesMasterId r:id="rId13"/>
  </p:notesMasterIdLst>
  <p:sldIdLst>
    <p:sldId id="256" r:id="rId2"/>
    <p:sldId id="288" r:id="rId3"/>
    <p:sldId id="263" r:id="rId4"/>
    <p:sldId id="259" r:id="rId5"/>
    <p:sldId id="260" r:id="rId6"/>
    <p:sldId id="286" r:id="rId7"/>
    <p:sldId id="265" r:id="rId8"/>
    <p:sldId id="266" r:id="rId9"/>
    <p:sldId id="268" r:id="rId10"/>
    <p:sldId id="293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55" autoAdjust="0"/>
    <p:restoredTop sz="86384" autoAdjust="0"/>
  </p:normalViewPr>
  <p:slideViewPr>
    <p:cSldViewPr>
      <p:cViewPr varScale="1">
        <p:scale>
          <a:sx n="69" d="100"/>
          <a:sy n="69" d="100"/>
        </p:scale>
        <p:origin x="148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BD8CA9-EDE2-4EF9-AC55-561C3B750BF3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EFA58-8412-46C3-9BC6-C5754E5A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23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EFA58-8412-46C3-9BC6-C5754E5A59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96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EFA58-8412-46C3-9BC6-C5754E5A59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9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EFA58-8412-46C3-9BC6-C5754E5A59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96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EFA58-8412-46C3-9BC6-C5754E5A59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76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 title="Page Number Shape"/>
          <p:cNvSpPr/>
          <p:nvPr/>
        </p:nvSpPr>
        <p:spPr bwMode="auto">
          <a:xfrm>
            <a:off x="8736012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6685" y="1143296"/>
            <a:ext cx="527577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5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6685" y="5537928"/>
            <a:ext cx="527577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1800" b="0" i="1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6686" y="6314443"/>
            <a:ext cx="1197467" cy="365125"/>
          </a:xfrm>
        </p:spPr>
        <p:txBody>
          <a:bodyPr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50445" y="6314443"/>
            <a:ext cx="3842012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6013" y="1416219"/>
            <a:ext cx="407987" cy="365125"/>
          </a:xfrm>
        </p:spPr>
        <p:txBody>
          <a:bodyPr/>
          <a:lstStyle>
            <a:lvl1pPr algn="r"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580391" y="1257300"/>
            <a:ext cx="0" cy="560070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0391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29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4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 title="Page Number Shape"/>
          <p:cNvSpPr/>
          <p:nvPr/>
        </p:nvSpPr>
        <p:spPr bwMode="auto">
          <a:xfrm>
            <a:off x="8736012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756" y="2571725"/>
            <a:ext cx="6222491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58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755" y="1393748"/>
            <a:ext cx="6301072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18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7217" y="6314442"/>
            <a:ext cx="1197467" cy="365125"/>
          </a:xfrm>
        </p:spPr>
        <p:txBody>
          <a:bodyPr/>
          <a:lstStyle>
            <a:lvl1pPr>
              <a:defRPr sz="9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60755" y="6314443"/>
            <a:ext cx="4860170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6013" y="1620763"/>
            <a:ext cx="40798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" y="6178167"/>
            <a:ext cx="7683245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" y="6178167"/>
            <a:ext cx="7683245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31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4842" userDrawn="1">
          <p15:clr>
            <a:srgbClr val="FBAE40"/>
          </p15:clr>
        </p15:guide>
        <p15:guide id="1" pos="64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6200" y="540628"/>
            <a:ext cx="4686300" cy="24889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6200" y="3712467"/>
            <a:ext cx="4686300" cy="24822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4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557784"/>
            <a:ext cx="2873502" cy="49560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558065"/>
            <a:ext cx="4690872" cy="913212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6200" y="1526124"/>
            <a:ext cx="4690872" cy="17515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6200" y="3700830"/>
            <a:ext cx="4690872" cy="913759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6200" y="4669432"/>
            <a:ext cx="4690872" cy="1752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0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5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9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555479"/>
            <a:ext cx="2879082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564147"/>
            <a:ext cx="46863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2621515"/>
            <a:ext cx="2879082" cy="3239537"/>
          </a:xfrm>
        </p:spPr>
        <p:txBody>
          <a:bodyPr>
            <a:normAutofit/>
          </a:bodyPr>
          <a:lstStyle>
            <a:lvl1pPr marL="0" indent="0" algn="r">
              <a:lnSpc>
                <a:spcPct val="125000"/>
              </a:lnSpc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59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1" y="557264"/>
            <a:ext cx="2882528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3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43350" y="3"/>
            <a:ext cx="4629150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1" y="2621512"/>
            <a:ext cx="2882528" cy="3236976"/>
          </a:xfrm>
        </p:spPr>
        <p:txBody>
          <a:bodyPr>
            <a:normAutofit/>
          </a:bodyPr>
          <a:lstStyle>
            <a:lvl1pPr marL="0" indent="0" algn="r">
              <a:lnSpc>
                <a:spcPct val="125000"/>
              </a:lnSpc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1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6201" y="640080"/>
            <a:ext cx="4686299" cy="558414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3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Page Number Shape"/>
          <p:cNvSpPr/>
          <p:nvPr/>
        </p:nvSpPr>
        <p:spPr bwMode="auto">
          <a:xfrm>
            <a:off x="8736012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93075" y="642931"/>
            <a:ext cx="1835003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642935"/>
            <a:ext cx="5303009" cy="46781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02140" y="5927134"/>
            <a:ext cx="2861142" cy="365125"/>
          </a:xfrm>
        </p:spPr>
        <p:txBody>
          <a:bodyPr/>
          <a:lstStyle/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02140" y="6315952"/>
            <a:ext cx="28611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6013" y="5607595"/>
            <a:ext cx="407987" cy="365125"/>
          </a:xfrm>
        </p:spPr>
        <p:txBody>
          <a:bodyPr/>
          <a:lstStyle/>
          <a:p>
            <a:fld id="{B5F20D2E-9C86-4A69-9A39-23B0F81CB24A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199730"/>
            <a:ext cx="7695008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" y="6199730"/>
            <a:ext cx="7695008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59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4842" userDrawn="1">
          <p15:clr>
            <a:srgbClr val="FBAE40"/>
          </p15:clr>
        </p15:guide>
        <p15:guide id="1" pos="645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8736012" y="5860416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1" y="559678"/>
            <a:ext cx="2875430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1" y="569066"/>
            <a:ext cx="4686299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1" y="5930063"/>
            <a:ext cx="286114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42B8A545-8FD4-4894-9261-2430AE28FFC2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1501" y="6314443"/>
            <a:ext cx="286114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013" y="6087431"/>
            <a:ext cx="407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B5F20D2E-9C86-4A69-9A39-23B0F81CB24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679566"/>
            <a:ext cx="337185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6679566"/>
            <a:ext cx="337185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81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8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6858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6858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6858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6858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6858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685800" rtl="0" eaLnBrk="1" latinLnBrk="0" hangingPunct="1">
        <a:lnSpc>
          <a:spcPct val="112000"/>
        </a:lnSpc>
        <a:spcBef>
          <a:spcPts val="975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685800" rtl="0" eaLnBrk="1" latinLnBrk="0" hangingPunct="1">
        <a:lnSpc>
          <a:spcPct val="112000"/>
        </a:lnSpc>
        <a:spcBef>
          <a:spcPts val="975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685800" rtl="0" eaLnBrk="1" latinLnBrk="0" hangingPunct="1">
        <a:lnSpc>
          <a:spcPct val="112000"/>
        </a:lnSpc>
        <a:spcBef>
          <a:spcPts val="975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12598" algn="l" defTabSz="685800" rtl="0" eaLnBrk="1" latinLnBrk="0" hangingPunct="1">
        <a:lnSpc>
          <a:spcPct val="112000"/>
        </a:lnSpc>
        <a:spcBef>
          <a:spcPts val="975"/>
        </a:spcBef>
        <a:buFont typeface="Arial" panose="020B0604020202020204" pitchFamily="34" charset="0"/>
        <a:buChar char="•"/>
        <a:defRPr sz="105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2124" userDrawn="1">
          <p15:clr>
            <a:srgbClr val="F26B43"/>
          </p15:clr>
        </p15:guide>
        <p15:guide id="1" pos="2832" userDrawn="1">
          <p15:clr>
            <a:srgbClr val="F26B43"/>
          </p15:clr>
        </p15:guide>
        <p15:guide id="2" pos="480" userDrawn="1">
          <p15:clr>
            <a:srgbClr val="F26B43"/>
          </p15:clr>
        </p15:guide>
        <p15:guide id="3" pos="7200" userDrawn="1">
          <p15:clr>
            <a:srgbClr val="F26B43"/>
          </p15:clr>
        </p15:guide>
        <p15:guide id="4" pos="3264" userDrawn="1">
          <p15:clr>
            <a:srgbClr val="F26B43"/>
          </p15:clr>
        </p15:guide>
        <p15:guide id="5" pos="360" userDrawn="1">
          <p15:clr>
            <a:srgbClr val="F26B43"/>
          </p15:clr>
        </p15:guide>
        <p15:guide id="6" orient="horz" pos="432" userDrawn="1">
          <p15:clr>
            <a:srgbClr val="F26B43"/>
          </p15:clr>
        </p15:guide>
        <p15:guide id="7" pos="5400" userDrawn="1">
          <p15:clr>
            <a:srgbClr val="F26B43"/>
          </p15:clr>
        </p15:guide>
        <p15:guide id="8" pos="24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57599" y="13650"/>
            <a:ext cx="5486400" cy="54864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962400" y="4478873"/>
            <a:ext cx="5204580" cy="1007529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PROPOSAL SKRIPSI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2400" y="2839686"/>
            <a:ext cx="3886200" cy="1426189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694328"/>
            <a:ext cx="8686800" cy="1815882"/>
          </a:xfrm>
          <a:prstGeom prst="rect">
            <a:avLst/>
          </a:prstGeom>
          <a:solidFill>
            <a:srgbClr val="FFC000">
              <a:alpha val="8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3464" y="694330"/>
            <a:ext cx="753231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2800" b="1" dirty="0">
                <a:latin typeface="Arial Narrow" panose="020B0606020202030204" pitchFamily="34" charset="0"/>
              </a:rPr>
              <a:t>DESAIN KAPAL PATROLI </a:t>
            </a:r>
            <a:r>
              <a:rPr lang="id-ID" sz="2800" b="1" dirty="0">
                <a:latin typeface="Arial Narrow" panose="020B0606020202030204" pitchFamily="34" charset="0"/>
              </a:rPr>
              <a:t>UNTUK PENINDAKAN </a:t>
            </a:r>
            <a:r>
              <a:rPr lang="it-IT" sz="2800" b="1" dirty="0">
                <a:latin typeface="Arial Narrow" panose="020B0606020202030204" pitchFamily="34" charset="0"/>
              </a:rPr>
              <a:t> ILLEGAL FISHING DI PERAIRAN NATUNA, KEPULAUAN RIAU</a:t>
            </a:r>
            <a:endParaRPr lang="en-US" sz="28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40574" y="3052684"/>
            <a:ext cx="3505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b="1" dirty="0"/>
              <a:t>FAIZ NI’MATUL HAQ</a:t>
            </a:r>
          </a:p>
          <a:p>
            <a:pPr algn="r"/>
            <a:r>
              <a:rPr lang="id-ID" b="1" dirty="0"/>
              <a:t>195080200111059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89847" y="6019800"/>
            <a:ext cx="6844352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66800" y="0"/>
            <a:ext cx="8076062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010400" y="6019800"/>
            <a:ext cx="152400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49574" y="0"/>
            <a:ext cx="152400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9847" y="-11942"/>
            <a:ext cx="685800" cy="60397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59490" y="5552647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SEMESTER GANJIL 202</a:t>
            </a:r>
            <a:r>
              <a:rPr lang="id-ID" b="1" dirty="0"/>
              <a:t>2</a:t>
            </a:r>
            <a:r>
              <a:rPr lang="en-US" b="1" dirty="0"/>
              <a:t>/202</a:t>
            </a:r>
            <a:r>
              <a:rPr lang="id-ID" b="1" dirty="0"/>
              <a:t>3</a:t>
            </a:r>
            <a:endParaRPr lang="en-US" b="1" dirty="0"/>
          </a:p>
        </p:txBody>
      </p:sp>
      <p:pic>
        <p:nvPicPr>
          <p:cNvPr id="1026" name="Picture 2" descr="Berkas:Logo Universitas Brawijaya.svg - Wikipedia bahasa Indonesia,  ensiklopedia beba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869" y="5531680"/>
            <a:ext cx="1280223" cy="128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4B05AE-F5AC-876A-45D4-146683F509E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7963" l="290" r="98841">
                        <a14:foregroundMark x1="19130" y1="59815" x2="65797" y2="79259"/>
                        <a14:foregroundMark x1="25507" y1="57222" x2="63478" y2="79815"/>
                        <a14:foregroundMark x1="35072" y1="58704" x2="73043" y2="75926"/>
                        <a14:foregroundMark x1="43478" y1="56111" x2="87536" y2="72407"/>
                        <a14:foregroundMark x1="59710" y1="56667" x2="84638" y2="69074"/>
                        <a14:foregroundMark x1="61739" y1="59444" x2="71884" y2="83704"/>
                        <a14:foregroundMark x1="53913" y1="56852" x2="86667" y2="71852"/>
                        <a14:foregroundMark x1="57391" y1="51111" x2="56522" y2="64074"/>
                        <a14:foregroundMark x1="56522" y1="64074" x2="9275" y2="97963"/>
                        <a14:foregroundMark x1="42029" y1="54444" x2="74783" y2="60000"/>
                        <a14:foregroundMark x1="74783" y1="60000" x2="81159" y2="62593"/>
                        <a14:foregroundMark x1="52464" y1="49444" x2="86087" y2="55556"/>
                        <a14:foregroundMark x1="86087" y1="55556" x2="86087" y2="55741"/>
                        <a14:foregroundMark x1="66087" y1="49444" x2="87246" y2="55741"/>
                        <a14:foregroundMark x1="87246" y1="55741" x2="93333" y2="64630"/>
                        <a14:foregroundMark x1="93333" y1="64630" x2="91594" y2="77593"/>
                        <a14:foregroundMark x1="91594" y1="77593" x2="95072" y2="85741"/>
                        <a14:foregroundMark x1="95072" y1="85741" x2="98551" y2="88519"/>
                        <a14:foregroundMark x1="67536" y1="55185" x2="58261" y2="30556"/>
                        <a14:foregroundMark x1="58261" y1="30556" x2="58841" y2="21481"/>
                        <a14:foregroundMark x1="58551" y1="18333" x2="71014" y2="21667"/>
                        <a14:foregroundMark x1="53913" y1="18519" x2="68696" y2="22037"/>
                        <a14:foregroundMark x1="68696" y1="22037" x2="63768" y2="35926"/>
                        <a14:foregroundMark x1="63768" y1="35926" x2="74203" y2="27037"/>
                        <a14:foregroundMark x1="74203" y1="27037" x2="74783" y2="23889"/>
                        <a14:foregroundMark x1="74783" y1="23889" x2="74783" y2="23889"/>
                        <a14:foregroundMark x1="53913" y1="13889" x2="67536" y2="16481"/>
                        <a14:foregroundMark x1="47826" y1="22778" x2="46377" y2="25926"/>
                        <a14:foregroundMark x1="42029" y1="29259" x2="43188" y2="29815"/>
                        <a14:foregroundMark x1="42899" y1="30556" x2="45217" y2="31667"/>
                        <a14:foregroundMark x1="44058" y1="31481" x2="47246" y2="33148"/>
                        <a14:foregroundMark x1="67536" y1="45741" x2="80000" y2="52037"/>
                        <a14:foregroundMark x1="62029" y1="47963" x2="45797" y2="47593"/>
                        <a14:foregroundMark x1="45797" y1="47593" x2="45797" y2="47593"/>
                        <a14:foregroundMark x1="44928" y1="46667" x2="50145" y2="45000"/>
                        <a14:foregroundMark x1="44638" y1="43519" x2="55942" y2="47037"/>
                        <a14:foregroundMark x1="75652" y1="64815" x2="90145" y2="70556"/>
                        <a14:foregroundMark x1="90145" y1="70556" x2="98841" y2="77037"/>
                        <a14:foregroundMark x1="98841" y1="77037" x2="96812" y2="77593"/>
                        <a14:foregroundMark x1="83478" y1="73333" x2="95362" y2="82222"/>
                        <a14:foregroundMark x1="12754" y1="61481" x2="5510" y2="72280"/>
                        <a14:foregroundMark x1="3066" y1="76667" x2="1159" y2="91111"/>
                        <a14:foregroundMark x1="3091" y1="76481" x2="3066" y2="76667"/>
                        <a14:foregroundMark x1="3164" y1="75926" x2="3091" y2="76481"/>
                        <a14:foregroundMark x1="3307" y1="75926" x2="3188" y2="76296"/>
                        <a14:foregroundMark x1="5217" y1="70000" x2="4620" y2="71852"/>
                        <a14:foregroundMark x1="4322" y1="71852" x2="7536" y2="68704"/>
                        <a14:foregroundMark x1="1188" y1="76667" x2="580" y2="77222"/>
                        <a14:foregroundMark x1="1392" y1="76481" x2="1188" y2="76667"/>
                        <a14:foregroundMark x1="2000" y1="75926" x2="1392" y2="76481"/>
                        <a14:foregroundMark x1="1536" y1="76481" x2="2101" y2="75926"/>
                        <a14:foregroundMark x1="1347" y1="76667" x2="1536" y2="76481"/>
                        <a14:foregroundMark x1="1159" y1="76852" x2="1347" y2="76667"/>
                        <a14:foregroundMark x1="3544" y1="71852" x2="7826" y2="67222"/>
                        <a14:backgroundMark x1="580" y1="71852" x2="580" y2="75926"/>
                        <a14:backgroundMark x1="0" y1="76667" x2="0" y2="76667"/>
                        <a14:backgroundMark x1="0" y1="76481" x2="0" y2="764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2" y="2652785"/>
            <a:ext cx="2171741" cy="3399246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AC684A-0435-FDFA-266F-9BC9F3EEF2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7963" l="290" r="98841">
                        <a14:foregroundMark x1="19130" y1="59815" x2="65797" y2="79259"/>
                        <a14:foregroundMark x1="25507" y1="57222" x2="63478" y2="79815"/>
                        <a14:foregroundMark x1="35072" y1="58704" x2="73043" y2="75926"/>
                        <a14:foregroundMark x1="43478" y1="56111" x2="87536" y2="72407"/>
                        <a14:foregroundMark x1="59710" y1="56667" x2="84638" y2="69074"/>
                        <a14:foregroundMark x1="61739" y1="59444" x2="71884" y2="83704"/>
                        <a14:foregroundMark x1="53913" y1="56852" x2="86667" y2="71852"/>
                        <a14:foregroundMark x1="57391" y1="51111" x2="56522" y2="64074"/>
                        <a14:foregroundMark x1="56522" y1="64074" x2="9275" y2="97963"/>
                        <a14:foregroundMark x1="42029" y1="54444" x2="74783" y2="60000"/>
                        <a14:foregroundMark x1="74783" y1="60000" x2="81159" y2="62593"/>
                        <a14:foregroundMark x1="52464" y1="49444" x2="86087" y2="55556"/>
                        <a14:foregroundMark x1="86087" y1="55556" x2="86087" y2="55741"/>
                        <a14:foregroundMark x1="66087" y1="49444" x2="87246" y2="55741"/>
                        <a14:foregroundMark x1="87246" y1="55741" x2="93333" y2="64630"/>
                        <a14:foregroundMark x1="93333" y1="64630" x2="91594" y2="77593"/>
                        <a14:foregroundMark x1="91594" y1="77593" x2="95072" y2="85741"/>
                        <a14:foregroundMark x1="95072" y1="85741" x2="98551" y2="88519"/>
                        <a14:foregroundMark x1="67536" y1="55185" x2="58261" y2="30556"/>
                        <a14:foregroundMark x1="58261" y1="30556" x2="58841" y2="21481"/>
                        <a14:foregroundMark x1="58551" y1="18333" x2="71014" y2="21667"/>
                        <a14:foregroundMark x1="53913" y1="18519" x2="68696" y2="22037"/>
                        <a14:foregroundMark x1="68696" y1="22037" x2="63768" y2="35926"/>
                        <a14:foregroundMark x1="63768" y1="35926" x2="74203" y2="27037"/>
                        <a14:foregroundMark x1="74203" y1="27037" x2="74783" y2="23889"/>
                        <a14:foregroundMark x1="74783" y1="23889" x2="74783" y2="23889"/>
                        <a14:foregroundMark x1="53913" y1="13889" x2="67536" y2="16481"/>
                        <a14:foregroundMark x1="47826" y1="22778" x2="46377" y2="25926"/>
                        <a14:foregroundMark x1="42029" y1="29259" x2="43188" y2="29815"/>
                        <a14:foregroundMark x1="42899" y1="30556" x2="45217" y2="31667"/>
                        <a14:foregroundMark x1="44058" y1="31481" x2="47246" y2="33148"/>
                        <a14:foregroundMark x1="67536" y1="45741" x2="80000" y2="52037"/>
                        <a14:foregroundMark x1="62029" y1="47963" x2="45797" y2="47593"/>
                        <a14:foregroundMark x1="45797" y1="47593" x2="45797" y2="47593"/>
                        <a14:foregroundMark x1="44928" y1="46667" x2="50145" y2="45000"/>
                        <a14:foregroundMark x1="44638" y1="43519" x2="55942" y2="47037"/>
                        <a14:foregroundMark x1="75652" y1="64815" x2="90145" y2="70556"/>
                        <a14:foregroundMark x1="90145" y1="70556" x2="98841" y2="77037"/>
                        <a14:foregroundMark x1="98841" y1="77037" x2="96812" y2="77593"/>
                        <a14:foregroundMark x1="83478" y1="73333" x2="95362" y2="82222"/>
                        <a14:foregroundMark x1="12754" y1="61481" x2="5510" y2="72280"/>
                        <a14:foregroundMark x1="3066" y1="76667" x2="1159" y2="91111"/>
                        <a14:foregroundMark x1="3091" y1="76481" x2="3066" y2="76667"/>
                        <a14:foregroundMark x1="3164" y1="75926" x2="3091" y2="76481"/>
                        <a14:foregroundMark x1="3307" y1="75926" x2="3188" y2="76296"/>
                        <a14:foregroundMark x1="5217" y1="70000" x2="4620" y2="71852"/>
                        <a14:foregroundMark x1="4322" y1="71852" x2="7536" y2="68704"/>
                        <a14:foregroundMark x1="1188" y1="76667" x2="580" y2="77222"/>
                        <a14:foregroundMark x1="1392" y1="76481" x2="1188" y2="76667"/>
                        <a14:foregroundMark x1="2000" y1="75926" x2="1392" y2="76481"/>
                        <a14:foregroundMark x1="1536" y1="76481" x2="2101" y2="75926"/>
                        <a14:foregroundMark x1="1347" y1="76667" x2="1536" y2="76481"/>
                        <a14:foregroundMark x1="1159" y1="76852" x2="1347" y2="76667"/>
                        <a14:foregroundMark x1="3544" y1="71852" x2="7826" y2="67222"/>
                        <a14:backgroundMark x1="580" y1="71852" x2="580" y2="75926"/>
                        <a14:backgroundMark x1="0" y1="76667" x2="0" y2="76667"/>
                        <a14:backgroundMark x1="0" y1="76481" x2="0" y2="764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92" y="2596499"/>
            <a:ext cx="2192196" cy="343126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985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" y="2"/>
            <a:ext cx="3649613" cy="6869941"/>
          </a:xfrm>
          <a:prstGeom prst="rect">
            <a:avLst/>
          </a:prstGeom>
          <a:solidFill>
            <a:srgbClr val="FFC00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847" y="6019800"/>
            <a:ext cx="6844352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66800" y="0"/>
            <a:ext cx="8076062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010400" y="6019800"/>
            <a:ext cx="152400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49574" y="0"/>
            <a:ext cx="152400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9847" y="-11942"/>
            <a:ext cx="685800" cy="60397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hape 136"/>
          <p:cNvSpPr txBox="1"/>
          <p:nvPr/>
        </p:nvSpPr>
        <p:spPr>
          <a:xfrm rot="16200000">
            <a:off x="-310693" y="1140902"/>
            <a:ext cx="4721542" cy="381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r>
              <a:rPr lang="en" sz="7200" b="1" dirty="0">
                <a:solidFill>
                  <a:srgbClr val="FFFF00"/>
                </a:solidFill>
                <a:latin typeface="Roboto Slab"/>
                <a:ea typeface="Roboto Slab"/>
                <a:cs typeface="Roboto Slab"/>
                <a:sym typeface="Roboto Slab"/>
              </a:rPr>
              <a:t>OUTLINE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48309" y="1177379"/>
            <a:ext cx="5133690" cy="3319420"/>
            <a:chOff x="3248309" y="1177379"/>
            <a:chExt cx="5133690" cy="3319420"/>
          </a:xfrm>
        </p:grpSpPr>
        <p:sp>
          <p:nvSpPr>
            <p:cNvPr id="22" name="TextBox 21"/>
            <p:cNvSpPr txBox="1"/>
            <p:nvPr/>
          </p:nvSpPr>
          <p:spPr>
            <a:xfrm>
              <a:off x="3920028" y="1177379"/>
              <a:ext cx="4461971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d-ID" sz="4400" b="1" dirty="0">
                  <a:latin typeface="Agency FB" panose="020B0503020202020204" pitchFamily="34" charset="0"/>
                </a:rPr>
                <a:t>BACKGROUND</a:t>
              </a:r>
              <a:endParaRPr lang="en-US" sz="4400" dirty="0">
                <a:latin typeface="Agency FB" panose="020B0503020202020204" pitchFamily="34" charset="0"/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3248309" y="1409700"/>
              <a:ext cx="561691" cy="304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886200" y="2120614"/>
              <a:ext cx="403860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Agency FB" panose="020B0503020202020204" pitchFamily="34" charset="0"/>
                </a:rPr>
                <a:t>P</a:t>
              </a:r>
              <a:r>
                <a:rPr lang="id-ID" sz="4400" b="1" dirty="0">
                  <a:latin typeface="Agency FB" panose="020B0503020202020204" pitchFamily="34" charset="0"/>
                </a:rPr>
                <a:t>REVIOUS STUDY</a:t>
              </a:r>
              <a:endParaRPr lang="en-US" sz="4400" dirty="0">
                <a:latin typeface="Agency FB" panose="020B0503020202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81929" y="3050249"/>
              <a:ext cx="4500070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d-ID" sz="4400" b="1" dirty="0">
                  <a:latin typeface="Agency FB" panose="020B0503020202020204" pitchFamily="34" charset="0"/>
                </a:rPr>
                <a:t>PROBLEM &amp; OBJECTIVE</a:t>
              </a:r>
              <a:endParaRPr lang="en-US" sz="4400" b="1" dirty="0">
                <a:latin typeface="Agency FB" panose="020B0503020202020204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248751" y="2348333"/>
              <a:ext cx="561691" cy="304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249193" y="3286966"/>
              <a:ext cx="561691" cy="304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3231179" y="4869107"/>
            <a:ext cx="561691" cy="304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855108" y="4636788"/>
            <a:ext cx="3764892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4400" b="1" dirty="0">
                <a:latin typeface="Agency FB" panose="020B0503020202020204" pitchFamily="34" charset="0"/>
              </a:rPr>
              <a:t>METHOD</a:t>
            </a:r>
            <a:endParaRPr lang="en-US" sz="4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6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" y="2"/>
            <a:ext cx="3649613" cy="6869941"/>
          </a:xfrm>
          <a:prstGeom prst="rect">
            <a:avLst/>
          </a:prstGeom>
          <a:solidFill>
            <a:srgbClr val="FFC00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847" y="6019800"/>
            <a:ext cx="6844352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66800" y="0"/>
            <a:ext cx="8076062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010400" y="6019800"/>
            <a:ext cx="152400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49574" y="0"/>
            <a:ext cx="152400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9847" y="-11942"/>
            <a:ext cx="685800" cy="60397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hape 136"/>
          <p:cNvSpPr txBox="1"/>
          <p:nvPr/>
        </p:nvSpPr>
        <p:spPr>
          <a:xfrm>
            <a:off x="414903" y="1219201"/>
            <a:ext cx="3471299" cy="381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r>
              <a:rPr lang="en" sz="20000" b="1" dirty="0">
                <a:solidFill>
                  <a:srgbClr val="FFFF00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460" y="2438402"/>
            <a:ext cx="4413940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i="1" dirty="0">
                <a:latin typeface="Agency FB" panose="020B0503020202020204" pitchFamily="34" charset="0"/>
              </a:rPr>
              <a:t>INTRODUCTION</a:t>
            </a:r>
            <a:endParaRPr lang="en-US" sz="4400" i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65672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5400000">
            <a:off x="-3214551" y="3225436"/>
            <a:ext cx="6694714" cy="2656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8572500" cy="265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4267200"/>
            <a:ext cx="1143000" cy="2590800"/>
            <a:chOff x="0" y="4267200"/>
            <a:chExt cx="1143000" cy="2590800"/>
          </a:xfrm>
        </p:grpSpPr>
        <p:sp>
          <p:nvSpPr>
            <p:cNvPr id="4" name="Right Triangle 3"/>
            <p:cNvSpPr/>
            <p:nvPr/>
          </p:nvSpPr>
          <p:spPr>
            <a:xfrm>
              <a:off x="0" y="4267200"/>
              <a:ext cx="1143000" cy="25908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4495800"/>
              <a:ext cx="838200" cy="23622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96200" y="0"/>
            <a:ext cx="1447800" cy="2286000"/>
            <a:chOff x="7696200" y="0"/>
            <a:chExt cx="1447800" cy="2286000"/>
          </a:xfrm>
        </p:grpSpPr>
        <p:sp>
          <p:nvSpPr>
            <p:cNvPr id="7" name="Right Triangle 6"/>
            <p:cNvSpPr/>
            <p:nvPr/>
          </p:nvSpPr>
          <p:spPr>
            <a:xfrm rot="10800000">
              <a:off x="7696200" y="0"/>
              <a:ext cx="1447800" cy="22860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/>
            <p:cNvSpPr/>
            <p:nvPr/>
          </p:nvSpPr>
          <p:spPr>
            <a:xfrm rot="10800000">
              <a:off x="8001000" y="0"/>
              <a:ext cx="1143000" cy="21336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-6531" y="457200"/>
            <a:ext cx="3657601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BACKGROUND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B3AAA0-EDF9-9E1E-3149-D54CEC27713F}"/>
              </a:ext>
            </a:extLst>
          </p:cNvPr>
          <p:cNvSpPr txBox="1"/>
          <p:nvPr/>
        </p:nvSpPr>
        <p:spPr>
          <a:xfrm>
            <a:off x="684715" y="1327661"/>
            <a:ext cx="7776951" cy="70788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id-ID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Indonesia memiliki potensi sumberdaya yang melimpah, karena berada di posisi yang strategis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D7B1F-CEAA-B65B-D5FB-4F6BF1ED7F24}"/>
              </a:ext>
            </a:extLst>
          </p:cNvPr>
          <p:cNvSpPr txBox="1"/>
          <p:nvPr/>
        </p:nvSpPr>
        <p:spPr>
          <a:xfrm>
            <a:off x="722815" y="2126432"/>
            <a:ext cx="7776951" cy="101566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id-ID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Potensi sumberdaya yang belum termanfaatkan dengan optimal dikarenakan maraknya aksi </a:t>
            </a:r>
            <a:r>
              <a:rPr lang="id-ID" sz="2000" b="1" i="1" dirty="0">
                <a:solidFill>
                  <a:srgbClr val="002060"/>
                </a:solidFill>
                <a:latin typeface="Century Gothic" panose="020B0502020202020204" pitchFamily="34" charset="0"/>
              </a:rPr>
              <a:t>illegal fishing</a:t>
            </a:r>
            <a:r>
              <a:rPr lang="id-ID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, salah satunya di perairan Natuna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21C3CF-A100-7063-D3BF-8F4F0A6CCF69}"/>
              </a:ext>
            </a:extLst>
          </p:cNvPr>
          <p:cNvSpPr txBox="1"/>
          <p:nvPr/>
        </p:nvSpPr>
        <p:spPr>
          <a:xfrm>
            <a:off x="722815" y="3243704"/>
            <a:ext cx="7776951" cy="70788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id-ID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Perairan Natuna memiliki sumberdaya yang melimpah dan menjadi jalur pelayaran Internasional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9B8CD9-102D-CC83-508A-7F3562428DB4}"/>
              </a:ext>
            </a:extLst>
          </p:cNvPr>
          <p:cNvSpPr txBox="1"/>
          <p:nvPr/>
        </p:nvSpPr>
        <p:spPr>
          <a:xfrm>
            <a:off x="722814" y="4053203"/>
            <a:ext cx="7776951" cy="101566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id-ID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Masalah status wilayah, ketidakjelasan batas batas negara serta lemahnya pengawasan dan keamanan menjadi faktor penyebab </a:t>
            </a:r>
            <a:r>
              <a:rPr lang="id-ID" sz="2000" b="1" i="1" dirty="0">
                <a:solidFill>
                  <a:srgbClr val="002060"/>
                </a:solidFill>
                <a:latin typeface="Century Gothic" panose="020B0502020202020204" pitchFamily="34" charset="0"/>
              </a:rPr>
              <a:t>illegal fishing</a:t>
            </a:r>
            <a:r>
              <a:rPr lang="id-ID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1993CA-4D8A-A825-1B6E-0D3E67BC2930}"/>
              </a:ext>
            </a:extLst>
          </p:cNvPr>
          <p:cNvSpPr txBox="1"/>
          <p:nvPr/>
        </p:nvSpPr>
        <p:spPr>
          <a:xfrm>
            <a:off x="736669" y="5159747"/>
            <a:ext cx="7776951" cy="70788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id-ID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Salah satu upaya mendukung pertahanan dan keamanan wilayah perairan dengan menggunakan kapal patroli.</a:t>
            </a:r>
          </a:p>
        </p:txBody>
      </p:sp>
    </p:spTree>
    <p:extLst>
      <p:ext uri="{BB962C8B-B14F-4D97-AF65-F5344CB8AC3E}">
        <p14:creationId xmlns:p14="http://schemas.microsoft.com/office/powerpoint/2010/main" val="380039019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5400000">
            <a:off x="-3214551" y="3225436"/>
            <a:ext cx="6694714" cy="2656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8572500" cy="265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4267200"/>
            <a:ext cx="1143000" cy="2590800"/>
            <a:chOff x="0" y="4267200"/>
            <a:chExt cx="1143000" cy="2590800"/>
          </a:xfrm>
        </p:grpSpPr>
        <p:sp>
          <p:nvSpPr>
            <p:cNvPr id="4" name="Right Triangle 3"/>
            <p:cNvSpPr/>
            <p:nvPr/>
          </p:nvSpPr>
          <p:spPr>
            <a:xfrm>
              <a:off x="0" y="4267200"/>
              <a:ext cx="1143000" cy="25908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4495800"/>
              <a:ext cx="838200" cy="23622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96200" y="0"/>
            <a:ext cx="1447800" cy="2286000"/>
            <a:chOff x="7696200" y="0"/>
            <a:chExt cx="1447800" cy="2286000"/>
          </a:xfrm>
        </p:grpSpPr>
        <p:sp>
          <p:nvSpPr>
            <p:cNvPr id="7" name="Right Triangle 6"/>
            <p:cNvSpPr/>
            <p:nvPr/>
          </p:nvSpPr>
          <p:spPr>
            <a:xfrm rot="10800000">
              <a:off x="7696200" y="0"/>
              <a:ext cx="1447800" cy="22860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/>
            <p:cNvSpPr/>
            <p:nvPr/>
          </p:nvSpPr>
          <p:spPr>
            <a:xfrm rot="10800000">
              <a:off x="8001000" y="0"/>
              <a:ext cx="1143000" cy="21336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-6531" y="457200"/>
            <a:ext cx="3657601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Previous </a:t>
            </a:r>
            <a:r>
              <a:rPr lang="id-ID" sz="3200" b="1" dirty="0"/>
              <a:t>Study</a:t>
            </a:r>
            <a:endParaRPr lang="en-US" sz="3200" b="1" dirty="0"/>
          </a:p>
        </p:txBody>
      </p:sp>
      <p:sp>
        <p:nvSpPr>
          <p:cNvPr id="17" name="Rectangle 16"/>
          <p:cNvSpPr/>
          <p:nvPr/>
        </p:nvSpPr>
        <p:spPr>
          <a:xfrm>
            <a:off x="583563" y="1455510"/>
            <a:ext cx="7921454" cy="156966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id-ID" sz="2400" b="1" dirty="0"/>
              <a:t>Misbahudin </a:t>
            </a:r>
            <a:r>
              <a:rPr lang="id-ID" sz="2400" b="1" i="1" dirty="0"/>
              <a:t>et al </a:t>
            </a:r>
            <a:r>
              <a:rPr lang="id-ID" sz="2400" b="1" dirty="0"/>
              <a:t>(2022) : Merancang kapal patroli KN Gastiwasa yang memiliki lambung Asimetric Flat Inside Catamaran Hull dengan kecepatan 30 knott di laut teritorial Indonesia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55" y="3285973"/>
            <a:ext cx="7911873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id-ID" sz="2400" b="1" dirty="0"/>
              <a:t>Purwanto </a:t>
            </a:r>
            <a:r>
              <a:rPr lang="id-ID" sz="2400" b="1" i="1" dirty="0"/>
              <a:t>et al </a:t>
            </a:r>
            <a:r>
              <a:rPr lang="id-ID" sz="2400" b="1" dirty="0"/>
              <a:t>(2020) : Menentukan pemilihan kapal patroli dengan BCR (</a:t>
            </a:r>
            <a:r>
              <a:rPr lang="id-ID" sz="2400" b="1" i="1" dirty="0"/>
              <a:t>Benefit Cost Ratio</a:t>
            </a:r>
            <a:r>
              <a:rPr lang="id-ID" sz="2400" b="1" dirty="0"/>
              <a:t>) dan teori gelombang di perairan Natuna Utara</a:t>
            </a:r>
            <a:endParaRPr lang="id-ID" sz="2400" b="1" i="1" dirty="0"/>
          </a:p>
        </p:txBody>
      </p:sp>
      <p:sp>
        <p:nvSpPr>
          <p:cNvPr id="14" name="Rectangle 13"/>
          <p:cNvSpPr/>
          <p:nvPr/>
        </p:nvSpPr>
        <p:spPr>
          <a:xfrm>
            <a:off x="641636" y="4705402"/>
            <a:ext cx="7891091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id-ID" sz="2400" b="1" dirty="0"/>
              <a:t>Maulana (2017) : Mengkaji teknis perancangan terhadap operasi kapal mulai dari tahanan dan konsumsi bahan bakar pada variasi kecepatan 20 knot dan 30 knot</a:t>
            </a:r>
          </a:p>
        </p:txBody>
      </p:sp>
    </p:spTree>
    <p:extLst>
      <p:ext uri="{BB962C8B-B14F-4D97-AF65-F5344CB8AC3E}">
        <p14:creationId xmlns:p14="http://schemas.microsoft.com/office/powerpoint/2010/main" val="350522823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5400000">
            <a:off x="-3214551" y="3225436"/>
            <a:ext cx="6694714" cy="2656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8572500" cy="265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4267200"/>
            <a:ext cx="1143000" cy="2590800"/>
            <a:chOff x="0" y="4267200"/>
            <a:chExt cx="1143000" cy="2590800"/>
          </a:xfrm>
        </p:grpSpPr>
        <p:sp>
          <p:nvSpPr>
            <p:cNvPr id="4" name="Right Triangle 3"/>
            <p:cNvSpPr/>
            <p:nvPr/>
          </p:nvSpPr>
          <p:spPr>
            <a:xfrm>
              <a:off x="0" y="4267200"/>
              <a:ext cx="1143000" cy="25908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4495800"/>
              <a:ext cx="838200" cy="23622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96200" y="0"/>
            <a:ext cx="1447800" cy="2286000"/>
            <a:chOff x="7696200" y="0"/>
            <a:chExt cx="1447800" cy="2286000"/>
          </a:xfrm>
        </p:grpSpPr>
        <p:sp>
          <p:nvSpPr>
            <p:cNvPr id="7" name="Right Triangle 6"/>
            <p:cNvSpPr/>
            <p:nvPr/>
          </p:nvSpPr>
          <p:spPr>
            <a:xfrm rot="10800000">
              <a:off x="7696200" y="0"/>
              <a:ext cx="1447800" cy="22860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/>
            <p:cNvSpPr/>
            <p:nvPr/>
          </p:nvSpPr>
          <p:spPr>
            <a:xfrm rot="10800000">
              <a:off x="8001000" y="0"/>
              <a:ext cx="1143000" cy="21336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-6532" y="457200"/>
            <a:ext cx="8312332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Problem and Objective (</a:t>
            </a:r>
            <a:r>
              <a:rPr lang="en-US" sz="3200" b="1" dirty="0" err="1"/>
              <a:t>Masalah</a:t>
            </a:r>
            <a:r>
              <a:rPr lang="en-US" sz="3200" b="1" dirty="0"/>
              <a:t> dan </a:t>
            </a:r>
            <a:r>
              <a:rPr lang="en-US" sz="3200" b="1" dirty="0" err="1"/>
              <a:t>Tujuan</a:t>
            </a:r>
            <a:r>
              <a:rPr lang="en-US" sz="3200" b="1"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2" y="4476977"/>
            <a:ext cx="7734299" cy="144655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200" b="1" dirty="0" err="1"/>
              <a:t>Untuk</a:t>
            </a:r>
            <a:r>
              <a:rPr lang="en-US" sz="2200" b="1" dirty="0"/>
              <a:t> </a:t>
            </a:r>
            <a:r>
              <a:rPr lang="id-ID" sz="2200" b="1" dirty="0"/>
              <a:t>Merancang konsep desain dan inovasi yang dapat diterapkan</a:t>
            </a:r>
            <a:endParaRPr lang="en-US" sz="2200" b="1" dirty="0"/>
          </a:p>
          <a:p>
            <a:pPr marL="457200" indent="-457200">
              <a:buAutoNum type="arabicPeriod"/>
            </a:pPr>
            <a:r>
              <a:rPr lang="en-US" sz="2200" b="1" dirty="0" err="1"/>
              <a:t>Untuk</a:t>
            </a:r>
            <a:r>
              <a:rPr lang="en-US" sz="2200" b="1" dirty="0"/>
              <a:t> </a:t>
            </a:r>
            <a:r>
              <a:rPr lang="id-ID" sz="2200" b="1" dirty="0"/>
              <a:t>mengetahui kelayakan kapal melalui analisis stabilitas dan tahanan</a:t>
            </a:r>
            <a:endParaRPr lang="en-US" sz="2200" b="1" dirty="0"/>
          </a:p>
        </p:txBody>
      </p:sp>
      <p:sp>
        <p:nvSpPr>
          <p:cNvPr id="16" name="Rectangle 15"/>
          <p:cNvSpPr/>
          <p:nvPr/>
        </p:nvSpPr>
        <p:spPr>
          <a:xfrm>
            <a:off x="359999" y="1833530"/>
            <a:ext cx="8572500" cy="44627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id-ID" sz="2300" b="1" dirty="0">
                <a:solidFill>
                  <a:srgbClr val="0000FF"/>
                </a:solidFill>
              </a:rPr>
              <a:t>Lemahnya pengawasan &amp; keamanan di wilayah perairan Indonesia</a:t>
            </a:r>
            <a:endParaRPr lang="en-US" sz="2300" b="1" dirty="0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90600" y="3962400"/>
            <a:ext cx="1867356" cy="5232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Objective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272922"/>
            <a:ext cx="1828800" cy="5232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PROBLEM</a:t>
            </a:r>
          </a:p>
        </p:txBody>
      </p:sp>
      <p:sp>
        <p:nvSpPr>
          <p:cNvPr id="2" name="Down Arrow 1"/>
          <p:cNvSpPr/>
          <p:nvPr/>
        </p:nvSpPr>
        <p:spPr>
          <a:xfrm>
            <a:off x="2314755" y="2337901"/>
            <a:ext cx="952500" cy="622382"/>
          </a:xfrm>
          <a:prstGeom prst="down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57200" y="2967337"/>
            <a:ext cx="6781800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d-ID" sz="2400" b="1" dirty="0"/>
              <a:t>Diperlukan inovasi kapal patroli yang futuristik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0151037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" y="2"/>
            <a:ext cx="3649613" cy="6869941"/>
          </a:xfrm>
          <a:prstGeom prst="rect">
            <a:avLst/>
          </a:prstGeom>
          <a:solidFill>
            <a:srgbClr val="FFC00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847" y="6019800"/>
            <a:ext cx="6844352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66800" y="0"/>
            <a:ext cx="8076062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010400" y="6019800"/>
            <a:ext cx="152400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49574" y="0"/>
            <a:ext cx="152400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9847" y="2"/>
            <a:ext cx="685800" cy="60277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hape 136"/>
          <p:cNvSpPr txBox="1"/>
          <p:nvPr/>
        </p:nvSpPr>
        <p:spPr>
          <a:xfrm>
            <a:off x="414903" y="1219201"/>
            <a:ext cx="3471299" cy="381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r>
              <a:rPr lang="en" sz="20000" b="1" dirty="0">
                <a:solidFill>
                  <a:srgbClr val="FFFF00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2552" y="2665531"/>
            <a:ext cx="4038600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sz="4400" b="1" dirty="0">
                <a:latin typeface="Agency FB" panose="020B0503020202020204" pitchFamily="34" charset="0"/>
              </a:rPr>
              <a:t>MET</a:t>
            </a:r>
            <a:r>
              <a:rPr lang="en-US" sz="4400" b="1" dirty="0">
                <a:latin typeface="Agency FB" panose="020B0503020202020204" pitchFamily="34" charset="0"/>
              </a:rPr>
              <a:t>H</a:t>
            </a:r>
            <a:r>
              <a:rPr lang="id-ID" sz="4400" b="1" dirty="0">
                <a:latin typeface="Agency FB" panose="020B0503020202020204" pitchFamily="34" charset="0"/>
              </a:rPr>
              <a:t>OD</a:t>
            </a:r>
            <a:endParaRPr lang="en-US" sz="4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38186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5400000">
            <a:off x="-3214551" y="3225436"/>
            <a:ext cx="6694714" cy="2656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8572500" cy="265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4267200"/>
            <a:ext cx="1143000" cy="2590800"/>
            <a:chOff x="0" y="4267200"/>
            <a:chExt cx="1143000" cy="2590800"/>
          </a:xfrm>
        </p:grpSpPr>
        <p:sp>
          <p:nvSpPr>
            <p:cNvPr id="4" name="Right Triangle 3"/>
            <p:cNvSpPr/>
            <p:nvPr/>
          </p:nvSpPr>
          <p:spPr>
            <a:xfrm>
              <a:off x="0" y="4267200"/>
              <a:ext cx="1143000" cy="25908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4495800"/>
              <a:ext cx="838200" cy="23622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96200" y="0"/>
            <a:ext cx="1447800" cy="2286000"/>
            <a:chOff x="7696200" y="0"/>
            <a:chExt cx="1447800" cy="2286000"/>
          </a:xfrm>
        </p:grpSpPr>
        <p:sp>
          <p:nvSpPr>
            <p:cNvPr id="7" name="Right Triangle 6"/>
            <p:cNvSpPr/>
            <p:nvPr/>
          </p:nvSpPr>
          <p:spPr>
            <a:xfrm rot="10800000">
              <a:off x="7696200" y="0"/>
              <a:ext cx="1447800" cy="22860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/>
            <p:cNvSpPr/>
            <p:nvPr/>
          </p:nvSpPr>
          <p:spPr>
            <a:xfrm rot="10800000">
              <a:off x="8001000" y="0"/>
              <a:ext cx="1143000" cy="21336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-6531" y="457200"/>
            <a:ext cx="3657601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3446" y="1303054"/>
            <a:ext cx="8431954" cy="23083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/>
              <a:t>M</a:t>
            </a:r>
            <a:r>
              <a:rPr lang="en-GB" sz="2400" b="1" dirty="0" err="1"/>
              <a:t>enggunakan</a:t>
            </a:r>
            <a:r>
              <a:rPr lang="id-ID" sz="2400" b="1" dirty="0"/>
              <a:t> studi literatur (jurnal)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 </a:t>
            </a:r>
            <a:r>
              <a:rPr lang="id-ID" sz="2400" b="1" dirty="0"/>
              <a:t>Menggunakan </a:t>
            </a:r>
            <a:r>
              <a:rPr lang="en-GB" sz="2400" b="1" dirty="0" err="1"/>
              <a:t>metode</a:t>
            </a:r>
            <a:r>
              <a:rPr lang="en-GB" sz="2400" b="1" dirty="0"/>
              <a:t> </a:t>
            </a:r>
            <a:r>
              <a:rPr lang="en-GB" sz="2400" b="1" dirty="0" err="1"/>
              <a:t>pemodelan</a:t>
            </a:r>
            <a:r>
              <a:rPr lang="en-GB" sz="2400" b="1" dirty="0"/>
              <a:t> </a:t>
            </a:r>
            <a:r>
              <a:rPr lang="en-GB" sz="2400" b="1" dirty="0" err="1"/>
              <a:t>dengan</a:t>
            </a:r>
            <a:r>
              <a:rPr lang="en-GB" sz="2400" b="1" dirty="0"/>
              <a:t> computer</a:t>
            </a:r>
            <a:r>
              <a:rPr lang="id-ID" sz="2400" b="1" dirty="0"/>
              <a:t>, mulai dari pembuatan rencana garis (</a:t>
            </a:r>
            <a:r>
              <a:rPr lang="id-ID" sz="2400" b="1" i="1" dirty="0"/>
              <a:t>Lines Plan</a:t>
            </a:r>
            <a:r>
              <a:rPr lang="id-ID" sz="2400" b="1" dirty="0"/>
              <a:t>), rencana umum (</a:t>
            </a:r>
            <a:r>
              <a:rPr lang="id-ID" sz="2400" b="1" i="1" dirty="0"/>
              <a:t>General Arrangement) </a:t>
            </a:r>
            <a:endParaRPr lang="en-US" sz="2400" b="1" i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/>
              <a:t>Melakukan</a:t>
            </a:r>
            <a:r>
              <a:rPr lang="en-US" sz="2400" b="1" dirty="0"/>
              <a:t> </a:t>
            </a:r>
            <a:r>
              <a:rPr lang="en-US" sz="2400" b="1" dirty="0" err="1"/>
              <a:t>analisa</a:t>
            </a:r>
            <a:r>
              <a:rPr lang="id-ID" sz="2400" b="1" dirty="0"/>
              <a:t> stabilitas pada kondisi loadcase yang berbeda dan tahanan pada kapal</a:t>
            </a:r>
            <a:endParaRPr lang="en-US" sz="2400" b="1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V="1">
            <a:off x="8610602" y="6721477"/>
            <a:ext cx="1595735" cy="153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0F21905-9D39-4414-9B14-A2772C997C31}" type="slidenum">
              <a:rPr lang="en-US" altLang="id-ID" sz="1400">
                <a:latin typeface="Book Antiqua" pitchFamily="18" charset="0"/>
              </a:rPr>
              <a:pPr/>
              <a:t>8</a:t>
            </a:fld>
            <a:endParaRPr lang="en-US" altLang="id-ID" sz="1400">
              <a:latin typeface="Book Antiqua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3791" y="3684273"/>
            <a:ext cx="3352800" cy="5205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Gambar</a:t>
            </a:r>
            <a:r>
              <a:rPr lang="en-US" sz="2800" b="1" dirty="0"/>
              <a:t> </a:t>
            </a:r>
            <a:r>
              <a:rPr lang="en-US" sz="2800" b="1" dirty="0" err="1"/>
              <a:t>Pemodelan</a:t>
            </a:r>
            <a:endParaRPr lang="en-US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DC9C93-40C0-031D-C81E-F9A598F89C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69" t="41550" r="11200" b="38981"/>
          <a:stretch/>
        </p:blipFill>
        <p:spPr>
          <a:xfrm rot="16200000">
            <a:off x="1382233" y="4124835"/>
            <a:ext cx="1875602" cy="2726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533711-06C5-BDDB-6AA3-022D54250D9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25" t="24246" r="47686" b="18045"/>
          <a:stretch/>
        </p:blipFill>
        <p:spPr>
          <a:xfrm rot="16200000">
            <a:off x="5372826" y="2581515"/>
            <a:ext cx="1137673" cy="45301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54411E-DC6C-3276-34BC-F31C559054D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03" t="23799" r="29308" b="18492"/>
          <a:stretch/>
        </p:blipFill>
        <p:spPr>
          <a:xfrm rot="16200000">
            <a:off x="5471898" y="3832303"/>
            <a:ext cx="1137672" cy="45301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3ACB1E-3BD7-8949-275D-75C4BFAB6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293726"/>
            <a:ext cx="4249344" cy="242775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EE7CACC-1417-267F-3E0F-DD37F0C52753}"/>
              </a:ext>
            </a:extLst>
          </p:cNvPr>
          <p:cNvSpPr/>
          <p:nvPr/>
        </p:nvSpPr>
        <p:spPr>
          <a:xfrm>
            <a:off x="5470638" y="4837130"/>
            <a:ext cx="3352800" cy="9541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“TMS BITTERN” – 22.6M CATAMARAN</a:t>
            </a:r>
          </a:p>
        </p:txBody>
      </p:sp>
    </p:spTree>
    <p:extLst>
      <p:ext uri="{BB962C8B-B14F-4D97-AF65-F5344CB8AC3E}">
        <p14:creationId xmlns:p14="http://schemas.microsoft.com/office/powerpoint/2010/main" val="325034561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2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5400000">
            <a:off x="-3214551" y="3225436"/>
            <a:ext cx="6694714" cy="2656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8572500" cy="265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4267200"/>
            <a:ext cx="1143000" cy="2590800"/>
            <a:chOff x="0" y="4267200"/>
            <a:chExt cx="1143000" cy="2590800"/>
          </a:xfrm>
        </p:grpSpPr>
        <p:sp>
          <p:nvSpPr>
            <p:cNvPr id="4" name="Right Triangle 3"/>
            <p:cNvSpPr/>
            <p:nvPr/>
          </p:nvSpPr>
          <p:spPr>
            <a:xfrm>
              <a:off x="0" y="4267200"/>
              <a:ext cx="1143000" cy="25908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4495800"/>
              <a:ext cx="838200" cy="23622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96200" y="0"/>
            <a:ext cx="1447800" cy="2286000"/>
            <a:chOff x="7696200" y="0"/>
            <a:chExt cx="1447800" cy="2286000"/>
          </a:xfrm>
        </p:grpSpPr>
        <p:sp>
          <p:nvSpPr>
            <p:cNvPr id="7" name="Right Triangle 6"/>
            <p:cNvSpPr/>
            <p:nvPr/>
          </p:nvSpPr>
          <p:spPr>
            <a:xfrm rot="10800000">
              <a:off x="7696200" y="0"/>
              <a:ext cx="1447800" cy="22860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/>
            <p:cNvSpPr/>
            <p:nvPr/>
          </p:nvSpPr>
          <p:spPr>
            <a:xfrm rot="10800000">
              <a:off x="8001000" y="0"/>
              <a:ext cx="1143000" cy="21336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-6532" y="457200"/>
            <a:ext cx="476265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/>
              <a:t>Penentuan</a:t>
            </a:r>
            <a:r>
              <a:rPr lang="en-US" sz="3200" b="1" dirty="0"/>
              <a:t> </a:t>
            </a:r>
            <a:r>
              <a:rPr lang="en-US" sz="3200" b="1" dirty="0" err="1"/>
              <a:t>Variabel</a:t>
            </a:r>
            <a:endParaRPr lang="en-US" sz="3200" b="1" dirty="0"/>
          </a:p>
        </p:txBody>
      </p:sp>
      <p:sp>
        <p:nvSpPr>
          <p:cNvPr id="13" name="Rectangle 12"/>
          <p:cNvSpPr/>
          <p:nvPr/>
        </p:nvSpPr>
        <p:spPr>
          <a:xfrm>
            <a:off x="750216" y="2113285"/>
            <a:ext cx="8011804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 err="1"/>
              <a:t>Kondisi</a:t>
            </a:r>
            <a:r>
              <a:rPr lang="en-US" sz="2400" b="1" dirty="0"/>
              <a:t> </a:t>
            </a:r>
            <a:r>
              <a:rPr lang="en-US" sz="2400" b="1" dirty="0" err="1"/>
              <a:t>perairan</a:t>
            </a:r>
            <a:r>
              <a:rPr lang="en-US" sz="2400" b="1" dirty="0"/>
              <a:t>, </a:t>
            </a:r>
            <a:r>
              <a:rPr lang="en-US" sz="2400" b="1" dirty="0" err="1"/>
              <a:t>Loadcase</a:t>
            </a:r>
            <a:r>
              <a:rPr lang="id-ID" sz="2400" b="1" dirty="0"/>
              <a:t>, Jumlah </a:t>
            </a:r>
            <a:r>
              <a:rPr lang="id-ID" sz="2400" b="1" i="1" dirty="0"/>
              <a:t>Crew, Fasilitas</a:t>
            </a:r>
            <a:endParaRPr lang="en-US" sz="2400" b="1" i="1" dirty="0"/>
          </a:p>
        </p:txBody>
      </p:sp>
      <p:sp>
        <p:nvSpPr>
          <p:cNvPr id="20" name="Rectangle 19"/>
          <p:cNvSpPr/>
          <p:nvPr/>
        </p:nvSpPr>
        <p:spPr>
          <a:xfrm>
            <a:off x="802187" y="4133673"/>
            <a:ext cx="7656015" cy="83099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/>
              <a:t>Kelayakan teknis kapal dilakukan dengan permodelan dengan komputer</a:t>
            </a:r>
            <a:endParaRPr lang="en-US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571500" y="3720575"/>
            <a:ext cx="4762650" cy="461665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Controlled Variables / assumptions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414" y="1644135"/>
            <a:ext cx="5296987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Parameter Design = </a:t>
            </a:r>
            <a:r>
              <a:rPr lang="en-US" sz="2400" b="1" dirty="0" err="1"/>
              <a:t>Variabel</a:t>
            </a:r>
            <a:r>
              <a:rPr lang="en-US" sz="2400" b="1" dirty="0"/>
              <a:t> </a:t>
            </a:r>
            <a:r>
              <a:rPr lang="en-US" sz="2400" b="1" dirty="0" err="1"/>
              <a:t>Bebas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757179" y="3139396"/>
            <a:ext cx="7243823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 err="1"/>
              <a:t>Ukuran</a:t>
            </a:r>
            <a:r>
              <a:rPr lang="en-US" sz="2400" b="1" dirty="0"/>
              <a:t> </a:t>
            </a:r>
            <a:r>
              <a:rPr lang="en-US" sz="2400" b="1" dirty="0" err="1"/>
              <a:t>kapal</a:t>
            </a:r>
            <a:r>
              <a:rPr lang="en-US" sz="2400" b="1" dirty="0"/>
              <a:t> </a:t>
            </a:r>
            <a:r>
              <a:rPr lang="id-ID" sz="2400" b="1" dirty="0"/>
              <a:t>, </a:t>
            </a:r>
            <a:r>
              <a:rPr lang="en-US" sz="2400" b="1" dirty="0" err="1"/>
              <a:t>Stabilitas</a:t>
            </a:r>
            <a:r>
              <a:rPr lang="en-US" sz="2400" b="1" dirty="0"/>
              <a:t> </a:t>
            </a:r>
            <a:r>
              <a:rPr lang="id-ID" sz="2400" b="1" dirty="0"/>
              <a:t>dan tahanan kapal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576394" y="2623363"/>
            <a:ext cx="4986206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Observed = Variable </a:t>
            </a:r>
            <a:r>
              <a:rPr lang="en-US" sz="2400" b="1" dirty="0" err="1"/>
              <a:t>terikat</a:t>
            </a:r>
            <a:endParaRPr 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BF4A94-5994-E23A-BE7B-0277AF0B39C0}"/>
              </a:ext>
            </a:extLst>
          </p:cNvPr>
          <p:cNvSpPr txBox="1"/>
          <p:nvPr/>
        </p:nvSpPr>
        <p:spPr>
          <a:xfrm>
            <a:off x="1447800" y="1100905"/>
            <a:ext cx="857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Menentukan</a:t>
            </a:r>
            <a:r>
              <a:rPr lang="en-US" b="1" dirty="0"/>
              <a:t> variable yang </a:t>
            </a:r>
            <a:r>
              <a:rPr lang="en-US" b="1" dirty="0" err="1"/>
              <a:t>dicari</a:t>
            </a:r>
            <a:r>
              <a:rPr lang="en-US" b="1" dirty="0"/>
              <a:t> dan variable yang </a:t>
            </a:r>
            <a:r>
              <a:rPr lang="en-US" b="1" dirty="0" err="1"/>
              <a:t>berpengaruh</a:t>
            </a:r>
            <a:r>
              <a:rPr lang="en-US" b="1" dirty="0"/>
              <a:t> (</a:t>
            </a:r>
            <a:r>
              <a:rPr lang="en-US" b="1" dirty="0" err="1"/>
              <a:t>bebas</a:t>
            </a:r>
            <a:r>
              <a:rPr lang="en-US" b="1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16181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5400000">
            <a:off x="-3214551" y="3225436"/>
            <a:ext cx="6694714" cy="2656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8572500" cy="265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4267200"/>
            <a:ext cx="1143000" cy="2590800"/>
            <a:chOff x="0" y="4267200"/>
            <a:chExt cx="1143000" cy="2590800"/>
          </a:xfrm>
        </p:grpSpPr>
        <p:sp>
          <p:nvSpPr>
            <p:cNvPr id="4" name="Right Triangle 3"/>
            <p:cNvSpPr/>
            <p:nvPr/>
          </p:nvSpPr>
          <p:spPr>
            <a:xfrm>
              <a:off x="0" y="4267200"/>
              <a:ext cx="1143000" cy="25908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4495800"/>
              <a:ext cx="838200" cy="23622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96200" y="0"/>
            <a:ext cx="1447800" cy="2286000"/>
            <a:chOff x="7696200" y="0"/>
            <a:chExt cx="1447800" cy="2286000"/>
          </a:xfrm>
        </p:grpSpPr>
        <p:sp>
          <p:nvSpPr>
            <p:cNvPr id="7" name="Right Triangle 6"/>
            <p:cNvSpPr/>
            <p:nvPr/>
          </p:nvSpPr>
          <p:spPr>
            <a:xfrm rot="10800000">
              <a:off x="7696200" y="0"/>
              <a:ext cx="1447800" cy="2286000"/>
            </a:xfrm>
            <a:prstGeom prst="rt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/>
            <p:cNvSpPr/>
            <p:nvPr/>
          </p:nvSpPr>
          <p:spPr>
            <a:xfrm rot="10800000">
              <a:off x="8001000" y="0"/>
              <a:ext cx="1143000" cy="21336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-6531" y="457200"/>
            <a:ext cx="3657601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REFERENCE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678" y="1266380"/>
            <a:ext cx="8272647" cy="526297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539750" indent="-539750" algn="just"/>
            <a:r>
              <a:rPr lang="id-ID" sz="2400" b="1" dirty="0"/>
              <a:t>Maulana, Arief. (2017). </a:t>
            </a:r>
            <a:r>
              <a:rPr lang="en-US" sz="2400" b="1" dirty="0"/>
              <a:t>Kajian Teknis </a:t>
            </a:r>
            <a:r>
              <a:rPr lang="en-US" sz="2400" b="1" dirty="0" err="1"/>
              <a:t>Perancangan</a:t>
            </a:r>
            <a:r>
              <a:rPr lang="en-US" sz="2400" b="1" dirty="0"/>
              <a:t> </a:t>
            </a:r>
            <a:r>
              <a:rPr lang="en-US" sz="2400" b="1" dirty="0" err="1"/>
              <a:t>Sistem</a:t>
            </a:r>
            <a:r>
              <a:rPr lang="en-US" sz="2400" b="1" dirty="0"/>
              <a:t> </a:t>
            </a:r>
            <a:r>
              <a:rPr lang="en-US" sz="2400" b="1" dirty="0" err="1"/>
              <a:t>Propulsi</a:t>
            </a:r>
            <a:r>
              <a:rPr lang="en-US" sz="2400" b="1" dirty="0"/>
              <a:t> Waterjet Pada</a:t>
            </a:r>
            <a:r>
              <a:rPr lang="id-ID" sz="2400" b="1" dirty="0"/>
              <a:t> </a:t>
            </a:r>
            <a:r>
              <a:rPr lang="en-US" sz="2400" b="1" dirty="0"/>
              <a:t>Patrol Boat 10,3 M</a:t>
            </a:r>
            <a:r>
              <a:rPr lang="id-ID" sz="2400" b="1" dirty="0"/>
              <a:t>. Skripsi, Fakultas Teknologi Kelautan, Insitute Teknologi Surabaya.</a:t>
            </a:r>
          </a:p>
          <a:p>
            <a:pPr marL="539750" indent="-539750" algn="just"/>
            <a:r>
              <a:rPr lang="id-ID" sz="2400" b="1" dirty="0"/>
              <a:t>Misbahudin, Saefulloh., Adi Widianto, Arga Pratama, Citra Tri Tunggal Dewi dan Muhammad Alfarizzi Salvikran. (2022). Desain Kapal Patroli Dengan Lambung Catamaran Petestep Water Deflector Dalam Rangka Pengamanan Laut Teritorial Indonesia. Jurnal Defendonesia 6 (1).</a:t>
            </a:r>
          </a:p>
          <a:p>
            <a:pPr marL="539750" indent="-539750" algn="just"/>
            <a:r>
              <a:rPr lang="id-ID" sz="2400" b="1" dirty="0"/>
              <a:t>Purwanto, Bambang Rudi., Rudi Lazuardi dan Widodo Setyo Pranowo. (2020). Analisis Pengaruh Gelombang Laut Terhadap Penggunaan Biaya Dan Jeniskapal Patroli Untuk Operasi Pengamanan laut Natuna Utara. Jurnal Ilmiah Globe 22 (2)</a:t>
            </a:r>
          </a:p>
        </p:txBody>
      </p:sp>
    </p:spTree>
    <p:extLst>
      <p:ext uri="{BB962C8B-B14F-4D97-AF65-F5344CB8AC3E}">
        <p14:creationId xmlns:p14="http://schemas.microsoft.com/office/powerpoint/2010/main" val="184235945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9000"/>
                    </a14:imgEffect>
                    <a14:imgEffect>
                      <a14:colorTemperature colorTemp="7054"/>
                    </a14:imgEffect>
                    <a14:imgEffect>
                      <a14:saturation sat="0"/>
                    </a14:imgEffect>
                    <a14:imgEffect>
                      <a14:brightnessContrast contrast="46000"/>
                    </a14:imgEffect>
                  </a14:imgLayer>
                </a14:imgProps>
              </a:ext>
            </a:extLst>
          </a:blip>
          <a:srcRect l="5015" r="5225"/>
          <a:stretch/>
        </p:blipFill>
        <p:spPr>
          <a:xfrm>
            <a:off x="3649615" y="970855"/>
            <a:ext cx="5494387" cy="40795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" y="2"/>
            <a:ext cx="3649613" cy="6869941"/>
          </a:xfrm>
          <a:prstGeom prst="rect">
            <a:avLst/>
          </a:prstGeom>
          <a:solidFill>
            <a:srgbClr val="FFC00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847" y="6019800"/>
            <a:ext cx="6844352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66800" y="0"/>
            <a:ext cx="8076062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010400" y="6019800"/>
            <a:ext cx="152400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49574" y="0"/>
            <a:ext cx="152400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9847" y="2"/>
            <a:ext cx="685800" cy="60277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50023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algn="ctr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TM10001103[[fn=Headlines]]</Template>
  <TotalTime>4349</TotalTime>
  <Words>458</Words>
  <Application>Microsoft Office PowerPoint</Application>
  <PresentationFormat>On-screen Show (4:3)</PresentationFormat>
  <Paragraphs>54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Agency FB</vt:lpstr>
      <vt:lpstr>Arial</vt:lpstr>
      <vt:lpstr>Arial Narrow</vt:lpstr>
      <vt:lpstr>Book Antiqua</vt:lpstr>
      <vt:lpstr>Calibri</vt:lpstr>
      <vt:lpstr>Century Gothic</vt:lpstr>
      <vt:lpstr>Century Schoolbook</vt:lpstr>
      <vt:lpstr>Corbel</vt:lpstr>
      <vt:lpstr>Roboto Slab</vt:lpstr>
      <vt:lpstr>Wingdings</vt:lpstr>
      <vt:lpstr>Headlines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SPRS</dc:creator>
  <cp:lastModifiedBy>Administrator</cp:lastModifiedBy>
  <cp:revision>254</cp:revision>
  <dcterms:created xsi:type="dcterms:W3CDTF">2018-02-12T01:42:03Z</dcterms:created>
  <dcterms:modified xsi:type="dcterms:W3CDTF">2022-12-23T02:50:39Z</dcterms:modified>
</cp:coreProperties>
</file>